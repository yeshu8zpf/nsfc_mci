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0799763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DBF9"/>
    <a:srgbClr val="C9BC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27" y="9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71" y="883861"/>
            <a:ext cx="8099822" cy="1880235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2836605"/>
            <a:ext cx="8099822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945C4-647B-4518-BEEF-211FAC14610B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6B56C-2DC8-4F34-91FF-1A10473F1A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4766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945C4-647B-4518-BEEF-211FAC14610B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6B56C-2DC8-4F34-91FF-1A10473F1A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3642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1346419"/>
            <a:ext cx="9314796" cy="224653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3614203"/>
            <a:ext cx="9314796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945C4-647B-4518-BEEF-211FAC14610B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6B56C-2DC8-4F34-91FF-1A10473F1A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22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1437680"/>
            <a:ext cx="4589899" cy="34266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1437680"/>
            <a:ext cx="4589899" cy="34266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945C4-647B-4518-BEEF-211FAC14610B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6B56C-2DC8-4F34-91FF-1A10473F1A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4178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287536"/>
            <a:ext cx="9314796" cy="104388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1" y="1323916"/>
            <a:ext cx="456880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1" y="1972747"/>
            <a:ext cx="4568806" cy="2901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0" y="1323916"/>
            <a:ext cx="459130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0" y="1972747"/>
            <a:ext cx="4591306" cy="2901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945C4-647B-4518-BEEF-211FAC14610B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6B56C-2DC8-4F34-91FF-1A10473F1A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4038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945C4-647B-4518-BEEF-211FAC14610B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6B56C-2DC8-4F34-91FF-1A10473F1A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1696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945C4-647B-4518-BEEF-211FAC14610B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6B56C-2DC8-4F34-91FF-1A10473F1A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563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360045"/>
            <a:ext cx="3483204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777597"/>
            <a:ext cx="5467380" cy="383798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620202"/>
            <a:ext cx="3483204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945C4-647B-4518-BEEF-211FAC14610B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6B56C-2DC8-4F34-91FF-1A10473F1A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5075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360045"/>
            <a:ext cx="3483204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777597"/>
            <a:ext cx="5467380" cy="383798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620202"/>
            <a:ext cx="3483204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945C4-647B-4518-BEEF-211FAC14610B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6B56C-2DC8-4F34-91FF-1A10473F1A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7871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945C4-647B-4518-BEEF-211FAC14610B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6B56C-2DC8-4F34-91FF-1A10473F1A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8321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0" y="287536"/>
            <a:ext cx="2328699" cy="457682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287536"/>
            <a:ext cx="6851100" cy="457682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945C4-647B-4518-BEEF-211FAC14610B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6B56C-2DC8-4F34-91FF-1A10473F1A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6323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287536"/>
            <a:ext cx="9314796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1437680"/>
            <a:ext cx="9314796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5005626"/>
            <a:ext cx="2429947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945C4-647B-4518-BEEF-211FAC14610B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5005626"/>
            <a:ext cx="364492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5005626"/>
            <a:ext cx="2429947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F6B56C-2DC8-4F34-91FF-1A10473F1A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1130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23" indent="-180023" algn="l" defTabSz="72009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6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F815C67A-C467-972A-7928-EDBEE3A03053}"/>
              </a:ext>
            </a:extLst>
          </p:cNvPr>
          <p:cNvGrpSpPr/>
          <p:nvPr/>
        </p:nvGrpSpPr>
        <p:grpSpPr>
          <a:xfrm>
            <a:off x="462398" y="3925919"/>
            <a:ext cx="3461498" cy="961464"/>
            <a:chOff x="1062318" y="934571"/>
            <a:chExt cx="3461498" cy="961464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26C2C57-0DED-712E-ADDF-AF1499BD5E0E}"/>
                </a:ext>
              </a:extLst>
            </p:cNvPr>
            <p:cNvSpPr/>
            <p:nvPr/>
          </p:nvSpPr>
          <p:spPr>
            <a:xfrm>
              <a:off x="1062318" y="934571"/>
              <a:ext cx="3461498" cy="96146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0CED4AA4-162E-9958-B8A2-DEED94A8C0C8}"/>
                </a:ext>
              </a:extLst>
            </p:cNvPr>
            <p:cNvSpPr/>
            <p:nvPr/>
          </p:nvSpPr>
          <p:spPr>
            <a:xfrm>
              <a:off x="1207994" y="1046463"/>
              <a:ext cx="1526241" cy="67907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频谱观测与事件结果</a:t>
              </a:r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6DECE114-DF5C-F762-CF1C-DDFADDDCA1C1}"/>
                </a:ext>
              </a:extLst>
            </p:cNvPr>
            <p:cNvSpPr/>
            <p:nvPr/>
          </p:nvSpPr>
          <p:spPr>
            <a:xfrm>
              <a:off x="2859742" y="1046463"/>
              <a:ext cx="1526241" cy="67907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多维特征与任务需求</a:t>
              </a: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F590336A-8470-44FE-4CAD-D9EAFCBD8895}"/>
              </a:ext>
            </a:extLst>
          </p:cNvPr>
          <p:cNvSpPr txBox="1"/>
          <p:nvPr/>
        </p:nvSpPr>
        <p:spPr>
          <a:xfrm>
            <a:off x="5829888" y="3350698"/>
            <a:ext cx="3890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在有限算力下真正做到“判得快”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C2244B8-9CD7-A998-C172-93EC8D804BD2}"/>
              </a:ext>
            </a:extLst>
          </p:cNvPr>
          <p:cNvSpPr txBox="1"/>
          <p:nvPr/>
        </p:nvSpPr>
        <p:spPr>
          <a:xfrm>
            <a:off x="828839" y="3369147"/>
            <a:ext cx="406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突破广域海域可靠自主侦测瓶颈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D64CE674-3430-E63F-D1B1-7895CF4391A7}"/>
              </a:ext>
            </a:extLst>
          </p:cNvPr>
          <p:cNvGrpSpPr/>
          <p:nvPr/>
        </p:nvGrpSpPr>
        <p:grpSpPr>
          <a:xfrm>
            <a:off x="334570" y="875049"/>
            <a:ext cx="2914654" cy="2270568"/>
            <a:chOff x="1216957" y="1603712"/>
            <a:chExt cx="2914654" cy="2270568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67435258-BC12-6E99-30AA-11C743FB8C4B}"/>
                </a:ext>
              </a:extLst>
            </p:cNvPr>
            <p:cNvSpPr/>
            <p:nvPr/>
          </p:nvSpPr>
          <p:spPr>
            <a:xfrm>
              <a:off x="1248334" y="1603712"/>
              <a:ext cx="2809315" cy="2270568"/>
            </a:xfrm>
            <a:prstGeom prst="roundRect">
              <a:avLst>
                <a:gd name="adj" fmla="val 4918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808FCE4D-8B93-A290-481A-432B09038C39}"/>
                </a:ext>
              </a:extLst>
            </p:cNvPr>
            <p:cNvSpPr txBox="1"/>
            <p:nvPr/>
          </p:nvSpPr>
          <p:spPr>
            <a:xfrm>
              <a:off x="1248335" y="1757534"/>
              <a:ext cx="2809315" cy="101566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基于态势认知的</a:t>
              </a:r>
              <a:endParaRPr lang="en-US" altLang="zh-CN" sz="20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电磁频谱知识图谱构建</a:t>
              </a:r>
              <a:endParaRPr lang="en-US" altLang="zh-CN" sz="20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与动态演化方法</a:t>
              </a:r>
            </a:p>
          </p:txBody>
        </p:sp>
        <p:pic>
          <p:nvPicPr>
            <p:cNvPr id="24" name="图形 23">
              <a:extLst>
                <a:ext uri="{FF2B5EF4-FFF2-40B4-BE49-F238E27FC236}">
                  <a16:creationId xmlns:a16="http://schemas.microsoft.com/office/drawing/2014/main" id="{B4B6053D-1A64-70BD-923E-9DA9FBB33A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16957" y="2773197"/>
              <a:ext cx="1101082" cy="11010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A641F3E7-0381-D377-C32C-2C5FAE0D9B4C}"/>
                </a:ext>
              </a:extLst>
            </p:cNvPr>
            <p:cNvSpPr txBox="1"/>
            <p:nvPr/>
          </p:nvSpPr>
          <p:spPr>
            <a:xfrm>
              <a:off x="2024904" y="2939426"/>
              <a:ext cx="210670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可持续更新的</a:t>
              </a:r>
              <a:endParaRPr lang="en-US" altLang="zh-CN" sz="2000" b="1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/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频谱知识库</a:t>
              </a: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88D1AED0-BC68-AFD8-48E2-BA15B38DCD02}"/>
              </a:ext>
            </a:extLst>
          </p:cNvPr>
          <p:cNvGrpSpPr/>
          <p:nvPr/>
        </p:nvGrpSpPr>
        <p:grpSpPr>
          <a:xfrm>
            <a:off x="3640303" y="880643"/>
            <a:ext cx="2809316" cy="2331842"/>
            <a:chOff x="4522690" y="1609306"/>
            <a:chExt cx="2809316" cy="2331842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6C968BA2-F008-7199-09D6-6003CAB5DC19}"/>
                </a:ext>
              </a:extLst>
            </p:cNvPr>
            <p:cNvSpPr/>
            <p:nvPr/>
          </p:nvSpPr>
          <p:spPr>
            <a:xfrm>
              <a:off x="4522691" y="1609306"/>
              <a:ext cx="2809315" cy="2264973"/>
            </a:xfrm>
            <a:prstGeom prst="roundRect">
              <a:avLst>
                <a:gd name="adj" fmla="val 4918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3DFDD855-7205-84BC-29F2-63366769741C}"/>
                </a:ext>
              </a:extLst>
            </p:cNvPr>
            <p:cNvSpPr txBox="1"/>
            <p:nvPr/>
          </p:nvSpPr>
          <p:spPr>
            <a:xfrm>
              <a:off x="4522690" y="1742749"/>
              <a:ext cx="2804836" cy="1015663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知识驱动的</a:t>
              </a:r>
              <a:endParaRPr lang="en-US" altLang="zh-CN" sz="20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轻量化频谱信号识别</a:t>
              </a:r>
              <a:endParaRPr lang="en-US" altLang="zh-CN" sz="20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与目标轨迹分析方法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E40BBF3-A5B5-A31F-2532-E54A07811D44}"/>
                </a:ext>
              </a:extLst>
            </p:cNvPr>
            <p:cNvSpPr txBox="1"/>
            <p:nvPr/>
          </p:nvSpPr>
          <p:spPr>
            <a:xfrm>
              <a:off x="5743011" y="3014821"/>
              <a:ext cx="15845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6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边缘侧认知结果输出</a:t>
              </a:r>
            </a:p>
          </p:txBody>
        </p:sp>
        <p:pic>
          <p:nvPicPr>
            <p:cNvPr id="29" name="图形 28">
              <a:extLst>
                <a:ext uri="{FF2B5EF4-FFF2-40B4-BE49-F238E27FC236}">
                  <a16:creationId xmlns:a16="http://schemas.microsoft.com/office/drawing/2014/main" id="{684B4BF7-A299-3ADB-F007-B7B176E519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753531" y="2769571"/>
              <a:ext cx="1171577" cy="1171577"/>
            </a:xfrm>
            <a:prstGeom prst="rect">
              <a:avLst/>
            </a:prstGeom>
          </p:spPr>
        </p:pic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2435C8E1-1F15-D5A4-0368-55B6AE007AF8}"/>
              </a:ext>
            </a:extLst>
          </p:cNvPr>
          <p:cNvGrpSpPr/>
          <p:nvPr/>
        </p:nvGrpSpPr>
        <p:grpSpPr>
          <a:xfrm>
            <a:off x="6910181" y="875050"/>
            <a:ext cx="3461499" cy="2264973"/>
            <a:chOff x="7792567" y="1603712"/>
            <a:chExt cx="3461499" cy="2264973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A5F18A78-DD82-5487-CE65-EFFD193452FA}"/>
                </a:ext>
              </a:extLst>
            </p:cNvPr>
            <p:cNvSpPr/>
            <p:nvPr/>
          </p:nvSpPr>
          <p:spPr>
            <a:xfrm>
              <a:off x="7792568" y="1603712"/>
              <a:ext cx="3461498" cy="2264973"/>
            </a:xfrm>
            <a:prstGeom prst="roundRect">
              <a:avLst>
                <a:gd name="adj" fmla="val 4918"/>
              </a:avLst>
            </a:prstGeom>
            <a:solidFill>
              <a:srgbClr val="E4DBF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ED6DD646-8433-CB74-7AAC-9104581F74D1}"/>
                </a:ext>
              </a:extLst>
            </p:cNvPr>
            <p:cNvSpPr txBox="1"/>
            <p:nvPr/>
          </p:nvSpPr>
          <p:spPr>
            <a:xfrm>
              <a:off x="7792567" y="1723333"/>
              <a:ext cx="3461498" cy="1015663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基于有限链路轻量安全传输</a:t>
              </a:r>
              <a:endParaRPr lang="en-US" altLang="zh-CN" sz="20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与低延时确权的</a:t>
              </a:r>
              <a:endParaRPr lang="en-US" altLang="zh-CN" sz="20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分布式可信协同决策方法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DC0160A5-5A52-1912-E1F2-D34FAB97456E}"/>
                </a:ext>
              </a:extLst>
            </p:cNvPr>
            <p:cNvSpPr txBox="1"/>
            <p:nvPr/>
          </p:nvSpPr>
          <p:spPr>
            <a:xfrm>
              <a:off x="8388421" y="3001416"/>
              <a:ext cx="237340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可验证、可追溯</a:t>
              </a:r>
              <a:endParaRPr lang="en-US" altLang="zh-CN" sz="20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/>
              <a:r>
                <a:rPr lang="zh-CN" altLang="en-US" sz="20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的可信协同决策</a:t>
              </a:r>
            </a:p>
          </p:txBody>
        </p:sp>
        <p:pic>
          <p:nvPicPr>
            <p:cNvPr id="37" name="图形 36">
              <a:extLst>
                <a:ext uri="{FF2B5EF4-FFF2-40B4-BE49-F238E27FC236}">
                  <a16:creationId xmlns:a16="http://schemas.microsoft.com/office/drawing/2014/main" id="{5BC4CE2F-0D78-C529-AFA1-94C9FFB46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602503" y="3011866"/>
              <a:ext cx="597271" cy="653835"/>
            </a:xfrm>
            <a:prstGeom prst="rect">
              <a:avLst/>
            </a:prstGeom>
          </p:spPr>
        </p:pic>
        <p:pic>
          <p:nvPicPr>
            <p:cNvPr id="39" name="图形 38">
              <a:extLst>
                <a:ext uri="{FF2B5EF4-FFF2-40B4-BE49-F238E27FC236}">
                  <a16:creationId xmlns:a16="http://schemas.microsoft.com/office/drawing/2014/main" id="{7CB193AB-BD03-8151-9E3F-ED85322D25F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895558" y="3011866"/>
              <a:ext cx="652186" cy="652186"/>
            </a:xfrm>
            <a:prstGeom prst="rect">
              <a:avLst/>
            </a:prstGeom>
          </p:spPr>
        </p:pic>
      </p:grpSp>
      <p:cxnSp>
        <p:nvCxnSpPr>
          <p:cNvPr id="45" name="连接符: 肘形 44">
            <a:extLst>
              <a:ext uri="{FF2B5EF4-FFF2-40B4-BE49-F238E27FC236}">
                <a16:creationId xmlns:a16="http://schemas.microsoft.com/office/drawing/2014/main" id="{5E3C984F-BFC2-4EF0-64F7-F46D4C33092F}"/>
              </a:ext>
            </a:extLst>
          </p:cNvPr>
          <p:cNvCxnSpPr>
            <a:cxnSpLocks/>
          </p:cNvCxnSpPr>
          <p:nvPr/>
        </p:nvCxnSpPr>
        <p:spPr>
          <a:xfrm rot="16200000" flipH="1">
            <a:off x="3399599" y="-730506"/>
            <a:ext cx="5594" cy="3274357"/>
          </a:xfrm>
          <a:prstGeom prst="bentConnector3">
            <a:avLst>
              <a:gd name="adj1" fmla="val -5463068"/>
            </a:avLst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063EF792-C848-06C6-62EA-E4C2FE056FF4}"/>
              </a:ext>
            </a:extLst>
          </p:cNvPr>
          <p:cNvSpPr txBox="1"/>
          <p:nvPr/>
        </p:nvSpPr>
        <p:spPr>
          <a:xfrm>
            <a:off x="2610917" y="400363"/>
            <a:ext cx="1613649" cy="3279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知识先验驱动</a:t>
            </a:r>
          </a:p>
        </p:txBody>
      </p: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22E3B95F-DEE9-00CA-0277-F4B74C5B3343}"/>
              </a:ext>
            </a:extLst>
          </p:cNvPr>
          <p:cNvCxnSpPr>
            <a:cxnSpLocks/>
            <a:endCxn id="33" idx="0"/>
          </p:cNvCxnSpPr>
          <p:nvPr/>
        </p:nvCxnSpPr>
        <p:spPr>
          <a:xfrm flipV="1">
            <a:off x="5040482" y="875049"/>
            <a:ext cx="3600449" cy="200966"/>
          </a:xfrm>
          <a:prstGeom prst="bentConnector4">
            <a:avLst>
              <a:gd name="adj1" fmla="val 25965"/>
              <a:gd name="adj2" fmla="val 252067"/>
            </a:avLst>
          </a:prstGeom>
          <a:ln w="444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A9FFF978-1ABD-2ABC-9D3A-33E496963A2F}"/>
              </a:ext>
            </a:extLst>
          </p:cNvPr>
          <p:cNvSpPr txBox="1"/>
          <p:nvPr/>
        </p:nvSpPr>
        <p:spPr>
          <a:xfrm>
            <a:off x="6421993" y="377192"/>
            <a:ext cx="1613649" cy="3279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6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认知结果支撑</a:t>
            </a:r>
          </a:p>
        </p:txBody>
      </p: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AA842A7E-DFFB-7430-0241-A753FB19F786}"/>
              </a:ext>
            </a:extLst>
          </p:cNvPr>
          <p:cNvGrpSpPr/>
          <p:nvPr/>
        </p:nvGrpSpPr>
        <p:grpSpPr>
          <a:xfrm>
            <a:off x="6246161" y="3992766"/>
            <a:ext cx="4071227" cy="827770"/>
            <a:chOff x="2858616" y="5728975"/>
            <a:chExt cx="4071227" cy="827770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851FA232-6A0E-4287-4A8B-B4518CEAAE1E}"/>
                </a:ext>
              </a:extLst>
            </p:cNvPr>
            <p:cNvSpPr/>
            <p:nvPr/>
          </p:nvSpPr>
          <p:spPr>
            <a:xfrm>
              <a:off x="2858616" y="5728975"/>
              <a:ext cx="4071227" cy="82777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17" name="图形 16">
              <a:extLst>
                <a:ext uri="{FF2B5EF4-FFF2-40B4-BE49-F238E27FC236}">
                  <a16:creationId xmlns:a16="http://schemas.microsoft.com/office/drawing/2014/main" id="{EBA87D46-B3BC-A837-1907-C252A67157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078257" y="5796724"/>
              <a:ext cx="701106" cy="701106"/>
            </a:xfrm>
            <a:prstGeom prst="rect">
              <a:avLst/>
            </a:prstGeom>
          </p:spPr>
        </p:pic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69F2BF43-CBE6-9730-3DFF-BFD998266BBB}"/>
                </a:ext>
              </a:extLst>
            </p:cNvPr>
            <p:cNvSpPr txBox="1"/>
            <p:nvPr/>
          </p:nvSpPr>
          <p:spPr>
            <a:xfrm>
              <a:off x="3748795" y="5753046"/>
              <a:ext cx="318104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海域自主侦测任务的</a:t>
              </a:r>
            </a:p>
            <a:p>
              <a:pPr algn="ctr"/>
              <a:r>
                <a: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高效、可靠、可追潮</a:t>
              </a:r>
            </a:p>
          </p:txBody>
        </p:sp>
      </p:grpSp>
      <p:pic>
        <p:nvPicPr>
          <p:cNvPr id="66" name="图形 65">
            <a:extLst>
              <a:ext uri="{FF2B5EF4-FFF2-40B4-BE49-F238E27FC236}">
                <a16:creationId xmlns:a16="http://schemas.microsoft.com/office/drawing/2014/main" id="{911AD4F2-8F18-29C1-DC5A-ACCD12FC282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278998" y="3732359"/>
            <a:ext cx="1698437" cy="1376296"/>
          </a:xfrm>
          <a:prstGeom prst="rect">
            <a:avLst/>
          </a:prstGeom>
        </p:spPr>
      </p:pic>
      <p:cxnSp>
        <p:nvCxnSpPr>
          <p:cNvPr id="68" name="连接符: 肘形 67">
            <a:extLst>
              <a:ext uri="{FF2B5EF4-FFF2-40B4-BE49-F238E27FC236}">
                <a16:creationId xmlns:a16="http://schemas.microsoft.com/office/drawing/2014/main" id="{85EB3DAF-099D-C308-D49C-A7D2BECE43F4}"/>
              </a:ext>
            </a:extLst>
          </p:cNvPr>
          <p:cNvCxnSpPr>
            <a:cxnSpLocks/>
            <a:stCxn id="9" idx="1"/>
          </p:cNvCxnSpPr>
          <p:nvPr/>
        </p:nvCxnSpPr>
        <p:spPr>
          <a:xfrm rot="10800000" flipH="1">
            <a:off x="462398" y="3212485"/>
            <a:ext cx="258266" cy="1194166"/>
          </a:xfrm>
          <a:prstGeom prst="bentConnector4">
            <a:avLst>
              <a:gd name="adj1" fmla="val -88513"/>
              <a:gd name="adj2" fmla="val 70128"/>
            </a:avLst>
          </a:prstGeom>
          <a:ln w="444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箭头: 右 70">
            <a:extLst>
              <a:ext uri="{FF2B5EF4-FFF2-40B4-BE49-F238E27FC236}">
                <a16:creationId xmlns:a16="http://schemas.microsoft.com/office/drawing/2014/main" id="{21964FDE-D614-962F-B2DF-DFC74D1A7B81}"/>
              </a:ext>
            </a:extLst>
          </p:cNvPr>
          <p:cNvSpPr/>
          <p:nvPr/>
        </p:nvSpPr>
        <p:spPr>
          <a:xfrm>
            <a:off x="3175262" y="2007536"/>
            <a:ext cx="474472" cy="394515"/>
          </a:xfrm>
          <a:prstGeom prst="right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箭头: 右 71">
            <a:extLst>
              <a:ext uri="{FF2B5EF4-FFF2-40B4-BE49-F238E27FC236}">
                <a16:creationId xmlns:a16="http://schemas.microsoft.com/office/drawing/2014/main" id="{10543C41-EA2D-88B5-2E17-48C29C1DCF19}"/>
              </a:ext>
            </a:extLst>
          </p:cNvPr>
          <p:cNvSpPr/>
          <p:nvPr/>
        </p:nvSpPr>
        <p:spPr>
          <a:xfrm>
            <a:off x="6456597" y="2028228"/>
            <a:ext cx="474472" cy="394515"/>
          </a:xfrm>
          <a:prstGeom prst="right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4" name="连接符: 肘形 73">
            <a:extLst>
              <a:ext uri="{FF2B5EF4-FFF2-40B4-BE49-F238E27FC236}">
                <a16:creationId xmlns:a16="http://schemas.microsoft.com/office/drawing/2014/main" id="{509D325E-D270-C22C-19E0-C29C21D1FC9D}"/>
              </a:ext>
            </a:extLst>
          </p:cNvPr>
          <p:cNvCxnSpPr>
            <a:cxnSpLocks/>
            <a:endCxn id="61" idx="3"/>
          </p:cNvCxnSpPr>
          <p:nvPr/>
        </p:nvCxnSpPr>
        <p:spPr>
          <a:xfrm rot="16200000" flipH="1">
            <a:off x="9443095" y="3496487"/>
            <a:ext cx="1158293" cy="590293"/>
          </a:xfrm>
          <a:prstGeom prst="bentConnector4">
            <a:avLst>
              <a:gd name="adj1" fmla="val 34721"/>
              <a:gd name="adj2" fmla="val 138727"/>
            </a:avLst>
          </a:prstGeom>
          <a:ln w="444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7363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75</TotalTime>
  <Words>107</Words>
  <Application>Microsoft Office PowerPoint</Application>
  <PresentationFormat>自定义</PresentationFormat>
  <Paragraphs>22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黑体</vt:lpstr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牛牛 牛</dc:creator>
  <cp:lastModifiedBy>牛牛 牛</cp:lastModifiedBy>
  <cp:revision>2</cp:revision>
  <dcterms:created xsi:type="dcterms:W3CDTF">2026-06-15T16:07:00Z</dcterms:created>
  <dcterms:modified xsi:type="dcterms:W3CDTF">2026-06-15T17:22:54Z</dcterms:modified>
</cp:coreProperties>
</file>