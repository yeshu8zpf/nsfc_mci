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799763" cy="5400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DBF9"/>
    <a:srgbClr val="C9BC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0" y="5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49971" y="883861"/>
            <a:ext cx="8099822" cy="1880235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2836605"/>
            <a:ext cx="8099822" cy="1303913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766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6426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1346419"/>
            <a:ext cx="9314796" cy="2246530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3614203"/>
            <a:ext cx="9314796" cy="1181397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75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722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1437680"/>
            <a:ext cx="4589899" cy="34266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1437680"/>
            <a:ext cx="4589899" cy="34266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4178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287536"/>
            <a:ext cx="9314796" cy="104388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1" y="1323916"/>
            <a:ext cx="4568806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1" y="1972747"/>
            <a:ext cx="4568806" cy="29016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0" y="1323916"/>
            <a:ext cx="4591306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0" y="1972747"/>
            <a:ext cx="4591306" cy="29016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4038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1696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7563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60045"/>
            <a:ext cx="3483204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777597"/>
            <a:ext cx="5467380" cy="3837980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620202"/>
            <a:ext cx="3483204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5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60045"/>
            <a:ext cx="3483204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777597"/>
            <a:ext cx="5467380" cy="3837980"/>
          </a:xfrm>
        </p:spPr>
        <p:txBody>
          <a:bodyPr anchor="t"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620202"/>
            <a:ext cx="3483204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7871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8321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0" y="287536"/>
            <a:ext cx="2328699" cy="457682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287536"/>
            <a:ext cx="6851100" cy="457682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6323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287536"/>
            <a:ext cx="9314796" cy="1043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1437680"/>
            <a:ext cx="9314796" cy="3426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5005626"/>
            <a:ext cx="2429947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A945C4-647B-4518-BEEF-211FAC14610B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5005626"/>
            <a:ext cx="364492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5005626"/>
            <a:ext cx="2429947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1130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F815C67A-C467-972A-7928-EDBEE3A03053}"/>
              </a:ext>
            </a:extLst>
          </p:cNvPr>
          <p:cNvGrpSpPr/>
          <p:nvPr/>
        </p:nvGrpSpPr>
        <p:grpSpPr>
          <a:xfrm>
            <a:off x="677548" y="3925919"/>
            <a:ext cx="3461498" cy="961464"/>
            <a:chOff x="1062318" y="934571"/>
            <a:chExt cx="3461498" cy="961464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426C2C57-0DED-712E-ADDF-AF1499BD5E0E}"/>
                </a:ext>
              </a:extLst>
            </p:cNvPr>
            <p:cNvSpPr/>
            <p:nvPr/>
          </p:nvSpPr>
          <p:spPr>
            <a:xfrm>
              <a:off x="1062318" y="934571"/>
              <a:ext cx="3461498" cy="961464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0CED4AA4-162E-9958-B8A2-DEED94A8C0C8}"/>
                </a:ext>
              </a:extLst>
            </p:cNvPr>
            <p:cNvSpPr/>
            <p:nvPr/>
          </p:nvSpPr>
          <p:spPr>
            <a:xfrm>
              <a:off x="1207994" y="1046463"/>
              <a:ext cx="1526241" cy="67907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黑体" panose="02010609060101010101" pitchFamily="49" charset="-122"/>
                  <a:ea typeface="黑体" panose="02010609060101010101" pitchFamily="49" charset="-122"/>
                </a:rPr>
                <a:t>频谱观测与事件结果</a:t>
              </a: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6DECE114-DF5C-F762-CF1C-DDFADDDCA1C1}"/>
                </a:ext>
              </a:extLst>
            </p:cNvPr>
            <p:cNvSpPr/>
            <p:nvPr/>
          </p:nvSpPr>
          <p:spPr>
            <a:xfrm>
              <a:off x="2859742" y="1046463"/>
              <a:ext cx="1526241" cy="67907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黑体" panose="02010609060101010101" pitchFamily="49" charset="-122"/>
                  <a:ea typeface="黑体" panose="02010609060101010101" pitchFamily="49" charset="-122"/>
                </a:rPr>
                <a:t>多维特征与任务需求</a:t>
              </a:r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F590336A-8470-44FE-4CAD-D9EAFCBD8895}"/>
              </a:ext>
            </a:extLst>
          </p:cNvPr>
          <p:cNvSpPr txBox="1"/>
          <p:nvPr/>
        </p:nvSpPr>
        <p:spPr>
          <a:xfrm>
            <a:off x="5601207" y="3367034"/>
            <a:ext cx="38902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在有限算力下真正做到“判得快”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C2244B8-9CD7-A998-C172-93EC8D804BD2}"/>
              </a:ext>
            </a:extLst>
          </p:cNvPr>
          <p:cNvSpPr txBox="1"/>
          <p:nvPr/>
        </p:nvSpPr>
        <p:spPr>
          <a:xfrm>
            <a:off x="1043989" y="3369147"/>
            <a:ext cx="4062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突破广域海域可靠自主侦测瓶颈</a:t>
            </a:r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D64CE674-3430-E63F-D1B1-7895CF4391A7}"/>
              </a:ext>
            </a:extLst>
          </p:cNvPr>
          <p:cNvGrpSpPr/>
          <p:nvPr/>
        </p:nvGrpSpPr>
        <p:grpSpPr>
          <a:xfrm>
            <a:off x="549720" y="875049"/>
            <a:ext cx="2914654" cy="2270568"/>
            <a:chOff x="1216957" y="1603712"/>
            <a:chExt cx="2914654" cy="2270568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67435258-BC12-6E99-30AA-11C743FB8C4B}"/>
                </a:ext>
              </a:extLst>
            </p:cNvPr>
            <p:cNvSpPr/>
            <p:nvPr/>
          </p:nvSpPr>
          <p:spPr>
            <a:xfrm>
              <a:off x="1248334" y="1603712"/>
              <a:ext cx="2809315" cy="2270568"/>
            </a:xfrm>
            <a:prstGeom prst="roundRect">
              <a:avLst>
                <a:gd name="adj" fmla="val 4918"/>
              </a:avLst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808FCE4D-8B93-A290-481A-432B09038C39}"/>
                </a:ext>
              </a:extLst>
            </p:cNvPr>
            <p:cNvSpPr txBox="1"/>
            <p:nvPr/>
          </p:nvSpPr>
          <p:spPr>
            <a:xfrm>
              <a:off x="1248335" y="1757534"/>
              <a:ext cx="2809315" cy="101566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态势驱动的</a:t>
              </a:r>
              <a:endParaRPr lang="en-US" altLang="zh-CN" sz="2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电磁频谱知识图谱构建</a:t>
              </a:r>
              <a:endParaRPr lang="en-US" altLang="zh-CN" sz="2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与动态演化方法</a:t>
              </a:r>
            </a:p>
          </p:txBody>
        </p:sp>
        <p:pic>
          <p:nvPicPr>
            <p:cNvPr id="24" name="图形 23">
              <a:extLst>
                <a:ext uri="{FF2B5EF4-FFF2-40B4-BE49-F238E27FC236}">
                  <a16:creationId xmlns:a16="http://schemas.microsoft.com/office/drawing/2014/main" id="{B4B6053D-1A64-70BD-923E-9DA9FBB33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6957" y="2773197"/>
              <a:ext cx="1101082" cy="1101082"/>
            </a:xfrm>
            <a:prstGeom prst="rect">
              <a:avLst/>
            </a:prstGeom>
          </p:spPr>
        </p:pic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A641F3E7-0381-D377-C32C-2C5FAE0D9B4C}"/>
                </a:ext>
              </a:extLst>
            </p:cNvPr>
            <p:cNvSpPr txBox="1"/>
            <p:nvPr/>
          </p:nvSpPr>
          <p:spPr>
            <a:xfrm>
              <a:off x="2024904" y="2939426"/>
              <a:ext cx="210670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chemeClr val="accent1">
                      <a:lumMod val="75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可持续更新的</a:t>
              </a:r>
              <a:endParaRPr lang="en-US" altLang="zh-CN" sz="2000" b="1" dirty="0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accent1">
                      <a:lumMod val="75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频谱知识库</a:t>
              </a: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88D1AED0-BC68-AFD8-48E2-BA15B38DCD02}"/>
              </a:ext>
            </a:extLst>
          </p:cNvPr>
          <p:cNvGrpSpPr/>
          <p:nvPr/>
        </p:nvGrpSpPr>
        <p:grpSpPr>
          <a:xfrm>
            <a:off x="3855453" y="880643"/>
            <a:ext cx="2809316" cy="2331842"/>
            <a:chOff x="4522690" y="1609306"/>
            <a:chExt cx="2809316" cy="2331842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6C968BA2-F008-7199-09D6-6003CAB5DC19}"/>
                </a:ext>
              </a:extLst>
            </p:cNvPr>
            <p:cNvSpPr/>
            <p:nvPr/>
          </p:nvSpPr>
          <p:spPr>
            <a:xfrm>
              <a:off x="4522691" y="1609306"/>
              <a:ext cx="2809315" cy="2264973"/>
            </a:xfrm>
            <a:prstGeom prst="roundRect">
              <a:avLst>
                <a:gd name="adj" fmla="val 491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3DFDD855-7205-84BC-29F2-63366769741C}"/>
                </a:ext>
              </a:extLst>
            </p:cNvPr>
            <p:cNvSpPr txBox="1"/>
            <p:nvPr/>
          </p:nvSpPr>
          <p:spPr>
            <a:xfrm>
              <a:off x="4522690" y="1742749"/>
              <a:ext cx="2804836" cy="1015663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知识驱动的</a:t>
              </a:r>
              <a:endParaRPr lang="en-US" altLang="zh-CN" sz="2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轻量化频谱目标识别</a:t>
              </a:r>
              <a:endParaRPr lang="en-US" altLang="zh-CN" sz="2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与轨迹分析方法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FE40BBF3-A5B5-A31F-2532-E54A07811D44}"/>
                </a:ext>
              </a:extLst>
            </p:cNvPr>
            <p:cNvSpPr txBox="1"/>
            <p:nvPr/>
          </p:nvSpPr>
          <p:spPr>
            <a:xfrm>
              <a:off x="5743011" y="3014821"/>
              <a:ext cx="158451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chemeClr val="accent6">
                      <a:lumMod val="50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边缘侧认知结果输出</a:t>
              </a:r>
            </a:p>
          </p:txBody>
        </p:sp>
        <p:pic>
          <p:nvPicPr>
            <p:cNvPr id="29" name="图形 28">
              <a:extLst>
                <a:ext uri="{FF2B5EF4-FFF2-40B4-BE49-F238E27FC236}">
                  <a16:creationId xmlns:a16="http://schemas.microsoft.com/office/drawing/2014/main" id="{684B4BF7-A299-3ADB-F007-B7B176E519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753531" y="2769571"/>
              <a:ext cx="1171577" cy="1171577"/>
            </a:xfrm>
            <a:prstGeom prst="rect">
              <a:avLst/>
            </a:prstGeom>
          </p:spPr>
        </p:pic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2435C8E1-1F15-D5A4-0368-55B6AE007AF8}"/>
              </a:ext>
            </a:extLst>
          </p:cNvPr>
          <p:cNvGrpSpPr/>
          <p:nvPr/>
        </p:nvGrpSpPr>
        <p:grpSpPr>
          <a:xfrm>
            <a:off x="7125331" y="895741"/>
            <a:ext cx="2969260" cy="2264973"/>
            <a:chOff x="7792567" y="1624403"/>
            <a:chExt cx="2969260" cy="2264973"/>
          </a:xfrm>
        </p:grpSpPr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A5F18A78-DD82-5487-CE65-EFFD193452FA}"/>
                </a:ext>
              </a:extLst>
            </p:cNvPr>
            <p:cNvSpPr/>
            <p:nvPr/>
          </p:nvSpPr>
          <p:spPr>
            <a:xfrm>
              <a:off x="7798639" y="1624403"/>
              <a:ext cx="2915041" cy="2264973"/>
            </a:xfrm>
            <a:prstGeom prst="roundRect">
              <a:avLst>
                <a:gd name="adj" fmla="val 4918"/>
              </a:avLst>
            </a:prstGeom>
            <a:solidFill>
              <a:srgbClr val="E4DBF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ED6DD646-8433-CB74-7AAC-9104581F74D1}"/>
                </a:ext>
              </a:extLst>
            </p:cNvPr>
            <p:cNvSpPr txBox="1"/>
            <p:nvPr/>
          </p:nvSpPr>
          <p:spPr>
            <a:xfrm>
              <a:off x="7792567" y="1723333"/>
              <a:ext cx="2921113" cy="1015663"/>
            </a:xfrm>
            <a:prstGeom prst="rect">
              <a:avLst/>
            </a:prstGeom>
            <a:solidFill>
              <a:srgbClr val="7030A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基于轻量安全传输</a:t>
              </a:r>
              <a:endParaRPr lang="en-US" altLang="zh-CN" sz="2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与低延时确权的</a:t>
              </a:r>
              <a:endParaRPr lang="en-US" altLang="zh-CN" sz="2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可信协同决策方法</a:t>
              </a: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DC0160A5-5A52-1912-E1F2-D34FAB97456E}"/>
                </a:ext>
              </a:extLst>
            </p:cNvPr>
            <p:cNvSpPr txBox="1"/>
            <p:nvPr/>
          </p:nvSpPr>
          <p:spPr>
            <a:xfrm>
              <a:off x="8388421" y="3001416"/>
              <a:ext cx="237340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rgbClr val="7030A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可验证、可追溯</a:t>
              </a:r>
              <a:endParaRPr lang="en-US" altLang="zh-CN" sz="2000" b="1" dirty="0">
                <a:solidFill>
                  <a:srgbClr val="7030A0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rgbClr val="7030A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的可信协同决策</a:t>
              </a:r>
            </a:p>
          </p:txBody>
        </p:sp>
        <p:pic>
          <p:nvPicPr>
            <p:cNvPr id="39" name="图形 38">
              <a:extLst>
                <a:ext uri="{FF2B5EF4-FFF2-40B4-BE49-F238E27FC236}">
                  <a16:creationId xmlns:a16="http://schemas.microsoft.com/office/drawing/2014/main" id="{7CB193AB-BD03-8151-9E3F-ED85322D25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895558" y="3011866"/>
              <a:ext cx="652186" cy="652186"/>
            </a:xfrm>
            <a:prstGeom prst="rect">
              <a:avLst/>
            </a:prstGeom>
          </p:spPr>
        </p:pic>
      </p:grp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5E3C984F-BFC2-4EF0-64F7-F46D4C33092F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14749" y="-730506"/>
            <a:ext cx="5594" cy="3274357"/>
          </a:xfrm>
          <a:prstGeom prst="bentConnector3">
            <a:avLst>
              <a:gd name="adj1" fmla="val -5463068"/>
            </a:avLst>
          </a:prstGeom>
          <a:ln w="444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063EF792-C848-06C6-62EA-E4C2FE056FF4}"/>
              </a:ext>
            </a:extLst>
          </p:cNvPr>
          <p:cNvSpPr txBox="1"/>
          <p:nvPr/>
        </p:nvSpPr>
        <p:spPr>
          <a:xfrm>
            <a:off x="2826067" y="400363"/>
            <a:ext cx="1613649" cy="3279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知识先验驱动</a:t>
            </a:r>
          </a:p>
        </p:txBody>
      </p: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22E3B95F-DEE9-00CA-0277-F4B74C5B3343}"/>
              </a:ext>
            </a:extLst>
          </p:cNvPr>
          <p:cNvCxnSpPr>
            <a:cxnSpLocks/>
            <a:endCxn id="33" idx="0"/>
          </p:cNvCxnSpPr>
          <p:nvPr/>
        </p:nvCxnSpPr>
        <p:spPr>
          <a:xfrm flipV="1">
            <a:off x="5261703" y="895741"/>
            <a:ext cx="3327221" cy="200965"/>
          </a:xfrm>
          <a:prstGeom prst="bentConnector4">
            <a:avLst>
              <a:gd name="adj1" fmla="val 28097"/>
              <a:gd name="adj2" fmla="val 213751"/>
            </a:avLst>
          </a:prstGeom>
          <a:ln w="444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A9FFF978-1ABD-2ABC-9D3A-33E496963A2F}"/>
              </a:ext>
            </a:extLst>
          </p:cNvPr>
          <p:cNvSpPr txBox="1"/>
          <p:nvPr/>
        </p:nvSpPr>
        <p:spPr>
          <a:xfrm>
            <a:off x="6637143" y="377192"/>
            <a:ext cx="1613649" cy="3279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accent6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认知结果支撑</a:t>
            </a:r>
          </a:p>
        </p:txBody>
      </p: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AA842A7E-DFFB-7430-0241-A753FB19F786}"/>
              </a:ext>
            </a:extLst>
          </p:cNvPr>
          <p:cNvGrpSpPr/>
          <p:nvPr/>
        </p:nvGrpSpPr>
        <p:grpSpPr>
          <a:xfrm>
            <a:off x="6543934" y="4000573"/>
            <a:ext cx="3538593" cy="827770"/>
            <a:chOff x="2945081" y="5736782"/>
            <a:chExt cx="3798644" cy="827770"/>
          </a:xfrm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851FA232-6A0E-4287-4A8B-B4518CEAAE1E}"/>
                </a:ext>
              </a:extLst>
            </p:cNvPr>
            <p:cNvSpPr/>
            <p:nvPr/>
          </p:nvSpPr>
          <p:spPr>
            <a:xfrm>
              <a:off x="2945081" y="5736782"/>
              <a:ext cx="3665468" cy="82777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EBA87D46-B3BC-A837-1907-C252A67157E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078257" y="5796724"/>
              <a:ext cx="701106" cy="701106"/>
            </a:xfrm>
            <a:prstGeom prst="rect">
              <a:avLst/>
            </a:prstGeom>
          </p:spPr>
        </p:pic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69F2BF43-CBE6-9730-3DFF-BFD998266BBB}"/>
                </a:ext>
              </a:extLst>
            </p:cNvPr>
            <p:cNvSpPr txBox="1"/>
            <p:nvPr/>
          </p:nvSpPr>
          <p:spPr>
            <a:xfrm>
              <a:off x="3562677" y="5774020"/>
              <a:ext cx="318104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latin typeface="黑体" panose="02010609060101010101" pitchFamily="49" charset="-122"/>
                  <a:ea typeface="黑体" panose="02010609060101010101" pitchFamily="49" charset="-122"/>
                </a:rPr>
                <a:t>海域自主侦测任务的</a:t>
              </a:r>
            </a:p>
            <a:p>
              <a:pPr algn="ctr"/>
              <a:r>
                <a:rPr lang="zh-CN" altLang="en-US" sz="2000" b="1" dirty="0">
                  <a:latin typeface="黑体" panose="02010609060101010101" pitchFamily="49" charset="-122"/>
                  <a:ea typeface="黑体" panose="02010609060101010101" pitchFamily="49" charset="-122"/>
                </a:rPr>
                <a:t>高效、可靠、可追潮</a:t>
              </a:r>
            </a:p>
          </p:txBody>
        </p:sp>
      </p:grpSp>
      <p:pic>
        <p:nvPicPr>
          <p:cNvPr id="66" name="图形 65">
            <a:extLst>
              <a:ext uri="{FF2B5EF4-FFF2-40B4-BE49-F238E27FC236}">
                <a16:creationId xmlns:a16="http://schemas.microsoft.com/office/drawing/2014/main" id="{911AD4F2-8F18-29C1-DC5A-ACCD12FC282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494148" y="3732359"/>
            <a:ext cx="1698437" cy="1376296"/>
          </a:xfrm>
          <a:prstGeom prst="rect">
            <a:avLst/>
          </a:prstGeom>
        </p:spPr>
      </p:pic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85EB3DAF-099D-C308-D49C-A7D2BECE43F4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H="1">
            <a:off x="677548" y="3212485"/>
            <a:ext cx="258266" cy="1194166"/>
          </a:xfrm>
          <a:prstGeom prst="bentConnector4">
            <a:avLst>
              <a:gd name="adj1" fmla="val -88513"/>
              <a:gd name="adj2" fmla="val 70128"/>
            </a:avLst>
          </a:prstGeom>
          <a:ln w="444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箭头: 右 70">
            <a:extLst>
              <a:ext uri="{FF2B5EF4-FFF2-40B4-BE49-F238E27FC236}">
                <a16:creationId xmlns:a16="http://schemas.microsoft.com/office/drawing/2014/main" id="{21964FDE-D614-962F-B2DF-DFC74D1A7B81}"/>
              </a:ext>
            </a:extLst>
          </p:cNvPr>
          <p:cNvSpPr/>
          <p:nvPr/>
        </p:nvSpPr>
        <p:spPr>
          <a:xfrm>
            <a:off x="3390412" y="2007536"/>
            <a:ext cx="474472" cy="394515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箭头: 右 71">
            <a:extLst>
              <a:ext uri="{FF2B5EF4-FFF2-40B4-BE49-F238E27FC236}">
                <a16:creationId xmlns:a16="http://schemas.microsoft.com/office/drawing/2014/main" id="{10543C41-EA2D-88B5-2E17-48C29C1DCF19}"/>
              </a:ext>
            </a:extLst>
          </p:cNvPr>
          <p:cNvSpPr/>
          <p:nvPr/>
        </p:nvSpPr>
        <p:spPr>
          <a:xfrm>
            <a:off x="6671747" y="2028228"/>
            <a:ext cx="474472" cy="394515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509D325E-D270-C22C-19E0-C29C21D1FC9D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H="1">
            <a:off x="9152561" y="3608551"/>
            <a:ext cx="1268842" cy="342972"/>
          </a:xfrm>
          <a:prstGeom prst="bentConnector4">
            <a:avLst>
              <a:gd name="adj1" fmla="val 33690"/>
              <a:gd name="adj2" fmla="val 166653"/>
            </a:avLst>
          </a:prstGeom>
          <a:ln w="444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7363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79</TotalTime>
  <Words>101</Words>
  <Application>Microsoft Office PowerPoint</Application>
  <PresentationFormat>自定义</PresentationFormat>
  <Paragraphs>22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黑体</vt:lpstr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牛牛 牛</dc:creator>
  <cp:lastModifiedBy>牛牛 牛</cp:lastModifiedBy>
  <cp:revision>8</cp:revision>
  <dcterms:created xsi:type="dcterms:W3CDTF">2026-06-15T16:07:00Z</dcterms:created>
  <dcterms:modified xsi:type="dcterms:W3CDTF">2026-06-17T15:39:20Z</dcterms:modified>
</cp:coreProperties>
</file>