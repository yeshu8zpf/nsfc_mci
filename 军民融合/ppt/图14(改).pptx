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DAE3F5"/>
    <a:srgbClr val="FC022B"/>
    <a:srgbClr val="FCA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273050"/>
            <a:ext cx="11932920" cy="6475095"/>
          </a:xfrm>
          <a:prstGeom prst="roundRect">
            <a:avLst>
              <a:gd name="adj" fmla="val 1653"/>
            </a:avLst>
          </a:prstGeom>
          <a:ln w="22225">
            <a:solidFill>
              <a:srgbClr val="4874CB"/>
            </a:solidFill>
            <a:prstDash val="dash"/>
          </a:ln>
        </p:spPr>
      </p:sp>
      <p:sp>
        <p:nvSpPr>
          <p:cNvPr id="27" name="Shape 35">
            <a:extLst>
              <a:ext uri="{FF2B5EF4-FFF2-40B4-BE49-F238E27FC236}">
                <a16:creationId xmlns:a16="http://schemas.microsoft.com/office/drawing/2014/main" id="{E6BAE8CF-36D4-0A32-7DDB-34CD3616A579}"/>
              </a:ext>
            </a:extLst>
          </p:cNvPr>
          <p:cNvSpPr/>
          <p:nvPr/>
        </p:nvSpPr>
        <p:spPr>
          <a:xfrm>
            <a:off x="2197449" y="5067014"/>
            <a:ext cx="9721504" cy="1581012"/>
          </a:xfrm>
          <a:prstGeom prst="roundRect">
            <a:avLst>
              <a:gd name="adj" fmla="val 2034"/>
            </a:avLst>
          </a:prstGeom>
          <a:solidFill>
            <a:srgbClr val="DAE3F5"/>
          </a:solidFill>
          <a:ln w="12700">
            <a:noFill/>
            <a:prstDash val="solid"/>
          </a:ln>
        </p:spPr>
      </p:sp>
      <p:sp>
        <p:nvSpPr>
          <p:cNvPr id="13" name="Shape 32">
            <a:extLst>
              <a:ext uri="{FF2B5EF4-FFF2-40B4-BE49-F238E27FC236}">
                <a16:creationId xmlns:a16="http://schemas.microsoft.com/office/drawing/2014/main" id="{E0E6E4FC-9CE7-8308-DE46-56B0CFC0A76E}"/>
              </a:ext>
            </a:extLst>
          </p:cNvPr>
          <p:cNvSpPr/>
          <p:nvPr/>
        </p:nvSpPr>
        <p:spPr>
          <a:xfrm>
            <a:off x="8585835" y="1311448"/>
            <a:ext cx="2697480" cy="3605181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1148" y="120117"/>
            <a:ext cx="6544945" cy="488315"/>
          </a:xfrm>
          <a:prstGeom prst="roundRect">
            <a:avLst>
              <a:gd name="adj" fmla="val 50000"/>
            </a:avLst>
          </a:prstGeom>
          <a:solidFill>
            <a:srgbClr val="2E54A1"/>
          </a:solidFill>
        </p:spPr>
      </p:sp>
      <p:sp>
        <p:nvSpPr>
          <p:cNvPr id="4" name="Text 2"/>
          <p:cNvSpPr/>
          <p:nvPr/>
        </p:nvSpPr>
        <p:spPr>
          <a:xfrm>
            <a:off x="2072640" y="97155"/>
            <a:ext cx="8046720" cy="488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基于混合专家模型的轻量化目标检测与轨迹分析方法</a:t>
            </a:r>
          </a:p>
        </p:txBody>
      </p:sp>
      <p:sp>
        <p:nvSpPr>
          <p:cNvPr id="5" name="Shape 3"/>
          <p:cNvSpPr/>
          <p:nvPr/>
        </p:nvSpPr>
        <p:spPr>
          <a:xfrm>
            <a:off x="411480" y="396450"/>
            <a:ext cx="1481455" cy="6251575"/>
          </a:xfrm>
          <a:prstGeom prst="roundRect">
            <a:avLst>
              <a:gd name="adj" fmla="val 4938"/>
            </a:avLst>
          </a:prstGeom>
          <a:solidFill>
            <a:srgbClr val="DAE3F5"/>
          </a:solidFill>
          <a:ln w="15875">
            <a:noFill/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810" y="522180"/>
            <a:ext cx="1280160" cy="279692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6598" y="697059"/>
            <a:ext cx="87058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知识图谱先验嵌入</a:t>
            </a:r>
          </a:p>
        </p:txBody>
      </p:sp>
      <p:sp>
        <p:nvSpPr>
          <p:cNvPr id="9" name="Shape 6"/>
          <p:cNvSpPr/>
          <p:nvPr/>
        </p:nvSpPr>
        <p:spPr>
          <a:xfrm>
            <a:off x="511810" y="3413335"/>
            <a:ext cx="1280160" cy="304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985" y="3676987"/>
            <a:ext cx="1066482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600" b="1" dirty="0" err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提取后频</a:t>
            </a:r>
            <a:endParaRPr 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98000"/>
              </a:lnSpc>
              <a:buNone/>
            </a:pPr>
            <a:r>
              <a:rPr lang="en-US" sz="1600" b="1" dirty="0" err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谱信号</a:t>
            </a:r>
            <a:endParaRPr 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（时频谱）</a:t>
            </a:r>
          </a:p>
        </p:txBody>
      </p:sp>
      <p:sp>
        <p:nvSpPr>
          <p:cNvPr id="32" name="Shape 29"/>
          <p:cNvSpPr/>
          <p:nvPr/>
        </p:nvSpPr>
        <p:spPr>
          <a:xfrm>
            <a:off x="1900555" y="3180422"/>
            <a:ext cx="274320" cy="318350"/>
          </a:xfrm>
          <a:prstGeom prst="rightArrow">
            <a:avLst>
              <a:gd name="adj1" fmla="val 50000"/>
              <a:gd name="adj2" fmla="val 52315"/>
            </a:avLst>
          </a:prstGeom>
          <a:solidFill>
            <a:srgbClr val="2E54A1"/>
          </a:solidFill>
        </p:spPr>
      </p:sp>
      <p:sp>
        <p:nvSpPr>
          <p:cNvPr id="35" name="Shape 32"/>
          <p:cNvSpPr/>
          <p:nvPr/>
        </p:nvSpPr>
        <p:spPr>
          <a:xfrm>
            <a:off x="2185035" y="1315808"/>
            <a:ext cx="2697480" cy="3605181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noFill/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78387" y="1304566"/>
            <a:ext cx="2697480" cy="3611819"/>
          </a:xfrm>
          <a:prstGeom prst="roundRect">
            <a:avLst>
              <a:gd name="adj" fmla="val 2034"/>
            </a:avLst>
          </a:prstGeom>
          <a:solidFill>
            <a:srgbClr val="DAE3F5"/>
          </a:solidFill>
          <a:ln w="12700">
            <a:noFill/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03907" y="1516424"/>
            <a:ext cx="2459736" cy="148132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2340483" y="1601260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轻量卷积网络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0405021-E32F-B81A-B911-4817DFC7A2D7}"/>
              </a:ext>
            </a:extLst>
          </p:cNvPr>
          <p:cNvGrpSpPr/>
          <p:nvPr/>
        </p:nvGrpSpPr>
        <p:grpSpPr>
          <a:xfrm>
            <a:off x="2423457" y="2087416"/>
            <a:ext cx="489500" cy="356616"/>
            <a:chOff x="2363343" y="2087416"/>
            <a:chExt cx="512064" cy="384048"/>
          </a:xfrm>
        </p:grpSpPr>
        <p:sp>
          <p:nvSpPr>
            <p:cNvPr id="44" name="Shape 41"/>
            <p:cNvSpPr/>
            <p:nvPr/>
          </p:nvSpPr>
          <p:spPr>
            <a:xfrm>
              <a:off x="2374011" y="2256307"/>
              <a:ext cx="35560" cy="172822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45" name="Shape 42"/>
            <p:cNvSpPr/>
            <p:nvPr/>
          </p:nvSpPr>
          <p:spPr>
            <a:xfrm>
              <a:off x="2430907" y="2164226"/>
              <a:ext cx="35560" cy="307238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46" name="Shape 43"/>
            <p:cNvSpPr/>
            <p:nvPr/>
          </p:nvSpPr>
          <p:spPr>
            <a:xfrm>
              <a:off x="2487803" y="2260238"/>
              <a:ext cx="35560" cy="211226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47" name="Shape 44"/>
            <p:cNvSpPr/>
            <p:nvPr/>
          </p:nvSpPr>
          <p:spPr>
            <a:xfrm>
              <a:off x="2544699" y="2087416"/>
              <a:ext cx="35560" cy="384048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48" name="Shape 45"/>
            <p:cNvSpPr/>
            <p:nvPr/>
          </p:nvSpPr>
          <p:spPr>
            <a:xfrm>
              <a:off x="2601595" y="2202630"/>
              <a:ext cx="35560" cy="268834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49" name="Shape 46"/>
            <p:cNvSpPr/>
            <p:nvPr/>
          </p:nvSpPr>
          <p:spPr>
            <a:xfrm>
              <a:off x="2658491" y="2125821"/>
              <a:ext cx="35560" cy="345643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50" name="Shape 47"/>
            <p:cNvSpPr/>
            <p:nvPr/>
          </p:nvSpPr>
          <p:spPr>
            <a:xfrm>
              <a:off x="2715387" y="2279440"/>
              <a:ext cx="35560" cy="192024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51" name="Shape 48"/>
            <p:cNvSpPr/>
            <p:nvPr/>
          </p:nvSpPr>
          <p:spPr>
            <a:xfrm>
              <a:off x="2772283" y="2171907"/>
              <a:ext cx="35560" cy="299557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52" name="Shape 49"/>
            <p:cNvSpPr/>
            <p:nvPr/>
          </p:nvSpPr>
          <p:spPr>
            <a:xfrm>
              <a:off x="2829179" y="2317845"/>
              <a:ext cx="35560" cy="153619"/>
            </a:xfrm>
            <a:prstGeom prst="rect">
              <a:avLst/>
            </a:prstGeom>
            <a:solidFill>
              <a:srgbClr val="4874CB"/>
            </a:solidFill>
          </p:spPr>
        </p:sp>
        <p:sp>
          <p:nvSpPr>
            <p:cNvPr id="53" name="Shape 50"/>
            <p:cNvSpPr/>
            <p:nvPr/>
          </p:nvSpPr>
          <p:spPr>
            <a:xfrm>
              <a:off x="2363343" y="2471464"/>
              <a:ext cx="512064" cy="0"/>
            </a:xfrm>
            <a:prstGeom prst="line">
              <a:avLst/>
            </a:prstGeom>
            <a:noFill/>
            <a:ln w="9525">
              <a:solidFill>
                <a:srgbClr val="5B6470"/>
              </a:solidFill>
              <a:prstDash val="solid"/>
            </a:ln>
          </p:spPr>
        </p:sp>
      </p:grpSp>
      <p:sp>
        <p:nvSpPr>
          <p:cNvPr id="54" name="Text 51"/>
          <p:cNvSpPr/>
          <p:nvPr/>
        </p:nvSpPr>
        <p:spPr>
          <a:xfrm>
            <a:off x="2295271" y="257662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时频谱</a:t>
            </a:r>
          </a:p>
        </p:txBody>
      </p:sp>
      <p:sp>
        <p:nvSpPr>
          <p:cNvPr id="55" name="Shape 52"/>
          <p:cNvSpPr/>
          <p:nvPr/>
        </p:nvSpPr>
        <p:spPr>
          <a:xfrm>
            <a:off x="2979039" y="2215305"/>
            <a:ext cx="146304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58" name="Text 55"/>
          <p:cNvSpPr/>
          <p:nvPr/>
        </p:nvSpPr>
        <p:spPr>
          <a:xfrm>
            <a:off x="3154108" y="257662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卷积网络</a:t>
            </a:r>
          </a:p>
        </p:txBody>
      </p:sp>
      <p:sp>
        <p:nvSpPr>
          <p:cNvPr id="61" name="Shape 58"/>
          <p:cNvSpPr/>
          <p:nvPr/>
        </p:nvSpPr>
        <p:spPr>
          <a:xfrm>
            <a:off x="4221228" y="2206838"/>
            <a:ext cx="132588" cy="141859"/>
          </a:xfrm>
          <a:prstGeom prst="roundRect">
            <a:avLst>
              <a:gd name="adj" fmla="val 13333"/>
            </a:avLst>
          </a:prstGeom>
          <a:solidFill>
            <a:srgbClr val="4874C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373460" y="2206838"/>
            <a:ext cx="132588" cy="141859"/>
          </a:xfrm>
          <a:prstGeom prst="roundRect">
            <a:avLst>
              <a:gd name="adj" fmla="val 13333"/>
            </a:avLst>
          </a:prstGeom>
          <a:solidFill>
            <a:srgbClr val="159A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525692" y="2206838"/>
            <a:ext cx="132588" cy="141859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012946" y="257662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通用特征</a:t>
            </a:r>
          </a:p>
        </p:txBody>
      </p:sp>
      <p:sp>
        <p:nvSpPr>
          <p:cNvPr id="66" name="Shape 63"/>
          <p:cNvSpPr/>
          <p:nvPr/>
        </p:nvSpPr>
        <p:spPr>
          <a:xfrm>
            <a:off x="2303907" y="3067856"/>
            <a:ext cx="2459736" cy="153289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2340483" y="3159296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信号检测</a:t>
            </a:r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331" y="3679615"/>
            <a:ext cx="436880" cy="43688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2335911" y="420577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海况先验</a:t>
            </a:r>
          </a:p>
        </p:txBody>
      </p:sp>
      <p:sp>
        <p:nvSpPr>
          <p:cNvPr id="70" name="Shape 66"/>
          <p:cNvSpPr/>
          <p:nvPr/>
        </p:nvSpPr>
        <p:spPr>
          <a:xfrm>
            <a:off x="3013710" y="386313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72" name="Text 67"/>
          <p:cNvSpPr/>
          <p:nvPr/>
        </p:nvSpPr>
        <p:spPr>
          <a:xfrm>
            <a:off x="3158871" y="420577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知识门控</a:t>
            </a:r>
          </a:p>
        </p:txBody>
      </p:sp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991" y="3812584"/>
            <a:ext cx="219456" cy="219456"/>
          </a:xfrm>
          <a:prstGeom prst="rect">
            <a:avLst/>
          </a:prstGeom>
        </p:spPr>
      </p:pic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167" y="3812584"/>
            <a:ext cx="219456" cy="219456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3981831" y="420577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弱信号检出</a:t>
            </a:r>
          </a:p>
        </p:txBody>
      </p:sp>
      <p:sp>
        <p:nvSpPr>
          <p:cNvPr id="77" name="Shape 70"/>
          <p:cNvSpPr/>
          <p:nvPr/>
        </p:nvSpPr>
        <p:spPr>
          <a:xfrm>
            <a:off x="5504307" y="1517103"/>
            <a:ext cx="2459736" cy="1480649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8" name="Text 71"/>
          <p:cNvSpPr/>
          <p:nvPr/>
        </p:nvSpPr>
        <p:spPr>
          <a:xfrm>
            <a:off x="5540883" y="1608880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</a:t>
            </a:r>
          </a:p>
        </p:txBody>
      </p:sp>
      <p:pic>
        <p:nvPicPr>
          <p:cNvPr id="7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0131" y="2067311"/>
            <a:ext cx="450626" cy="450626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5536311" y="26756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少量样本</a:t>
            </a:r>
          </a:p>
        </p:txBody>
      </p:sp>
      <p:sp>
        <p:nvSpPr>
          <p:cNvPr id="81" name="Shape 73"/>
          <p:cNvSpPr/>
          <p:nvPr/>
        </p:nvSpPr>
        <p:spPr>
          <a:xfrm>
            <a:off x="6213475" y="2234355"/>
            <a:ext cx="18732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83" name="Text 74"/>
          <p:cNvSpPr/>
          <p:nvPr/>
        </p:nvSpPr>
        <p:spPr>
          <a:xfrm>
            <a:off x="6359271" y="26756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原型网络</a:t>
            </a:r>
          </a:p>
        </p:txBody>
      </p:sp>
      <p:sp>
        <p:nvSpPr>
          <p:cNvPr id="84" name="Shape 75"/>
          <p:cNvSpPr/>
          <p:nvPr/>
        </p:nvSpPr>
        <p:spPr>
          <a:xfrm>
            <a:off x="7052945" y="222991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pic>
        <p:nvPicPr>
          <p:cNvPr id="8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4631" y="2067311"/>
            <a:ext cx="475488" cy="475488"/>
          </a:xfrm>
          <a:prstGeom prst="rect">
            <a:avLst/>
          </a:prstGeom>
        </p:spPr>
      </p:pic>
      <p:sp>
        <p:nvSpPr>
          <p:cNvPr id="86" name="Text 76"/>
          <p:cNvSpPr/>
          <p:nvPr/>
        </p:nvSpPr>
        <p:spPr>
          <a:xfrm>
            <a:off x="7182231" y="26756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类原型</a:t>
            </a:r>
          </a:p>
        </p:txBody>
      </p:sp>
      <p:sp>
        <p:nvSpPr>
          <p:cNvPr id="87" name="Shape 77"/>
          <p:cNvSpPr/>
          <p:nvPr/>
        </p:nvSpPr>
        <p:spPr>
          <a:xfrm>
            <a:off x="5504307" y="3067856"/>
            <a:ext cx="2459736" cy="153289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noFill/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8" name="Text 78"/>
          <p:cNvSpPr/>
          <p:nvPr/>
        </p:nvSpPr>
        <p:spPr>
          <a:xfrm>
            <a:off x="5540883" y="3147869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类型判定</a:t>
            </a:r>
          </a:p>
        </p:txBody>
      </p:sp>
      <p:pic>
        <p:nvPicPr>
          <p:cNvPr id="8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8132" y="3557066"/>
            <a:ext cx="485940" cy="485940"/>
          </a:xfrm>
          <a:prstGeom prst="rect">
            <a:avLst/>
          </a:prstGeom>
        </p:spPr>
      </p:pic>
      <p:sp>
        <p:nvSpPr>
          <p:cNvPr id="90" name="Text 79"/>
          <p:cNvSpPr/>
          <p:nvPr/>
        </p:nvSpPr>
        <p:spPr>
          <a:xfrm>
            <a:off x="5536311" y="420704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比对距离</a:t>
            </a:r>
          </a:p>
        </p:txBody>
      </p:sp>
      <p:sp>
        <p:nvSpPr>
          <p:cNvPr id="93" name="Text 81"/>
          <p:cNvSpPr/>
          <p:nvPr/>
        </p:nvSpPr>
        <p:spPr>
          <a:xfrm>
            <a:off x="6359271" y="420704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判定网络</a:t>
            </a:r>
          </a:p>
        </p:txBody>
      </p:sp>
      <p:pic>
        <p:nvPicPr>
          <p:cNvPr id="9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8700" y="3597667"/>
            <a:ext cx="440262" cy="440262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7182231" y="420704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开集回写</a:t>
            </a:r>
          </a:p>
        </p:txBody>
      </p:sp>
      <p:sp>
        <p:nvSpPr>
          <p:cNvPr id="97" name="Shape 84"/>
          <p:cNvSpPr/>
          <p:nvPr/>
        </p:nvSpPr>
        <p:spPr>
          <a:xfrm>
            <a:off x="8712137" y="1517103"/>
            <a:ext cx="2459736" cy="1480649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8" name="Text 85"/>
          <p:cNvSpPr/>
          <p:nvPr/>
        </p:nvSpPr>
        <p:spPr>
          <a:xfrm>
            <a:off x="8777224" y="1603165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滤波网络</a:t>
            </a:r>
          </a:p>
        </p:txBody>
      </p:sp>
      <p:pic>
        <p:nvPicPr>
          <p:cNvPr id="9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6246" y="2024750"/>
            <a:ext cx="473422" cy="473422"/>
          </a:xfrm>
          <a:prstGeom prst="rect">
            <a:avLst/>
          </a:prstGeom>
        </p:spPr>
      </p:pic>
      <p:sp>
        <p:nvSpPr>
          <p:cNvPr id="100" name="Text 86"/>
          <p:cNvSpPr/>
          <p:nvPr/>
        </p:nvSpPr>
        <p:spPr>
          <a:xfrm>
            <a:off x="8736711" y="268298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多源观测</a:t>
            </a:r>
          </a:p>
        </p:txBody>
      </p:sp>
      <p:sp>
        <p:nvSpPr>
          <p:cNvPr id="103" name="Text 89"/>
          <p:cNvSpPr/>
          <p:nvPr/>
        </p:nvSpPr>
        <p:spPr>
          <a:xfrm>
            <a:off x="9651111" y="2181904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EKF</a:t>
            </a:r>
            <a:endParaRPr lang="en-US" sz="1100" dirty="0"/>
          </a:p>
        </p:txBody>
      </p:sp>
      <p:sp>
        <p:nvSpPr>
          <p:cNvPr id="104" name="Text 90"/>
          <p:cNvSpPr/>
          <p:nvPr/>
        </p:nvSpPr>
        <p:spPr>
          <a:xfrm>
            <a:off x="9559671" y="268298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滤波网络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E4091E-A588-F1B1-75B4-FD2EFEE819AE}"/>
              </a:ext>
            </a:extLst>
          </p:cNvPr>
          <p:cNvGrpSpPr/>
          <p:nvPr/>
        </p:nvGrpSpPr>
        <p:grpSpPr>
          <a:xfrm>
            <a:off x="10592065" y="2175304"/>
            <a:ext cx="434340" cy="278892"/>
            <a:chOff x="10423779" y="2181904"/>
            <a:chExt cx="690372" cy="324612"/>
          </a:xfrm>
        </p:grpSpPr>
        <p:sp>
          <p:nvSpPr>
            <p:cNvPr id="106" name="Shape 92"/>
            <p:cNvSpPr/>
            <p:nvPr/>
          </p:nvSpPr>
          <p:spPr>
            <a:xfrm>
              <a:off x="10455783" y="2309920"/>
              <a:ext cx="201168" cy="164592"/>
            </a:xfrm>
            <a:prstGeom prst="line">
              <a:avLst/>
            </a:prstGeom>
            <a:noFill/>
            <a:ln w="25400">
              <a:solidFill>
                <a:srgbClr val="4874CB"/>
              </a:solidFill>
              <a:prstDash val="solid"/>
            </a:ln>
          </p:spPr>
        </p:sp>
        <p:sp>
          <p:nvSpPr>
            <p:cNvPr id="107" name="Shape 93"/>
            <p:cNvSpPr/>
            <p:nvPr/>
          </p:nvSpPr>
          <p:spPr>
            <a:xfrm>
              <a:off x="10656951" y="2309920"/>
              <a:ext cx="182880" cy="100584"/>
            </a:xfrm>
            <a:prstGeom prst="line">
              <a:avLst/>
            </a:prstGeom>
            <a:noFill/>
            <a:ln w="25400">
              <a:solidFill>
                <a:srgbClr val="4874CB"/>
              </a:solidFill>
              <a:prstDash val="solid"/>
            </a:ln>
          </p:spPr>
        </p:sp>
        <p:sp>
          <p:nvSpPr>
            <p:cNvPr id="108" name="Shape 94"/>
            <p:cNvSpPr/>
            <p:nvPr/>
          </p:nvSpPr>
          <p:spPr>
            <a:xfrm>
              <a:off x="10839831" y="2236768"/>
              <a:ext cx="164592" cy="173736"/>
            </a:xfrm>
            <a:prstGeom prst="line">
              <a:avLst/>
            </a:prstGeom>
            <a:noFill/>
            <a:ln w="25400">
              <a:solidFill>
                <a:srgbClr val="4874CB"/>
              </a:solidFill>
              <a:prstDash val="solid"/>
            </a:ln>
          </p:spPr>
        </p:sp>
        <p:sp>
          <p:nvSpPr>
            <p:cNvPr id="109" name="Shape 95"/>
            <p:cNvSpPr/>
            <p:nvPr/>
          </p:nvSpPr>
          <p:spPr>
            <a:xfrm>
              <a:off x="10423779" y="2442508"/>
              <a:ext cx="64008" cy="64008"/>
            </a:xfrm>
            <a:prstGeom prst="ellipse">
              <a:avLst/>
            </a:prstGeom>
            <a:solidFill>
              <a:srgbClr val="4874CB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0" name="Shape 96"/>
            <p:cNvSpPr/>
            <p:nvPr/>
          </p:nvSpPr>
          <p:spPr>
            <a:xfrm>
              <a:off x="10624947" y="2277916"/>
              <a:ext cx="64008" cy="64008"/>
            </a:xfrm>
            <a:prstGeom prst="ellipse">
              <a:avLst/>
            </a:prstGeom>
            <a:solidFill>
              <a:srgbClr val="4874CB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1" name="Shape 97"/>
            <p:cNvSpPr/>
            <p:nvPr/>
          </p:nvSpPr>
          <p:spPr>
            <a:xfrm>
              <a:off x="10807827" y="2378500"/>
              <a:ext cx="64008" cy="64008"/>
            </a:xfrm>
            <a:prstGeom prst="ellipse">
              <a:avLst/>
            </a:prstGeom>
            <a:solidFill>
              <a:srgbClr val="4874CB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2" name="Shape 98"/>
            <p:cNvSpPr/>
            <p:nvPr/>
          </p:nvSpPr>
          <p:spPr>
            <a:xfrm>
              <a:off x="10972419" y="2204764"/>
              <a:ext cx="64008" cy="64008"/>
            </a:xfrm>
            <a:prstGeom prst="ellipse">
              <a:avLst/>
            </a:prstGeom>
            <a:solidFill>
              <a:srgbClr val="4874CB"/>
            </a:solidFill>
            <a:ln w="6350">
              <a:solidFill>
                <a:srgbClr val="FFFFFF"/>
              </a:solidFill>
              <a:prstDash val="solid"/>
            </a:ln>
          </p:spPr>
        </p:sp>
        <p:sp>
          <p:nvSpPr>
            <p:cNvPr id="113" name="Shape 99"/>
            <p:cNvSpPr/>
            <p:nvPr/>
          </p:nvSpPr>
          <p:spPr>
            <a:xfrm>
              <a:off x="10986135" y="2181904"/>
              <a:ext cx="128016" cy="109728"/>
            </a:xfrm>
            <a:prstGeom prst="rightArrow">
              <a:avLst/>
            </a:prstGeom>
            <a:solidFill>
              <a:srgbClr val="4874CB"/>
            </a:solidFill>
          </p:spPr>
        </p:sp>
      </p:grpSp>
      <p:sp>
        <p:nvSpPr>
          <p:cNvPr id="114" name="Text 100"/>
          <p:cNvSpPr/>
          <p:nvPr/>
        </p:nvSpPr>
        <p:spPr>
          <a:xfrm>
            <a:off x="10382631" y="2682982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位置速度</a:t>
            </a:r>
          </a:p>
        </p:txBody>
      </p:sp>
      <p:sp>
        <p:nvSpPr>
          <p:cNvPr id="115" name="Shape 101"/>
          <p:cNvSpPr/>
          <p:nvPr/>
        </p:nvSpPr>
        <p:spPr>
          <a:xfrm>
            <a:off x="8704707" y="3062776"/>
            <a:ext cx="2459736" cy="153797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6" name="Text 102"/>
          <p:cNvSpPr/>
          <p:nvPr/>
        </p:nvSpPr>
        <p:spPr>
          <a:xfrm>
            <a:off x="8741283" y="3154216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轨迹分析</a:t>
            </a:r>
          </a:p>
        </p:txBody>
      </p:sp>
      <p:sp>
        <p:nvSpPr>
          <p:cNvPr id="117" name="Shape 103"/>
          <p:cNvSpPr/>
          <p:nvPr/>
        </p:nvSpPr>
        <p:spPr>
          <a:xfrm>
            <a:off x="8828151" y="3619290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E54A1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8" name="Text 104"/>
          <p:cNvSpPr/>
          <p:nvPr/>
        </p:nvSpPr>
        <p:spPr>
          <a:xfrm>
            <a:off x="8828151" y="3619290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GRU</a:t>
            </a:r>
            <a:endParaRPr lang="en-US" sz="1100" dirty="0"/>
          </a:p>
        </p:txBody>
      </p:sp>
      <p:sp>
        <p:nvSpPr>
          <p:cNvPr id="119" name="Text 105"/>
          <p:cNvSpPr/>
          <p:nvPr/>
        </p:nvSpPr>
        <p:spPr>
          <a:xfrm>
            <a:off x="8736711" y="421657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循环网络</a:t>
            </a:r>
          </a:p>
        </p:txBody>
      </p:sp>
      <p:pic>
        <p:nvPicPr>
          <p:cNvPr id="121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0237" y="3589225"/>
            <a:ext cx="446717" cy="446717"/>
          </a:xfrm>
          <a:prstGeom prst="rect">
            <a:avLst/>
          </a:prstGeom>
        </p:spPr>
      </p:pic>
      <p:sp>
        <p:nvSpPr>
          <p:cNvPr id="122" name="Text 107"/>
          <p:cNvSpPr/>
          <p:nvPr/>
        </p:nvSpPr>
        <p:spPr>
          <a:xfrm>
            <a:off x="9559671" y="421657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航路先验</a:t>
            </a:r>
          </a:p>
        </p:txBody>
      </p:sp>
      <p:sp>
        <p:nvSpPr>
          <p:cNvPr id="132" name="Text 117"/>
          <p:cNvSpPr/>
          <p:nvPr/>
        </p:nvSpPr>
        <p:spPr>
          <a:xfrm>
            <a:off x="10382631" y="421657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预测轨迹</a:t>
            </a:r>
          </a:p>
        </p:txBody>
      </p:sp>
      <p:sp>
        <p:nvSpPr>
          <p:cNvPr id="133" name="Shape 118"/>
          <p:cNvSpPr/>
          <p:nvPr/>
        </p:nvSpPr>
        <p:spPr>
          <a:xfrm>
            <a:off x="5027421" y="922866"/>
            <a:ext cx="243586" cy="323301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137" name="Shape 122"/>
          <p:cNvSpPr/>
          <p:nvPr/>
        </p:nvSpPr>
        <p:spPr>
          <a:xfrm>
            <a:off x="3420173" y="4645386"/>
            <a:ext cx="255905" cy="186944"/>
          </a:xfrm>
          <a:prstGeom prst="downArrow">
            <a:avLst/>
          </a:prstGeom>
          <a:solidFill>
            <a:srgbClr val="2E54A1"/>
          </a:solidFill>
        </p:spPr>
      </p:sp>
      <p:sp>
        <p:nvSpPr>
          <p:cNvPr id="140" name="Shape 125"/>
          <p:cNvSpPr/>
          <p:nvPr/>
        </p:nvSpPr>
        <p:spPr>
          <a:xfrm>
            <a:off x="2509061" y="6102536"/>
            <a:ext cx="9098280" cy="397033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2E54A1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1" name="Text 126"/>
          <p:cNvSpPr/>
          <p:nvPr/>
        </p:nvSpPr>
        <p:spPr>
          <a:xfrm>
            <a:off x="2482391" y="6137700"/>
            <a:ext cx="9151620" cy="3536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支撑海域自主侦测的目标级态势认知</a:t>
            </a:r>
            <a:endParaRPr lang="en-US" sz="1600" dirty="0"/>
          </a:p>
        </p:txBody>
      </p:sp>
      <p:sp>
        <p:nvSpPr>
          <p:cNvPr id="142" name="Shape 52"/>
          <p:cNvSpPr/>
          <p:nvPr/>
        </p:nvSpPr>
        <p:spPr>
          <a:xfrm>
            <a:off x="3981831" y="2210860"/>
            <a:ext cx="146304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3" name="Shape 66"/>
          <p:cNvSpPr/>
          <p:nvPr/>
        </p:nvSpPr>
        <p:spPr>
          <a:xfrm>
            <a:off x="3851910" y="386313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4" name="Shape 73"/>
          <p:cNvSpPr/>
          <p:nvPr/>
        </p:nvSpPr>
        <p:spPr>
          <a:xfrm>
            <a:off x="6213475" y="3734225"/>
            <a:ext cx="18732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5" name="Shape 75"/>
          <p:cNvSpPr/>
          <p:nvPr/>
        </p:nvSpPr>
        <p:spPr>
          <a:xfrm>
            <a:off x="7052945" y="374375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7" name="Shape 75"/>
          <p:cNvSpPr/>
          <p:nvPr/>
        </p:nvSpPr>
        <p:spPr>
          <a:xfrm>
            <a:off x="9394825" y="233659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8" name="Shape 75"/>
          <p:cNvSpPr/>
          <p:nvPr/>
        </p:nvSpPr>
        <p:spPr>
          <a:xfrm>
            <a:off x="10233660" y="230992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9" name="Shape 75"/>
          <p:cNvSpPr/>
          <p:nvPr/>
        </p:nvSpPr>
        <p:spPr>
          <a:xfrm>
            <a:off x="9493250" y="372914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50" name="Shape 75"/>
          <p:cNvSpPr/>
          <p:nvPr/>
        </p:nvSpPr>
        <p:spPr>
          <a:xfrm>
            <a:off x="10288270" y="372914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20998" y="5262670"/>
            <a:ext cx="575310" cy="575310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 rot="16200000">
            <a:off x="9493897" y="2317339"/>
            <a:ext cx="4342111" cy="855980"/>
            <a:chOff x="6111" y="893"/>
            <a:chExt cx="7633" cy="1348"/>
          </a:xfrm>
        </p:grpSpPr>
        <p:sp>
          <p:nvSpPr>
            <p:cNvPr id="91" name="Shape 30"/>
            <p:cNvSpPr/>
            <p:nvPr/>
          </p:nvSpPr>
          <p:spPr>
            <a:xfrm>
              <a:off x="6111" y="1112"/>
              <a:ext cx="7371" cy="855"/>
            </a:xfrm>
            <a:prstGeom prst="roundRect">
              <a:avLst>
                <a:gd name="adj" fmla="val 6250"/>
              </a:avLst>
            </a:prstGeom>
            <a:solidFill>
              <a:srgbClr val="DAE3F5"/>
            </a:solidFill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94" name="Text 31"/>
            <p:cNvSpPr/>
            <p:nvPr/>
          </p:nvSpPr>
          <p:spPr>
            <a:xfrm rot="10800000">
              <a:off x="6481" y="893"/>
              <a:ext cx="7263" cy="134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zh-CN" altLang="en-US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混合专家系统</a:t>
              </a: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3578602" y="5427519"/>
            <a:ext cx="1502432" cy="370840"/>
            <a:chOff x="9907" y="851"/>
            <a:chExt cx="2118" cy="584"/>
          </a:xfrm>
        </p:grpSpPr>
        <p:sp>
          <p:nvSpPr>
            <p:cNvPr id="156" name="Shape 33"/>
            <p:cNvSpPr/>
            <p:nvPr/>
          </p:nvSpPr>
          <p:spPr>
            <a:xfrm>
              <a:off x="9907" y="851"/>
              <a:ext cx="2118" cy="584"/>
            </a:xfrm>
            <a:prstGeom prst="roundRect">
              <a:avLst>
                <a:gd name="adj" fmla="val 6250"/>
              </a:avLst>
            </a:prstGeom>
            <a:solidFill>
              <a:srgbClr val="2E54A1"/>
            </a:solidFill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57" name="文本框 156"/>
            <p:cNvSpPr txBox="1"/>
            <p:nvPr/>
          </p:nvSpPr>
          <p:spPr>
            <a:xfrm>
              <a:off x="10016" y="877"/>
              <a:ext cx="1880" cy="46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专家调度员</a:t>
              </a:r>
            </a:p>
          </p:txBody>
        </p:sp>
      </p:grpSp>
      <p:pic>
        <p:nvPicPr>
          <p:cNvPr id="161" name="图片 1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030" y="2292624"/>
            <a:ext cx="791844" cy="791844"/>
          </a:xfrm>
          <a:prstGeom prst="rect">
            <a:avLst/>
          </a:prstGeom>
        </p:spPr>
      </p:pic>
      <p:pic>
        <p:nvPicPr>
          <p:cNvPr id="163" name="图片 1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409" y="1335001"/>
            <a:ext cx="741383" cy="741383"/>
          </a:xfrm>
          <a:prstGeom prst="rect">
            <a:avLst/>
          </a:prstGeom>
        </p:spPr>
      </p:pic>
      <p:pic>
        <p:nvPicPr>
          <p:cNvPr id="165" name="图片 1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1159" y="5552650"/>
            <a:ext cx="684530" cy="684530"/>
          </a:xfrm>
          <a:prstGeom prst="rect">
            <a:avLst/>
          </a:prstGeom>
        </p:spPr>
      </p:pic>
      <p:pic>
        <p:nvPicPr>
          <p:cNvPr id="166" name="图片 16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3336" y="4644092"/>
            <a:ext cx="727456" cy="727456"/>
          </a:xfrm>
          <a:prstGeom prst="rect">
            <a:avLst/>
          </a:prstGeom>
        </p:spPr>
      </p:pic>
      <p:pic>
        <p:nvPicPr>
          <p:cNvPr id="169" name="图片 168" descr="bd1a43903c927de6f9f016d4d1baa125"/>
          <p:cNvPicPr>
            <a:picLocks noChangeAspect="1"/>
          </p:cNvPicPr>
          <p:nvPr/>
        </p:nvPicPr>
        <p:blipFill>
          <a:blip r:embed="rId17"/>
          <a:srcRect l="7632" t="12053" r="5901"/>
          <a:stretch/>
        </p:blipFill>
        <p:spPr>
          <a:xfrm>
            <a:off x="3182535" y="2087416"/>
            <a:ext cx="721366" cy="413252"/>
          </a:xfrm>
          <a:prstGeom prst="rect">
            <a:avLst/>
          </a:prstGeom>
        </p:spPr>
      </p:pic>
      <p:pic>
        <p:nvPicPr>
          <p:cNvPr id="172" name="图片 17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99853" y="3584053"/>
            <a:ext cx="595097" cy="595097"/>
          </a:xfrm>
          <a:prstGeom prst="rect">
            <a:avLst/>
          </a:prstGeom>
        </p:spPr>
      </p:pic>
      <p:pic>
        <p:nvPicPr>
          <p:cNvPr id="173" name="图片 17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5886" y="2052746"/>
            <a:ext cx="475488" cy="475488"/>
          </a:xfrm>
          <a:prstGeom prst="rect">
            <a:avLst/>
          </a:prstGeom>
        </p:spPr>
      </p:pic>
      <p:pic>
        <p:nvPicPr>
          <p:cNvPr id="175" name="图片 17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3691" y="3573530"/>
            <a:ext cx="477092" cy="477092"/>
          </a:xfrm>
          <a:prstGeom prst="rect">
            <a:avLst/>
          </a:prstGeom>
        </p:spPr>
      </p:pic>
      <p:pic>
        <p:nvPicPr>
          <p:cNvPr id="176" name="图片 17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39681" y="2028972"/>
            <a:ext cx="527304" cy="527304"/>
          </a:xfrm>
          <a:prstGeom prst="rect">
            <a:avLst/>
          </a:prstGeom>
        </p:spPr>
      </p:pic>
      <p:pic>
        <p:nvPicPr>
          <p:cNvPr id="178" name="图片 17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26844" y="3525684"/>
            <a:ext cx="521596" cy="521596"/>
          </a:xfrm>
          <a:prstGeom prst="rect">
            <a:avLst/>
          </a:prstGeom>
        </p:spPr>
      </p:pic>
      <p:sp>
        <p:nvSpPr>
          <p:cNvPr id="179" name="Text 81"/>
          <p:cNvSpPr/>
          <p:nvPr/>
        </p:nvSpPr>
        <p:spPr>
          <a:xfrm>
            <a:off x="6167162" y="547620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专家门控</a:t>
            </a:r>
          </a:p>
        </p:txBody>
      </p:sp>
      <p:pic>
        <p:nvPicPr>
          <p:cNvPr id="180" name="图片 17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56597" y="5259717"/>
            <a:ext cx="575310" cy="575310"/>
          </a:xfrm>
          <a:prstGeom prst="rect">
            <a:avLst/>
          </a:prstGeom>
        </p:spPr>
      </p:pic>
      <p:sp>
        <p:nvSpPr>
          <p:cNvPr id="18" name="Text 51"/>
          <p:cNvSpPr/>
          <p:nvPr/>
        </p:nvSpPr>
        <p:spPr>
          <a:xfrm>
            <a:off x="7134987" y="520929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检测专家</a:t>
            </a:r>
          </a:p>
        </p:txBody>
      </p:sp>
      <p:sp>
        <p:nvSpPr>
          <p:cNvPr id="19" name="Text 51"/>
          <p:cNvSpPr/>
          <p:nvPr/>
        </p:nvSpPr>
        <p:spPr>
          <a:xfrm>
            <a:off x="7128002" y="550122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识别专家</a:t>
            </a:r>
          </a:p>
        </p:txBody>
      </p:sp>
      <p:sp>
        <p:nvSpPr>
          <p:cNvPr id="20" name="Text 51"/>
          <p:cNvSpPr/>
          <p:nvPr/>
        </p:nvSpPr>
        <p:spPr>
          <a:xfrm>
            <a:off x="7132447" y="5812119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分析专家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7878191" y="5227706"/>
            <a:ext cx="587375" cy="14605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7882636" y="5517730"/>
            <a:ext cx="809625" cy="14605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7877556" y="5817834"/>
            <a:ext cx="1726565" cy="14605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rgbClr val="FF0000"/>
              </a:gs>
              <a:gs pos="83000">
                <a:srgbClr val="FCA492"/>
              </a:gs>
              <a:gs pos="100000">
                <a:srgbClr val="FC022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 descr="对,正确,打勾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70237" y="5723350"/>
            <a:ext cx="305435" cy="305435"/>
          </a:xfrm>
          <a:prstGeom prst="rect">
            <a:avLst/>
          </a:prstGeom>
        </p:spPr>
      </p:pic>
      <p:sp>
        <p:nvSpPr>
          <p:cNvPr id="29" name="Text 28"/>
          <p:cNvSpPr/>
          <p:nvPr/>
        </p:nvSpPr>
        <p:spPr>
          <a:xfrm>
            <a:off x="9111615" y="5303705"/>
            <a:ext cx="2379028" cy="225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zh-CN" altLang="en-US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各专家模型通过权重分配合作</a:t>
            </a:r>
          </a:p>
        </p:txBody>
      </p:sp>
      <p:sp>
        <p:nvSpPr>
          <p:cNvPr id="7" name="Shape 118">
            <a:extLst>
              <a:ext uri="{FF2B5EF4-FFF2-40B4-BE49-F238E27FC236}">
                <a16:creationId xmlns:a16="http://schemas.microsoft.com/office/drawing/2014/main" id="{60505270-1A20-A5D0-5A5D-856C22BCCB18}"/>
              </a:ext>
            </a:extLst>
          </p:cNvPr>
          <p:cNvSpPr/>
          <p:nvPr/>
        </p:nvSpPr>
        <p:spPr>
          <a:xfrm>
            <a:off x="8207756" y="922866"/>
            <a:ext cx="243586" cy="323301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33" name="Shape 30"/>
          <p:cNvSpPr/>
          <p:nvPr/>
        </p:nvSpPr>
        <p:spPr>
          <a:xfrm>
            <a:off x="2185035" y="716705"/>
            <a:ext cx="2697480" cy="711835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2185035" y="646220"/>
            <a:ext cx="2697480" cy="8559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信号检测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专家模型</a:t>
            </a:r>
          </a:p>
        </p:txBody>
      </p:sp>
      <p:sp>
        <p:nvSpPr>
          <p:cNvPr id="39" name="Shape 36"/>
          <p:cNvSpPr/>
          <p:nvPr/>
        </p:nvSpPr>
        <p:spPr>
          <a:xfrm>
            <a:off x="8585835" y="716705"/>
            <a:ext cx="2697480" cy="709295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611235" y="646474"/>
            <a:ext cx="2697480" cy="87782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分析专家模型</a:t>
            </a:r>
          </a:p>
        </p:txBody>
      </p:sp>
      <p:sp>
        <p:nvSpPr>
          <p:cNvPr id="25" name="Shape 122">
            <a:extLst>
              <a:ext uri="{FF2B5EF4-FFF2-40B4-BE49-F238E27FC236}">
                <a16:creationId xmlns:a16="http://schemas.microsoft.com/office/drawing/2014/main" id="{F52C63D2-68D8-69CC-2BB6-648FF0C1C216}"/>
              </a:ext>
            </a:extLst>
          </p:cNvPr>
          <p:cNvSpPr/>
          <p:nvPr/>
        </p:nvSpPr>
        <p:spPr>
          <a:xfrm>
            <a:off x="9863455" y="4645386"/>
            <a:ext cx="255905" cy="186944"/>
          </a:xfrm>
          <a:prstGeom prst="downArrow">
            <a:avLst/>
          </a:prstGeom>
          <a:solidFill>
            <a:srgbClr val="2E54A1"/>
          </a:solidFill>
        </p:spPr>
      </p:sp>
      <p:sp>
        <p:nvSpPr>
          <p:cNvPr id="36" name="Shape 33"/>
          <p:cNvSpPr/>
          <p:nvPr/>
        </p:nvSpPr>
        <p:spPr>
          <a:xfrm>
            <a:off x="5385435" y="716705"/>
            <a:ext cx="2697480" cy="710565"/>
          </a:xfrm>
          <a:prstGeom prst="roundRect">
            <a:avLst>
              <a:gd name="adj" fmla="val 6250"/>
            </a:avLst>
          </a:prstGeom>
          <a:solidFill>
            <a:srgbClr val="2E54A1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385435" y="715435"/>
            <a:ext cx="2697480" cy="711835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小样本识别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专家模型</a:t>
            </a:r>
          </a:p>
        </p:txBody>
      </p:sp>
      <p:sp>
        <p:nvSpPr>
          <p:cNvPr id="26" name="Shape 122">
            <a:extLst>
              <a:ext uri="{FF2B5EF4-FFF2-40B4-BE49-F238E27FC236}">
                <a16:creationId xmlns:a16="http://schemas.microsoft.com/office/drawing/2014/main" id="{2C5BCAF3-60E9-399A-A686-2129480C203B}"/>
              </a:ext>
            </a:extLst>
          </p:cNvPr>
          <p:cNvSpPr/>
          <p:nvPr/>
        </p:nvSpPr>
        <p:spPr>
          <a:xfrm>
            <a:off x="6558597" y="4645386"/>
            <a:ext cx="255905" cy="186944"/>
          </a:xfrm>
          <a:prstGeom prst="downArrow">
            <a:avLst/>
          </a:prstGeom>
          <a:solidFill>
            <a:srgbClr val="2E54A1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90</Words>
  <Application>Microsoft Office PowerPoint</Application>
  <PresentationFormat>宽屏</PresentationFormat>
  <Paragraphs>43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UI-BAI</cp:lastModifiedBy>
  <cp:revision>22</cp:revision>
  <dcterms:created xsi:type="dcterms:W3CDTF">2026-06-15T09:04:00Z</dcterms:created>
  <dcterms:modified xsi:type="dcterms:W3CDTF">2026-06-23T08:49:10Z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952B3A9FE77248C1BE7430D399E75C04_13</vt:lpwstr>
  </property>
  <property fmtid="{D5CDD505-2E9C-101B-9397-08002B2CF9AE}" pid="3" name="KSOProductBuildVer">
    <vt:lpwstr>2052-12.1.0.26895</vt:lpwstr>
  </property>
</Properties>
</file>