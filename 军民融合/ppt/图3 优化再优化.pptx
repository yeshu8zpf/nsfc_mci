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heme/theme2.xml" ContentType="application/vnd.openxmlformats-officedocument.theme+xml"/>
  <Override PartName="/ppt/tags/tag63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9" r:id="rId2"/>
  </p:sldIdLst>
  <p:sldSz cx="7559675" cy="1069181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36" userDrawn="1">
          <p15:clr>
            <a:srgbClr val="A4A3A4"/>
          </p15:clr>
        </p15:guide>
        <p15:guide id="2" pos="2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DCE0"/>
    <a:srgbClr val="C00000"/>
    <a:srgbClr val="2E54A1"/>
    <a:srgbClr val="DEEBF7"/>
    <a:srgbClr val="4874CB"/>
    <a:srgbClr val="FFFFFF"/>
    <a:srgbClr val="DCDCDC"/>
    <a:srgbClr val="F0F0F0"/>
    <a:srgbClr val="E6E6E6"/>
    <a:srgbClr val="C8C8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07" autoAdjust="0"/>
    <p:restoredTop sz="94660"/>
  </p:normalViewPr>
  <p:slideViewPr>
    <p:cSldViewPr snapToGrid="0" showGuides="1">
      <p:cViewPr>
        <p:scale>
          <a:sx n="50" d="100"/>
          <a:sy n="50" d="100"/>
        </p:scale>
        <p:origin x="2175" y="18"/>
      </p:cViewPr>
      <p:guideLst>
        <p:guide orient="horz" pos="3336"/>
        <p:guide pos="2332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37954" y="1143000"/>
            <a:ext cx="2182091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6.xml"/><Relationship Id="rId4" Type="http://schemas.openxmlformats.org/officeDocument/2006/relationships/tags" Target="../tags/tag15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1.xml"/><Relationship Id="rId4" Type="http://schemas.openxmlformats.org/officeDocument/2006/relationships/tags" Target="../tags/tag20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9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7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2.xml"/><Relationship Id="rId4" Type="http://schemas.openxmlformats.org/officeDocument/2006/relationships/tags" Target="../tags/tag6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743385" y="1425610"/>
            <a:ext cx="6076557" cy="4007425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496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743385" y="5550901"/>
            <a:ext cx="6076557" cy="229557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1985" spc="200"/>
            </a:lvl1pPr>
            <a:lvl2pPr marL="377825" indent="0" algn="ctr">
              <a:buNone/>
              <a:defRPr sz="1650"/>
            </a:lvl2pPr>
            <a:lvl3pPr marL="755650" indent="0" algn="ctr">
              <a:buNone/>
              <a:defRPr sz="1490"/>
            </a:lvl3pPr>
            <a:lvl4pPr marL="1134110" indent="0" algn="ctr">
              <a:buNone/>
              <a:defRPr sz="1325"/>
            </a:lvl4pPr>
            <a:lvl5pPr marL="1511935" indent="0" algn="ctr">
              <a:buNone/>
              <a:defRPr sz="1325"/>
            </a:lvl5pPr>
            <a:lvl6pPr marL="1889760" indent="0" algn="ctr">
              <a:buNone/>
              <a:defRPr sz="1325"/>
            </a:lvl6pPr>
            <a:lvl7pPr marL="2268220" indent="0" algn="ctr">
              <a:buNone/>
              <a:defRPr sz="1325"/>
            </a:lvl7pPr>
            <a:lvl8pPr marL="2646045" indent="0" algn="ctr">
              <a:buNone/>
              <a:defRPr sz="1325"/>
            </a:lvl8pPr>
            <a:lvl9pPr marL="3024505" indent="0" algn="ctr">
              <a:buNone/>
              <a:defRPr sz="1325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77273" y="948536"/>
            <a:ext cx="6802083" cy="1100077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377273" y="2323633"/>
            <a:ext cx="6802083" cy="7419909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234510" y="5999911"/>
            <a:ext cx="4817491" cy="1195492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3635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234510" y="7195404"/>
            <a:ext cx="4817491" cy="1352646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49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77825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2pPr>
            <a:lvl3pPr marL="755650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3pPr>
            <a:lvl4pPr marL="1134110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4pPr>
            <a:lvl5pPr marL="1511935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5pPr>
            <a:lvl6pPr marL="1889760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6pPr>
            <a:lvl7pPr marL="2268220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7pPr>
            <a:lvl8pPr marL="2646045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8pPr>
            <a:lvl9pPr marL="3024505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77273" y="948536"/>
            <a:ext cx="6802083" cy="1100077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377273" y="2340471"/>
            <a:ext cx="3210173" cy="7403071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3975881" y="2340471"/>
            <a:ext cx="3210173" cy="7403071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77273" y="948536"/>
            <a:ext cx="6802083" cy="1100077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377273" y="2228218"/>
            <a:ext cx="3312862" cy="59494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65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77825" indent="0">
              <a:buNone/>
              <a:defRPr sz="1650" b="1"/>
            </a:lvl2pPr>
            <a:lvl3pPr marL="755650" indent="0">
              <a:buNone/>
              <a:defRPr sz="1490" b="1"/>
            </a:lvl3pPr>
            <a:lvl4pPr marL="1134110" indent="0">
              <a:buNone/>
              <a:defRPr sz="1325" b="1"/>
            </a:lvl4pPr>
            <a:lvl5pPr marL="1511935" indent="0">
              <a:buNone/>
              <a:defRPr sz="1325" b="1"/>
            </a:lvl5pPr>
            <a:lvl6pPr marL="1889760" indent="0">
              <a:buNone/>
              <a:defRPr sz="1325" b="1"/>
            </a:lvl6pPr>
            <a:lvl7pPr marL="2268220" indent="0">
              <a:buNone/>
              <a:defRPr sz="1325" b="1"/>
            </a:lvl7pPr>
            <a:lvl8pPr marL="2646045" indent="0">
              <a:buNone/>
              <a:defRPr sz="1325" b="1"/>
            </a:lvl8pPr>
            <a:lvl9pPr marL="3024505" indent="0">
              <a:buNone/>
              <a:defRPr sz="1325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377273" y="2890509"/>
            <a:ext cx="3312862" cy="6853033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3866835" y="2216570"/>
            <a:ext cx="3312862" cy="59494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65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77825" indent="0">
              <a:buNone/>
              <a:defRPr sz="1650" b="1"/>
            </a:lvl2pPr>
            <a:lvl3pPr marL="755650" indent="0">
              <a:buNone/>
              <a:defRPr sz="1490" b="1"/>
            </a:lvl3pPr>
            <a:lvl4pPr marL="1134110" indent="0">
              <a:buNone/>
              <a:defRPr sz="1325" b="1"/>
            </a:lvl4pPr>
            <a:lvl5pPr marL="1511935" indent="0">
              <a:buNone/>
              <a:defRPr sz="1325" b="1"/>
            </a:lvl5pPr>
            <a:lvl6pPr marL="1889760" indent="0">
              <a:buNone/>
              <a:defRPr sz="1325" b="1"/>
            </a:lvl6pPr>
            <a:lvl7pPr marL="2268220" indent="0">
              <a:buNone/>
              <a:defRPr sz="1325" b="1"/>
            </a:lvl7pPr>
            <a:lvl8pPr marL="2646045" indent="0">
              <a:buNone/>
              <a:defRPr sz="1325" b="1"/>
            </a:lvl8pPr>
            <a:lvl9pPr marL="3024505" indent="0">
              <a:buNone/>
              <a:defRPr sz="1325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3866835" y="2890509"/>
            <a:ext cx="3312862" cy="6853033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77273" y="948536"/>
            <a:ext cx="6802083" cy="1100077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377273" y="2424660"/>
            <a:ext cx="3245070" cy="7184179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325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3937930" y="2424660"/>
            <a:ext cx="3241426" cy="7184179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325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2026/6/24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6346676" y="1425610"/>
            <a:ext cx="647392" cy="7840857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315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567026" y="1425610"/>
            <a:ext cx="5685890" cy="7840857"/>
          </a:xfrm>
        </p:spPr>
        <p:txBody>
          <a:bodyPr vert="eaVert" lIns="46800" tIns="46800" rIns="46800" bIns="46800"/>
          <a:lstStyle>
            <a:lvl1pPr marL="189230" indent="-189230">
              <a:spcAft>
                <a:spcPts val="1000"/>
              </a:spcAft>
              <a:defRPr spc="300"/>
            </a:lvl1pPr>
            <a:lvl2pPr marL="567055" indent="-189230">
              <a:defRPr spc="300"/>
            </a:lvl2pPr>
            <a:lvl3pPr marL="944880" indent="-189230">
              <a:defRPr spc="300"/>
            </a:lvl3pPr>
            <a:lvl4pPr marL="1322705" indent="-189230">
              <a:defRPr spc="300"/>
            </a:lvl4pPr>
            <a:lvl5pPr marL="1701165" indent="-18923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377273" y="1206718"/>
            <a:ext cx="6804315" cy="854805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743385" y="3872721"/>
            <a:ext cx="6076557" cy="1588377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496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743385" y="5550901"/>
            <a:ext cx="6076557" cy="735256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1985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18" Type="http://schemas.openxmlformats.org/officeDocument/2006/relationships/tags" Target="../tags/tag6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377273" y="948536"/>
            <a:ext cx="6802083" cy="1100077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377273" y="2323633"/>
            <a:ext cx="6802083" cy="7419909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379506" y="9844569"/>
            <a:ext cx="1674290" cy="4939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3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2552362" y="9844569"/>
            <a:ext cx="2455626" cy="4939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83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5505066" y="9844569"/>
            <a:ext cx="1674290" cy="4939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83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755650" rtl="0" eaLnBrk="1" fontAlgn="auto" latinLnBrk="0" hangingPunct="1">
        <a:lnSpc>
          <a:spcPct val="100000"/>
        </a:lnSpc>
        <a:spcBef>
          <a:spcPct val="0"/>
        </a:spcBef>
        <a:buNone/>
        <a:defRPr sz="2975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189230" indent="-189230" algn="l" defTabSz="755650" rtl="0" eaLnBrk="1" fontAlgn="auto" latinLnBrk="0" hangingPunct="1">
        <a:lnSpc>
          <a:spcPct val="130000"/>
        </a:lnSpc>
        <a:spcBef>
          <a:spcPct val="0"/>
        </a:spcBef>
        <a:spcAft>
          <a:spcPts val="1000"/>
        </a:spcAft>
        <a:buFont typeface="Arial" panose="020B0604020202020204" pitchFamily="34" charset="0"/>
        <a:buChar char="●"/>
        <a:defRPr sz="149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567055" indent="-189230" algn="l" defTabSz="755650" rtl="0" eaLnBrk="1" fontAlgn="auto" latinLnBrk="0" hangingPunct="1">
        <a:lnSpc>
          <a:spcPct val="120000"/>
        </a:lnSpc>
        <a:spcBef>
          <a:spcPct val="0"/>
        </a:spcBef>
        <a:spcAft>
          <a:spcPts val="600"/>
        </a:spcAft>
        <a:buFont typeface="Arial" panose="020B0604020202020204" pitchFamily="34" charset="0"/>
        <a:buChar char="●"/>
        <a:tabLst>
          <a:tab pos="1330960" algn="l"/>
          <a:tab pos="1330960" algn="l"/>
          <a:tab pos="1330960" algn="l"/>
          <a:tab pos="1330960" algn="l"/>
        </a:tabLst>
        <a:defRPr sz="132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944880" indent="-189230" algn="l" defTabSz="755650" rtl="0" eaLnBrk="1" fontAlgn="auto" latinLnBrk="0" hangingPunct="1">
        <a:lnSpc>
          <a:spcPct val="120000"/>
        </a:lnSpc>
        <a:spcBef>
          <a:spcPct val="0"/>
        </a:spcBef>
        <a:spcAft>
          <a:spcPts val="600"/>
        </a:spcAft>
        <a:buFont typeface="Arial" panose="020B0604020202020204" pitchFamily="34" charset="0"/>
        <a:buChar char="●"/>
        <a:defRPr sz="132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322705" indent="-189230" algn="l" defTabSz="755650" rtl="0" eaLnBrk="1" fontAlgn="auto" latinLnBrk="0" hangingPunct="1">
        <a:lnSpc>
          <a:spcPct val="120000"/>
        </a:lnSpc>
        <a:spcBef>
          <a:spcPct val="0"/>
        </a:spcBef>
        <a:spcAft>
          <a:spcPts val="300"/>
        </a:spcAft>
        <a:buFont typeface="Wingdings" panose="05000000000000000000" charset="0"/>
        <a:buChar char=""/>
        <a:defRPr sz="115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1701165" indent="-189230" algn="l" defTabSz="755650" rtl="0" eaLnBrk="1" fontAlgn="auto" latinLnBrk="0" hangingPunct="1">
        <a:lnSpc>
          <a:spcPct val="120000"/>
        </a:lnSpc>
        <a:spcBef>
          <a:spcPct val="0"/>
        </a:spcBef>
        <a:spcAft>
          <a:spcPts val="300"/>
        </a:spcAft>
        <a:buFont typeface="Arial" panose="020B0604020202020204" pitchFamily="34" charset="0"/>
        <a:buChar char="•"/>
        <a:defRPr sz="115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078990" indent="-189230" algn="l" defTabSz="755650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6pPr>
      <a:lvl7pPr marL="2457450" indent="-189230" algn="l" defTabSz="755650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7pPr>
      <a:lvl8pPr marL="2835275" indent="-189230" algn="l" defTabSz="755650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8pPr>
      <a:lvl9pPr marL="3213100" indent="-189230" algn="l" defTabSz="755650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1pPr>
      <a:lvl2pPr marL="377825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2pPr>
      <a:lvl3pPr marL="755650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3pPr>
      <a:lvl4pPr marL="1134110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4pPr>
      <a:lvl5pPr marL="1511935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5pPr>
      <a:lvl6pPr marL="1889760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6pPr>
      <a:lvl7pPr marL="2268220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7pPr>
      <a:lvl8pPr marL="2646045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8pPr>
      <a:lvl9pPr marL="3024505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jpe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4.png"/><Relationship Id="rId12" Type="http://schemas.openxmlformats.org/officeDocument/2006/relationships/image" Target="../media/image9.jpe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3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5" Type="http://schemas.openxmlformats.org/officeDocument/2006/relationships/image" Target="../media/image12.jpe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圆角矩形 108"/>
          <p:cNvSpPr/>
          <p:nvPr/>
        </p:nvSpPr>
        <p:spPr>
          <a:xfrm>
            <a:off x="1136015" y="317817"/>
            <a:ext cx="5434330" cy="334645"/>
          </a:xfrm>
          <a:prstGeom prst="roundRect">
            <a:avLst>
              <a:gd name="adj" fmla="val 5000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海杂波场景电磁频谱数据智能处理机理与方法</a:t>
            </a:r>
          </a:p>
        </p:txBody>
      </p:sp>
      <p:sp>
        <p:nvSpPr>
          <p:cNvPr id="2" name="圆角矩形 1"/>
          <p:cNvSpPr/>
          <p:nvPr/>
        </p:nvSpPr>
        <p:spPr>
          <a:xfrm>
            <a:off x="346075" y="123824"/>
            <a:ext cx="6867525" cy="10458451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/>
          </a:p>
        </p:txBody>
      </p:sp>
      <p:sp>
        <p:nvSpPr>
          <p:cNvPr id="127" name="矩形: 圆角 3"/>
          <p:cNvSpPr/>
          <p:nvPr/>
        </p:nvSpPr>
        <p:spPr>
          <a:xfrm>
            <a:off x="977900" y="4789170"/>
            <a:ext cx="5850890" cy="1647190"/>
          </a:xfrm>
          <a:prstGeom prst="roundRect">
            <a:avLst>
              <a:gd name="adj" fmla="val 10777"/>
            </a:avLst>
          </a:prstGeom>
          <a:solidFill>
            <a:srgbClr val="FBDCE0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1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88" name="矩形: 圆角 3"/>
          <p:cNvSpPr/>
          <p:nvPr/>
        </p:nvSpPr>
        <p:spPr>
          <a:xfrm>
            <a:off x="977900" y="6802755"/>
            <a:ext cx="5850890" cy="1647190"/>
          </a:xfrm>
          <a:prstGeom prst="roundRect">
            <a:avLst>
              <a:gd name="adj" fmla="val 10777"/>
            </a:avLst>
          </a:prstGeom>
          <a:solidFill>
            <a:srgbClr val="DEEBF7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1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25" name="矩形: 圆角 3"/>
          <p:cNvSpPr/>
          <p:nvPr/>
        </p:nvSpPr>
        <p:spPr>
          <a:xfrm>
            <a:off x="535305" y="8747760"/>
            <a:ext cx="6489700" cy="1682750"/>
          </a:xfrm>
          <a:prstGeom prst="roundRect">
            <a:avLst>
              <a:gd name="adj" fmla="val 15777"/>
            </a:avLst>
          </a:prstGeom>
          <a:solidFill>
            <a:srgbClr val="FBDCE0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1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5" name="矩形: 圆角 1150"/>
          <p:cNvSpPr/>
          <p:nvPr/>
        </p:nvSpPr>
        <p:spPr>
          <a:xfrm>
            <a:off x="3035300" y="9142095"/>
            <a:ext cx="3793490" cy="941705"/>
          </a:xfrm>
          <a:prstGeom prst="roundRect">
            <a:avLst>
              <a:gd name="adj" fmla="val 13863"/>
            </a:avLst>
          </a:prstGeom>
          <a:solidFill>
            <a:schemeClr val="bg1"/>
          </a:solidFill>
          <a:ln w="12700" cmpd="sng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3" name="矩形: 圆角 1150"/>
          <p:cNvSpPr/>
          <p:nvPr/>
        </p:nvSpPr>
        <p:spPr>
          <a:xfrm>
            <a:off x="753110" y="9142095"/>
            <a:ext cx="2169795" cy="941705"/>
          </a:xfrm>
          <a:prstGeom prst="roundRect">
            <a:avLst>
              <a:gd name="adj" fmla="val 13863"/>
            </a:avLst>
          </a:prstGeom>
          <a:solidFill>
            <a:schemeClr val="bg1"/>
          </a:solidFill>
          <a:ln w="12700" cmpd="sng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1098868" y="9701461"/>
            <a:ext cx="642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海杂波</a:t>
            </a:r>
          </a:p>
        </p:txBody>
      </p:sp>
      <p:sp>
        <p:nvSpPr>
          <p:cNvPr id="30" name="文本框 29"/>
          <p:cNvSpPr txBox="1"/>
          <p:nvPr/>
        </p:nvSpPr>
        <p:spPr>
          <a:xfrm>
            <a:off x="1776735" y="9701461"/>
            <a:ext cx="10998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频谱接收设备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3770630" y="9702165"/>
            <a:ext cx="66548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算力</a:t>
            </a:r>
          </a:p>
        </p:txBody>
      </p:sp>
      <p:sp>
        <p:nvSpPr>
          <p:cNvPr id="37" name="文本框 36"/>
          <p:cNvSpPr txBox="1"/>
          <p:nvPr/>
        </p:nvSpPr>
        <p:spPr>
          <a:xfrm>
            <a:off x="4309110" y="9702165"/>
            <a:ext cx="80645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网络</a:t>
            </a:r>
          </a:p>
        </p:txBody>
      </p:sp>
      <p:sp>
        <p:nvSpPr>
          <p:cNvPr id="38" name="文本框 37"/>
          <p:cNvSpPr txBox="1"/>
          <p:nvPr/>
        </p:nvSpPr>
        <p:spPr>
          <a:xfrm>
            <a:off x="4906010" y="9702165"/>
            <a:ext cx="76073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平台</a:t>
            </a:r>
          </a:p>
        </p:txBody>
      </p:sp>
      <p:sp>
        <p:nvSpPr>
          <p:cNvPr id="39" name="文本框 38"/>
          <p:cNvSpPr txBox="1"/>
          <p:nvPr/>
        </p:nvSpPr>
        <p:spPr>
          <a:xfrm>
            <a:off x="5634990" y="9702165"/>
            <a:ext cx="53213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模型</a:t>
            </a:r>
          </a:p>
        </p:txBody>
      </p:sp>
      <p:sp>
        <p:nvSpPr>
          <p:cNvPr id="40" name="文本框 39"/>
          <p:cNvSpPr txBox="1"/>
          <p:nvPr/>
        </p:nvSpPr>
        <p:spPr>
          <a:xfrm>
            <a:off x="6046470" y="9702165"/>
            <a:ext cx="82296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存储</a:t>
            </a:r>
          </a:p>
        </p:txBody>
      </p:sp>
      <p:pic>
        <p:nvPicPr>
          <p:cNvPr id="42" name="Picture 8" descr="Cpu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9525" y="9286875"/>
            <a:ext cx="439420" cy="468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10" descr="Gpu 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9850" y="9279890"/>
            <a:ext cx="446405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7" name="Picture 12" descr="Bandwidth 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3580" y="9300845"/>
            <a:ext cx="405130" cy="432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" name="图片 48" descr="ai-clou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85155" y="9302750"/>
            <a:ext cx="424815" cy="453390"/>
          </a:xfrm>
          <a:prstGeom prst="rect">
            <a:avLst/>
          </a:prstGeom>
        </p:spPr>
      </p:pic>
      <p:pic>
        <p:nvPicPr>
          <p:cNvPr id="50" name="图片 49" descr="disk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50940" y="9349740"/>
            <a:ext cx="359410" cy="383540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66440" y="9302750"/>
            <a:ext cx="403225" cy="430530"/>
          </a:xfrm>
          <a:prstGeom prst="rect">
            <a:avLst/>
          </a:prstGeom>
        </p:spPr>
      </p:pic>
      <p:sp>
        <p:nvSpPr>
          <p:cNvPr id="52" name="文本框 51"/>
          <p:cNvSpPr txBox="1"/>
          <p:nvPr/>
        </p:nvSpPr>
        <p:spPr>
          <a:xfrm>
            <a:off x="3094990" y="9702165"/>
            <a:ext cx="7581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传感器</a:t>
            </a:r>
          </a:p>
        </p:txBody>
      </p:sp>
      <p:pic>
        <p:nvPicPr>
          <p:cNvPr id="53" name="图片 52" descr="server (1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77930" y="9265920"/>
            <a:ext cx="488950" cy="521970"/>
          </a:xfrm>
          <a:prstGeom prst="rect">
            <a:avLst/>
          </a:prstGeom>
        </p:spPr>
      </p:pic>
      <p:pic>
        <p:nvPicPr>
          <p:cNvPr id="54" name="图片 53" descr="networki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21540" y="9300845"/>
            <a:ext cx="405130" cy="432435"/>
          </a:xfrm>
          <a:prstGeom prst="rect">
            <a:avLst/>
          </a:prstGeom>
        </p:spPr>
      </p:pic>
      <p:sp>
        <p:nvSpPr>
          <p:cNvPr id="55" name="文本框 54"/>
          <p:cNvSpPr txBox="1"/>
          <p:nvPr/>
        </p:nvSpPr>
        <p:spPr>
          <a:xfrm>
            <a:off x="2911475" y="10073640"/>
            <a:ext cx="1737360" cy="320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9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技术架构支撑</a:t>
            </a:r>
          </a:p>
        </p:txBody>
      </p:sp>
      <p:sp>
        <p:nvSpPr>
          <p:cNvPr id="56" name="文本框 55"/>
          <p:cNvSpPr txBox="1"/>
          <p:nvPr/>
        </p:nvSpPr>
        <p:spPr>
          <a:xfrm>
            <a:off x="2921000" y="8788400"/>
            <a:ext cx="171767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kumimoji="0" lang="zh-CN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智能处理组件概览</a:t>
            </a:r>
          </a:p>
        </p:txBody>
      </p:sp>
      <p:sp>
        <p:nvSpPr>
          <p:cNvPr id="60" name="文本框 59"/>
          <p:cNvSpPr txBox="1"/>
          <p:nvPr/>
        </p:nvSpPr>
        <p:spPr>
          <a:xfrm>
            <a:off x="1266825" y="6817995"/>
            <a:ext cx="5273040" cy="321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ts val="2000"/>
              </a:lnSpc>
              <a:defRPr/>
            </a:pP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2E54A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研究方案一：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海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杂波干扰下微弱电磁频谱信号传播规律分析与提取</a:t>
            </a:r>
          </a:p>
        </p:txBody>
      </p:sp>
      <p:sp>
        <p:nvSpPr>
          <p:cNvPr id="65" name="矩形: 圆角 7"/>
          <p:cNvSpPr/>
          <p:nvPr/>
        </p:nvSpPr>
        <p:spPr>
          <a:xfrm>
            <a:off x="3649980" y="7218045"/>
            <a:ext cx="1431925" cy="666115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chemeClr val="accent1">
                <a:shade val="50000"/>
              </a:schemeClr>
            </a:solidFill>
            <a:prstDash val="sysDash"/>
            <a:miter lim="800000"/>
          </a:ln>
          <a:effectLst/>
        </p:spPr>
        <p:txBody>
          <a:bodyPr rtlCol="0" anchor="ctr"/>
          <a:lstStyle/>
          <a:p>
            <a:pPr lvl="0" algn="ctr">
              <a:defRPr/>
            </a:pPr>
            <a:r>
              <a:rPr lang="en-US" altLang="zh-CN" sz="1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1.2 </a:t>
            </a:r>
            <a:r>
              <a:rPr lang="zh-CN" altLang="en-US" sz="1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基于干扰对消的微弱信号频谱特征增强方法</a:t>
            </a:r>
          </a:p>
        </p:txBody>
      </p:sp>
      <p:sp>
        <p:nvSpPr>
          <p:cNvPr id="80" name="矩形: 圆角 7"/>
          <p:cNvSpPr/>
          <p:nvPr/>
        </p:nvSpPr>
        <p:spPr>
          <a:xfrm>
            <a:off x="2143760" y="7218045"/>
            <a:ext cx="1431925" cy="666115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chemeClr val="accent1">
                <a:shade val="50000"/>
              </a:schemeClr>
            </a:solidFill>
            <a:prstDash val="sys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2" name="矩形: 圆角 7"/>
          <p:cNvSpPr/>
          <p:nvPr/>
        </p:nvSpPr>
        <p:spPr>
          <a:xfrm>
            <a:off x="5156200" y="7216775"/>
            <a:ext cx="1431925" cy="666115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chemeClr val="accent1">
                <a:shade val="50000"/>
              </a:schemeClr>
            </a:solidFill>
            <a:prstDash val="sysDash"/>
            <a:miter lim="800000"/>
          </a:ln>
          <a:effectLst/>
        </p:spPr>
        <p:txBody>
          <a:bodyPr rtlCol="0" anchor="ctr"/>
          <a:lstStyle/>
          <a:p>
            <a:pPr lvl="0" algn="ctr">
              <a:defRPr/>
            </a:pPr>
            <a:r>
              <a:rPr lang="en-US" altLang="zh-CN" sz="1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1.3 </a:t>
            </a:r>
            <a:r>
              <a:rPr lang="zh-CN" altLang="en-US" sz="1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面向微弱电磁信号的多维表征提取方法</a:t>
            </a:r>
          </a:p>
        </p:txBody>
      </p:sp>
      <p:pic>
        <p:nvPicPr>
          <p:cNvPr id="93" name="Picture 2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6170" y="7223760"/>
            <a:ext cx="944245" cy="6610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5" name="文本框 94"/>
          <p:cNvSpPr txBox="1"/>
          <p:nvPr/>
        </p:nvSpPr>
        <p:spPr>
          <a:xfrm>
            <a:off x="1149985" y="7884795"/>
            <a:ext cx="833120" cy="3970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99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海杂波信号感知</a:t>
            </a:r>
            <a:endParaRPr kumimoji="0" lang="zh-CN" altLang="en-US" sz="99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5215890" y="7914005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信号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多维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变换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5661024" y="7914005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特征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精确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提取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6053454" y="7914005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结构化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数据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表征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2201545" y="7914005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环境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状态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建模</a:t>
            </a:r>
          </a:p>
        </p:txBody>
      </p:sp>
      <p:sp>
        <p:nvSpPr>
          <p:cNvPr id="28" name="文本框 27"/>
          <p:cNvSpPr txBox="1"/>
          <p:nvPr/>
        </p:nvSpPr>
        <p:spPr>
          <a:xfrm>
            <a:off x="2623819" y="7914005"/>
            <a:ext cx="540000" cy="3539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海杂波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建模</a:t>
            </a:r>
          </a:p>
        </p:txBody>
      </p:sp>
      <p:sp>
        <p:nvSpPr>
          <p:cNvPr id="32" name="文本框 31"/>
          <p:cNvSpPr txBox="1"/>
          <p:nvPr/>
        </p:nvSpPr>
        <p:spPr>
          <a:xfrm>
            <a:off x="3007359" y="7914005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时间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耦合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规律</a:t>
            </a:r>
          </a:p>
        </p:txBody>
      </p:sp>
      <p:sp>
        <p:nvSpPr>
          <p:cNvPr id="33" name="文本框 32"/>
          <p:cNvSpPr txBox="1"/>
          <p:nvPr/>
        </p:nvSpPr>
        <p:spPr>
          <a:xfrm>
            <a:off x="3710454" y="7901305"/>
            <a:ext cx="540000" cy="3539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 algn="ctr">
              <a:defRPr sz="850" b="1">
                <a:solidFill>
                  <a:srgbClr val="2E54A1"/>
                </a:solidFill>
              </a:defRPr>
            </a:lvl1pPr>
          </a:lstStyle>
          <a:p>
            <a:r>
              <a:rPr lang="zh-CN" altLang="en-US" dirty="0"/>
              <a:t>多通道</a:t>
            </a:r>
            <a:endParaRPr lang="en-US" altLang="zh-CN" dirty="0"/>
          </a:p>
          <a:p>
            <a:r>
              <a:rPr lang="zh-CN" altLang="en-US" dirty="0"/>
              <a:t>采集</a:t>
            </a:r>
          </a:p>
        </p:txBody>
      </p:sp>
      <p:sp>
        <p:nvSpPr>
          <p:cNvPr id="44" name="文本框 43"/>
          <p:cNvSpPr txBox="1"/>
          <p:nvPr/>
        </p:nvSpPr>
        <p:spPr>
          <a:xfrm>
            <a:off x="4158614" y="7914005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自适应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干扰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对调</a:t>
            </a:r>
          </a:p>
        </p:txBody>
      </p:sp>
      <p:sp>
        <p:nvSpPr>
          <p:cNvPr id="45" name="文本框 44"/>
          <p:cNvSpPr txBox="1"/>
          <p:nvPr/>
        </p:nvSpPr>
        <p:spPr>
          <a:xfrm>
            <a:off x="4540884" y="7914005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信号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频谱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增强</a:t>
            </a:r>
          </a:p>
        </p:txBody>
      </p:sp>
      <p:sp>
        <p:nvSpPr>
          <p:cNvPr id="81" name="矩形 80"/>
          <p:cNvSpPr/>
          <p:nvPr/>
        </p:nvSpPr>
        <p:spPr>
          <a:xfrm>
            <a:off x="6708140" y="6803390"/>
            <a:ext cx="316865" cy="1645920"/>
          </a:xfrm>
          <a:prstGeom prst="rect">
            <a:avLst/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理论架构</a:t>
            </a:r>
          </a:p>
        </p:txBody>
      </p:sp>
      <p:sp>
        <p:nvSpPr>
          <p:cNvPr id="87" name="矩形 86"/>
          <p:cNvSpPr/>
          <p:nvPr/>
        </p:nvSpPr>
        <p:spPr>
          <a:xfrm>
            <a:off x="535940" y="6803390"/>
            <a:ext cx="338455" cy="1645920"/>
          </a:xfrm>
          <a:prstGeom prst="rect">
            <a:avLst/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怎么提取</a:t>
            </a:r>
          </a:p>
        </p:txBody>
      </p:sp>
      <p:sp>
        <p:nvSpPr>
          <p:cNvPr id="102" name="文本框 101"/>
          <p:cNvSpPr txBox="1"/>
          <p:nvPr/>
        </p:nvSpPr>
        <p:spPr>
          <a:xfrm>
            <a:off x="920750" y="6444615"/>
            <a:ext cx="2012315" cy="335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500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sz="1500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海杂波信号感知</a:t>
            </a:r>
            <a:r>
              <a:rPr lang="en-US" altLang="zh-CN" sz="1500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</a:p>
        </p:txBody>
      </p:sp>
      <p:sp>
        <p:nvSpPr>
          <p:cNvPr id="23" name="箭头: 燕尾形 1202"/>
          <p:cNvSpPr/>
          <p:nvPr/>
        </p:nvSpPr>
        <p:spPr>
          <a:xfrm rot="5400000" flipH="1">
            <a:off x="3659019" y="6526530"/>
            <a:ext cx="400050" cy="317500"/>
          </a:xfrm>
          <a:prstGeom prst="notchedRightArrow">
            <a:avLst/>
          </a:prstGeom>
          <a:gradFill>
            <a:gsLst>
              <a:gs pos="100000">
                <a:srgbClr val="2E54A1"/>
              </a:gs>
              <a:gs pos="5000">
                <a:srgbClr val="2E54A1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17" name="箭头: 燕尾形 1202"/>
          <p:cNvSpPr/>
          <p:nvPr/>
        </p:nvSpPr>
        <p:spPr>
          <a:xfrm rot="5400000" flipH="1">
            <a:off x="3648075" y="4499385"/>
            <a:ext cx="4000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22" name="箭头: 燕尾形 1202"/>
          <p:cNvSpPr/>
          <p:nvPr/>
        </p:nvSpPr>
        <p:spPr>
          <a:xfrm rot="5400000" flipH="1">
            <a:off x="3649569" y="8464550"/>
            <a:ext cx="4000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6708140" y="4790440"/>
            <a:ext cx="316865" cy="1645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感知底座</a:t>
            </a:r>
          </a:p>
        </p:txBody>
      </p:sp>
      <p:sp>
        <p:nvSpPr>
          <p:cNvPr id="129" name="箭头: 燕尾形 1202"/>
          <p:cNvSpPr/>
          <p:nvPr/>
        </p:nvSpPr>
        <p:spPr>
          <a:xfrm rot="5400000" flipH="1">
            <a:off x="6666230" y="6526530"/>
            <a:ext cx="400050" cy="317500"/>
          </a:xfrm>
          <a:prstGeom prst="notchedRightArrow">
            <a:avLst/>
          </a:prstGeom>
          <a:gradFill>
            <a:gsLst>
              <a:gs pos="100000">
                <a:srgbClr val="2E54A1"/>
              </a:gs>
              <a:gs pos="5000">
                <a:srgbClr val="2E54A1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0" name="文本框 129"/>
          <p:cNvSpPr txBox="1"/>
          <p:nvPr/>
        </p:nvSpPr>
        <p:spPr>
          <a:xfrm>
            <a:off x="920750" y="4434205"/>
            <a:ext cx="2012315" cy="335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5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sz="15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端侧轻量可信存储</a:t>
            </a:r>
            <a:r>
              <a:rPr lang="en-US" altLang="zh-CN" sz="15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</a:p>
        </p:txBody>
      </p:sp>
      <p:sp>
        <p:nvSpPr>
          <p:cNvPr id="131" name="矩形 130"/>
          <p:cNvSpPr/>
          <p:nvPr/>
        </p:nvSpPr>
        <p:spPr>
          <a:xfrm>
            <a:off x="535940" y="4799330"/>
            <a:ext cx="338455" cy="1645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怎么存储</a:t>
            </a:r>
          </a:p>
        </p:txBody>
      </p:sp>
      <p:sp>
        <p:nvSpPr>
          <p:cNvPr id="132" name="文本框 131"/>
          <p:cNvSpPr txBox="1"/>
          <p:nvPr/>
        </p:nvSpPr>
        <p:spPr>
          <a:xfrm>
            <a:off x="1266825" y="4784090"/>
            <a:ext cx="5273040" cy="321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ts val="2000"/>
              </a:lnSpc>
              <a:defRPr/>
            </a:pPr>
            <a:r>
              <a:rPr lang="zh-CN" altLang="en-US" sz="12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sym typeface="+mn-ea"/>
              </a:rPr>
              <a:t>研究方案二：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有限算力端侧频谱数据的轻量存储和可信管理方法</a:t>
            </a:r>
          </a:p>
        </p:txBody>
      </p:sp>
      <p:sp>
        <p:nvSpPr>
          <p:cNvPr id="133" name="文本框 132"/>
          <p:cNvSpPr txBox="1"/>
          <p:nvPr/>
        </p:nvSpPr>
        <p:spPr>
          <a:xfrm>
            <a:off x="1170305" y="5871210"/>
            <a:ext cx="812800" cy="3970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99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端侧轻量可信存储</a:t>
            </a:r>
          </a:p>
        </p:txBody>
      </p:sp>
      <p:pic>
        <p:nvPicPr>
          <p:cNvPr id="134" name="Picture 4"/>
          <p:cNvPicPr>
            <a:picLocks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6170" y="5173980"/>
            <a:ext cx="944245" cy="659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5" name="矩形: 圆角 7"/>
          <p:cNvSpPr/>
          <p:nvPr/>
        </p:nvSpPr>
        <p:spPr>
          <a:xfrm>
            <a:off x="3649980" y="5175250"/>
            <a:ext cx="1431925" cy="666115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C00000"/>
            </a:solidFill>
            <a:prstDash val="sysDash"/>
            <a:miter lim="800000"/>
          </a:ln>
          <a:effectLst/>
        </p:spPr>
        <p:txBody>
          <a:bodyPr rtlCol="0" anchor="ctr"/>
          <a:lstStyle/>
          <a:p>
            <a:pPr lvl="0" algn="ctr">
              <a:defRPr/>
            </a:pPr>
            <a:r>
              <a:rPr lang="en-US" altLang="zh-CN" sz="1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2.2 </a:t>
            </a:r>
            <a:r>
              <a:rPr lang="zh-CN" altLang="en-US" sz="1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基于表征压缩的频谱向量数据库存储优化方法</a:t>
            </a:r>
          </a:p>
        </p:txBody>
      </p:sp>
      <p:sp>
        <p:nvSpPr>
          <p:cNvPr id="136" name="矩形: 圆角 7"/>
          <p:cNvSpPr/>
          <p:nvPr/>
        </p:nvSpPr>
        <p:spPr>
          <a:xfrm>
            <a:off x="2143760" y="5175250"/>
            <a:ext cx="1431925" cy="666115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C00000"/>
            </a:solidFill>
            <a:prstDash val="sysDash"/>
            <a:miter lim="800000"/>
          </a:ln>
          <a:effectLst/>
        </p:spPr>
        <p:txBody>
          <a:bodyPr rtlCol="0" anchor="ctr"/>
          <a:lstStyle/>
          <a:p>
            <a:pPr lvl="0" algn="ctr">
              <a:defRPr/>
            </a:pPr>
            <a:r>
              <a:rPr lang="en-US" altLang="zh-CN" sz="1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2.1 </a:t>
            </a:r>
            <a:r>
              <a:rPr lang="zh-CN" altLang="en-US" sz="1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事件驱动的频谱数据价值评估模型</a:t>
            </a:r>
          </a:p>
        </p:txBody>
      </p:sp>
      <p:sp>
        <p:nvSpPr>
          <p:cNvPr id="137" name="矩形: 圆角 7"/>
          <p:cNvSpPr/>
          <p:nvPr/>
        </p:nvSpPr>
        <p:spPr>
          <a:xfrm>
            <a:off x="5156200" y="5173980"/>
            <a:ext cx="1431925" cy="666115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C00000"/>
            </a:solidFill>
            <a:prstDash val="sysDash"/>
            <a:miter lim="800000"/>
          </a:ln>
          <a:effectLst/>
        </p:spPr>
        <p:txBody>
          <a:bodyPr rtlCol="0" anchor="ctr"/>
          <a:lstStyle/>
          <a:p>
            <a:pPr lvl="0" algn="ctr">
              <a:defRPr/>
            </a:pPr>
            <a:r>
              <a:rPr lang="en-US" altLang="zh-CN" sz="1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2.3 </a:t>
            </a:r>
            <a:r>
              <a:rPr lang="zh-CN" altLang="en-US" sz="1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向量库协同的频谱数据可信管理</a:t>
            </a:r>
          </a:p>
        </p:txBody>
      </p:sp>
      <p:sp>
        <p:nvSpPr>
          <p:cNvPr id="138" name="文本框 137"/>
          <p:cNvSpPr txBox="1"/>
          <p:nvPr/>
        </p:nvSpPr>
        <p:spPr>
          <a:xfrm>
            <a:off x="5234940" y="5871210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链上链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下可信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存证</a:t>
            </a:r>
          </a:p>
        </p:txBody>
      </p:sp>
      <p:sp>
        <p:nvSpPr>
          <p:cNvPr id="139" name="文本框 138"/>
          <p:cNvSpPr txBox="1"/>
          <p:nvPr/>
        </p:nvSpPr>
        <p:spPr>
          <a:xfrm>
            <a:off x="5648324" y="5871210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可验证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分级协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同索引</a:t>
            </a:r>
          </a:p>
        </p:txBody>
      </p:sp>
      <p:sp>
        <p:nvSpPr>
          <p:cNvPr id="140" name="文本框 139"/>
          <p:cNvSpPr txBox="1"/>
          <p:nvPr/>
        </p:nvSpPr>
        <p:spPr>
          <a:xfrm>
            <a:off x="6053454" y="5871210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50" b="1" dirty="0">
                <a:solidFill>
                  <a:srgbClr val="C00000"/>
                </a:solidFill>
              </a:rPr>
              <a:t>链上可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C00000"/>
                </a:solidFill>
              </a:rPr>
              <a:t>学习索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C00000"/>
                </a:solidFill>
              </a:rPr>
              <a:t>引加速</a:t>
            </a:r>
          </a:p>
        </p:txBody>
      </p:sp>
      <p:sp>
        <p:nvSpPr>
          <p:cNvPr id="141" name="文本框 140"/>
          <p:cNvSpPr txBox="1"/>
          <p:nvPr/>
        </p:nvSpPr>
        <p:spPr>
          <a:xfrm>
            <a:off x="2201545" y="5871210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事件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窗口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构建</a:t>
            </a:r>
          </a:p>
        </p:txBody>
      </p:sp>
      <p:sp>
        <p:nvSpPr>
          <p:cNvPr id="142" name="文本框 141"/>
          <p:cNvSpPr txBox="1"/>
          <p:nvPr/>
        </p:nvSpPr>
        <p:spPr>
          <a:xfrm>
            <a:off x="2623819" y="5871210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存储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价值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筛选</a:t>
            </a:r>
          </a:p>
        </p:txBody>
      </p:sp>
      <p:sp>
        <p:nvSpPr>
          <p:cNvPr id="143" name="文本框 142"/>
          <p:cNvSpPr txBox="1"/>
          <p:nvPr/>
        </p:nvSpPr>
        <p:spPr>
          <a:xfrm>
            <a:off x="3007359" y="5871210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数据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价值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评估</a:t>
            </a:r>
          </a:p>
        </p:txBody>
      </p:sp>
      <p:sp>
        <p:nvSpPr>
          <p:cNvPr id="144" name="文本框 143"/>
          <p:cNvSpPr txBox="1"/>
          <p:nvPr/>
        </p:nvSpPr>
        <p:spPr>
          <a:xfrm>
            <a:off x="3718560" y="5871210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表征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量化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压缩</a:t>
            </a:r>
          </a:p>
        </p:txBody>
      </p:sp>
      <p:sp>
        <p:nvSpPr>
          <p:cNvPr id="145" name="文本框 144"/>
          <p:cNvSpPr txBox="1"/>
          <p:nvPr/>
        </p:nvSpPr>
        <p:spPr>
          <a:xfrm>
            <a:off x="4126864" y="5871210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磁盘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高局部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性索引</a:t>
            </a:r>
          </a:p>
        </p:txBody>
      </p:sp>
      <p:sp>
        <p:nvSpPr>
          <p:cNvPr id="146" name="文本框 145"/>
          <p:cNvSpPr txBox="1"/>
          <p:nvPr/>
        </p:nvSpPr>
        <p:spPr>
          <a:xfrm>
            <a:off x="4540884" y="5871210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向量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无缓冲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插入</a:t>
            </a:r>
          </a:p>
        </p:txBody>
      </p:sp>
      <p:sp>
        <p:nvSpPr>
          <p:cNvPr id="147" name="文本框 146"/>
          <p:cNvSpPr txBox="1"/>
          <p:nvPr/>
        </p:nvSpPr>
        <p:spPr>
          <a:xfrm>
            <a:off x="2081530" y="7259955"/>
            <a:ext cx="1549400" cy="5962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000" b="1" spc="-5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1.1 </a:t>
            </a:r>
            <a:r>
              <a:rPr lang="zh-CN" altLang="en-US" sz="1000" b="1" spc="-5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复杂海洋环境下电磁频谱信号时空耦合规律建模</a:t>
            </a:r>
          </a:p>
        </p:txBody>
      </p:sp>
      <p:sp>
        <p:nvSpPr>
          <p:cNvPr id="148" name="箭头: 燕尾形 1202"/>
          <p:cNvSpPr/>
          <p:nvPr/>
        </p:nvSpPr>
        <p:spPr>
          <a:xfrm rot="5400000" flipH="1">
            <a:off x="6666230" y="4526280"/>
            <a:ext cx="4000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49" name="矩形: 圆角 3"/>
          <p:cNvSpPr/>
          <p:nvPr/>
        </p:nvSpPr>
        <p:spPr>
          <a:xfrm>
            <a:off x="977900" y="2789555"/>
            <a:ext cx="5850890" cy="1647190"/>
          </a:xfrm>
          <a:prstGeom prst="roundRect">
            <a:avLst>
              <a:gd name="adj" fmla="val 10777"/>
            </a:avLst>
          </a:prstGeom>
          <a:solidFill>
            <a:srgbClr val="DEEBF7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1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50" name="文本框 149"/>
          <p:cNvSpPr txBox="1"/>
          <p:nvPr/>
        </p:nvSpPr>
        <p:spPr>
          <a:xfrm>
            <a:off x="1266825" y="2804795"/>
            <a:ext cx="5273040" cy="321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ts val="2000"/>
              </a:lnSpc>
              <a:defRPr/>
            </a:pP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2E54A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研究方案三：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基于频谱知识图谱的轻量化目标识别与可信协同决策方法</a:t>
            </a:r>
          </a:p>
        </p:txBody>
      </p:sp>
      <p:sp>
        <p:nvSpPr>
          <p:cNvPr id="151" name="矩形: 圆角 7"/>
          <p:cNvSpPr/>
          <p:nvPr/>
        </p:nvSpPr>
        <p:spPr>
          <a:xfrm>
            <a:off x="3649980" y="3204845"/>
            <a:ext cx="1431925" cy="666115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chemeClr val="accent1">
                <a:shade val="50000"/>
              </a:schemeClr>
            </a:solidFill>
            <a:prstDash val="sysDash"/>
            <a:miter lim="800000"/>
          </a:ln>
          <a:effectLst/>
        </p:spPr>
        <p:txBody>
          <a:bodyPr rtlCol="0" anchor="ctr"/>
          <a:lstStyle/>
          <a:p>
            <a:pPr lvl="0" algn="ctr">
              <a:defRPr/>
            </a:pPr>
            <a:r>
              <a:rPr lang="en-US" altLang="zh-CN" sz="1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3.2 </a:t>
            </a:r>
            <a:r>
              <a:rPr lang="zh-CN" altLang="en-US" sz="1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基于混合专家模型的轻量化目标检测与轨迹分析方法</a:t>
            </a:r>
          </a:p>
        </p:txBody>
      </p:sp>
      <p:sp>
        <p:nvSpPr>
          <p:cNvPr id="152" name="矩形: 圆角 7"/>
          <p:cNvSpPr/>
          <p:nvPr/>
        </p:nvSpPr>
        <p:spPr>
          <a:xfrm>
            <a:off x="2226945" y="3192463"/>
            <a:ext cx="1431925" cy="666115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chemeClr val="accent1">
                <a:shade val="50000"/>
              </a:schemeClr>
            </a:solidFill>
            <a:prstDash val="sys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3" name="矩形: 圆角 7"/>
          <p:cNvSpPr/>
          <p:nvPr/>
        </p:nvSpPr>
        <p:spPr>
          <a:xfrm>
            <a:off x="5156200" y="3203575"/>
            <a:ext cx="1431925" cy="666115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chemeClr val="accent1">
                <a:shade val="50000"/>
              </a:schemeClr>
            </a:solidFill>
            <a:prstDash val="sysDash"/>
            <a:miter lim="800000"/>
          </a:ln>
          <a:effectLst/>
        </p:spPr>
        <p:txBody>
          <a:bodyPr rtlCol="0" anchor="ctr"/>
          <a:lstStyle/>
          <a:p>
            <a:pPr lvl="0" algn="ctr">
              <a:defRPr/>
            </a:pPr>
            <a:r>
              <a:rPr lang="en-US" altLang="zh-CN" sz="1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3.3 </a:t>
            </a:r>
            <a:r>
              <a:rPr lang="zh-CN" altLang="en-US" sz="1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基于轻量安全传输与低延时确权的可信协同决策方法</a:t>
            </a:r>
          </a:p>
        </p:txBody>
      </p:sp>
      <p:sp>
        <p:nvSpPr>
          <p:cNvPr id="155" name="文本框 154"/>
          <p:cNvSpPr txBox="1"/>
          <p:nvPr/>
        </p:nvSpPr>
        <p:spPr>
          <a:xfrm>
            <a:off x="1149985" y="3871595"/>
            <a:ext cx="833120" cy="3970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99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知识驱动可信决策</a:t>
            </a:r>
            <a:endParaRPr kumimoji="0" lang="zh-CN" altLang="en-US" sz="99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56" name="文本框 155"/>
          <p:cNvSpPr txBox="1"/>
          <p:nvPr/>
        </p:nvSpPr>
        <p:spPr>
          <a:xfrm>
            <a:off x="5241290" y="3900805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决策结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果一致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性确权</a:t>
            </a:r>
          </a:p>
        </p:txBody>
      </p:sp>
      <p:sp>
        <p:nvSpPr>
          <p:cNvPr id="157" name="文本框 156"/>
          <p:cNvSpPr txBox="1"/>
          <p:nvPr/>
        </p:nvSpPr>
        <p:spPr>
          <a:xfrm>
            <a:off x="5673724" y="3900805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分布式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可信协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同决策</a:t>
            </a:r>
          </a:p>
        </p:txBody>
      </p:sp>
      <p:sp>
        <p:nvSpPr>
          <p:cNvPr id="158" name="文本框 157"/>
          <p:cNvSpPr txBox="1"/>
          <p:nvPr/>
        </p:nvSpPr>
        <p:spPr>
          <a:xfrm>
            <a:off x="6066154" y="3900805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轻量级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安全传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输方法</a:t>
            </a:r>
          </a:p>
        </p:txBody>
      </p:sp>
      <p:sp>
        <p:nvSpPr>
          <p:cNvPr id="159" name="文本框 158"/>
          <p:cNvSpPr txBox="1"/>
          <p:nvPr/>
        </p:nvSpPr>
        <p:spPr>
          <a:xfrm>
            <a:off x="2182495" y="3900805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多源频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谱数据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表征</a:t>
            </a:r>
          </a:p>
        </p:txBody>
      </p:sp>
      <p:sp>
        <p:nvSpPr>
          <p:cNvPr id="160" name="文本框 159"/>
          <p:cNvSpPr txBox="1"/>
          <p:nvPr/>
        </p:nvSpPr>
        <p:spPr>
          <a:xfrm>
            <a:off x="2623819" y="3900805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态势知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识图谱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构建</a:t>
            </a:r>
          </a:p>
        </p:txBody>
      </p:sp>
      <p:sp>
        <p:nvSpPr>
          <p:cNvPr id="161" name="文本框 160"/>
          <p:cNvSpPr txBox="1"/>
          <p:nvPr/>
        </p:nvSpPr>
        <p:spPr>
          <a:xfrm>
            <a:off x="3007359" y="3900805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知识图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谱增量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更新</a:t>
            </a:r>
          </a:p>
        </p:txBody>
      </p:sp>
      <p:sp>
        <p:nvSpPr>
          <p:cNvPr id="162" name="文本框 161"/>
          <p:cNvSpPr txBox="1"/>
          <p:nvPr/>
        </p:nvSpPr>
        <p:spPr>
          <a:xfrm>
            <a:off x="3718560" y="3900805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信号检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测专家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模型</a:t>
            </a:r>
          </a:p>
        </p:txBody>
      </p:sp>
      <p:sp>
        <p:nvSpPr>
          <p:cNvPr id="163" name="文本框 162"/>
          <p:cNvSpPr txBox="1"/>
          <p:nvPr/>
        </p:nvSpPr>
        <p:spPr>
          <a:xfrm>
            <a:off x="4158614" y="3900805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小样本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识别专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家模型</a:t>
            </a:r>
          </a:p>
        </p:txBody>
      </p:sp>
      <p:sp>
        <p:nvSpPr>
          <p:cNvPr id="164" name="文本框 163"/>
          <p:cNvSpPr txBox="1"/>
          <p:nvPr/>
        </p:nvSpPr>
        <p:spPr>
          <a:xfrm>
            <a:off x="4540884" y="3900805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轨迹分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析专家</a:t>
            </a:r>
            <a:endParaRPr lang="en-US" altLang="zh-CN" sz="850" b="1" dirty="0">
              <a:solidFill>
                <a:srgbClr val="2E54A1"/>
              </a:solidFill>
            </a:endParaRPr>
          </a:p>
          <a:p>
            <a:pPr algn="ctr"/>
            <a:r>
              <a:rPr lang="zh-CN" altLang="en-US" sz="850" b="1" dirty="0">
                <a:solidFill>
                  <a:srgbClr val="2E54A1"/>
                </a:solidFill>
              </a:rPr>
              <a:t>模型</a:t>
            </a:r>
          </a:p>
        </p:txBody>
      </p:sp>
      <p:sp>
        <p:nvSpPr>
          <p:cNvPr id="165" name="矩形 164"/>
          <p:cNvSpPr/>
          <p:nvPr/>
        </p:nvSpPr>
        <p:spPr>
          <a:xfrm>
            <a:off x="6708140" y="2790190"/>
            <a:ext cx="316865" cy="1645920"/>
          </a:xfrm>
          <a:prstGeom prst="rect">
            <a:avLst/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决策保障</a:t>
            </a:r>
          </a:p>
        </p:txBody>
      </p:sp>
      <p:sp>
        <p:nvSpPr>
          <p:cNvPr id="166" name="矩形 165"/>
          <p:cNvSpPr/>
          <p:nvPr/>
        </p:nvSpPr>
        <p:spPr>
          <a:xfrm>
            <a:off x="535940" y="2790190"/>
            <a:ext cx="338455" cy="1645920"/>
          </a:xfrm>
          <a:prstGeom prst="rect">
            <a:avLst/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怎么处理</a:t>
            </a:r>
          </a:p>
        </p:txBody>
      </p:sp>
      <p:sp>
        <p:nvSpPr>
          <p:cNvPr id="167" name="文本框 166"/>
          <p:cNvSpPr txBox="1"/>
          <p:nvPr/>
        </p:nvSpPr>
        <p:spPr>
          <a:xfrm>
            <a:off x="920750" y="2431415"/>
            <a:ext cx="2012315" cy="335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500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sz="1500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知识驱动可信决策</a:t>
            </a:r>
            <a:r>
              <a:rPr lang="en-US" altLang="zh-CN" sz="1500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</a:p>
        </p:txBody>
      </p:sp>
      <p:sp>
        <p:nvSpPr>
          <p:cNvPr id="168" name="箭头: 燕尾形 1202"/>
          <p:cNvSpPr/>
          <p:nvPr/>
        </p:nvSpPr>
        <p:spPr>
          <a:xfrm rot="5400000" flipH="1">
            <a:off x="3653155" y="2512695"/>
            <a:ext cx="400050" cy="317500"/>
          </a:xfrm>
          <a:prstGeom prst="notchedRightArrow">
            <a:avLst/>
          </a:prstGeom>
          <a:gradFill>
            <a:gsLst>
              <a:gs pos="100000">
                <a:srgbClr val="2E54A1"/>
              </a:gs>
              <a:gs pos="5000">
                <a:srgbClr val="2E54A1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70" name="文本框 169"/>
          <p:cNvSpPr txBox="1"/>
          <p:nvPr/>
        </p:nvSpPr>
        <p:spPr>
          <a:xfrm>
            <a:off x="2182495" y="3246755"/>
            <a:ext cx="1347470" cy="5962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000" b="1" spc="-5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3.1 </a:t>
            </a:r>
            <a:r>
              <a:rPr lang="zh-CN" altLang="en-US" sz="1000" b="1" spc="-5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面向电磁态势的频谱知识图谱构建与动态演方法</a:t>
            </a:r>
          </a:p>
        </p:txBody>
      </p:sp>
      <p:pic>
        <p:nvPicPr>
          <p:cNvPr id="171" name="Picture 6"/>
          <p:cNvPicPr>
            <a:picLocks noChangeArrowheads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6170" y="3209925"/>
            <a:ext cx="944245" cy="659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5" name="箭头: 燕尾形 1202"/>
          <p:cNvSpPr/>
          <p:nvPr/>
        </p:nvSpPr>
        <p:spPr>
          <a:xfrm rot="5400000" flipH="1">
            <a:off x="3665855" y="874077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8" name="矩形: 圆角 3">
            <a:extLst>
              <a:ext uri="{FF2B5EF4-FFF2-40B4-BE49-F238E27FC236}">
                <a16:creationId xmlns:a16="http://schemas.microsoft.com/office/drawing/2014/main" id="{3565CE93-E3B4-D923-8958-A1BC0D350BEF}"/>
              </a:ext>
            </a:extLst>
          </p:cNvPr>
          <p:cNvSpPr/>
          <p:nvPr/>
        </p:nvSpPr>
        <p:spPr>
          <a:xfrm>
            <a:off x="977900" y="806448"/>
            <a:ext cx="5850890" cy="1647190"/>
          </a:xfrm>
          <a:prstGeom prst="roundRect">
            <a:avLst>
              <a:gd name="adj" fmla="val 10777"/>
            </a:avLst>
          </a:prstGeom>
          <a:solidFill>
            <a:srgbClr val="FBDCE0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1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9DF3286-7953-A10B-AF31-4282B89652D2}"/>
              </a:ext>
            </a:extLst>
          </p:cNvPr>
          <p:cNvSpPr/>
          <p:nvPr/>
        </p:nvSpPr>
        <p:spPr>
          <a:xfrm>
            <a:off x="6708140" y="807718"/>
            <a:ext cx="316865" cy="1645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应用场景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CDDA81-F8D6-EBFD-2105-1700BDCDCB26}"/>
              </a:ext>
            </a:extLst>
          </p:cNvPr>
          <p:cNvSpPr/>
          <p:nvPr/>
        </p:nvSpPr>
        <p:spPr>
          <a:xfrm>
            <a:off x="535940" y="816608"/>
            <a:ext cx="338455" cy="1645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怎么验证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1DD861B-AB42-0A2C-5FA4-0E1F958E0D08}"/>
              </a:ext>
            </a:extLst>
          </p:cNvPr>
          <p:cNvSpPr txBox="1"/>
          <p:nvPr/>
        </p:nvSpPr>
        <p:spPr>
          <a:xfrm>
            <a:off x="1266825" y="801368"/>
            <a:ext cx="5273040" cy="321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ts val="2000"/>
              </a:lnSpc>
              <a:defRPr/>
            </a:pPr>
            <a:r>
              <a:rPr lang="zh-CN" altLang="en-US" sz="12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sym typeface="+mn-ea"/>
              </a:rPr>
              <a:t>研究方案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四</a:t>
            </a:r>
            <a:r>
              <a:rPr lang="zh-CN" altLang="en-US" sz="12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sym typeface="+mn-ea"/>
              </a:rPr>
              <a:t>：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海杂波干扰下微弱电磁频谱信号传播规律分析与提取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8F27604-C1EC-DCF1-B49A-D64E17A7F600}"/>
              </a:ext>
            </a:extLst>
          </p:cNvPr>
          <p:cNvSpPr txBox="1"/>
          <p:nvPr/>
        </p:nvSpPr>
        <p:spPr>
          <a:xfrm>
            <a:off x="1170305" y="1888488"/>
            <a:ext cx="812800" cy="3970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99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原型系统场景验证</a:t>
            </a:r>
            <a:endParaRPr kumimoji="0" lang="zh-CN" altLang="en-US" sz="99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5" name="矩形: 圆角 7">
            <a:extLst>
              <a:ext uri="{FF2B5EF4-FFF2-40B4-BE49-F238E27FC236}">
                <a16:creationId xmlns:a16="http://schemas.microsoft.com/office/drawing/2014/main" id="{16749624-E1F7-05BD-B03E-D2BFFA50287E}"/>
              </a:ext>
            </a:extLst>
          </p:cNvPr>
          <p:cNvSpPr/>
          <p:nvPr/>
        </p:nvSpPr>
        <p:spPr>
          <a:xfrm>
            <a:off x="3649980" y="1192528"/>
            <a:ext cx="1431925" cy="666115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C00000"/>
            </a:solidFill>
            <a:prstDash val="sysDash"/>
            <a:miter lim="800000"/>
          </a:ln>
          <a:effectLst/>
        </p:spPr>
        <p:txBody>
          <a:bodyPr rtlCol="0" anchor="ctr"/>
          <a:lstStyle/>
          <a:p>
            <a:pPr lvl="0" algn="ctr">
              <a:defRPr/>
            </a:pPr>
            <a:r>
              <a:rPr lang="zh-CN" altLang="en-US" sz="1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原型系统验证</a:t>
            </a:r>
          </a:p>
        </p:txBody>
      </p:sp>
      <p:sp>
        <p:nvSpPr>
          <p:cNvPr id="18" name="矩形: 圆角 7">
            <a:extLst>
              <a:ext uri="{FF2B5EF4-FFF2-40B4-BE49-F238E27FC236}">
                <a16:creationId xmlns:a16="http://schemas.microsoft.com/office/drawing/2014/main" id="{B1817B56-2CCC-B1FB-98B2-696904E7CE79}"/>
              </a:ext>
            </a:extLst>
          </p:cNvPr>
          <p:cNvSpPr/>
          <p:nvPr/>
        </p:nvSpPr>
        <p:spPr>
          <a:xfrm>
            <a:off x="2143760" y="1192528"/>
            <a:ext cx="1431925" cy="666115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C00000"/>
            </a:solidFill>
            <a:prstDash val="sysDash"/>
            <a:miter lim="800000"/>
          </a:ln>
          <a:effectLst/>
        </p:spPr>
        <p:txBody>
          <a:bodyPr rtlCol="0" anchor="ctr"/>
          <a:lstStyle/>
          <a:p>
            <a:pPr lvl="0" algn="ctr">
              <a:defRPr/>
            </a:pPr>
            <a:r>
              <a:rPr lang="zh-CN" altLang="en-US" sz="1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场景环境模拟</a:t>
            </a:r>
          </a:p>
        </p:txBody>
      </p:sp>
      <p:sp>
        <p:nvSpPr>
          <p:cNvPr id="19" name="矩形: 圆角 7">
            <a:extLst>
              <a:ext uri="{FF2B5EF4-FFF2-40B4-BE49-F238E27FC236}">
                <a16:creationId xmlns:a16="http://schemas.microsoft.com/office/drawing/2014/main" id="{E5A7E47B-0AA0-844B-5F24-832FE625DB22}"/>
              </a:ext>
            </a:extLst>
          </p:cNvPr>
          <p:cNvSpPr/>
          <p:nvPr/>
        </p:nvSpPr>
        <p:spPr>
          <a:xfrm>
            <a:off x="5156200" y="1191258"/>
            <a:ext cx="1431925" cy="666115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C00000"/>
            </a:solidFill>
            <a:prstDash val="sysDash"/>
            <a:miter lim="800000"/>
          </a:ln>
          <a:effectLst/>
        </p:spPr>
        <p:txBody>
          <a:bodyPr rtlCol="0" anchor="ctr"/>
          <a:lstStyle/>
          <a:p>
            <a:pPr lvl="0" algn="ctr">
              <a:defRPr/>
            </a:pPr>
            <a:r>
              <a:rPr lang="zh-CN" altLang="en-US" sz="1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原型系统部署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D3C0266-F6A1-FDAF-878E-157BFC0284AF}"/>
              </a:ext>
            </a:extLst>
          </p:cNvPr>
          <p:cNvSpPr txBox="1"/>
          <p:nvPr/>
        </p:nvSpPr>
        <p:spPr>
          <a:xfrm>
            <a:off x="5421630" y="1888488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内场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平台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验证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7580B0E4-88BC-2803-CA4A-006983B18798}"/>
              </a:ext>
            </a:extLst>
          </p:cNvPr>
          <p:cNvSpPr txBox="1"/>
          <p:nvPr/>
        </p:nvSpPr>
        <p:spPr>
          <a:xfrm>
            <a:off x="5835014" y="1888488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外场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平台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验证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E543BE3-FB4C-FA24-5C0C-28E656490FC9}"/>
              </a:ext>
            </a:extLst>
          </p:cNvPr>
          <p:cNvSpPr txBox="1"/>
          <p:nvPr/>
        </p:nvSpPr>
        <p:spPr>
          <a:xfrm>
            <a:off x="2201545" y="1888488"/>
            <a:ext cx="540000" cy="3539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 海杂波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模拟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0B240FC-1FB2-8240-C702-0AA54301EBB3}"/>
              </a:ext>
            </a:extLst>
          </p:cNvPr>
          <p:cNvSpPr txBox="1"/>
          <p:nvPr/>
        </p:nvSpPr>
        <p:spPr>
          <a:xfrm>
            <a:off x="2623819" y="1888488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目标辐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射特性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模拟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67ED8B32-0814-2C75-12A1-B31AEF5CDFB6}"/>
              </a:ext>
            </a:extLst>
          </p:cNvPr>
          <p:cNvSpPr txBox="1"/>
          <p:nvPr/>
        </p:nvSpPr>
        <p:spPr>
          <a:xfrm>
            <a:off x="3007359" y="1888488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电磁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干扰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模拟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BE9225F-65D8-C66D-C151-289943C584CA}"/>
              </a:ext>
            </a:extLst>
          </p:cNvPr>
          <p:cNvSpPr txBox="1"/>
          <p:nvPr/>
        </p:nvSpPr>
        <p:spPr>
          <a:xfrm>
            <a:off x="3718560" y="1888488"/>
            <a:ext cx="540000" cy="48474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信号传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播规律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验证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85936560-E8FF-6A10-7F20-8BB7469B9705}"/>
              </a:ext>
            </a:extLst>
          </p:cNvPr>
          <p:cNvSpPr txBox="1"/>
          <p:nvPr/>
        </p:nvSpPr>
        <p:spPr>
          <a:xfrm>
            <a:off x="4126864" y="1888488"/>
            <a:ext cx="540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轻量存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储和可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信管理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验证</a:t>
            </a: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895EB3C9-1147-1192-BFC7-BF7AF0CD1223}"/>
              </a:ext>
            </a:extLst>
          </p:cNvPr>
          <p:cNvSpPr txBox="1"/>
          <p:nvPr/>
        </p:nvSpPr>
        <p:spPr>
          <a:xfrm>
            <a:off x="4540884" y="1888488"/>
            <a:ext cx="540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目标识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别与可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信协同</a:t>
            </a:r>
            <a:endParaRPr lang="en-US" altLang="zh-CN" sz="850" b="1" dirty="0">
              <a:solidFill>
                <a:srgbClr val="C00000"/>
              </a:solidFill>
            </a:endParaRPr>
          </a:p>
          <a:p>
            <a:pPr algn="ctr" fontAlgn="ctr"/>
            <a:r>
              <a:rPr lang="zh-CN" altLang="en-US" sz="850" b="1" dirty="0">
                <a:solidFill>
                  <a:srgbClr val="C00000"/>
                </a:solidFill>
              </a:rPr>
              <a:t>验证</a:t>
            </a:r>
          </a:p>
        </p:txBody>
      </p:sp>
      <p:pic>
        <p:nvPicPr>
          <p:cNvPr id="64" name="图片 63" descr="Surface-based sonar system could rapidly map the ocean floor at high  resolution | MIT News | Massachusetts Institute of Technology">
            <a:extLst>
              <a:ext uri="{FF2B5EF4-FFF2-40B4-BE49-F238E27FC236}">
                <a16:creationId xmlns:a16="http://schemas.microsoft.com/office/drawing/2014/main" id="{C5AC3D24-7BDF-4F20-9E11-471023F0E2E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06484" y="1191258"/>
            <a:ext cx="943617" cy="65976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</TotalTime>
  <Words>417</Words>
  <Application>Microsoft Office PowerPoint</Application>
  <PresentationFormat>自定义</PresentationFormat>
  <Paragraphs>146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微软雅黑</vt:lpstr>
      <vt:lpstr>Arial</vt:lpstr>
      <vt:lpstr>Calibri</vt:lpstr>
      <vt:lpstr>Wingdings</vt:lpstr>
      <vt:lpstr>WPS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yellowStar</dc:creator>
  <cp:lastModifiedBy>Hodge Chang</cp:lastModifiedBy>
  <cp:revision>206</cp:revision>
  <cp:lastPrinted>2026-06-15T10:07:29Z</cp:lastPrinted>
  <dcterms:created xsi:type="dcterms:W3CDTF">2019-06-19T02:08:00Z</dcterms:created>
  <dcterms:modified xsi:type="dcterms:W3CDTF">2026-06-24T05:00:55Z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6CB6136405B14EEB9471DA5CC5350EE5_11</vt:lpwstr>
  </property>
</Properties>
</file>