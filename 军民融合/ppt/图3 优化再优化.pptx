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7559675" cy="106918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6" userDrawn="1">
          <p15:clr>
            <a:srgbClr val="A4A3A4"/>
          </p15:clr>
        </p15:guide>
        <p15:guide id="2" pos="23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CE0"/>
    <a:srgbClr val="C00000"/>
    <a:srgbClr val="2E54A1"/>
    <a:srgbClr val="DEEBF7"/>
    <a:srgbClr val="4874CB"/>
    <a:srgbClr val="FFFFF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7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2175" y="15"/>
      </p:cViewPr>
      <p:guideLst>
        <p:guide orient="horz" pos="3336"/>
        <p:guide pos="23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7954" y="1143000"/>
            <a:ext cx="218209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43385" y="1425610"/>
            <a:ext cx="6076557" cy="400742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96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43385" y="5550901"/>
            <a:ext cx="6076557" cy="229557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985" spc="200"/>
            </a:lvl1pPr>
            <a:lvl2pPr marL="377825" indent="0" algn="ctr">
              <a:buNone/>
              <a:defRPr sz="1650"/>
            </a:lvl2pPr>
            <a:lvl3pPr marL="755650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89760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77273" y="2323633"/>
            <a:ext cx="6802083" cy="741990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234510" y="5999911"/>
            <a:ext cx="4817491" cy="119549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35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234510" y="7195404"/>
            <a:ext cx="4817491" cy="135264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4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782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8976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377273" y="2340471"/>
            <a:ext cx="3210173" cy="740307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975881" y="2340471"/>
            <a:ext cx="3210173" cy="740307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377273" y="2228218"/>
            <a:ext cx="3312862" cy="59494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0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77273" y="2890509"/>
            <a:ext cx="3312862" cy="685303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3866835" y="2216570"/>
            <a:ext cx="3312862" cy="59494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0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3866835" y="2890509"/>
            <a:ext cx="3312862" cy="685303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377273" y="2424660"/>
            <a:ext cx="3245070" cy="718417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3937930" y="2424660"/>
            <a:ext cx="3241426" cy="718417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6346676" y="1425610"/>
            <a:ext cx="647392" cy="7840857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1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567026" y="1425610"/>
            <a:ext cx="5685890" cy="7840857"/>
          </a:xfrm>
        </p:spPr>
        <p:txBody>
          <a:bodyPr vert="eaVert" lIns="46800" tIns="46800" rIns="46800" bIns="46800"/>
          <a:lstStyle>
            <a:lvl1pPr marL="189230" indent="-189230">
              <a:spcAft>
                <a:spcPts val="1000"/>
              </a:spcAft>
              <a:defRPr spc="300"/>
            </a:lvl1pPr>
            <a:lvl2pPr marL="567055" indent="-189230">
              <a:defRPr spc="300"/>
            </a:lvl2pPr>
            <a:lvl3pPr marL="944880" indent="-189230">
              <a:defRPr spc="300"/>
            </a:lvl3pPr>
            <a:lvl4pPr marL="1322705" indent="-189230">
              <a:defRPr spc="300"/>
            </a:lvl4pPr>
            <a:lvl5pPr marL="1701165" indent="-1892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377273" y="1206718"/>
            <a:ext cx="6804315" cy="85480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743385" y="3872721"/>
            <a:ext cx="6076557" cy="158837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96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743385" y="5550901"/>
            <a:ext cx="6076557" cy="73525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9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377273" y="948536"/>
            <a:ext cx="6802083" cy="110007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377273" y="2323633"/>
            <a:ext cx="6802083" cy="741990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379506" y="9844569"/>
            <a:ext cx="1674290" cy="49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2552362" y="9844569"/>
            <a:ext cx="2455626" cy="49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5505066" y="9844569"/>
            <a:ext cx="1674290" cy="49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5650" rtl="0" eaLnBrk="1" fontAlgn="auto" latinLnBrk="0" hangingPunct="1">
        <a:lnSpc>
          <a:spcPct val="100000"/>
        </a:lnSpc>
        <a:spcBef>
          <a:spcPct val="0"/>
        </a:spcBef>
        <a:buNone/>
        <a:defRPr sz="297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89230" indent="-189230" algn="l" defTabSz="75565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4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67055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330960" algn="l"/>
          <a:tab pos="1330960" algn="l"/>
          <a:tab pos="1330960" algn="l"/>
          <a:tab pos="1330960" algn="l"/>
        </a:tabLst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44880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22705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01165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7899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565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8976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12" Type="http://schemas.openxmlformats.org/officeDocument/2006/relationships/image" Target="../media/image9.jpeg"/><Relationship Id="rId1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tags" Target="../tags/tag63.xml"/><Relationship Id="rId6" Type="http://schemas.openxmlformats.org/officeDocument/2006/relationships/image" Target="../media/image3.png"/><Relationship Id="rId11" Type="http://schemas.openxmlformats.org/officeDocument/2006/relationships/image" Target="../media/image8.jpe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圆角矩形 108"/>
          <p:cNvSpPr/>
          <p:nvPr/>
        </p:nvSpPr>
        <p:spPr>
          <a:xfrm>
            <a:off x="1136015" y="317817"/>
            <a:ext cx="5434330" cy="334645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海杂波场景电磁频谱数据智能处理机理与方法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346075" y="123824"/>
            <a:ext cx="6867525" cy="10458451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127" name="矩形: 圆角 3"/>
          <p:cNvSpPr/>
          <p:nvPr/>
        </p:nvSpPr>
        <p:spPr>
          <a:xfrm>
            <a:off x="977900" y="4789170"/>
            <a:ext cx="5850890" cy="1647190"/>
          </a:xfrm>
          <a:prstGeom prst="roundRect">
            <a:avLst>
              <a:gd name="adj" fmla="val 10777"/>
            </a:avLst>
          </a:prstGeom>
          <a:solidFill>
            <a:srgbClr val="FBDCE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8" name="矩形: 圆角 3"/>
          <p:cNvSpPr/>
          <p:nvPr/>
        </p:nvSpPr>
        <p:spPr>
          <a:xfrm>
            <a:off x="977900" y="6802755"/>
            <a:ext cx="5850890" cy="1647190"/>
          </a:xfrm>
          <a:prstGeom prst="roundRect">
            <a:avLst>
              <a:gd name="adj" fmla="val 10777"/>
            </a:avLst>
          </a:prstGeom>
          <a:solidFill>
            <a:srgbClr val="DEEBF7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矩形: 圆角 3"/>
          <p:cNvSpPr/>
          <p:nvPr/>
        </p:nvSpPr>
        <p:spPr>
          <a:xfrm>
            <a:off x="535305" y="8747760"/>
            <a:ext cx="6489700" cy="1682750"/>
          </a:xfrm>
          <a:prstGeom prst="roundRect">
            <a:avLst>
              <a:gd name="adj" fmla="val 15777"/>
            </a:avLst>
          </a:prstGeom>
          <a:solidFill>
            <a:srgbClr val="FBDCE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矩形: 圆角 1150"/>
          <p:cNvSpPr/>
          <p:nvPr/>
        </p:nvSpPr>
        <p:spPr>
          <a:xfrm>
            <a:off x="3658870" y="9142095"/>
            <a:ext cx="3169920" cy="941705"/>
          </a:xfrm>
          <a:prstGeom prst="roundRect">
            <a:avLst>
              <a:gd name="adj" fmla="val 13863"/>
            </a:avLst>
          </a:prstGeom>
          <a:solidFill>
            <a:schemeClr val="bg1"/>
          </a:solidFill>
          <a:ln w="12700" cmpd="sng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: 圆角 1150"/>
          <p:cNvSpPr/>
          <p:nvPr/>
        </p:nvSpPr>
        <p:spPr>
          <a:xfrm>
            <a:off x="753110" y="9142095"/>
            <a:ext cx="2709545" cy="941705"/>
          </a:xfrm>
          <a:prstGeom prst="roundRect">
            <a:avLst>
              <a:gd name="adj" fmla="val 13863"/>
            </a:avLst>
          </a:prstGeom>
          <a:solidFill>
            <a:schemeClr val="bg1"/>
          </a:solidFill>
          <a:ln w="12700" cmpd="sng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CB1A5D0F-92B7-3FD3-675E-2B999F7310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7" t="21555" r="10502" b="24414"/>
          <a:stretch>
            <a:fillRect/>
          </a:stretch>
        </p:blipFill>
        <p:spPr>
          <a:xfrm>
            <a:off x="1003252" y="9310688"/>
            <a:ext cx="620717" cy="422592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737492" y="9701461"/>
            <a:ext cx="642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海杂波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342789" y="9701461"/>
            <a:ext cx="10998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频谱接收设备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9" name="箭头: 燕尾形 1202">
            <a:extLst>
              <a:ext uri="{FF2B5EF4-FFF2-40B4-BE49-F238E27FC236}">
                <a16:creationId xmlns:a16="http://schemas.microsoft.com/office/drawing/2014/main" id="{43BC096D-847E-C293-8363-5952480B23D2}"/>
              </a:ext>
            </a:extLst>
          </p:cNvPr>
          <p:cNvSpPr/>
          <p:nvPr/>
        </p:nvSpPr>
        <p:spPr>
          <a:xfrm rot="10800000" flipH="1">
            <a:off x="1404167" y="9364604"/>
            <a:ext cx="1185320" cy="375264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770630" y="9702165"/>
            <a:ext cx="665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算力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309110" y="9702165"/>
            <a:ext cx="8064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网络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906010" y="9702165"/>
            <a:ext cx="7607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平台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634990" y="9702165"/>
            <a:ext cx="532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模型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046470" y="9702165"/>
            <a:ext cx="8229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存储</a:t>
            </a:r>
          </a:p>
        </p:txBody>
      </p:sp>
      <p:pic>
        <p:nvPicPr>
          <p:cNvPr id="42" name="Picture 8" descr="Cpu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525" y="9286875"/>
            <a:ext cx="439420" cy="46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0" descr="Gpu 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850" y="9279890"/>
            <a:ext cx="44640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2" descr="Bandwidth 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580" y="9300845"/>
            <a:ext cx="405130" cy="432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图片 48" descr="ai-clou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155" y="9302750"/>
            <a:ext cx="424815" cy="453390"/>
          </a:xfrm>
          <a:prstGeom prst="rect">
            <a:avLst/>
          </a:prstGeom>
        </p:spPr>
      </p:pic>
      <p:pic>
        <p:nvPicPr>
          <p:cNvPr id="50" name="图片 49" descr="dis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0940" y="9349740"/>
            <a:ext cx="359410" cy="383540"/>
          </a:xfrm>
          <a:prstGeom prst="rect">
            <a:avLst/>
          </a:prstGeom>
        </p:spPr>
      </p:pic>
      <p:pic>
        <p:nvPicPr>
          <p:cNvPr id="54" name="图片 53" descr="networki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7594" y="9300845"/>
            <a:ext cx="405130" cy="432435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1195705" y="8791892"/>
            <a:ext cx="173736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9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信号采集平台</a:t>
            </a:r>
            <a:endParaRPr kumimoji="0" lang="zh-CN" altLang="en-US" sz="149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474021" y="8790330"/>
            <a:ext cx="17176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智能处理组件概览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1266825" y="6817995"/>
            <a:ext cx="5273040" cy="321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54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研究方案一：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海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杂波干扰下微弱电磁频谱信号传播规律分析与提取</a:t>
            </a:r>
          </a:p>
        </p:txBody>
      </p:sp>
      <p:sp>
        <p:nvSpPr>
          <p:cNvPr id="65" name="矩形: 圆角 7"/>
          <p:cNvSpPr/>
          <p:nvPr/>
        </p:nvSpPr>
        <p:spPr>
          <a:xfrm>
            <a:off x="3649980" y="721804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1.2 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基于干扰对消的微弱信号频谱特征增强方法</a:t>
            </a:r>
          </a:p>
        </p:txBody>
      </p:sp>
      <p:sp>
        <p:nvSpPr>
          <p:cNvPr id="80" name="矩形: 圆角 7"/>
          <p:cNvSpPr/>
          <p:nvPr/>
        </p:nvSpPr>
        <p:spPr>
          <a:xfrm>
            <a:off x="2143760" y="721804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: 圆角 7"/>
          <p:cNvSpPr/>
          <p:nvPr/>
        </p:nvSpPr>
        <p:spPr>
          <a:xfrm>
            <a:off x="5156200" y="721677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 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面向微弱电磁信号的多维表征提取方法</a:t>
            </a:r>
          </a:p>
        </p:txBody>
      </p:sp>
      <p:pic>
        <p:nvPicPr>
          <p:cNvPr id="93" name="Picture 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70" y="7223760"/>
            <a:ext cx="944245" cy="66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文本框 94"/>
          <p:cNvSpPr txBox="1"/>
          <p:nvPr/>
        </p:nvSpPr>
        <p:spPr>
          <a:xfrm>
            <a:off x="1149985" y="7884795"/>
            <a:ext cx="833120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99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海杂波信号感知</a:t>
            </a:r>
            <a:endParaRPr kumimoji="0" lang="zh-CN" altLang="en-US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15890" y="79140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信号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多维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变换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661024" y="79140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特征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精确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提取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053454" y="79140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结构化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数据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表征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201545" y="79140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环境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状态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建模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623819" y="7914005"/>
            <a:ext cx="540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海杂波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建模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007359" y="79140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时间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耦合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规律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710454" y="7901305"/>
            <a:ext cx="540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sz="850" b="1">
                <a:solidFill>
                  <a:srgbClr val="2E54A1"/>
                </a:solidFill>
              </a:defRPr>
            </a:lvl1pPr>
          </a:lstStyle>
          <a:p>
            <a:r>
              <a:rPr lang="zh-CN" altLang="en-US" dirty="0"/>
              <a:t>多通道</a:t>
            </a:r>
            <a:endParaRPr lang="en-US" altLang="zh-CN" dirty="0"/>
          </a:p>
          <a:p>
            <a:r>
              <a:rPr lang="zh-CN" altLang="en-US" dirty="0"/>
              <a:t>采集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4158614" y="79140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自适应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干扰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对调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540884" y="79140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信号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频谱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增强</a:t>
            </a:r>
          </a:p>
        </p:txBody>
      </p:sp>
      <p:sp>
        <p:nvSpPr>
          <p:cNvPr id="81" name="矩形 80"/>
          <p:cNvSpPr/>
          <p:nvPr/>
        </p:nvSpPr>
        <p:spPr>
          <a:xfrm>
            <a:off x="6708140" y="6803390"/>
            <a:ext cx="316865" cy="1645920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理论架构</a:t>
            </a:r>
          </a:p>
        </p:txBody>
      </p:sp>
      <p:sp>
        <p:nvSpPr>
          <p:cNvPr id="87" name="矩形 86"/>
          <p:cNvSpPr/>
          <p:nvPr/>
        </p:nvSpPr>
        <p:spPr>
          <a:xfrm>
            <a:off x="535940" y="6803390"/>
            <a:ext cx="338455" cy="1645920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怎么提取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920750" y="6444615"/>
            <a:ext cx="2012315" cy="335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5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海杂波信号感知</a:t>
            </a:r>
            <a:r>
              <a:rPr lang="en-US" altLang="zh-CN" sz="15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</p:txBody>
      </p:sp>
      <p:sp>
        <p:nvSpPr>
          <p:cNvPr id="23" name="箭头: 燕尾形 1202"/>
          <p:cNvSpPr/>
          <p:nvPr/>
        </p:nvSpPr>
        <p:spPr>
          <a:xfrm rot="5400000" flipH="1">
            <a:off x="3659019" y="6526530"/>
            <a:ext cx="400050" cy="317500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7" name="箭头: 燕尾形 1202"/>
          <p:cNvSpPr/>
          <p:nvPr/>
        </p:nvSpPr>
        <p:spPr>
          <a:xfrm rot="5400000" flipH="1">
            <a:off x="3648075" y="4499385"/>
            <a:ext cx="4000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2" name="箭头: 燕尾形 1202"/>
          <p:cNvSpPr/>
          <p:nvPr/>
        </p:nvSpPr>
        <p:spPr>
          <a:xfrm rot="5400000" flipH="1">
            <a:off x="3649569" y="8464550"/>
            <a:ext cx="4000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6708140" y="4790440"/>
            <a:ext cx="316865" cy="1645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感知底座</a:t>
            </a:r>
          </a:p>
        </p:txBody>
      </p:sp>
      <p:sp>
        <p:nvSpPr>
          <p:cNvPr id="129" name="箭头: 燕尾形 1202"/>
          <p:cNvSpPr/>
          <p:nvPr/>
        </p:nvSpPr>
        <p:spPr>
          <a:xfrm rot="5400000" flipH="1">
            <a:off x="6666230" y="6526530"/>
            <a:ext cx="400050" cy="317500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920750" y="4434205"/>
            <a:ext cx="2012315" cy="335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5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端侧轻量可信存储</a:t>
            </a:r>
            <a:r>
              <a:rPr lang="en-US" altLang="zh-CN" sz="15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</p:txBody>
      </p:sp>
      <p:sp>
        <p:nvSpPr>
          <p:cNvPr id="131" name="矩形 130"/>
          <p:cNvSpPr/>
          <p:nvPr/>
        </p:nvSpPr>
        <p:spPr>
          <a:xfrm>
            <a:off x="535940" y="4799330"/>
            <a:ext cx="338455" cy="1645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怎么存储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1266825" y="4784090"/>
            <a:ext cx="5273040" cy="321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研究方案二：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有限算力端侧频谱数据的轻量存储和可信管理方法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1170305" y="5871210"/>
            <a:ext cx="812800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端侧轻量可信存储</a:t>
            </a:r>
          </a:p>
        </p:txBody>
      </p:sp>
      <p:pic>
        <p:nvPicPr>
          <p:cNvPr id="134" name="Picture 4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70" y="5173980"/>
            <a:ext cx="944245" cy="65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矩形: 圆角 7"/>
          <p:cNvSpPr/>
          <p:nvPr/>
        </p:nvSpPr>
        <p:spPr>
          <a:xfrm>
            <a:off x="3649980" y="5175250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2.2 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基于表征压缩的频谱向量数据库存储优化方法</a:t>
            </a:r>
          </a:p>
        </p:txBody>
      </p:sp>
      <p:sp>
        <p:nvSpPr>
          <p:cNvPr id="136" name="矩形: 圆角 7"/>
          <p:cNvSpPr/>
          <p:nvPr/>
        </p:nvSpPr>
        <p:spPr>
          <a:xfrm>
            <a:off x="2143760" y="5175250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 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事件驱动的频谱数据价值评估模型</a:t>
            </a:r>
          </a:p>
        </p:txBody>
      </p:sp>
      <p:sp>
        <p:nvSpPr>
          <p:cNvPr id="137" name="矩形: 圆角 7"/>
          <p:cNvSpPr/>
          <p:nvPr/>
        </p:nvSpPr>
        <p:spPr>
          <a:xfrm>
            <a:off x="5156200" y="5173980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 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向量库协同的频谱数据可信管理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5234940" y="5871210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链上链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下可信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存证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5648324" y="5871210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可验证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分级协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同索引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6053454" y="5871210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C00000"/>
                </a:solidFill>
              </a:rPr>
              <a:t>链上可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C00000"/>
                </a:solidFill>
              </a:rPr>
              <a:t>学习索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C00000"/>
                </a:solidFill>
              </a:rPr>
              <a:t>引加速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2201545" y="5871210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事件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窗口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构建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2623819" y="5871210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存储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价值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筛选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3007359" y="5871210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数据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价值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评估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3718560" y="5871210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表征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量化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压缩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4126864" y="5871210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磁盘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高局部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性索引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4540884" y="5871210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向量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无缓冲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插入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2081530" y="7259955"/>
            <a:ext cx="1549400" cy="596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b="1" spc="-5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</a:t>
            </a:r>
            <a:r>
              <a:rPr lang="zh-CN" altLang="en-US" sz="1000" b="1" spc="-5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复杂海洋环境下电磁频谱信号时空耦合规律建模</a:t>
            </a:r>
          </a:p>
        </p:txBody>
      </p:sp>
      <p:sp>
        <p:nvSpPr>
          <p:cNvPr id="148" name="箭头: 燕尾形 1202"/>
          <p:cNvSpPr/>
          <p:nvPr/>
        </p:nvSpPr>
        <p:spPr>
          <a:xfrm rot="5400000" flipH="1">
            <a:off x="6666230" y="4526280"/>
            <a:ext cx="4000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9" name="矩形: 圆角 3"/>
          <p:cNvSpPr/>
          <p:nvPr/>
        </p:nvSpPr>
        <p:spPr>
          <a:xfrm>
            <a:off x="977900" y="2789555"/>
            <a:ext cx="5850890" cy="1647190"/>
          </a:xfrm>
          <a:prstGeom prst="roundRect">
            <a:avLst>
              <a:gd name="adj" fmla="val 10777"/>
            </a:avLst>
          </a:prstGeom>
          <a:solidFill>
            <a:srgbClr val="DEEBF7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1266825" y="2804795"/>
            <a:ext cx="5273040" cy="321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54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研究方案三：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基于频谱知识图谱的轻量化目标识别与可信协同决策方法</a:t>
            </a:r>
          </a:p>
        </p:txBody>
      </p:sp>
      <p:sp>
        <p:nvSpPr>
          <p:cNvPr id="151" name="矩形: 圆角 7"/>
          <p:cNvSpPr/>
          <p:nvPr/>
        </p:nvSpPr>
        <p:spPr>
          <a:xfrm>
            <a:off x="3649980" y="320484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3.2 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基于混合专家模型的轻量化目标检测与轨迹分析方法</a:t>
            </a:r>
          </a:p>
        </p:txBody>
      </p:sp>
      <p:sp>
        <p:nvSpPr>
          <p:cNvPr id="152" name="矩形: 圆角 7"/>
          <p:cNvSpPr/>
          <p:nvPr/>
        </p:nvSpPr>
        <p:spPr>
          <a:xfrm>
            <a:off x="2226945" y="3192463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" name="矩形: 圆角 7"/>
          <p:cNvSpPr/>
          <p:nvPr/>
        </p:nvSpPr>
        <p:spPr>
          <a:xfrm>
            <a:off x="5156200" y="320357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基于轻量安全传输与低延时确权的可信协同决策方法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1149985" y="3871595"/>
            <a:ext cx="833120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99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知识驱动可信决策</a:t>
            </a:r>
            <a:endParaRPr kumimoji="0" lang="zh-CN" altLang="en-US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5241290" y="39008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决策结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果一致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性确权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5673724" y="39008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分布式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可信协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同决策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6066154" y="39008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轻量级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安全传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输方法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2182495" y="39008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多源频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谱数据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表征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2623819" y="39008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态势知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识图谱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构建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3007359" y="39008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知识图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谱增量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更新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3718560" y="39008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信号检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测专家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模型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4158614" y="39008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小样本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识别专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家模型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4540884" y="3900805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轨迹分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析专家</a:t>
            </a:r>
            <a:endParaRPr lang="en-US" altLang="zh-CN" sz="850" b="1" dirty="0">
              <a:solidFill>
                <a:srgbClr val="2E54A1"/>
              </a:solidFill>
            </a:endParaRPr>
          </a:p>
          <a:p>
            <a:pPr algn="ctr"/>
            <a:r>
              <a:rPr lang="zh-CN" altLang="en-US" sz="850" b="1" dirty="0">
                <a:solidFill>
                  <a:srgbClr val="2E54A1"/>
                </a:solidFill>
              </a:rPr>
              <a:t>模型</a:t>
            </a:r>
          </a:p>
        </p:txBody>
      </p:sp>
      <p:sp>
        <p:nvSpPr>
          <p:cNvPr id="165" name="矩形 164"/>
          <p:cNvSpPr/>
          <p:nvPr/>
        </p:nvSpPr>
        <p:spPr>
          <a:xfrm>
            <a:off x="6708140" y="2790190"/>
            <a:ext cx="316865" cy="1645920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决策保障</a:t>
            </a:r>
          </a:p>
        </p:txBody>
      </p:sp>
      <p:sp>
        <p:nvSpPr>
          <p:cNvPr id="166" name="矩形 165"/>
          <p:cNvSpPr/>
          <p:nvPr/>
        </p:nvSpPr>
        <p:spPr>
          <a:xfrm>
            <a:off x="535940" y="2790190"/>
            <a:ext cx="338455" cy="1645920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怎么处理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920750" y="2431415"/>
            <a:ext cx="2012315" cy="335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5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知识驱动可信决策</a:t>
            </a:r>
            <a:r>
              <a:rPr lang="en-US" altLang="zh-CN" sz="15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</p:txBody>
      </p:sp>
      <p:sp>
        <p:nvSpPr>
          <p:cNvPr id="168" name="箭头: 燕尾形 1202"/>
          <p:cNvSpPr/>
          <p:nvPr/>
        </p:nvSpPr>
        <p:spPr>
          <a:xfrm rot="5400000" flipH="1">
            <a:off x="3653155" y="2512695"/>
            <a:ext cx="400050" cy="317500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2182495" y="3246755"/>
            <a:ext cx="1347470" cy="596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b="1" spc="-5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</a:t>
            </a:r>
            <a:r>
              <a:rPr lang="zh-CN" altLang="en-US" sz="1000" b="1" spc="-5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面向电磁态势的频谱知识图谱构建与动态演方法</a:t>
            </a:r>
          </a:p>
        </p:txBody>
      </p:sp>
      <p:pic>
        <p:nvPicPr>
          <p:cNvPr id="171" name="Picture 6"/>
          <p:cNvPicPr>
            <a:picLocks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70" y="3209925"/>
            <a:ext cx="944245" cy="65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5" name="箭头: 燕尾形 1202"/>
          <p:cNvSpPr/>
          <p:nvPr/>
        </p:nvSpPr>
        <p:spPr>
          <a:xfrm rot="5400000" flipH="1">
            <a:off x="3665855" y="874077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: 圆角 3">
            <a:extLst>
              <a:ext uri="{FF2B5EF4-FFF2-40B4-BE49-F238E27FC236}">
                <a16:creationId xmlns:a16="http://schemas.microsoft.com/office/drawing/2014/main" id="{3565CE93-E3B4-D923-8958-A1BC0D350BEF}"/>
              </a:ext>
            </a:extLst>
          </p:cNvPr>
          <p:cNvSpPr/>
          <p:nvPr/>
        </p:nvSpPr>
        <p:spPr>
          <a:xfrm>
            <a:off x="977900" y="806448"/>
            <a:ext cx="5850890" cy="1647190"/>
          </a:xfrm>
          <a:prstGeom prst="roundRect">
            <a:avLst>
              <a:gd name="adj" fmla="val 10777"/>
            </a:avLst>
          </a:prstGeom>
          <a:solidFill>
            <a:srgbClr val="FBDCE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DF3286-7953-A10B-AF31-4282B89652D2}"/>
              </a:ext>
            </a:extLst>
          </p:cNvPr>
          <p:cNvSpPr/>
          <p:nvPr/>
        </p:nvSpPr>
        <p:spPr>
          <a:xfrm>
            <a:off x="6708140" y="807718"/>
            <a:ext cx="316865" cy="1645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CDDA81-F8D6-EBFD-2105-1700BDCDCB26}"/>
              </a:ext>
            </a:extLst>
          </p:cNvPr>
          <p:cNvSpPr/>
          <p:nvPr/>
        </p:nvSpPr>
        <p:spPr>
          <a:xfrm>
            <a:off x="535940" y="816608"/>
            <a:ext cx="338455" cy="1645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怎么验证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DD861B-AB42-0A2C-5FA4-0E1F958E0D08}"/>
              </a:ext>
            </a:extLst>
          </p:cNvPr>
          <p:cNvSpPr txBox="1"/>
          <p:nvPr/>
        </p:nvSpPr>
        <p:spPr>
          <a:xfrm>
            <a:off x="1266825" y="801368"/>
            <a:ext cx="5273040" cy="321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研究方案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海杂波干扰下微弱电磁频谱信号传播规律分析与提取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F27604-C1EC-DCF1-B49A-D64E17A7F600}"/>
              </a:ext>
            </a:extLst>
          </p:cNvPr>
          <p:cNvSpPr txBox="1"/>
          <p:nvPr/>
        </p:nvSpPr>
        <p:spPr>
          <a:xfrm>
            <a:off x="1170305" y="1888488"/>
            <a:ext cx="812800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99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原型系统场景验证</a:t>
            </a:r>
            <a:endParaRPr kumimoji="0" lang="zh-CN" altLang="en-US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: 圆角 7">
            <a:extLst>
              <a:ext uri="{FF2B5EF4-FFF2-40B4-BE49-F238E27FC236}">
                <a16:creationId xmlns:a16="http://schemas.microsoft.com/office/drawing/2014/main" id="{16749624-E1F7-05BD-B03E-D2BFFA50287E}"/>
              </a:ext>
            </a:extLst>
          </p:cNvPr>
          <p:cNvSpPr/>
          <p:nvPr/>
        </p:nvSpPr>
        <p:spPr>
          <a:xfrm>
            <a:off x="3649980" y="1192528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原型系统验证</a:t>
            </a:r>
          </a:p>
        </p:txBody>
      </p:sp>
      <p:sp>
        <p:nvSpPr>
          <p:cNvPr id="18" name="矩形: 圆角 7">
            <a:extLst>
              <a:ext uri="{FF2B5EF4-FFF2-40B4-BE49-F238E27FC236}">
                <a16:creationId xmlns:a16="http://schemas.microsoft.com/office/drawing/2014/main" id="{B1817B56-2CCC-B1FB-98B2-696904E7CE79}"/>
              </a:ext>
            </a:extLst>
          </p:cNvPr>
          <p:cNvSpPr/>
          <p:nvPr/>
        </p:nvSpPr>
        <p:spPr>
          <a:xfrm>
            <a:off x="2143760" y="1192528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场景环境模拟</a:t>
            </a:r>
          </a:p>
        </p:txBody>
      </p:sp>
      <p:sp>
        <p:nvSpPr>
          <p:cNvPr id="19" name="矩形: 圆角 7">
            <a:extLst>
              <a:ext uri="{FF2B5EF4-FFF2-40B4-BE49-F238E27FC236}">
                <a16:creationId xmlns:a16="http://schemas.microsoft.com/office/drawing/2014/main" id="{E5A7E47B-0AA0-844B-5F24-832FE625DB22}"/>
              </a:ext>
            </a:extLst>
          </p:cNvPr>
          <p:cNvSpPr/>
          <p:nvPr/>
        </p:nvSpPr>
        <p:spPr>
          <a:xfrm>
            <a:off x="5156200" y="1191258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原型系统部署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3C0266-F6A1-FDAF-878E-157BFC0284AF}"/>
              </a:ext>
            </a:extLst>
          </p:cNvPr>
          <p:cNvSpPr txBox="1"/>
          <p:nvPr/>
        </p:nvSpPr>
        <p:spPr>
          <a:xfrm>
            <a:off x="5421630" y="1888488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内场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平台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验证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80B0E4-88BC-2803-CA4A-006983B18798}"/>
              </a:ext>
            </a:extLst>
          </p:cNvPr>
          <p:cNvSpPr txBox="1"/>
          <p:nvPr/>
        </p:nvSpPr>
        <p:spPr>
          <a:xfrm>
            <a:off x="5835014" y="1888488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外场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平台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验证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E543BE3-FB4C-FA24-5C0C-28E656490FC9}"/>
              </a:ext>
            </a:extLst>
          </p:cNvPr>
          <p:cNvSpPr txBox="1"/>
          <p:nvPr/>
        </p:nvSpPr>
        <p:spPr>
          <a:xfrm>
            <a:off x="2201545" y="1888488"/>
            <a:ext cx="540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 海杂波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模拟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0B240FC-1FB2-8240-C702-0AA54301EBB3}"/>
              </a:ext>
            </a:extLst>
          </p:cNvPr>
          <p:cNvSpPr txBox="1"/>
          <p:nvPr/>
        </p:nvSpPr>
        <p:spPr>
          <a:xfrm>
            <a:off x="2623819" y="1888488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目标辐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射特性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模拟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7ED8B32-0814-2C75-12A1-B31AEF5CDFB6}"/>
              </a:ext>
            </a:extLst>
          </p:cNvPr>
          <p:cNvSpPr txBox="1"/>
          <p:nvPr/>
        </p:nvSpPr>
        <p:spPr>
          <a:xfrm>
            <a:off x="3007359" y="1888488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电磁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干扰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模拟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BE9225F-65D8-C66D-C151-289943C584CA}"/>
              </a:ext>
            </a:extLst>
          </p:cNvPr>
          <p:cNvSpPr txBox="1"/>
          <p:nvPr/>
        </p:nvSpPr>
        <p:spPr>
          <a:xfrm>
            <a:off x="3718560" y="1888488"/>
            <a:ext cx="540000" cy="4847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信号传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播规律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验证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5936560-E8FF-6A10-7F20-8BB7469B9705}"/>
              </a:ext>
            </a:extLst>
          </p:cNvPr>
          <p:cNvSpPr txBox="1"/>
          <p:nvPr/>
        </p:nvSpPr>
        <p:spPr>
          <a:xfrm>
            <a:off x="4126864" y="1888488"/>
            <a:ext cx="54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轻量存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储和可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信管理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验证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95EB3C9-1147-1192-BFC7-BF7AF0CD1223}"/>
              </a:ext>
            </a:extLst>
          </p:cNvPr>
          <p:cNvSpPr txBox="1"/>
          <p:nvPr/>
        </p:nvSpPr>
        <p:spPr>
          <a:xfrm>
            <a:off x="4540884" y="1888488"/>
            <a:ext cx="54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目标识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别与可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信协同</a:t>
            </a:r>
            <a:endParaRPr lang="en-US" altLang="zh-CN" sz="850" b="1" dirty="0">
              <a:solidFill>
                <a:srgbClr val="C00000"/>
              </a:solidFill>
            </a:endParaRPr>
          </a:p>
          <a:p>
            <a:pPr algn="ctr" fontAlgn="ctr"/>
            <a:r>
              <a:rPr lang="zh-CN" altLang="en-US" sz="850" b="1" dirty="0">
                <a:solidFill>
                  <a:srgbClr val="C00000"/>
                </a:solidFill>
              </a:rPr>
              <a:t>验证</a:t>
            </a:r>
          </a:p>
        </p:txBody>
      </p:sp>
      <p:pic>
        <p:nvPicPr>
          <p:cNvPr id="64" name="图片 63" descr="Surface-based sonar system could rapidly map the ocean floor at high  resolution | MIT News | Massachusetts Institute of Technology">
            <a:extLst>
              <a:ext uri="{FF2B5EF4-FFF2-40B4-BE49-F238E27FC236}">
                <a16:creationId xmlns:a16="http://schemas.microsoft.com/office/drawing/2014/main" id="{C5AC3D24-7BDF-4F20-9E11-471023F0E2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6484" y="1191258"/>
            <a:ext cx="943617" cy="6597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CDDE059-DEF5-0862-244B-CBB8C1A35ABD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3433" b="82090" l="14179" r="85821">
                        <a14:foregroundMark x1="17910" y1="48507" x2="25373" y2="64925"/>
                        <a14:foregroundMark x1="29851" y1="51493" x2="31343" y2="75373"/>
                        <a14:foregroundMark x1="86567" y1="64179" x2="44776" y2="82090"/>
                        <a14:foregroundMark x1="79104" y1="66418" x2="77726" y2="60215"/>
                        <a14:foregroundMark x1="50676" y1="69370" x2="50000" y2="75373"/>
                        <a14:foregroundMark x1="55970" y1="22388" x2="51274" y2="64062"/>
                        <a14:foregroundMark x1="72248" y1="60802" x2="76119" y2="71642"/>
                        <a14:foregroundMark x1="64925" y1="40299" x2="65478" y2="41847"/>
                        <a14:foregroundMark x1="83582" y1="46302" x2="83582" y2="46941"/>
                        <a14:foregroundMark x1="53731" y1="17164" x2="71091" y2="32407"/>
                        <a14:foregroundMark x1="78358" y1="60447" x2="67910" y2="81343"/>
                        <a14:foregroundMark x1="85075" y1="47015" x2="85040" y2="47086"/>
                        <a14:foregroundMark x1="56716" y1="14179" x2="72704" y2="29696"/>
                        <a14:foregroundMark x1="61940" y1="17164" x2="75043" y2="25763"/>
                        <a14:foregroundMark x1="86542" y1="42515" x2="86567" y2="42537"/>
                        <a14:foregroundMark x1="57463" y1="17910" x2="72265" y2="30435"/>
                        <a14:foregroundMark x1="31343" y1="26866" x2="21642" y2="64925"/>
                        <a14:foregroundMark x1="20896" y1="37313" x2="14179" y2="68657"/>
                        <a14:backgroundMark x1="63433" y1="48507" x2="78358" y2="52985"/>
                        <a14:backgroundMark x1="82090" y1="50746" x2="78358" y2="60448"/>
                        <a14:backgroundMark x1="84328" y1="47015" x2="83582" y2="54478"/>
                        <a14:backgroundMark x1="64179" y1="44030" x2="70896" y2="432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204" t="12644" r="8562" b="12458"/>
          <a:stretch>
            <a:fillRect/>
          </a:stretch>
        </p:blipFill>
        <p:spPr>
          <a:xfrm>
            <a:off x="1832821" y="9316641"/>
            <a:ext cx="457443" cy="41663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8C79060-54E2-D83C-29D6-B1FA055A900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845"/>
          <a:stretch>
            <a:fillRect/>
          </a:stretch>
        </p:blipFill>
        <p:spPr>
          <a:xfrm>
            <a:off x="2629650" y="9273463"/>
            <a:ext cx="511964" cy="482042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9D74EDE8-F436-A783-75B9-6ECA2CF7CE67}"/>
              </a:ext>
            </a:extLst>
          </p:cNvPr>
          <p:cNvSpPr txBox="1"/>
          <p:nvPr/>
        </p:nvSpPr>
        <p:spPr>
          <a:xfrm>
            <a:off x="981027" y="9700756"/>
            <a:ext cx="642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信号源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418</Words>
  <Application>Microsoft Office PowerPoint</Application>
  <PresentationFormat>自定义</PresentationFormat>
  <Paragraphs>146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Arial</vt:lpstr>
      <vt:lpstr>Calibri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yellowStar</dc:creator>
  <cp:lastModifiedBy>Hodge Chang</cp:lastModifiedBy>
  <cp:revision>209</cp:revision>
  <cp:lastPrinted>2026-06-15T10:07:29Z</cp:lastPrinted>
  <dcterms:created xsi:type="dcterms:W3CDTF">2019-06-19T02:08:00Z</dcterms:created>
  <dcterms:modified xsi:type="dcterms:W3CDTF">2026-06-24T05:21:08Z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6CB6136405B14EEB9471DA5CC5350EE5_11</vt:lpwstr>
  </property>
</Properties>
</file>