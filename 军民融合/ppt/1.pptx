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0691495" cy="75596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500" y="1237251"/>
            <a:ext cx="8019000" cy="2632000"/>
          </a:xfrm>
        </p:spPr>
        <p:txBody>
          <a:bodyPr anchor="b"/>
          <a:lstStyle>
            <a:lvl1pPr algn="ctr">
              <a:buNone/>
              <a:defRPr sz="661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500" y="3970751"/>
            <a:ext cx="8019000" cy="1825249"/>
          </a:xfrm>
        </p:spPr>
        <p:txBody>
          <a:bodyPr/>
          <a:lstStyle>
            <a:lvl1pPr marL="0" indent="0" algn="ctr">
              <a:buNone/>
              <a:defRPr sz="2645"/>
            </a:lvl1pPr>
            <a:lvl2pPr marL="504190" indent="0" algn="ctr">
              <a:buNone/>
              <a:defRPr sz="2205"/>
            </a:lvl2pPr>
            <a:lvl3pPr marL="1007745" indent="0" algn="ctr">
              <a:buNone/>
              <a:defRPr sz="1985"/>
            </a:lvl3pPr>
            <a:lvl4pPr marL="1511935" indent="0" algn="ctr">
              <a:buNone/>
              <a:defRPr sz="1765"/>
            </a:lvl4pPr>
            <a:lvl5pPr marL="2016125" indent="0" algn="ctr">
              <a:buNone/>
              <a:defRPr sz="1765"/>
            </a:lvl5pPr>
            <a:lvl6pPr marL="2520315" indent="0" algn="ctr">
              <a:buNone/>
              <a:defRPr sz="1765"/>
            </a:lvl6pPr>
            <a:lvl7pPr marL="3023870" indent="0" algn="ctr">
              <a:buNone/>
              <a:defRPr sz="1765"/>
            </a:lvl7pPr>
            <a:lvl8pPr marL="3528060" indent="0" algn="ctr">
              <a:buNone/>
              <a:defRPr sz="1765"/>
            </a:lvl8pPr>
            <a:lvl9pPr marL="4032250" indent="0" algn="ctr">
              <a:buNone/>
              <a:defRPr sz="1765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506" y="1884751"/>
            <a:ext cx="9221850" cy="3144749"/>
          </a:xfrm>
        </p:spPr>
        <p:txBody>
          <a:bodyPr anchor="b"/>
          <a:lstStyle>
            <a:lvl1pPr>
              <a:buNone/>
              <a:defRPr sz="6615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506" y="5059251"/>
            <a:ext cx="9221850" cy="1653749"/>
          </a:xfrm>
        </p:spPr>
        <p:txBody>
          <a:bodyPr/>
          <a:lstStyle>
            <a:lvl1pPr marL="0" indent="0">
              <a:buNone/>
              <a:defRPr sz="2645">
                <a:solidFill>
                  <a:schemeClr val="tx1">
                    <a:tint val="75000"/>
                  </a:schemeClr>
                </a:solidFill>
              </a:defRPr>
            </a:lvl1pPr>
            <a:lvl2pPr marL="504190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745" indent="0">
              <a:buNone/>
              <a:defRPr sz="1985">
                <a:solidFill>
                  <a:schemeClr val="tx1">
                    <a:tint val="75000"/>
                  </a:schemeClr>
                </a:solidFill>
              </a:defRPr>
            </a:lvl3pPr>
            <a:lvl4pPr marL="151193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4pPr>
            <a:lvl5pPr marL="201612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5pPr>
            <a:lvl6pPr marL="2520315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6pPr>
            <a:lvl7pPr marL="302387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7pPr>
            <a:lvl8pPr marL="352806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8pPr>
            <a:lvl9pPr marL="4032250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35075" y="2012500"/>
            <a:ext cx="4544100" cy="4796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5412825" y="2012500"/>
            <a:ext cx="4544100" cy="4796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402500"/>
            <a:ext cx="9221850" cy="1461251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468" y="1853251"/>
            <a:ext cx="4523217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736468" y="2761500"/>
            <a:ext cx="4523217" cy="4061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5412825" y="1853251"/>
            <a:ext cx="4545493" cy="908249"/>
          </a:xfrm>
        </p:spPr>
        <p:txBody>
          <a:bodyPr anchor="b"/>
          <a:lstStyle>
            <a:lvl1pPr marL="0" indent="0">
              <a:buNone/>
              <a:defRPr sz="2645" b="1"/>
            </a:lvl1pPr>
            <a:lvl2pPr marL="504190" indent="0">
              <a:buNone/>
              <a:defRPr sz="2205" b="1"/>
            </a:lvl2pPr>
            <a:lvl3pPr marL="1007745" indent="0">
              <a:buNone/>
              <a:defRPr sz="1985" b="1"/>
            </a:lvl3pPr>
            <a:lvl4pPr marL="1511935" indent="0">
              <a:buNone/>
              <a:defRPr sz="1765" b="1"/>
            </a:lvl4pPr>
            <a:lvl5pPr marL="2016125" indent="0">
              <a:buNone/>
              <a:defRPr sz="1765" b="1"/>
            </a:lvl5pPr>
            <a:lvl6pPr marL="2520315" indent="0">
              <a:buNone/>
              <a:defRPr sz="1765" b="1"/>
            </a:lvl6pPr>
            <a:lvl7pPr marL="3023870" indent="0">
              <a:buNone/>
              <a:defRPr sz="1765" b="1"/>
            </a:lvl7pPr>
            <a:lvl8pPr marL="3528060" indent="0">
              <a:buNone/>
              <a:defRPr sz="1765" b="1"/>
            </a:lvl8pPr>
            <a:lvl9pPr marL="4032250" indent="0">
              <a:buNone/>
              <a:defRPr sz="1765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5412825" y="2761500"/>
            <a:ext cx="4545493" cy="4061751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>
              <a:buNone/>
              <a:defRPr sz="3530"/>
            </a:lvl1pPr>
            <a:lvl2pPr>
              <a:buNone/>
              <a:defRPr sz="3085"/>
            </a:lvl2pPr>
            <a:lvl3pPr>
              <a:buNone/>
              <a:defRPr sz="2645"/>
            </a:lvl3pPr>
            <a:lvl4pPr>
              <a:buNone/>
              <a:defRPr sz="2205"/>
            </a:lvl4pPr>
            <a:lvl5pPr>
              <a:buNone/>
              <a:defRPr sz="2205"/>
            </a:lvl5pPr>
            <a:lvl6pPr>
              <a:buNone/>
              <a:defRPr sz="2205"/>
            </a:lvl6pPr>
            <a:lvl7pPr>
              <a:buNone/>
              <a:defRPr sz="2205"/>
            </a:lvl7pPr>
            <a:lvl8pPr>
              <a:buNone/>
              <a:defRPr sz="2205"/>
            </a:lvl8pPr>
            <a:lvl9pPr>
              <a:buNone/>
              <a:defRPr sz="2205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468" y="504000"/>
            <a:ext cx="3448448" cy="1764000"/>
          </a:xfrm>
        </p:spPr>
        <p:txBody>
          <a:bodyPr anchor="b"/>
          <a:lstStyle>
            <a:lvl1pPr>
              <a:buNone/>
              <a:defRPr sz="353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5493" y="1088500"/>
            <a:ext cx="5412825" cy="5372500"/>
          </a:xfrm>
        </p:spPr>
        <p:txBody>
          <a:bodyPr/>
          <a:lstStyle>
            <a:lvl1pPr marL="0" indent="0">
              <a:buNone/>
              <a:defRPr sz="3530"/>
            </a:lvl1pPr>
            <a:lvl2pPr marL="504190" indent="0">
              <a:buNone/>
              <a:defRPr sz="3085"/>
            </a:lvl2pPr>
            <a:lvl3pPr marL="1007745" indent="0">
              <a:buNone/>
              <a:defRPr sz="2645"/>
            </a:lvl3pPr>
            <a:lvl4pPr marL="1511935" indent="0">
              <a:buNone/>
              <a:defRPr sz="2205"/>
            </a:lvl4pPr>
            <a:lvl5pPr marL="2016125" indent="0">
              <a:buNone/>
              <a:defRPr sz="2205"/>
            </a:lvl5pPr>
            <a:lvl6pPr marL="2520315" indent="0">
              <a:buNone/>
              <a:defRPr sz="2205"/>
            </a:lvl6pPr>
            <a:lvl7pPr marL="3023870" indent="0">
              <a:buNone/>
              <a:defRPr sz="2205"/>
            </a:lvl7pPr>
            <a:lvl8pPr marL="3528060" indent="0">
              <a:buNone/>
              <a:defRPr sz="2205"/>
            </a:lvl8pPr>
            <a:lvl9pPr marL="4032250" indent="0">
              <a:buNone/>
              <a:defRPr sz="2205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736468" y="2268000"/>
            <a:ext cx="3448448" cy="4201751"/>
          </a:xfrm>
        </p:spPr>
        <p:txBody>
          <a:bodyPr/>
          <a:lstStyle>
            <a:lvl1pPr marL="0" indent="0">
              <a:buNone/>
              <a:defRPr sz="1765"/>
            </a:lvl1pPr>
            <a:lvl2pPr marL="504190" indent="0">
              <a:buNone/>
              <a:defRPr sz="1545"/>
            </a:lvl2pPr>
            <a:lvl3pPr marL="1007745" indent="0">
              <a:buNone/>
              <a:defRPr sz="1325"/>
            </a:lvl3pPr>
            <a:lvl4pPr marL="1511935" indent="0">
              <a:buNone/>
              <a:defRPr sz="1100"/>
            </a:lvl4pPr>
            <a:lvl5pPr marL="2016125" indent="0">
              <a:buNone/>
              <a:defRPr sz="1100"/>
            </a:lvl5pPr>
            <a:lvl6pPr marL="2520315" indent="0">
              <a:buNone/>
              <a:defRPr sz="1100"/>
            </a:lvl6pPr>
            <a:lvl7pPr marL="3023870" indent="0">
              <a:buNone/>
              <a:defRPr sz="1100"/>
            </a:lvl7pPr>
            <a:lvl8pPr marL="3528060" indent="0">
              <a:buNone/>
              <a:defRPr sz="1100"/>
            </a:lvl8pPr>
            <a:lvl9pPr marL="4032250" indent="0">
              <a:buNone/>
              <a:defRPr sz="11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7651462" y="402500"/>
            <a:ext cx="2305462" cy="6406751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735075" y="402500"/>
            <a:ext cx="6782737" cy="6406751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A07D7D57-5647-403E-A6BA-90867ADD46E0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075" y="402500"/>
            <a:ext cx="9221850" cy="1461251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075" y="2012500"/>
            <a:ext cx="9221850" cy="4796751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73507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D68A4E-1AD5-4525-8412-8CB756C9DD23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3541725" y="7007000"/>
            <a:ext cx="360855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7551225" y="7007000"/>
            <a:ext cx="2405700" cy="40250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3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D7D57-5647-403E-A6BA-90867ADD46E0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85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52095" indent="-252095" algn="l">
        <a:lnSpc>
          <a:spcPct val="90000"/>
        </a:lnSpc>
        <a:spcBef>
          <a:spcPts val="0"/>
        </a:spcBef>
        <a:buChar char="•"/>
        <a:defRPr sz="3085">
          <a:solidFill>
            <a:schemeClr val="tx1"/>
          </a:solidFill>
          <a:latin typeface="+mn-lt"/>
          <a:ea typeface="+mn-lt"/>
          <a:cs typeface="+mn-lt"/>
        </a:defRPr>
      </a:lvl1pPr>
      <a:lvl2pPr marL="756285" indent="-252095" algn="l">
        <a:lnSpc>
          <a:spcPct val="90000"/>
        </a:lnSpc>
        <a:spcBef>
          <a:spcPts val="550"/>
        </a:spcBef>
        <a:buChar char="•"/>
        <a:defRPr sz="2645">
          <a:solidFill>
            <a:schemeClr val="tx1"/>
          </a:solidFill>
          <a:latin typeface="+mn-lt"/>
          <a:ea typeface="+mn-lt"/>
          <a:cs typeface="+mn-lt"/>
        </a:defRPr>
      </a:lvl2pPr>
      <a:lvl3pPr marL="1259840" indent="-252095" algn="l">
        <a:lnSpc>
          <a:spcPct val="90000"/>
        </a:lnSpc>
        <a:spcBef>
          <a:spcPts val="550"/>
        </a:spcBef>
        <a:buChar char="•"/>
        <a:defRPr sz="2205">
          <a:solidFill>
            <a:schemeClr val="tx1"/>
          </a:solidFill>
          <a:latin typeface="+mn-lt"/>
          <a:ea typeface="+mn-lt"/>
          <a:cs typeface="+mn-lt"/>
        </a:defRPr>
      </a:lvl3pPr>
      <a:lvl4pPr marL="176403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26822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77177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27596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780155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283710" indent="-252095" algn="l">
        <a:lnSpc>
          <a:spcPct val="90000"/>
        </a:lnSpc>
        <a:spcBef>
          <a:spcPts val="550"/>
        </a:spcBef>
        <a:buChar char="•"/>
        <a:defRPr sz="198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1pPr>
      <a:lvl2pPr marL="50419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2pPr>
      <a:lvl3pPr marL="100774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3pPr>
      <a:lvl4pPr marL="151193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4pPr>
      <a:lvl5pPr marL="201612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5pPr>
      <a:lvl6pPr marL="2520315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6pPr>
      <a:lvl7pPr marL="302387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7pPr>
      <a:lvl8pPr marL="352806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8pPr>
      <a:lvl9pPr marL="4032250" algn="l">
        <a:buNone/>
        <a:defRPr sz="1985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" name="圆角矩形 80"/>
          <p:cNvSpPr>
            <a:spLocks noGrp="1"/>
          </p:cNvSpPr>
          <p:nvPr/>
        </p:nvSpPr>
        <p:spPr>
          <a:xfrm>
            <a:off x="342265" y="439420"/>
            <a:ext cx="9996170" cy="6870700"/>
          </a:xfrm>
          <a:prstGeom prst="roundRect">
            <a:avLst>
              <a:gd name="adj" fmla="val 3556"/>
            </a:avLst>
          </a:prstGeom>
          <a:noFill/>
          <a:ln w="25400" cmpd="sng"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1933574" y="467360"/>
            <a:ext cx="6849745" cy="477520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b="1" i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61975" y="922020"/>
            <a:ext cx="884555" cy="212153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n>
                  <a:noFill/>
                </a:ln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b="1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445895" y="920115"/>
            <a:ext cx="8700135" cy="2123440"/>
          </a:xfrm>
          <a:prstGeom prst="rect">
            <a:avLst/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61975" y="3187700"/>
            <a:ext cx="883920" cy="1830705"/>
          </a:xfrm>
          <a:prstGeom prst="rect">
            <a:avLst/>
          </a:prstGeom>
          <a:solidFill>
            <a:srgbClr val="2E54A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n>
                  <a:noFill/>
                </a:ln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链路</a:t>
            </a:r>
            <a:endParaRPr b="1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46530" y="3186430"/>
            <a:ext cx="8696325" cy="1831975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561975" y="5162550"/>
            <a:ext cx="883920" cy="183070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n>
                  <a:noFill/>
                </a:ln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endParaRPr b="1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ln>
                  <a:noFill/>
                </a:ln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支撑</a:t>
            </a:r>
            <a:endParaRPr b="1">
              <a:ln>
                <a:noFill/>
              </a:ln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1446530" y="5161280"/>
            <a:ext cx="8696325" cy="1831975"/>
          </a:xfrm>
          <a:prstGeom prst="rect">
            <a:avLst/>
          </a:prstGeom>
          <a:solidFill>
            <a:srgbClr val="FADBD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78" name="矩形: 圆角 8"/>
          <p:cNvSpPr>
            <a:spLocks noGrp="1"/>
          </p:cNvSpPr>
          <p:nvPr/>
        </p:nvSpPr>
        <p:spPr>
          <a:xfrm flipH="1">
            <a:off x="1631950" y="1069340"/>
            <a:ext cx="3314065" cy="193167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4" name="矩形: 圆角 8"/>
          <p:cNvSpPr>
            <a:spLocks noGrp="1"/>
          </p:cNvSpPr>
          <p:nvPr/>
        </p:nvSpPr>
        <p:spPr>
          <a:xfrm flipH="1">
            <a:off x="5480050" y="1069340"/>
            <a:ext cx="4453255" cy="1379220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0" name="矩形: 圆角 8"/>
          <p:cNvSpPr>
            <a:spLocks noGrp="1"/>
          </p:cNvSpPr>
          <p:nvPr/>
        </p:nvSpPr>
        <p:spPr>
          <a:xfrm flipH="1">
            <a:off x="1631950" y="3316605"/>
            <a:ext cx="8355330" cy="157162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2E54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62" name="矩形: 圆角 8"/>
          <p:cNvSpPr>
            <a:spLocks noGrp="1"/>
          </p:cNvSpPr>
          <p:nvPr/>
        </p:nvSpPr>
        <p:spPr>
          <a:xfrm flipH="1">
            <a:off x="1631950" y="5357495"/>
            <a:ext cx="8355330" cy="1571625"/>
          </a:xfrm>
          <a:prstGeom prst="roundRect">
            <a:avLst>
              <a:gd name="adj" fmla="val 6238"/>
            </a:avLst>
          </a:prstGeom>
          <a:solidFill>
            <a:schemeClr val="bg1"/>
          </a:solidFill>
          <a:ln w="19050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82" name="clean-title"/>
          <p:cNvSpPr>
            <a:spLocks noGrp="1"/>
          </p:cNvSpPr>
          <p:nvPr/>
        </p:nvSpPr>
        <p:spPr>
          <a:xfrm>
            <a:off x="2177415" y="572770"/>
            <a:ext cx="6400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9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海杂波干扰下微弱电磁频谱信号传播规律与微弱信号提取</a:t>
            </a:r>
            <a:endParaRPr sz="139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sea-wave-1-1"/>
          <p:cNvSpPr>
            <a:spLocks noGrp="1"/>
          </p:cNvSpPr>
          <p:nvPr/>
        </p:nvSpPr>
        <p:spPr>
          <a:xfrm>
            <a:off x="1857375" y="1971675"/>
            <a:ext cx="66675" cy="37783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85" name="sea-wave-1-2"/>
          <p:cNvSpPr>
            <a:spLocks noGrp="1"/>
          </p:cNvSpPr>
          <p:nvPr/>
        </p:nvSpPr>
        <p:spPr>
          <a:xfrm>
            <a:off x="1924050" y="2009458"/>
            <a:ext cx="66675" cy="8219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86" name="sea-wave-1-3"/>
          <p:cNvSpPr>
            <a:spLocks noGrp="1"/>
          </p:cNvSpPr>
          <p:nvPr/>
        </p:nvSpPr>
        <p:spPr>
          <a:xfrm>
            <a:off x="1990725" y="1989900"/>
            <a:ext cx="66675" cy="27777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87" name="sea-wave-1-4"/>
          <p:cNvSpPr>
            <a:spLocks noGrp="1"/>
          </p:cNvSpPr>
          <p:nvPr/>
        </p:nvSpPr>
        <p:spPr>
          <a:xfrm>
            <a:off x="2057400" y="1947862"/>
            <a:ext cx="66675" cy="42038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88" name="sea-wave-1-5"/>
          <p:cNvSpPr>
            <a:spLocks noGrp="1"/>
          </p:cNvSpPr>
          <p:nvPr/>
        </p:nvSpPr>
        <p:spPr>
          <a:xfrm>
            <a:off x="2124075" y="1924458"/>
            <a:ext cx="66675" cy="23405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89" name="sea-wave-1-6"/>
          <p:cNvSpPr>
            <a:spLocks noGrp="1"/>
          </p:cNvSpPr>
          <p:nvPr/>
        </p:nvSpPr>
        <p:spPr>
          <a:xfrm>
            <a:off x="2190750" y="1924457"/>
            <a:ext cx="66675" cy="13542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0" name="sea-wave-1-7"/>
          <p:cNvSpPr>
            <a:spLocks noGrp="1"/>
          </p:cNvSpPr>
          <p:nvPr/>
        </p:nvSpPr>
        <p:spPr>
          <a:xfrm>
            <a:off x="2257425" y="1937999"/>
            <a:ext cx="66675" cy="39892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1" name="sea-wave-1-8"/>
          <p:cNvSpPr>
            <a:spLocks noGrp="1"/>
          </p:cNvSpPr>
          <p:nvPr/>
        </p:nvSpPr>
        <p:spPr>
          <a:xfrm>
            <a:off x="2324100" y="1977891"/>
            <a:ext cx="66675" cy="35028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2" name="sea-wave-1-9"/>
          <p:cNvSpPr>
            <a:spLocks noGrp="1"/>
          </p:cNvSpPr>
          <p:nvPr/>
        </p:nvSpPr>
        <p:spPr>
          <a:xfrm>
            <a:off x="2390775" y="2012919"/>
            <a:ext cx="66675" cy="2755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3" name="sea-wave-1-10"/>
          <p:cNvSpPr>
            <a:spLocks noGrp="1"/>
          </p:cNvSpPr>
          <p:nvPr/>
        </p:nvSpPr>
        <p:spPr>
          <a:xfrm>
            <a:off x="2457450" y="1984001"/>
            <a:ext cx="66675" cy="31674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4" name="sea-wave-1-11"/>
          <p:cNvSpPr>
            <a:spLocks noGrp="1"/>
          </p:cNvSpPr>
          <p:nvPr/>
        </p:nvSpPr>
        <p:spPr>
          <a:xfrm>
            <a:off x="2524125" y="1942682"/>
            <a:ext cx="66675" cy="41319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5" name="sea-wave-1-12"/>
          <p:cNvSpPr>
            <a:spLocks noGrp="1"/>
          </p:cNvSpPr>
          <p:nvPr/>
        </p:nvSpPr>
        <p:spPr>
          <a:xfrm>
            <a:off x="2590800" y="1924050"/>
            <a:ext cx="66675" cy="18633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6" name="sea-wave-1-13"/>
          <p:cNvSpPr>
            <a:spLocks noGrp="1"/>
          </p:cNvSpPr>
          <p:nvPr/>
        </p:nvSpPr>
        <p:spPr>
          <a:xfrm>
            <a:off x="2657475" y="1924050"/>
            <a:ext cx="66675" cy="18633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7" name="sea-wave-1-14"/>
          <p:cNvSpPr>
            <a:spLocks noGrp="1"/>
          </p:cNvSpPr>
          <p:nvPr/>
        </p:nvSpPr>
        <p:spPr>
          <a:xfrm>
            <a:off x="2724150" y="1942683"/>
            <a:ext cx="66675" cy="41319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8" name="sea-wave-1-15"/>
          <p:cNvSpPr>
            <a:spLocks noGrp="1"/>
          </p:cNvSpPr>
          <p:nvPr/>
        </p:nvSpPr>
        <p:spPr>
          <a:xfrm>
            <a:off x="2790825" y="1984001"/>
            <a:ext cx="66675" cy="31674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99" name="sea-wave-1-16"/>
          <p:cNvSpPr>
            <a:spLocks noGrp="1"/>
          </p:cNvSpPr>
          <p:nvPr/>
        </p:nvSpPr>
        <p:spPr>
          <a:xfrm>
            <a:off x="2857500" y="2012920"/>
            <a:ext cx="66675" cy="2755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0" name="sea-wave-1-17"/>
          <p:cNvSpPr>
            <a:spLocks noGrp="1"/>
          </p:cNvSpPr>
          <p:nvPr/>
        </p:nvSpPr>
        <p:spPr>
          <a:xfrm>
            <a:off x="2924175" y="1977891"/>
            <a:ext cx="66675" cy="35028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1" name="sea-wave-1-18"/>
          <p:cNvSpPr>
            <a:spLocks noGrp="1"/>
          </p:cNvSpPr>
          <p:nvPr/>
        </p:nvSpPr>
        <p:spPr>
          <a:xfrm>
            <a:off x="2990850" y="1937999"/>
            <a:ext cx="66675" cy="39892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2" name="sea-wave-1-19"/>
          <p:cNvSpPr>
            <a:spLocks noGrp="1"/>
          </p:cNvSpPr>
          <p:nvPr/>
        </p:nvSpPr>
        <p:spPr>
          <a:xfrm>
            <a:off x="3057525" y="1924457"/>
            <a:ext cx="66675" cy="13542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3" name="sea-wave-1-20"/>
          <p:cNvSpPr>
            <a:spLocks noGrp="1"/>
          </p:cNvSpPr>
          <p:nvPr/>
        </p:nvSpPr>
        <p:spPr>
          <a:xfrm>
            <a:off x="3124200" y="1924457"/>
            <a:ext cx="66675" cy="23405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4" name="sea-wave-1-21"/>
          <p:cNvSpPr>
            <a:spLocks noGrp="1"/>
          </p:cNvSpPr>
          <p:nvPr/>
        </p:nvSpPr>
        <p:spPr>
          <a:xfrm>
            <a:off x="3190875" y="1947863"/>
            <a:ext cx="66675" cy="42038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5" name="sea-wave-1-22"/>
          <p:cNvSpPr>
            <a:spLocks noGrp="1"/>
          </p:cNvSpPr>
          <p:nvPr/>
        </p:nvSpPr>
        <p:spPr>
          <a:xfrm>
            <a:off x="3257550" y="1989900"/>
            <a:ext cx="66675" cy="27777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6" name="sea-wave-1-23"/>
          <p:cNvSpPr>
            <a:spLocks noGrp="1"/>
          </p:cNvSpPr>
          <p:nvPr/>
        </p:nvSpPr>
        <p:spPr>
          <a:xfrm>
            <a:off x="3324225" y="2009458"/>
            <a:ext cx="66675" cy="8219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7" name="sea-wave-1-24"/>
          <p:cNvSpPr>
            <a:spLocks noGrp="1"/>
          </p:cNvSpPr>
          <p:nvPr/>
        </p:nvSpPr>
        <p:spPr>
          <a:xfrm>
            <a:off x="3390900" y="1971675"/>
            <a:ext cx="66675" cy="37783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8" name="sea-wave-1-25"/>
          <p:cNvSpPr>
            <a:spLocks noGrp="1"/>
          </p:cNvSpPr>
          <p:nvPr/>
        </p:nvSpPr>
        <p:spPr>
          <a:xfrm>
            <a:off x="3457575" y="1933892"/>
            <a:ext cx="66675" cy="37783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09" name="sea-wave-1-26"/>
          <p:cNvSpPr>
            <a:spLocks noGrp="1"/>
          </p:cNvSpPr>
          <p:nvPr/>
        </p:nvSpPr>
        <p:spPr>
          <a:xfrm>
            <a:off x="3524250" y="1925673"/>
            <a:ext cx="66675" cy="8219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0" name="sea-wave-1-27"/>
          <p:cNvSpPr>
            <a:spLocks noGrp="1"/>
          </p:cNvSpPr>
          <p:nvPr/>
        </p:nvSpPr>
        <p:spPr>
          <a:xfrm>
            <a:off x="3590925" y="1925673"/>
            <a:ext cx="66675" cy="27777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1" name="sea-wave-1-28"/>
          <p:cNvSpPr>
            <a:spLocks noGrp="1"/>
          </p:cNvSpPr>
          <p:nvPr/>
        </p:nvSpPr>
        <p:spPr>
          <a:xfrm>
            <a:off x="3657600" y="1953450"/>
            <a:ext cx="66675" cy="42038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2" name="sea-wave-1-29"/>
          <p:cNvSpPr>
            <a:spLocks noGrp="1"/>
          </p:cNvSpPr>
          <p:nvPr/>
        </p:nvSpPr>
        <p:spPr>
          <a:xfrm>
            <a:off x="3724275" y="1995488"/>
            <a:ext cx="66675" cy="23405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3" name="sea-wave-1-30"/>
          <p:cNvSpPr>
            <a:spLocks noGrp="1"/>
          </p:cNvSpPr>
          <p:nvPr/>
        </p:nvSpPr>
        <p:spPr>
          <a:xfrm>
            <a:off x="3790950" y="2005351"/>
            <a:ext cx="66675" cy="13542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4" name="sea-wave-1-31"/>
          <p:cNvSpPr>
            <a:spLocks noGrp="1"/>
          </p:cNvSpPr>
          <p:nvPr/>
        </p:nvSpPr>
        <p:spPr>
          <a:xfrm>
            <a:off x="3857625" y="1965459"/>
            <a:ext cx="66675" cy="39892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5" name="sea-wave-1-32"/>
          <p:cNvSpPr>
            <a:spLocks noGrp="1"/>
          </p:cNvSpPr>
          <p:nvPr/>
        </p:nvSpPr>
        <p:spPr>
          <a:xfrm>
            <a:off x="3924300" y="1930431"/>
            <a:ext cx="66675" cy="35028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6" name="sea-wave-1-33"/>
          <p:cNvSpPr>
            <a:spLocks noGrp="1"/>
          </p:cNvSpPr>
          <p:nvPr/>
        </p:nvSpPr>
        <p:spPr>
          <a:xfrm>
            <a:off x="3990975" y="1927676"/>
            <a:ext cx="66675" cy="2755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7" name="sea-wave-1-34"/>
          <p:cNvSpPr>
            <a:spLocks noGrp="1"/>
          </p:cNvSpPr>
          <p:nvPr/>
        </p:nvSpPr>
        <p:spPr>
          <a:xfrm>
            <a:off x="4057650" y="1927675"/>
            <a:ext cx="66675" cy="31674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8" name="sea-wave-1-35"/>
          <p:cNvSpPr>
            <a:spLocks noGrp="1"/>
          </p:cNvSpPr>
          <p:nvPr/>
        </p:nvSpPr>
        <p:spPr>
          <a:xfrm>
            <a:off x="4124325" y="1959349"/>
            <a:ext cx="66675" cy="41319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19" name="sea-wave-1-36"/>
          <p:cNvSpPr>
            <a:spLocks noGrp="1"/>
          </p:cNvSpPr>
          <p:nvPr/>
        </p:nvSpPr>
        <p:spPr>
          <a:xfrm>
            <a:off x="4191000" y="2000667"/>
            <a:ext cx="66675" cy="18633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20" name="sea-wave-1-37"/>
          <p:cNvSpPr>
            <a:spLocks noGrp="1"/>
          </p:cNvSpPr>
          <p:nvPr/>
        </p:nvSpPr>
        <p:spPr>
          <a:xfrm>
            <a:off x="4257675" y="2000667"/>
            <a:ext cx="66675" cy="18633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21" name="sea-wave-1-38"/>
          <p:cNvSpPr>
            <a:spLocks noGrp="1"/>
          </p:cNvSpPr>
          <p:nvPr/>
        </p:nvSpPr>
        <p:spPr>
          <a:xfrm>
            <a:off x="4324350" y="1959348"/>
            <a:ext cx="66675" cy="41319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22" name="sea-wave-1-39"/>
          <p:cNvSpPr>
            <a:spLocks noGrp="1"/>
          </p:cNvSpPr>
          <p:nvPr/>
        </p:nvSpPr>
        <p:spPr>
          <a:xfrm>
            <a:off x="4391025" y="1927675"/>
            <a:ext cx="66675" cy="31674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23" name="sea-wave-1-40"/>
          <p:cNvSpPr>
            <a:spLocks noGrp="1"/>
          </p:cNvSpPr>
          <p:nvPr/>
        </p:nvSpPr>
        <p:spPr>
          <a:xfrm>
            <a:off x="4457700" y="1927675"/>
            <a:ext cx="66675" cy="2755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24" name="sea-wave-1-41"/>
          <p:cNvSpPr>
            <a:spLocks noGrp="1"/>
          </p:cNvSpPr>
          <p:nvPr/>
        </p:nvSpPr>
        <p:spPr>
          <a:xfrm>
            <a:off x="4524375" y="1930431"/>
            <a:ext cx="66675" cy="35028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25" name="sea-wave-1-42"/>
          <p:cNvSpPr>
            <a:spLocks noGrp="1"/>
          </p:cNvSpPr>
          <p:nvPr/>
        </p:nvSpPr>
        <p:spPr>
          <a:xfrm>
            <a:off x="4591050" y="1965459"/>
            <a:ext cx="66675" cy="39892"/>
          </a:xfrm>
          <a:prstGeom prst="line">
            <a:avLst/>
          </a:prstGeom>
          <a:noFill/>
          <a:ln w="17145">
            <a:solidFill>
              <a:srgbClr val="4C73C7"/>
            </a:solidFill>
            <a:prstDash val="solid"/>
          </a:ln>
        </p:spPr>
      </p:sp>
      <p:sp>
        <p:nvSpPr>
          <p:cNvPr id="126" name="sea-wave-2-1"/>
          <p:cNvSpPr>
            <a:spLocks noGrp="1"/>
          </p:cNvSpPr>
          <p:nvPr/>
        </p:nvSpPr>
        <p:spPr>
          <a:xfrm>
            <a:off x="1857375" y="2152650"/>
            <a:ext cx="66675" cy="34891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27" name="sea-wave-2-2"/>
          <p:cNvSpPr>
            <a:spLocks noGrp="1"/>
          </p:cNvSpPr>
          <p:nvPr/>
        </p:nvSpPr>
        <p:spPr>
          <a:xfrm>
            <a:off x="1924050" y="2180681"/>
            <a:ext cx="66675" cy="6860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28" name="sea-wave-2-3"/>
          <p:cNvSpPr>
            <a:spLocks noGrp="1"/>
          </p:cNvSpPr>
          <p:nvPr/>
        </p:nvSpPr>
        <p:spPr>
          <a:xfrm>
            <a:off x="1990725" y="2140279"/>
            <a:ext cx="66675" cy="40402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29" name="sea-wave-2-4"/>
          <p:cNvSpPr>
            <a:spLocks noGrp="1"/>
          </p:cNvSpPr>
          <p:nvPr/>
        </p:nvSpPr>
        <p:spPr>
          <a:xfrm>
            <a:off x="2057400" y="2114680"/>
            <a:ext cx="66675" cy="25599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0" name="sea-wave-2-5"/>
          <p:cNvSpPr>
            <a:spLocks noGrp="1"/>
          </p:cNvSpPr>
          <p:nvPr/>
        </p:nvSpPr>
        <p:spPr>
          <a:xfrm>
            <a:off x="2124075" y="2114680"/>
            <a:ext cx="66675" cy="19836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1" name="sea-wave-2-6"/>
          <p:cNvSpPr>
            <a:spLocks noGrp="1"/>
          </p:cNvSpPr>
          <p:nvPr/>
        </p:nvSpPr>
        <p:spPr>
          <a:xfrm>
            <a:off x="2190750" y="2134516"/>
            <a:ext cx="66675" cy="41535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2" name="sea-wave-2-7"/>
          <p:cNvSpPr>
            <a:spLocks noGrp="1"/>
          </p:cNvSpPr>
          <p:nvPr/>
        </p:nvSpPr>
        <p:spPr>
          <a:xfrm>
            <a:off x="2257425" y="2176052"/>
            <a:ext cx="66675" cy="13533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3" name="sea-wave-2-8"/>
          <p:cNvSpPr>
            <a:spLocks noGrp="1"/>
          </p:cNvSpPr>
          <p:nvPr/>
        </p:nvSpPr>
        <p:spPr>
          <a:xfrm>
            <a:off x="2324100" y="2158921"/>
            <a:ext cx="66675" cy="30663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4" name="sea-wave-2-9"/>
          <p:cNvSpPr>
            <a:spLocks noGrp="1"/>
          </p:cNvSpPr>
          <p:nvPr/>
        </p:nvSpPr>
        <p:spPr>
          <a:xfrm>
            <a:off x="2390775" y="2120754"/>
            <a:ext cx="66675" cy="38167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5" name="sea-wave-2-10"/>
          <p:cNvSpPr>
            <a:spLocks noGrp="1"/>
          </p:cNvSpPr>
          <p:nvPr/>
        </p:nvSpPr>
        <p:spPr>
          <a:xfrm>
            <a:off x="2457450" y="2120754"/>
            <a:ext cx="66675" cy="0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6" name="sea-wave-2-11"/>
          <p:cNvSpPr>
            <a:spLocks noGrp="1"/>
          </p:cNvSpPr>
          <p:nvPr/>
        </p:nvSpPr>
        <p:spPr>
          <a:xfrm>
            <a:off x="2524125" y="2120754"/>
            <a:ext cx="66675" cy="38167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7" name="sea-wave-2-12"/>
          <p:cNvSpPr>
            <a:spLocks noGrp="1"/>
          </p:cNvSpPr>
          <p:nvPr/>
        </p:nvSpPr>
        <p:spPr>
          <a:xfrm>
            <a:off x="2590800" y="2158921"/>
            <a:ext cx="66675" cy="30663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8" name="sea-wave-2-13"/>
          <p:cNvSpPr>
            <a:spLocks noGrp="1"/>
          </p:cNvSpPr>
          <p:nvPr/>
        </p:nvSpPr>
        <p:spPr>
          <a:xfrm>
            <a:off x="2657475" y="2176051"/>
            <a:ext cx="66675" cy="13533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39" name="sea-wave-2-14"/>
          <p:cNvSpPr>
            <a:spLocks noGrp="1"/>
          </p:cNvSpPr>
          <p:nvPr/>
        </p:nvSpPr>
        <p:spPr>
          <a:xfrm>
            <a:off x="2724150" y="2134517"/>
            <a:ext cx="66675" cy="41535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0" name="sea-wave-2-15"/>
          <p:cNvSpPr>
            <a:spLocks noGrp="1"/>
          </p:cNvSpPr>
          <p:nvPr/>
        </p:nvSpPr>
        <p:spPr>
          <a:xfrm>
            <a:off x="2790825" y="2114680"/>
            <a:ext cx="66675" cy="19836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1" name="sea-wave-2-16"/>
          <p:cNvSpPr>
            <a:spLocks noGrp="1"/>
          </p:cNvSpPr>
          <p:nvPr/>
        </p:nvSpPr>
        <p:spPr>
          <a:xfrm>
            <a:off x="2857500" y="2114680"/>
            <a:ext cx="66675" cy="25599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2" name="sea-wave-2-17"/>
          <p:cNvSpPr>
            <a:spLocks noGrp="1"/>
          </p:cNvSpPr>
          <p:nvPr/>
        </p:nvSpPr>
        <p:spPr>
          <a:xfrm>
            <a:off x="2924175" y="2140279"/>
            <a:ext cx="66675" cy="40402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3" name="sea-wave-2-18"/>
          <p:cNvSpPr>
            <a:spLocks noGrp="1"/>
          </p:cNvSpPr>
          <p:nvPr/>
        </p:nvSpPr>
        <p:spPr>
          <a:xfrm>
            <a:off x="2990850" y="2180681"/>
            <a:ext cx="66675" cy="6860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4" name="sea-wave-2-19"/>
          <p:cNvSpPr>
            <a:spLocks noGrp="1"/>
          </p:cNvSpPr>
          <p:nvPr/>
        </p:nvSpPr>
        <p:spPr>
          <a:xfrm>
            <a:off x="3057525" y="2152650"/>
            <a:ext cx="66675" cy="34891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5" name="sea-wave-2-20"/>
          <p:cNvSpPr>
            <a:spLocks noGrp="1"/>
          </p:cNvSpPr>
          <p:nvPr/>
        </p:nvSpPr>
        <p:spPr>
          <a:xfrm>
            <a:off x="3124200" y="2117759"/>
            <a:ext cx="66675" cy="34891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6" name="sea-wave-2-21"/>
          <p:cNvSpPr>
            <a:spLocks noGrp="1"/>
          </p:cNvSpPr>
          <p:nvPr/>
        </p:nvSpPr>
        <p:spPr>
          <a:xfrm>
            <a:off x="3190875" y="2117759"/>
            <a:ext cx="66675" cy="6860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7" name="sea-wave-2-22"/>
          <p:cNvSpPr>
            <a:spLocks noGrp="1"/>
          </p:cNvSpPr>
          <p:nvPr/>
        </p:nvSpPr>
        <p:spPr>
          <a:xfrm>
            <a:off x="3257550" y="2124619"/>
            <a:ext cx="66675" cy="40402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8" name="sea-wave-2-23"/>
          <p:cNvSpPr>
            <a:spLocks noGrp="1"/>
          </p:cNvSpPr>
          <p:nvPr/>
        </p:nvSpPr>
        <p:spPr>
          <a:xfrm>
            <a:off x="3324225" y="2165021"/>
            <a:ext cx="66675" cy="25599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49" name="sea-wave-2-24"/>
          <p:cNvSpPr>
            <a:spLocks noGrp="1"/>
          </p:cNvSpPr>
          <p:nvPr/>
        </p:nvSpPr>
        <p:spPr>
          <a:xfrm>
            <a:off x="3390900" y="2170784"/>
            <a:ext cx="66675" cy="19836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0" name="sea-wave-2-25"/>
          <p:cNvSpPr>
            <a:spLocks noGrp="1"/>
          </p:cNvSpPr>
          <p:nvPr/>
        </p:nvSpPr>
        <p:spPr>
          <a:xfrm>
            <a:off x="3457575" y="2129249"/>
            <a:ext cx="66675" cy="41535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1" name="sea-wave-2-26"/>
          <p:cNvSpPr>
            <a:spLocks noGrp="1"/>
          </p:cNvSpPr>
          <p:nvPr/>
        </p:nvSpPr>
        <p:spPr>
          <a:xfrm>
            <a:off x="3524250" y="2115715"/>
            <a:ext cx="66675" cy="13533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2" name="sea-wave-2-27"/>
          <p:cNvSpPr>
            <a:spLocks noGrp="1"/>
          </p:cNvSpPr>
          <p:nvPr/>
        </p:nvSpPr>
        <p:spPr>
          <a:xfrm>
            <a:off x="3590925" y="2115716"/>
            <a:ext cx="66675" cy="30663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3" name="sea-wave-2-28"/>
          <p:cNvSpPr>
            <a:spLocks noGrp="1"/>
          </p:cNvSpPr>
          <p:nvPr/>
        </p:nvSpPr>
        <p:spPr>
          <a:xfrm>
            <a:off x="3657600" y="2146379"/>
            <a:ext cx="66675" cy="38167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4" name="sea-wave-2-29"/>
          <p:cNvSpPr>
            <a:spLocks noGrp="1"/>
          </p:cNvSpPr>
          <p:nvPr/>
        </p:nvSpPr>
        <p:spPr>
          <a:xfrm>
            <a:off x="3724275" y="2184546"/>
            <a:ext cx="66675" cy="0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5" name="sea-wave-2-30"/>
          <p:cNvSpPr>
            <a:spLocks noGrp="1"/>
          </p:cNvSpPr>
          <p:nvPr/>
        </p:nvSpPr>
        <p:spPr>
          <a:xfrm>
            <a:off x="3790950" y="2146379"/>
            <a:ext cx="66675" cy="38167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6" name="sea-wave-2-31"/>
          <p:cNvSpPr>
            <a:spLocks noGrp="1"/>
          </p:cNvSpPr>
          <p:nvPr/>
        </p:nvSpPr>
        <p:spPr>
          <a:xfrm>
            <a:off x="3857625" y="2115716"/>
            <a:ext cx="66675" cy="30663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7" name="sea-wave-2-32"/>
          <p:cNvSpPr>
            <a:spLocks noGrp="1"/>
          </p:cNvSpPr>
          <p:nvPr/>
        </p:nvSpPr>
        <p:spPr>
          <a:xfrm>
            <a:off x="3924300" y="2115716"/>
            <a:ext cx="66675" cy="13533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8" name="sea-wave-2-33"/>
          <p:cNvSpPr>
            <a:spLocks noGrp="1"/>
          </p:cNvSpPr>
          <p:nvPr/>
        </p:nvSpPr>
        <p:spPr>
          <a:xfrm>
            <a:off x="3990975" y="2129248"/>
            <a:ext cx="66675" cy="41535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59" name="sea-wave-2-34"/>
          <p:cNvSpPr>
            <a:spLocks noGrp="1"/>
          </p:cNvSpPr>
          <p:nvPr/>
        </p:nvSpPr>
        <p:spPr>
          <a:xfrm>
            <a:off x="4057650" y="2170784"/>
            <a:ext cx="66675" cy="19836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60" name="sea-wave-2-35"/>
          <p:cNvSpPr>
            <a:spLocks noGrp="1"/>
          </p:cNvSpPr>
          <p:nvPr/>
        </p:nvSpPr>
        <p:spPr>
          <a:xfrm>
            <a:off x="4124325" y="2165021"/>
            <a:ext cx="66675" cy="25599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61" name="sea-wave-2-36"/>
          <p:cNvSpPr>
            <a:spLocks noGrp="1"/>
          </p:cNvSpPr>
          <p:nvPr/>
        </p:nvSpPr>
        <p:spPr>
          <a:xfrm>
            <a:off x="4191000" y="2124619"/>
            <a:ext cx="66675" cy="40402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62" name="sea-wave-2-37"/>
          <p:cNvSpPr>
            <a:spLocks noGrp="1"/>
          </p:cNvSpPr>
          <p:nvPr/>
        </p:nvSpPr>
        <p:spPr>
          <a:xfrm>
            <a:off x="4257675" y="2117759"/>
            <a:ext cx="66675" cy="6860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63" name="sea-wave-2-38"/>
          <p:cNvSpPr>
            <a:spLocks noGrp="1"/>
          </p:cNvSpPr>
          <p:nvPr/>
        </p:nvSpPr>
        <p:spPr>
          <a:xfrm>
            <a:off x="4324350" y="2117759"/>
            <a:ext cx="66675" cy="34891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64" name="sea-wave-2-39"/>
          <p:cNvSpPr>
            <a:spLocks noGrp="1"/>
          </p:cNvSpPr>
          <p:nvPr/>
        </p:nvSpPr>
        <p:spPr>
          <a:xfrm>
            <a:off x="4391025" y="2152650"/>
            <a:ext cx="66675" cy="34891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65" name="sea-wave-2-40"/>
          <p:cNvSpPr>
            <a:spLocks noGrp="1"/>
          </p:cNvSpPr>
          <p:nvPr/>
        </p:nvSpPr>
        <p:spPr>
          <a:xfrm>
            <a:off x="4457700" y="2180681"/>
            <a:ext cx="66675" cy="6860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66" name="sea-wave-2-41"/>
          <p:cNvSpPr>
            <a:spLocks noGrp="1"/>
          </p:cNvSpPr>
          <p:nvPr/>
        </p:nvSpPr>
        <p:spPr>
          <a:xfrm>
            <a:off x="4524375" y="2140279"/>
            <a:ext cx="66675" cy="40402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167" name="sea-wave-2-42"/>
          <p:cNvSpPr>
            <a:spLocks noGrp="1"/>
          </p:cNvSpPr>
          <p:nvPr/>
        </p:nvSpPr>
        <p:spPr>
          <a:xfrm>
            <a:off x="4591050" y="2114680"/>
            <a:ext cx="66675" cy="25599"/>
          </a:xfrm>
          <a:prstGeom prst="line">
            <a:avLst/>
          </a:prstGeom>
          <a:noFill/>
          <a:ln w="10478">
            <a:solidFill>
              <a:srgbClr val="7EA2D8"/>
            </a:solidFill>
            <a:prstDash val="solid"/>
          </a:ln>
        </p:spPr>
      </p:sp>
      <p:sp>
        <p:nvSpPr>
          <p:cNvPr id="224" name="scene-main-label"/>
          <p:cNvSpPr>
            <a:spLocks noGrp="1"/>
          </p:cNvSpPr>
          <p:nvPr/>
        </p:nvSpPr>
        <p:spPr>
          <a:xfrm>
            <a:off x="1847850" y="2533650"/>
            <a:ext cx="2762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海警船端采集  + 弱辐射目标</a:t>
            </a:r>
            <a:endParaRPr sz="1200" b="1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5" name="scene-sub-label"/>
          <p:cNvSpPr>
            <a:spLocks noGrp="1"/>
          </p:cNvSpPr>
          <p:nvPr/>
        </p:nvSpPr>
        <p:spPr>
          <a:xfrm>
            <a:off x="1790700" y="2703195"/>
            <a:ext cx="2914650" cy="1257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6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A647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频率/距离/方位/高度/海况/位姿同步</a:t>
            </a:r>
            <a:endParaRPr sz="1200" b="0">
              <a:solidFill>
                <a:srgbClr val="5A647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6" name="upper-right-title"/>
          <p:cNvSpPr>
            <a:spLocks noGrp="1"/>
          </p:cNvSpPr>
          <p:nvPr/>
        </p:nvSpPr>
        <p:spPr>
          <a:xfrm>
            <a:off x="5676900" y="1181100"/>
            <a:ext cx="407098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6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强海杂波与复杂传播共同制约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</a:t>
            </a: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弱目标</a:t>
            </a:r>
            <a:r>
              <a:rPr lang="zh-CN"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</a:t>
            </a:r>
            <a:endParaRPr lang="zh-CN"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7" name="constraint-1-chip"/>
          <p:cNvSpPr>
            <a:spLocks noGrp="1"/>
          </p:cNvSpPr>
          <p:nvPr/>
        </p:nvSpPr>
        <p:spPr>
          <a:xfrm>
            <a:off x="5824855" y="1672590"/>
            <a:ext cx="10287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228" name="constraint-1-text"/>
          <p:cNvSpPr>
            <a:spLocks noGrp="1"/>
          </p:cNvSpPr>
          <p:nvPr/>
        </p:nvSpPr>
        <p:spPr>
          <a:xfrm>
            <a:off x="5862955" y="1648460"/>
            <a:ext cx="952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长尾海杂波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9" name="constraint-2-chip"/>
          <p:cNvSpPr>
            <a:spLocks noGrp="1"/>
          </p:cNvSpPr>
          <p:nvPr/>
        </p:nvSpPr>
        <p:spPr>
          <a:xfrm>
            <a:off x="7039610" y="1672590"/>
            <a:ext cx="10287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230" name="constraint-2-text"/>
          <p:cNvSpPr>
            <a:spLocks noGrp="1"/>
          </p:cNvSpPr>
          <p:nvPr/>
        </p:nvSpPr>
        <p:spPr>
          <a:xfrm>
            <a:off x="7077710" y="1648460"/>
            <a:ext cx="952500" cy="2533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低掠射多径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1" name="constraint-3-chip"/>
          <p:cNvSpPr>
            <a:spLocks noGrp="1"/>
          </p:cNvSpPr>
          <p:nvPr/>
        </p:nvSpPr>
        <p:spPr>
          <a:xfrm>
            <a:off x="8254365" y="1672590"/>
            <a:ext cx="10287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232" name="constraint-3-text"/>
          <p:cNvSpPr>
            <a:spLocks noGrp="1"/>
          </p:cNvSpPr>
          <p:nvPr/>
        </p:nvSpPr>
        <p:spPr>
          <a:xfrm>
            <a:off x="8292465" y="1648460"/>
            <a:ext cx="9525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波导/遮蔽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3" name="constraint-4-chip"/>
          <p:cNvSpPr>
            <a:spLocks noGrp="1"/>
          </p:cNvSpPr>
          <p:nvPr/>
        </p:nvSpPr>
        <p:spPr>
          <a:xfrm>
            <a:off x="5753100" y="2073275"/>
            <a:ext cx="12192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234" name="constraint-4-text"/>
          <p:cNvSpPr>
            <a:spLocks noGrp="1"/>
          </p:cNvSpPr>
          <p:nvPr/>
        </p:nvSpPr>
        <p:spPr>
          <a:xfrm>
            <a:off x="5791200" y="2049145"/>
            <a:ext cx="11430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平台运动扰动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5" name="constraint-5-chip"/>
          <p:cNvSpPr>
            <a:spLocks noGrp="1"/>
          </p:cNvSpPr>
          <p:nvPr/>
        </p:nvSpPr>
        <p:spPr>
          <a:xfrm>
            <a:off x="7105650" y="2073275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236" name="constraint-5-text"/>
          <p:cNvSpPr>
            <a:spLocks noGrp="1"/>
          </p:cNvSpPr>
          <p:nvPr/>
        </p:nvSpPr>
        <p:spPr>
          <a:xfrm>
            <a:off x="7143750" y="2049145"/>
            <a:ext cx="83820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低信杂比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7" name="constraint-6-chip"/>
          <p:cNvSpPr>
            <a:spLocks noGrp="1"/>
          </p:cNvSpPr>
          <p:nvPr/>
        </p:nvSpPr>
        <p:spPr>
          <a:xfrm>
            <a:off x="8153400" y="2073275"/>
            <a:ext cx="1200150" cy="228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1430">
            <a:solidFill>
              <a:srgbClr val="C00000"/>
            </a:solidFill>
            <a:prstDash val="solid"/>
          </a:ln>
        </p:spPr>
      </p:sp>
      <p:sp>
        <p:nvSpPr>
          <p:cNvPr id="238" name="constraint-6-text"/>
          <p:cNvSpPr>
            <a:spLocks noGrp="1"/>
          </p:cNvSpPr>
          <p:nvPr/>
        </p:nvSpPr>
        <p:spPr>
          <a:xfrm>
            <a:off x="8191500" y="2049145"/>
            <a:ext cx="11239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9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同频突发干扰</a:t>
            </a:r>
            <a:endParaRPr sz="12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9" name="upper-to-right-arrow"/>
          <p:cNvSpPr>
            <a:spLocks noGrp="1"/>
          </p:cNvSpPr>
          <p:nvPr/>
        </p:nvSpPr>
        <p:spPr>
          <a:xfrm>
            <a:off x="5026057" y="1762792"/>
            <a:ext cx="374618" cy="317468"/>
          </a:xfrm>
          <a:prstGeom prst="notchedRight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240" name="propagation-label"/>
          <p:cNvSpPr>
            <a:spLocks noGrp="1"/>
          </p:cNvSpPr>
          <p:nvPr/>
        </p:nvSpPr>
        <p:spPr>
          <a:xfrm>
            <a:off x="5400040" y="2583180"/>
            <a:ext cx="4552950" cy="2965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传播/杂波耦合导致弱信号衰落、谱展宽与边界漂移</a:t>
            </a:r>
            <a:endParaRPr sz="14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4" name="stage-a-card"/>
          <p:cNvSpPr>
            <a:spLocks noGrp="1"/>
          </p:cNvSpPr>
          <p:nvPr/>
        </p:nvSpPr>
        <p:spPr>
          <a:xfrm>
            <a:off x="1809750" y="3495675"/>
            <a:ext cx="2190750" cy="1181100"/>
          </a:xfrm>
          <a:prstGeom prst="roundRect">
            <a:avLst>
              <a:gd name="adj" fmla="val 9677"/>
            </a:avLst>
          </a:prstGeom>
          <a:solidFill>
            <a:srgbClr val="EDF4FF"/>
          </a:solidFill>
          <a:ln w="16193">
            <a:solidFill>
              <a:srgbClr val="2E54A1"/>
            </a:solidFill>
            <a:prstDash val="solid"/>
          </a:ln>
        </p:spPr>
      </p:sp>
      <p:sp>
        <p:nvSpPr>
          <p:cNvPr id="245" name="stage-a-idx"/>
          <p:cNvSpPr>
            <a:spLocks noGrp="1"/>
          </p:cNvSpPr>
          <p:nvPr/>
        </p:nvSpPr>
        <p:spPr>
          <a:xfrm>
            <a:off x="1924050" y="3609975"/>
            <a:ext cx="457200" cy="257175"/>
          </a:xfrm>
          <a:prstGeom prst="roundRect">
            <a:avLst>
              <a:gd name="adj" fmla="val 50000"/>
            </a:avLst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247" name="stage-a-title"/>
          <p:cNvSpPr>
            <a:spLocks noGrp="1"/>
          </p:cNvSpPr>
          <p:nvPr/>
        </p:nvSpPr>
        <p:spPr>
          <a:xfrm>
            <a:off x="2457450" y="3629025"/>
            <a:ext cx="1390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65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2E54A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传播规律建模</a:t>
            </a:r>
            <a:endParaRPr sz="1065" b="1">
              <a:solidFill>
                <a:srgbClr val="2E54A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8" name="stage-a-dot-1"/>
          <p:cNvSpPr>
            <a:spLocks noGrp="1"/>
          </p:cNvSpPr>
          <p:nvPr/>
        </p:nvSpPr>
        <p:spPr>
          <a:xfrm>
            <a:off x="2000250" y="3952875"/>
            <a:ext cx="57150" cy="57150"/>
          </a:xfrm>
          <a:prstGeom prst="ellipse">
            <a:avLst/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249" name="stage-a-bullet-1"/>
          <p:cNvSpPr>
            <a:spLocks noGrp="1"/>
          </p:cNvSpPr>
          <p:nvPr/>
        </p:nvSpPr>
        <p:spPr>
          <a:xfrm>
            <a:off x="2114550" y="3876675"/>
            <a:ext cx="196977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海面散射--杂波统计联合表征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0" name="stage-a-dot-2"/>
          <p:cNvSpPr>
            <a:spLocks noGrp="1"/>
          </p:cNvSpPr>
          <p:nvPr/>
        </p:nvSpPr>
        <p:spPr>
          <a:xfrm>
            <a:off x="2000250" y="4181475"/>
            <a:ext cx="57150" cy="57150"/>
          </a:xfrm>
          <a:prstGeom prst="ellipse">
            <a:avLst/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251" name="stage-a-bullet-2"/>
          <p:cNvSpPr>
            <a:spLocks noGrp="1"/>
          </p:cNvSpPr>
          <p:nvPr/>
        </p:nvSpPr>
        <p:spPr>
          <a:xfrm>
            <a:off x="2114550" y="4105275"/>
            <a:ext cx="2076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低掠射多径与海气折射耦合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2" name="stage-a-dot-3"/>
          <p:cNvSpPr>
            <a:spLocks noGrp="1"/>
          </p:cNvSpPr>
          <p:nvPr/>
        </p:nvSpPr>
        <p:spPr>
          <a:xfrm>
            <a:off x="2000250" y="4410075"/>
            <a:ext cx="57150" cy="57150"/>
          </a:xfrm>
          <a:prstGeom prst="ellipse">
            <a:avLst/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253" name="stage-a-bullet-3"/>
          <p:cNvSpPr>
            <a:spLocks noGrp="1"/>
          </p:cNvSpPr>
          <p:nvPr/>
        </p:nvSpPr>
        <p:spPr>
          <a:xfrm>
            <a:off x="2114550" y="4333875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损耗、谱展宽与可观测边界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4" name="stage-b-card"/>
          <p:cNvSpPr>
            <a:spLocks noGrp="1"/>
          </p:cNvSpPr>
          <p:nvPr/>
        </p:nvSpPr>
        <p:spPr>
          <a:xfrm>
            <a:off x="4267200" y="3495675"/>
            <a:ext cx="2190750" cy="1181100"/>
          </a:xfrm>
          <a:prstGeom prst="roundRect">
            <a:avLst>
              <a:gd name="adj" fmla="val 9677"/>
            </a:avLst>
          </a:prstGeom>
          <a:solidFill>
            <a:srgbClr val="FCE8EA"/>
          </a:solidFill>
          <a:ln w="16193">
            <a:solidFill>
              <a:srgbClr val="C00000"/>
            </a:solidFill>
            <a:prstDash val="solid"/>
          </a:ln>
        </p:spPr>
      </p:sp>
      <p:sp>
        <p:nvSpPr>
          <p:cNvPr id="255" name="stage-b-idx"/>
          <p:cNvSpPr>
            <a:spLocks noGrp="1"/>
          </p:cNvSpPr>
          <p:nvPr/>
        </p:nvSpPr>
        <p:spPr>
          <a:xfrm>
            <a:off x="4381500" y="3609975"/>
            <a:ext cx="457200" cy="257175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257" name="stage-b-title"/>
          <p:cNvSpPr>
            <a:spLocks noGrp="1"/>
          </p:cNvSpPr>
          <p:nvPr/>
        </p:nvSpPr>
        <p:spPr>
          <a:xfrm>
            <a:off x="4914900" y="3629025"/>
            <a:ext cx="163449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6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干扰对消与弱信号增强</a:t>
            </a:r>
            <a:endParaRPr sz="1065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8" name="stage-b-dot-1"/>
          <p:cNvSpPr>
            <a:spLocks noGrp="1"/>
          </p:cNvSpPr>
          <p:nvPr/>
        </p:nvSpPr>
        <p:spPr>
          <a:xfrm>
            <a:off x="4457700" y="3952875"/>
            <a:ext cx="57150" cy="57150"/>
          </a:xfrm>
          <a:prstGeom prst="ellipse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259" name="stage-b-bullet-1"/>
          <p:cNvSpPr>
            <a:spLocks noGrp="1"/>
          </p:cNvSpPr>
          <p:nvPr/>
        </p:nvSpPr>
        <p:spPr>
          <a:xfrm>
            <a:off x="4572000" y="3876675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背景谱/海杂波参数估计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0" name="stage-b-dot-2"/>
          <p:cNvSpPr>
            <a:spLocks noGrp="1"/>
          </p:cNvSpPr>
          <p:nvPr/>
        </p:nvSpPr>
        <p:spPr>
          <a:xfrm>
            <a:off x="4457700" y="4181475"/>
            <a:ext cx="57150" cy="57150"/>
          </a:xfrm>
          <a:prstGeom prst="ellipse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261" name="stage-b-bullet-2"/>
          <p:cNvSpPr>
            <a:spLocks noGrp="1"/>
          </p:cNvSpPr>
          <p:nvPr/>
        </p:nvSpPr>
        <p:spPr>
          <a:xfrm>
            <a:off x="4572000" y="4105275"/>
            <a:ext cx="190944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空域/频域干扰对消与残余抑制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2" name="stage-b-dot-3"/>
          <p:cNvSpPr>
            <a:spLocks noGrp="1"/>
          </p:cNvSpPr>
          <p:nvPr/>
        </p:nvSpPr>
        <p:spPr>
          <a:xfrm>
            <a:off x="4457700" y="4410075"/>
            <a:ext cx="57150" cy="57150"/>
          </a:xfrm>
          <a:prstGeom prst="ellipse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263" name="stage-b-bullet-3"/>
          <p:cNvSpPr>
            <a:spLocks noGrp="1"/>
          </p:cNvSpPr>
          <p:nvPr/>
        </p:nvSpPr>
        <p:spPr>
          <a:xfrm>
            <a:off x="4572000" y="4333875"/>
            <a:ext cx="1733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微弱谱线与短时事件增强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4" name="stage-c-card"/>
          <p:cNvSpPr>
            <a:spLocks noGrp="1"/>
          </p:cNvSpPr>
          <p:nvPr/>
        </p:nvSpPr>
        <p:spPr>
          <a:xfrm>
            <a:off x="6724650" y="3495675"/>
            <a:ext cx="2905125" cy="1181100"/>
          </a:xfrm>
          <a:prstGeom prst="roundRect">
            <a:avLst>
              <a:gd name="adj" fmla="val 9677"/>
            </a:avLst>
          </a:prstGeom>
          <a:solidFill>
            <a:srgbClr val="E5F5F2"/>
          </a:solidFill>
          <a:ln w="16193">
            <a:solidFill>
              <a:srgbClr val="159A8C"/>
            </a:solidFill>
            <a:prstDash val="solid"/>
          </a:ln>
        </p:spPr>
      </p:sp>
      <p:sp>
        <p:nvSpPr>
          <p:cNvPr id="265" name="stage-c-idx"/>
          <p:cNvSpPr>
            <a:spLocks noGrp="1"/>
          </p:cNvSpPr>
          <p:nvPr/>
        </p:nvSpPr>
        <p:spPr>
          <a:xfrm>
            <a:off x="6838950" y="3609975"/>
            <a:ext cx="457200" cy="257175"/>
          </a:xfrm>
          <a:prstGeom prst="roundRect">
            <a:avLst>
              <a:gd name="adj" fmla="val 50000"/>
            </a:avLst>
          </a:prstGeom>
          <a:solidFill>
            <a:srgbClr val="159A8C"/>
          </a:solidFill>
          <a:ln w="0">
            <a:solidFill>
              <a:srgbClr val="159A8C"/>
            </a:solidFill>
            <a:prstDash val="solid"/>
          </a:ln>
        </p:spPr>
      </p:sp>
      <p:sp>
        <p:nvSpPr>
          <p:cNvPr id="266" name="stage-c-idx-text"/>
          <p:cNvSpPr>
            <a:spLocks noGrp="1"/>
          </p:cNvSpPr>
          <p:nvPr/>
        </p:nvSpPr>
        <p:spPr>
          <a:xfrm>
            <a:off x="6867525" y="3667125"/>
            <a:ext cx="400050" cy="114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9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7" name="stage-c-title"/>
          <p:cNvSpPr>
            <a:spLocks noGrp="1"/>
          </p:cNvSpPr>
          <p:nvPr/>
        </p:nvSpPr>
        <p:spPr>
          <a:xfrm>
            <a:off x="7372350" y="3629025"/>
            <a:ext cx="21050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65" b="1">
                <a:solidFill>
                  <a:srgbClr val="159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65" b="1">
                <a:solidFill>
                  <a:srgbClr val="159A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多维联合表征与精确提取</a:t>
            </a:r>
            <a:endParaRPr sz="1065" b="1">
              <a:solidFill>
                <a:srgbClr val="159A8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8" name="stage-c-dot-1"/>
          <p:cNvSpPr>
            <a:spLocks noGrp="1"/>
          </p:cNvSpPr>
          <p:nvPr/>
        </p:nvSpPr>
        <p:spPr>
          <a:xfrm>
            <a:off x="6915150" y="3952875"/>
            <a:ext cx="57150" cy="57150"/>
          </a:xfrm>
          <a:prstGeom prst="ellipse">
            <a:avLst/>
          </a:prstGeom>
          <a:solidFill>
            <a:srgbClr val="159A8C"/>
          </a:solidFill>
          <a:ln w="0">
            <a:solidFill>
              <a:srgbClr val="159A8C"/>
            </a:solidFill>
            <a:prstDash val="solid"/>
          </a:ln>
        </p:spPr>
      </p:sp>
      <p:sp>
        <p:nvSpPr>
          <p:cNvPr id="269" name="stage-c-bullet-1"/>
          <p:cNvSpPr>
            <a:spLocks noGrp="1"/>
          </p:cNvSpPr>
          <p:nvPr/>
        </p:nvSpPr>
        <p:spPr>
          <a:xfrm>
            <a:off x="7029450" y="3876675"/>
            <a:ext cx="2447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IQ、功率谱、时频谱、空域谱联合编码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0" name="stage-c-dot-2"/>
          <p:cNvSpPr>
            <a:spLocks noGrp="1"/>
          </p:cNvSpPr>
          <p:nvPr/>
        </p:nvSpPr>
        <p:spPr>
          <a:xfrm>
            <a:off x="6915150" y="4181475"/>
            <a:ext cx="57150" cy="57150"/>
          </a:xfrm>
          <a:prstGeom prst="ellipse">
            <a:avLst/>
          </a:prstGeom>
          <a:solidFill>
            <a:srgbClr val="159A8C"/>
          </a:solidFill>
          <a:ln w="0">
            <a:solidFill>
              <a:srgbClr val="159A8C"/>
            </a:solidFill>
            <a:prstDash val="solid"/>
          </a:ln>
        </p:spPr>
      </p:sp>
      <p:sp>
        <p:nvSpPr>
          <p:cNvPr id="271" name="stage-c-bullet-2"/>
          <p:cNvSpPr>
            <a:spLocks noGrp="1"/>
          </p:cNvSpPr>
          <p:nvPr/>
        </p:nvSpPr>
        <p:spPr>
          <a:xfrm>
            <a:off x="7029450" y="4105275"/>
            <a:ext cx="2447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多证据一致性候选区域检测分离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2" name="stage-c-dot-3"/>
          <p:cNvSpPr>
            <a:spLocks noGrp="1"/>
          </p:cNvSpPr>
          <p:nvPr/>
        </p:nvSpPr>
        <p:spPr>
          <a:xfrm>
            <a:off x="6915150" y="4410075"/>
            <a:ext cx="57150" cy="57150"/>
          </a:xfrm>
          <a:prstGeom prst="ellipse">
            <a:avLst/>
          </a:prstGeom>
          <a:solidFill>
            <a:srgbClr val="159A8C"/>
          </a:solidFill>
          <a:ln w="0">
            <a:solidFill>
              <a:srgbClr val="159A8C"/>
            </a:solidFill>
            <a:prstDash val="solid"/>
          </a:ln>
        </p:spPr>
      </p:sp>
      <p:sp>
        <p:nvSpPr>
          <p:cNvPr id="273" name="stage-c-bullet-3"/>
          <p:cNvSpPr>
            <a:spLocks noGrp="1"/>
          </p:cNvSpPr>
          <p:nvPr/>
        </p:nvSpPr>
        <p:spPr>
          <a:xfrm>
            <a:off x="7029450" y="4333875"/>
            <a:ext cx="24479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84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信号片段重构与关键参数反演</a:t>
            </a:r>
            <a:endParaRPr sz="10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4" name="method-arrow-1"/>
          <p:cNvSpPr>
            <a:spLocks noGrp="1"/>
          </p:cNvSpPr>
          <p:nvPr/>
        </p:nvSpPr>
        <p:spPr>
          <a:xfrm>
            <a:off x="3966845" y="3933825"/>
            <a:ext cx="342900" cy="285750"/>
          </a:xfrm>
          <a:prstGeom prst="rightArrow">
            <a:avLst/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275" name="method-arrow-2"/>
          <p:cNvSpPr>
            <a:spLocks noGrp="1"/>
          </p:cNvSpPr>
          <p:nvPr/>
        </p:nvSpPr>
        <p:spPr>
          <a:xfrm>
            <a:off x="6424295" y="3933825"/>
            <a:ext cx="342900" cy="285750"/>
          </a:xfrm>
          <a:prstGeom prst="rightArrow">
            <a:avLst/>
          </a:prstGeom>
          <a:solidFill>
            <a:srgbClr val="2E54A1"/>
          </a:solidFill>
          <a:ln w="0">
            <a:solidFill>
              <a:srgbClr val="2E54A1"/>
            </a:solidFill>
            <a:prstDash val="solid"/>
          </a:ln>
        </p:spPr>
      </p:sp>
      <p:sp>
        <p:nvSpPr>
          <p:cNvPr id="276" name="out-law-card"/>
          <p:cNvSpPr>
            <a:spLocks noGrp="1"/>
          </p:cNvSpPr>
          <p:nvPr/>
        </p:nvSpPr>
        <p:spPr>
          <a:xfrm>
            <a:off x="1809750" y="5483860"/>
            <a:ext cx="1809750" cy="1054735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335">
            <a:solidFill>
              <a:srgbClr val="C00000"/>
            </a:solidFill>
            <a:prstDash val="solid"/>
          </a:ln>
        </p:spPr>
      </p:sp>
      <p:sp>
        <p:nvSpPr>
          <p:cNvPr id="277" name="out-law-title"/>
          <p:cNvSpPr>
            <a:spLocks noGrp="1"/>
          </p:cNvSpPr>
          <p:nvPr/>
        </p:nvSpPr>
        <p:spPr>
          <a:xfrm>
            <a:off x="1876425" y="557974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6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传播规律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8" name="out-law-body"/>
          <p:cNvSpPr>
            <a:spLocks noGrp="1"/>
          </p:cNvSpPr>
          <p:nvPr/>
        </p:nvSpPr>
        <p:spPr>
          <a:xfrm>
            <a:off x="1674495" y="5915025"/>
            <a:ext cx="2002155" cy="5759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损耗区间、谱展宽范围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海杂波尾部强度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9" name="out-event-card"/>
          <p:cNvSpPr>
            <a:spLocks noGrp="1"/>
          </p:cNvSpPr>
          <p:nvPr/>
        </p:nvSpPr>
        <p:spPr>
          <a:xfrm>
            <a:off x="3924300" y="5483860"/>
            <a:ext cx="1809750" cy="1054735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335">
            <a:solidFill>
              <a:srgbClr val="C00000"/>
            </a:solidFill>
            <a:prstDash val="solid"/>
          </a:ln>
        </p:spPr>
      </p:sp>
      <p:sp>
        <p:nvSpPr>
          <p:cNvPr id="280" name="out-event-title"/>
          <p:cNvSpPr>
            <a:spLocks noGrp="1"/>
          </p:cNvSpPr>
          <p:nvPr/>
        </p:nvSpPr>
        <p:spPr>
          <a:xfrm>
            <a:off x="4048125" y="557974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6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增强频谱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1" name="out-event-body"/>
          <p:cNvSpPr>
            <a:spLocks noGrp="1"/>
          </p:cNvSpPr>
          <p:nvPr/>
        </p:nvSpPr>
        <p:spPr>
          <a:xfrm>
            <a:off x="3966845" y="5915025"/>
            <a:ext cx="176784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疑似频段、时间边界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增强谱线、信杂比改善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2" name="out-signal-card"/>
          <p:cNvSpPr>
            <a:spLocks noGrp="1"/>
          </p:cNvSpPr>
          <p:nvPr/>
        </p:nvSpPr>
        <p:spPr>
          <a:xfrm>
            <a:off x="5993765" y="5483860"/>
            <a:ext cx="1809750" cy="1053465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335">
            <a:solidFill>
              <a:srgbClr val="C00000"/>
            </a:solidFill>
            <a:prstDash val="solid"/>
          </a:ln>
        </p:spPr>
      </p:sp>
      <p:sp>
        <p:nvSpPr>
          <p:cNvPr id="283" name="out-signal-title"/>
          <p:cNvSpPr>
            <a:spLocks noGrp="1"/>
          </p:cNvSpPr>
          <p:nvPr/>
        </p:nvSpPr>
        <p:spPr>
          <a:xfrm>
            <a:off x="6137910" y="557974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6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目标信号片段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4" name="out-signal-body"/>
          <p:cNvSpPr>
            <a:spLocks noGrp="1"/>
          </p:cNvSpPr>
          <p:nvPr/>
        </p:nvSpPr>
        <p:spPr>
          <a:xfrm>
            <a:off x="6124575" y="5915025"/>
            <a:ext cx="15621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辐射特征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测向辅助与置信度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5" name="out-next-card"/>
          <p:cNvSpPr>
            <a:spLocks noGrp="1"/>
          </p:cNvSpPr>
          <p:nvPr/>
        </p:nvSpPr>
        <p:spPr>
          <a:xfrm>
            <a:off x="8081645" y="5478145"/>
            <a:ext cx="1809750" cy="1059815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3335">
            <a:solidFill>
              <a:srgbClr val="C00000"/>
            </a:solidFill>
            <a:prstDash val="solid"/>
          </a:ln>
        </p:spPr>
      </p:sp>
      <p:sp>
        <p:nvSpPr>
          <p:cNvPr id="286" name="out-next-title"/>
          <p:cNvSpPr>
            <a:spLocks noGrp="1"/>
          </p:cNvSpPr>
          <p:nvPr/>
        </p:nvSpPr>
        <p:spPr>
          <a:xfrm>
            <a:off x="8225155" y="5579745"/>
            <a:ext cx="16192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6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后续处理输入</a:t>
            </a:r>
            <a:endParaRPr sz="1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7" name="out-next-body"/>
          <p:cNvSpPr>
            <a:spLocks noGrp="1"/>
          </p:cNvSpPr>
          <p:nvPr/>
        </p:nvSpPr>
        <p:spPr>
          <a:xfrm>
            <a:off x="8029575" y="5915025"/>
            <a:ext cx="1862455" cy="5899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端侧存储、即时智能处理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75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11111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试验验证的关键参数</a:t>
            </a:r>
            <a:endParaRPr sz="1200" b="0">
              <a:solidFill>
                <a:srgbClr val="11111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method-to-output-arrow"/>
          <p:cNvSpPr>
            <a:spLocks noGrp="1"/>
          </p:cNvSpPr>
          <p:nvPr/>
        </p:nvSpPr>
        <p:spPr>
          <a:xfrm>
            <a:off x="5219700" y="5019675"/>
            <a:ext cx="266700" cy="304800"/>
          </a:xfrm>
          <a:prstGeom prst="downArrow">
            <a:avLst/>
          </a:prstGeom>
          <a:solidFill>
            <a:srgbClr val="C00000"/>
          </a:solidFill>
          <a:ln w="0">
            <a:solidFill>
              <a:srgbClr val="C00000"/>
            </a:solidFill>
            <a:prstDash val="solid"/>
          </a:ln>
        </p:spPr>
      </p:sp>
      <p:sp>
        <p:nvSpPr>
          <p:cNvPr id="289" name="output-note"/>
          <p:cNvSpPr>
            <a:spLocks noGrp="1"/>
          </p:cNvSpPr>
          <p:nvPr/>
        </p:nvSpPr>
        <p:spPr>
          <a:xfrm>
            <a:off x="2781300" y="6610350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15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从传播规律揭示到微弱信号增强、精确提取和验证支撑的闭环</a:t>
            </a:r>
            <a:endParaRPr sz="1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1650" y="1177925"/>
            <a:ext cx="1485900" cy="7156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195" y="1115695"/>
            <a:ext cx="1113155" cy="748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WPS 演示</Application>
  <PresentationFormat>Converted Presentation</PresentationFormat>
  <Paragraphs>77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WPS_1569921961</cp:lastModifiedBy>
  <cp:revision>3</cp:revision>
  <dcterms:created xsi:type="dcterms:W3CDTF">2026-06-15T13:57:00Z</dcterms:created>
  <dcterms:modified xsi:type="dcterms:W3CDTF">2026-06-18T11:52:39Z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CCB4CCE1F4F0462ABE8EFD1EDFF8C9FF_12</vt:lpwstr>
  </property>
</Properties>
</file>