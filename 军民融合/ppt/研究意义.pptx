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079990" cy="1007999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6" userDrawn="1">
          <p15:clr>
            <a:srgbClr val="A4A3A4"/>
          </p15:clr>
        </p15:guide>
        <p15:guide id="2" pos="3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66"/>
        <p:guide pos="31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91164" y="1344041"/>
            <a:ext cx="8101949" cy="377813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1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91164" y="5233294"/>
            <a:ext cx="8101949" cy="2164224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650" spc="200"/>
            </a:lvl1pPr>
            <a:lvl2pPr marL="504190" indent="0" algn="ctr">
              <a:buNone/>
              <a:defRPr sz="2205"/>
            </a:lvl2pPr>
            <a:lvl3pPr marL="1008380" indent="0" algn="ctr">
              <a:buNone/>
              <a:defRPr sz="1985"/>
            </a:lvl3pPr>
            <a:lvl4pPr marL="1511935" indent="0" algn="ctr">
              <a:buNone/>
              <a:defRPr sz="1760"/>
            </a:lvl4pPr>
            <a:lvl5pPr marL="2016125" indent="0" algn="ctr">
              <a:buNone/>
              <a:defRPr sz="1760"/>
            </a:lvl5pPr>
            <a:lvl6pPr marL="2520315" indent="0" algn="ctr">
              <a:buNone/>
              <a:defRPr sz="1760"/>
            </a:lvl6pPr>
            <a:lvl7pPr marL="3024505" indent="0" algn="ctr">
              <a:buNone/>
              <a:defRPr sz="1760"/>
            </a:lvl7pPr>
            <a:lvl8pPr marL="3528060" indent="0" algn="ctr">
              <a:buNone/>
              <a:defRPr sz="1760"/>
            </a:lvl8pPr>
            <a:lvl9pPr marL="4032250" indent="0" algn="ctr">
              <a:buNone/>
              <a:defRPr sz="176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23" y="894264"/>
            <a:ext cx="9069301" cy="10371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3023" y="2190681"/>
            <a:ext cx="9069301" cy="6995364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45987" y="5656614"/>
            <a:ext cx="6423220" cy="112709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85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45987" y="6783704"/>
            <a:ext cx="6423220" cy="12752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98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0419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2pPr>
            <a:lvl3pPr marL="10083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2450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23" y="894264"/>
            <a:ext cx="9069301" cy="10371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3023" y="2206556"/>
            <a:ext cx="4280162" cy="697948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01091" y="2206556"/>
            <a:ext cx="4280162" cy="697948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23" y="894264"/>
            <a:ext cx="9069301" cy="10371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3023" y="2100726"/>
            <a:ext cx="4417080" cy="56089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2205" b="1"/>
            </a:lvl2pPr>
            <a:lvl3pPr marL="1008380" indent="0">
              <a:buNone/>
              <a:defRPr sz="1985" b="1"/>
            </a:lvl3pPr>
            <a:lvl4pPr marL="1511935" indent="0">
              <a:buNone/>
              <a:defRPr sz="1760" b="1"/>
            </a:lvl4pPr>
            <a:lvl5pPr marL="2016125" indent="0">
              <a:buNone/>
              <a:defRPr sz="1760" b="1"/>
            </a:lvl5pPr>
            <a:lvl6pPr marL="2520315" indent="0">
              <a:buNone/>
              <a:defRPr sz="1760" b="1"/>
            </a:lvl6pPr>
            <a:lvl7pPr marL="3024505" indent="0">
              <a:buNone/>
              <a:defRPr sz="1760" b="1"/>
            </a:lvl7pPr>
            <a:lvl8pPr marL="3528060" indent="0">
              <a:buNone/>
              <a:defRPr sz="1760" b="1"/>
            </a:lvl8pPr>
            <a:lvl9pPr marL="4032250" indent="0">
              <a:buNone/>
              <a:defRPr sz="176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3023" y="2725123"/>
            <a:ext cx="4417080" cy="64609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155699" y="2089744"/>
            <a:ext cx="4417080" cy="56089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2205" b="1"/>
            </a:lvl2pPr>
            <a:lvl3pPr marL="1008380" indent="0">
              <a:buNone/>
              <a:defRPr sz="1985" b="1"/>
            </a:lvl3pPr>
            <a:lvl4pPr marL="1511935" indent="0">
              <a:buNone/>
              <a:defRPr sz="1760" b="1"/>
            </a:lvl4pPr>
            <a:lvl5pPr marL="2016125" indent="0">
              <a:buNone/>
              <a:defRPr sz="1760" b="1"/>
            </a:lvl5pPr>
            <a:lvl6pPr marL="2520315" indent="0">
              <a:buNone/>
              <a:defRPr sz="1760" b="1"/>
            </a:lvl6pPr>
            <a:lvl7pPr marL="3024505" indent="0">
              <a:buNone/>
              <a:defRPr sz="1760" b="1"/>
            </a:lvl7pPr>
            <a:lvl8pPr marL="3528060" indent="0">
              <a:buNone/>
              <a:defRPr sz="1760" b="1"/>
            </a:lvl8pPr>
            <a:lvl9pPr marL="4032250" indent="0">
              <a:buNone/>
              <a:defRPr sz="176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155699" y="2725123"/>
            <a:ext cx="4417080" cy="64609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23" y="894264"/>
            <a:ext cx="9069301" cy="103713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3023" y="2285928"/>
            <a:ext cx="4326692" cy="677312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76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250491" y="2285928"/>
            <a:ext cx="4321833" cy="677312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76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462101" y="1344041"/>
            <a:ext cx="863176" cy="739222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0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56023" y="1344041"/>
            <a:ext cx="7581067" cy="7392226"/>
          </a:xfrm>
        </p:spPr>
        <p:txBody>
          <a:bodyPr vert="eaVert" lIns="46800" tIns="46800" rIns="46800" bIns="46800"/>
          <a:lstStyle>
            <a:lvl1pPr marL="252095" indent="-252095">
              <a:spcAft>
                <a:spcPts val="1000"/>
              </a:spcAft>
              <a:defRPr spc="300"/>
            </a:lvl1pPr>
            <a:lvl2pPr marL="756285" indent="-252095">
              <a:defRPr spc="300"/>
            </a:lvl2pPr>
            <a:lvl3pPr marL="1259840" indent="-252095">
              <a:defRPr spc="300"/>
            </a:lvl3pPr>
            <a:lvl4pPr marL="1764030" indent="-252095">
              <a:defRPr spc="300"/>
            </a:lvl4pPr>
            <a:lvl5pPr marL="2268220" indent="-25209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3023" y="1137673"/>
            <a:ext cx="9072278" cy="805895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91164" y="3651135"/>
            <a:ext cx="8101949" cy="149749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6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91164" y="5233294"/>
            <a:ext cx="8101949" cy="69318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65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03023" y="894264"/>
            <a:ext cx="9069301" cy="103713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03023" y="2190681"/>
            <a:ext cx="9069301" cy="699536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06000" y="9281292"/>
            <a:ext cx="2232352" cy="465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1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403096" y="9281292"/>
            <a:ext cx="3274116" cy="465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339973" y="9281292"/>
            <a:ext cx="2232352" cy="465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8380" rtl="0" eaLnBrk="1" fontAlgn="auto" latinLnBrk="0" hangingPunct="1">
        <a:lnSpc>
          <a:spcPct val="100000"/>
        </a:lnSpc>
        <a:spcBef>
          <a:spcPct val="0"/>
        </a:spcBef>
        <a:buNone/>
        <a:defRPr sz="397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52095" indent="-252095" algn="l" defTabSz="100838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9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756285" indent="-252095" algn="l" defTabSz="10083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774190" algn="l"/>
          <a:tab pos="1774190" algn="l"/>
          <a:tab pos="1774190" algn="l"/>
          <a:tab pos="1774190" algn="l"/>
        </a:tabLst>
        <a:defRPr sz="17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259840" indent="-252095" algn="l" defTabSz="10083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7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764030" indent="-252095" algn="l" defTabSz="10083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5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268220" indent="-252095" algn="l" defTabSz="10083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5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772410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6600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345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38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50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3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 rot="16200000">
            <a:off x="57150" y="6350"/>
            <a:ext cx="9994900" cy="1004189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235"/>
          </a:p>
        </p:txBody>
      </p:sp>
      <p:sp>
        <p:nvSpPr>
          <p:cNvPr id="25" name="圆角矩形 24"/>
          <p:cNvSpPr/>
          <p:nvPr/>
        </p:nvSpPr>
        <p:spPr>
          <a:xfrm>
            <a:off x="1070610" y="5965190"/>
            <a:ext cx="8764905" cy="242506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273685" y="1932305"/>
            <a:ext cx="9561195" cy="3836670"/>
            <a:chOff x="431" y="3043"/>
            <a:chExt cx="15057" cy="2404"/>
          </a:xfrm>
        </p:grpSpPr>
        <p:sp>
          <p:nvSpPr>
            <p:cNvPr id="18" name="圆角矩形 17"/>
            <p:cNvSpPr/>
            <p:nvPr/>
          </p:nvSpPr>
          <p:spPr>
            <a:xfrm>
              <a:off x="1686" y="3056"/>
              <a:ext cx="13802" cy="2373"/>
            </a:xfrm>
            <a:prstGeom prst="roundRect">
              <a:avLst>
                <a:gd name="adj" fmla="val 0"/>
              </a:avLst>
            </a:prstGeom>
            <a:solidFill>
              <a:srgbClr val="FADBD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矩形: 圆角 8"/>
            <p:cNvSpPr/>
            <p:nvPr/>
          </p:nvSpPr>
          <p:spPr>
            <a:xfrm flipH="1">
              <a:off x="1992" y="3185"/>
              <a:ext cx="13178" cy="2124"/>
            </a:xfrm>
            <a:prstGeom prst="roundRect">
              <a:avLst>
                <a:gd name="adj" fmla="val 6238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35" dirty="0"/>
            </a:p>
          </p:txBody>
        </p:sp>
        <p:sp>
          <p:nvSpPr>
            <p:cNvPr id="26" name="矩形: 圆角 93"/>
            <p:cNvSpPr/>
            <p:nvPr/>
          </p:nvSpPr>
          <p:spPr>
            <a:xfrm>
              <a:off x="431" y="3043"/>
              <a:ext cx="1255" cy="2405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zh-CN" altLang="en-US" sz="15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检测</a:t>
              </a:r>
              <a:endParaRPr lang="en-US" altLang="zh-CN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defRPr/>
              </a:pPr>
              <a:r>
                <a:rPr lang="zh-CN" altLang="en-US" sz="15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场景</a:t>
              </a:r>
              <a:endPara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" name="矩形: 圆角 93"/>
          <p:cNvSpPr/>
          <p:nvPr/>
        </p:nvSpPr>
        <p:spPr>
          <a:xfrm>
            <a:off x="273685" y="5963920"/>
            <a:ext cx="796925" cy="2428240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现状与挑战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: 圆角 93"/>
          <p:cNvSpPr/>
          <p:nvPr/>
        </p:nvSpPr>
        <p:spPr>
          <a:xfrm>
            <a:off x="273685" y="169545"/>
            <a:ext cx="796925" cy="1689100"/>
          </a:xfrm>
          <a:prstGeom prst="roundRect">
            <a:avLst>
              <a:gd name="adj" fmla="val 0"/>
            </a:avLst>
          </a:prstGeom>
          <a:solidFill>
            <a:srgbClr val="2E54A1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战略</a:t>
            </a:r>
            <a:endParaRPr lang="en-US" altLang="zh-CN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defRPr/>
            </a:pPr>
            <a:r>
              <a: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覆盖</a:t>
            </a:r>
            <a:endParaRPr lang="zh-CN" altLang="en-US" sz="1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1070610" y="169545"/>
            <a:ext cx="8764905" cy="168783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: 圆角 8"/>
          <p:cNvSpPr/>
          <p:nvPr/>
        </p:nvSpPr>
        <p:spPr>
          <a:xfrm flipH="1">
            <a:off x="1264920" y="279400"/>
            <a:ext cx="3448685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42" name="矩形: 圆角 8"/>
          <p:cNvSpPr/>
          <p:nvPr/>
        </p:nvSpPr>
        <p:spPr>
          <a:xfrm flipH="1">
            <a:off x="4907915" y="279400"/>
            <a:ext cx="4724400" cy="14808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43" name="文本框 42"/>
          <p:cNvSpPr txBox="1"/>
          <p:nvPr/>
        </p:nvSpPr>
        <p:spPr>
          <a:xfrm>
            <a:off x="1667193" y="337820"/>
            <a:ext cx="264414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国际竞争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1" t="2278" r="16380" b="26414"/>
          <a:stretch>
            <a:fillRect/>
          </a:stretch>
        </p:blipFill>
        <p:spPr>
          <a:xfrm>
            <a:off x="5054600" y="650875"/>
            <a:ext cx="2736850" cy="1054100"/>
          </a:xfrm>
          <a:prstGeom prst="rect">
            <a:avLst/>
          </a:prstGeom>
        </p:spPr>
      </p:pic>
      <p:pic>
        <p:nvPicPr>
          <p:cNvPr id="46" name="Picture 34" descr="Papyrus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820" y="650875"/>
            <a:ext cx="1567180" cy="102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文本框 46"/>
          <p:cNvSpPr txBox="1"/>
          <p:nvPr/>
        </p:nvSpPr>
        <p:spPr>
          <a:xfrm>
            <a:off x="5223510" y="1487805"/>
            <a:ext cx="55499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2021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959475" y="1342390"/>
            <a:ext cx="5441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2023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647815" y="1070610"/>
            <a:ext cx="56197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209790" y="778510"/>
            <a:ext cx="506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012055" y="1057910"/>
            <a:ext cx="679450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十四五</a:t>
            </a:r>
            <a:endParaRPr lang="en-US" altLang="zh-CN" sz="11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693410" y="894080"/>
            <a:ext cx="95948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海洋科技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创新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784340" y="1367790"/>
            <a:ext cx="90170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人工智能</a:t>
            </a:r>
            <a:r>
              <a:rPr lang="en-US" altLang="zh-CN" sz="1165" b="1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437755" y="988060"/>
            <a:ext cx="702945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十五五</a:t>
            </a:r>
            <a:endParaRPr lang="en-US" altLang="zh-CN" sz="11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165" b="1" dirty="0"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zh-CN" altLang="en-US" sz="1165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236585" y="691515"/>
            <a:ext cx="1026160" cy="892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复杂海域态势感知与无人化执法需求提升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459220" y="337820"/>
            <a:ext cx="1621790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国家政策演进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: 圆角 8"/>
          <p:cNvSpPr/>
          <p:nvPr/>
        </p:nvSpPr>
        <p:spPr>
          <a:xfrm flipH="1">
            <a:off x="1219200" y="6103620"/>
            <a:ext cx="2520315" cy="214820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73" name="矩形: 圆角 8"/>
          <p:cNvSpPr/>
          <p:nvPr/>
        </p:nvSpPr>
        <p:spPr>
          <a:xfrm flipH="1">
            <a:off x="4191635" y="6104890"/>
            <a:ext cx="2520315" cy="214566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76" name="矩形: 圆角 8"/>
          <p:cNvSpPr/>
          <p:nvPr/>
        </p:nvSpPr>
        <p:spPr>
          <a:xfrm flipH="1">
            <a:off x="7164070" y="6109335"/>
            <a:ext cx="2520315" cy="213677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77" name="文本框 76"/>
          <p:cNvSpPr txBox="1"/>
          <p:nvPr/>
        </p:nvSpPr>
        <p:spPr>
          <a:xfrm>
            <a:off x="1230630" y="6154738"/>
            <a:ext cx="250888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</a:rPr>
              <a:t>海杂波下微弱信号难感知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191635" y="6123940"/>
            <a:ext cx="2423795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海量频谱数据流体量大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kumimoji="1" lang="en-US" altLang="zh-CN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7164070" y="6154738"/>
            <a:ext cx="2487295" cy="29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335" b="1" dirty="0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智能模型终端难部署</a:t>
            </a:r>
            <a:endParaRPr kumimoji="1" lang="zh-CN" altLang="en-US" sz="1335" b="1" dirty="0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273685" y="8656320"/>
            <a:ext cx="9561195" cy="1118870"/>
            <a:chOff x="431" y="14304"/>
            <a:chExt cx="15057" cy="1090"/>
          </a:xfrm>
        </p:grpSpPr>
        <p:sp>
          <p:nvSpPr>
            <p:cNvPr id="28" name="矩形: 圆角 93"/>
            <p:cNvSpPr/>
            <p:nvPr/>
          </p:nvSpPr>
          <p:spPr>
            <a:xfrm>
              <a:off x="431" y="14304"/>
              <a:ext cx="1255" cy="1090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zh-CN" altLang="en-US" sz="15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研究</a:t>
              </a:r>
              <a:endParaRPr lang="en-US" altLang="zh-CN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defRPr/>
              </a:pPr>
              <a:r>
                <a:rPr lang="zh-CN" altLang="en-US" sz="1500" b="1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内容</a:t>
              </a:r>
              <a:endParaRPr lang="zh-CN" altLang="en-US" sz="1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1686" y="14304"/>
              <a:ext cx="13802" cy="1079"/>
            </a:xfrm>
            <a:prstGeom prst="roundRect">
              <a:avLst>
                <a:gd name="adj" fmla="val 0"/>
              </a:avLst>
            </a:prstGeom>
            <a:solidFill>
              <a:srgbClr val="FADBD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矩形: 圆角 8"/>
            <p:cNvSpPr/>
            <p:nvPr/>
          </p:nvSpPr>
          <p:spPr>
            <a:xfrm flipH="1">
              <a:off x="1992" y="14396"/>
              <a:ext cx="3089" cy="907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海杂波干扰下微弱电磁频谱信号传播规律与微弱信号提取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3" name="矩形: 圆角 8"/>
            <p:cNvSpPr/>
            <p:nvPr/>
          </p:nvSpPr>
          <p:spPr>
            <a:xfrm flipH="1">
              <a:off x="5366" y="14395"/>
              <a:ext cx="3089" cy="908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4" name="矩形: 圆角 8"/>
            <p:cNvSpPr/>
            <p:nvPr/>
          </p:nvSpPr>
          <p:spPr>
            <a:xfrm flipH="1">
              <a:off x="8718" y="14395"/>
              <a:ext cx="3089" cy="908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面向海域自主侦测任务的边缘频谱智能处理方法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6" name="矩形: 圆角 8"/>
            <p:cNvSpPr/>
            <p:nvPr/>
          </p:nvSpPr>
          <p:spPr>
            <a:xfrm flipH="1">
              <a:off x="12080" y="14395"/>
              <a:ext cx="3089" cy="908"/>
            </a:xfrm>
            <a:prstGeom prst="roundRect">
              <a:avLst>
                <a:gd name="adj" fmla="val 15850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海杂波场景电磁频谱数据智能处理原型系统验证</a:t>
              </a:r>
              <a:endPara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5173" y="14625"/>
              <a:ext cx="3388" cy="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spc="-50" dirty="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有限算力端侧频谱数据的轻量存储管理方法</a:t>
              </a:r>
              <a:endParaRPr lang="zh-CN" altLang="en-US" sz="1200" b="1" spc="-50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118" name="图片 1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315" y="102235"/>
            <a:ext cx="3255010" cy="2167255"/>
          </a:xfrm>
          <a:prstGeom prst="rect">
            <a:avLst/>
          </a:prstGeom>
        </p:spPr>
      </p:pic>
      <p:pic>
        <p:nvPicPr>
          <p:cNvPr id="119" name="图片 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10" y="1955165"/>
            <a:ext cx="8751570" cy="3814445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020" y="6665595"/>
            <a:ext cx="2110740" cy="1437640"/>
          </a:xfrm>
          <a:prstGeom prst="rect">
            <a:avLst/>
          </a:prstGeom>
        </p:spPr>
      </p:pic>
      <p:pic>
        <p:nvPicPr>
          <p:cNvPr id="123" name="图片 1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2755" y="6598285"/>
            <a:ext cx="2352675" cy="1504950"/>
          </a:xfrm>
          <a:prstGeom prst="rect">
            <a:avLst/>
          </a:prstGeom>
        </p:spPr>
      </p:pic>
      <p:pic>
        <p:nvPicPr>
          <p:cNvPr id="124" name="图片 1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9790" y="6745605"/>
            <a:ext cx="2443480" cy="135763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WPS 演示</Application>
  <PresentationFormat>宽屏</PresentationFormat>
  <Paragraphs>51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HongShilong</cp:lastModifiedBy>
  <cp:revision>159</cp:revision>
  <dcterms:created xsi:type="dcterms:W3CDTF">2019-06-19T02:08:00Z</dcterms:created>
  <dcterms:modified xsi:type="dcterms:W3CDTF">2026-06-18T09:14:04Z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750CA5218C2346268E9104DD27FDA709_11</vt:lpwstr>
  </property>
</Properties>
</file>