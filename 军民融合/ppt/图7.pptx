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9A7"/>
    <a:srgbClr val="FF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配图换和其他风格保持</a:t>
            </a:r>
            <a:r>
              <a:rPr lang="zh-CN"/>
              <a:t>一致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0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95250" y="333375"/>
            <a:ext cx="12001500" cy="6143625"/>
          </a:xfrm>
          <a:prstGeom prst="roundRect">
            <a:avLst>
              <a:gd name="adj" fmla="val 1550"/>
            </a:avLst>
          </a:prstGeom>
          <a:noFill/>
          <a:ln w="19050">
            <a:solidFill>
              <a:srgbClr val="0B49A7"/>
            </a:solidFill>
            <a:prstDash val="dash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885950" y="76200"/>
            <a:ext cx="8420100" cy="514350"/>
          </a:xfrm>
          <a:prstGeom prst="roundRect">
            <a:avLst>
              <a:gd name="adj" fmla="val 50000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305175" y="133350"/>
            <a:ext cx="558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面向微弱电磁信号的多维表征提取方法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91135" y="836930"/>
            <a:ext cx="1427480" cy="5105400"/>
          </a:xfrm>
          <a:prstGeom prst="roundRect">
            <a:avLst>
              <a:gd name="adj" fmla="val 5556"/>
            </a:avLst>
          </a:prstGeom>
          <a:solidFill>
            <a:srgbClr val="E8F0FC"/>
          </a:solidFill>
          <a:ln w="14288">
            <a:solidFill>
              <a:srgbClr val="6C9ADD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19605" y="819150"/>
            <a:ext cx="3600450" cy="5145405"/>
          </a:xfrm>
          <a:prstGeom prst="roundRect">
            <a:avLst>
              <a:gd name="adj" fmla="val 3175"/>
            </a:avLst>
          </a:prstGeom>
          <a:solidFill>
            <a:srgbClr val="FFF9F7"/>
          </a:solidFill>
          <a:ln w="19050">
            <a:solidFill>
              <a:srgbClr val="B80000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63750" y="1412875"/>
            <a:ext cx="3314700" cy="1752600"/>
          </a:xfrm>
          <a:prstGeom prst="roundRect">
            <a:avLst>
              <a:gd name="adj" fmla="val 6522"/>
            </a:avLst>
          </a:prstGeom>
          <a:noFill/>
          <a:ln w="19050">
            <a:solidFill>
              <a:srgbClr val="C00000"/>
            </a:solidFill>
            <a:prstDash val="dash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047048" y="1485265"/>
            <a:ext cx="1381125" cy="285750"/>
          </a:xfrm>
          <a:prstGeom prst="rect">
            <a:avLst/>
          </a:prstGeom>
          <a:solidFill>
            <a:srgbClr val="FFF9F7"/>
          </a:solidFill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接收机预处理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1985017"/>
            <a:ext cx="666750" cy="543546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95" y="1917065"/>
            <a:ext cx="549275" cy="680085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605" y="1917065"/>
            <a:ext cx="474345" cy="666750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4"/>
          <a:srcRect r="22385" b="3333"/>
          <a:stretch>
            <a:fillRect/>
          </a:stretch>
        </p:blipFill>
        <p:spPr>
          <a:xfrm>
            <a:off x="4732655" y="1845310"/>
            <a:ext cx="504190" cy="79184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2124075" y="2781300"/>
            <a:ext cx="80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直流抑制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21000" y="2781300"/>
            <a:ext cx="895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频偏校正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765550" y="2781300"/>
            <a:ext cx="860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幅度归一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7400" y="2781300"/>
            <a:ext cx="781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滑动分帧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下箭头 22"/>
          <p:cNvSpPr>
            <a:spLocks noGrp="1"/>
          </p:cNvSpPr>
          <p:nvPr/>
        </p:nvSpPr>
        <p:spPr>
          <a:xfrm>
            <a:off x="3495358" y="3257550"/>
            <a:ext cx="333375" cy="438150"/>
          </a:xfrm>
          <a:prstGeom prst="downArrow">
            <a:avLst/>
          </a:prstGeom>
          <a:solidFill>
            <a:srgbClr val="E00000"/>
          </a:solidFill>
          <a:ln w="0">
            <a:solidFill>
              <a:srgbClr val="E00000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2063750" y="3825240"/>
            <a:ext cx="3314700" cy="1725295"/>
          </a:xfrm>
          <a:prstGeom prst="roundRect">
            <a:avLst>
              <a:gd name="adj" fmla="val 7843"/>
            </a:avLst>
          </a:prstGeom>
          <a:noFill/>
          <a:ln w="19050">
            <a:solidFill>
              <a:srgbClr val="C00000"/>
            </a:solidFill>
            <a:prstDash val="dash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957513" y="3943350"/>
            <a:ext cx="1381125" cy="285750"/>
          </a:xfrm>
          <a:prstGeom prst="rect">
            <a:avLst/>
          </a:prstGeom>
          <a:solidFill>
            <a:srgbClr val="FFF9F7"/>
          </a:solidFill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多域变换处理</a:t>
            </a:r>
            <a:endParaRPr sz="14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05" y="4365605"/>
            <a:ext cx="666750" cy="544871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365" y="4305300"/>
            <a:ext cx="560705" cy="590550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0960" y="4333875"/>
            <a:ext cx="480060" cy="590550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655" y="4267200"/>
            <a:ext cx="572770" cy="6667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2134870" y="5019675"/>
            <a:ext cx="68008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999740" y="503428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频域分析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15715" y="503428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63415" y="5038725"/>
            <a:ext cx="98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9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空间谱分析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5667375" y="819150"/>
            <a:ext cx="4686300" cy="291465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9050">
            <a:solidFill>
              <a:srgbClr val="0B49A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951980" y="1200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E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B49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边界确定与干扰抑制</a:t>
            </a:r>
            <a:endParaRPr sz="1400" b="1">
              <a:solidFill>
                <a:srgbClr val="0B49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1542485"/>
            <a:ext cx="723900" cy="518020"/>
          </a:xfrm>
          <a:prstGeom prst="rect">
            <a:avLst/>
          </a:prstGeom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5991225" y="21526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能量检测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7550" y="1542154"/>
            <a:ext cx="742950" cy="517412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7038975" y="21526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噪声底估计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75" y="1556134"/>
            <a:ext cx="742950" cy="514851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8181975" y="21526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边界约束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5450" y="1594866"/>
            <a:ext cx="762000" cy="475488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9239250" y="215265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干扰抑制</a:t>
            </a:r>
            <a:endParaRPr sz="11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5667375" y="2376170"/>
            <a:ext cx="4686300" cy="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00925" y="249301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425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关键特征提取</a:t>
            </a:r>
            <a:endParaRPr sz="140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13"/>
          <a:srcRect r="24444" b="2083"/>
          <a:stretch>
            <a:fillRect/>
          </a:stretch>
        </p:blipFill>
        <p:spPr>
          <a:xfrm>
            <a:off x="6110288" y="2799715"/>
            <a:ext cx="323850" cy="447675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86450" y="331406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629400" y="331406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带宽估计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372350" y="3314065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时长估计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149590" y="331406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频率漂移分析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934450" y="3314065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调制特征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7410" y="2799715"/>
            <a:ext cx="487680" cy="476250"/>
          </a:xfrm>
          <a:prstGeom prst="rect">
            <a:avLst/>
          </a:prstGeom>
        </p:spPr>
      </p:pic>
      <p:sp>
        <p:nvSpPr>
          <p:cNvPr id="59" name="矩形 58"/>
          <p:cNvSpPr>
            <a:spLocks noGrp="1"/>
          </p:cNvSpPr>
          <p:nvPr/>
        </p:nvSpPr>
        <p:spPr>
          <a:xfrm>
            <a:off x="9620250" y="333311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到达方向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</a:t>
            </a:r>
            <a:endParaRPr sz="86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5666740" y="3924300"/>
            <a:ext cx="475361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B49A7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7247890" y="4271963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886825" y="4271963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047105" y="43338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多源关联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724775" y="43338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特征融合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9264015" y="43338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一致性建模</a:t>
            </a:r>
            <a:endParaRPr sz="1350" b="1">
              <a:solidFill>
                <a:srgbClr val="073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10687050" y="800735"/>
            <a:ext cx="1200150" cy="5123815"/>
          </a:xfrm>
          <a:prstGeom prst="roundRect">
            <a:avLst>
              <a:gd name="adj" fmla="val 6349"/>
            </a:avLst>
          </a:prstGeom>
          <a:solidFill>
            <a:srgbClr val="E8F0FC"/>
          </a:solidFill>
          <a:ln w="14288">
            <a:solidFill>
              <a:srgbClr val="6C9ADD"/>
            </a:solidFill>
            <a:prstDash val="solid"/>
          </a:ln>
        </p:spPr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70571" y="1638300"/>
            <a:ext cx="671209" cy="685800"/>
          </a:xfrm>
          <a:prstGeom prst="rect">
            <a:avLst/>
          </a:prstGeom>
        </p:spPr>
      </p:pic>
      <p:sp>
        <p:nvSpPr>
          <p:cNvPr id="83" name="矩形 82"/>
          <p:cNvSpPr>
            <a:spLocks noGrp="1"/>
          </p:cNvSpPr>
          <p:nvPr/>
        </p:nvSpPr>
        <p:spPr>
          <a:xfrm>
            <a:off x="10858500" y="2324100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支撑弱目标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稳定识别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" name="图片 164"/>
          <p:cNvPicPr>
            <a:picLocks noChangeAspect="1"/>
          </p:cNvPicPr>
          <p:nvPr/>
        </p:nvPicPr>
        <p:blipFill>
          <a:blip r:embed="rId16"/>
          <a:srcRect l="-13854" b="12315"/>
          <a:stretch>
            <a:fillRect/>
          </a:stretch>
        </p:blipFill>
        <p:spPr>
          <a:xfrm>
            <a:off x="10920767" y="2971800"/>
            <a:ext cx="704178" cy="601345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10801350" y="3695700"/>
            <a:ext cx="1028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支撑可靠测向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与参数分析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0801350" y="5219700"/>
            <a:ext cx="1028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提升复杂背景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检测鲁棒性</a:t>
            </a:r>
            <a:endParaRPr sz="1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257175" y="6191250"/>
            <a:ext cx="11630025" cy="552450"/>
          </a:xfrm>
          <a:prstGeom prst="roundRect">
            <a:avLst>
              <a:gd name="adj" fmla="val 13793"/>
            </a:avLst>
          </a:prstGeom>
          <a:solidFill>
            <a:srgbClr val="E00000"/>
          </a:solidFill>
          <a:ln w="0">
            <a:solidFill>
              <a:srgbClr val="E00000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2857500" y="628650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多域协同约束：保障时频空间信息一致性与特征可靠性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右箭头 33"/>
          <p:cNvSpPr>
            <a:spLocks noGrp="1"/>
          </p:cNvSpPr>
          <p:nvPr/>
        </p:nvSpPr>
        <p:spPr>
          <a:xfrm>
            <a:off x="5447665" y="3038475"/>
            <a:ext cx="323850" cy="45339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20730" y="4410075"/>
            <a:ext cx="771525" cy="628650"/>
          </a:xfrm>
          <a:prstGeom prst="rect">
            <a:avLst/>
          </a:prstGeom>
        </p:spPr>
      </p:pic>
      <p:sp>
        <p:nvSpPr>
          <p:cNvPr id="15" name="直接连接符 14"/>
          <p:cNvSpPr>
            <a:spLocks noGrp="1"/>
          </p:cNvSpPr>
          <p:nvPr/>
        </p:nvSpPr>
        <p:spPr>
          <a:xfrm>
            <a:off x="5667375" y="4257675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0422255" y="4305300"/>
            <a:ext cx="0" cy="1447800"/>
          </a:xfrm>
          <a:prstGeom prst="line">
            <a:avLst/>
          </a:prstGeom>
          <a:noFill/>
          <a:ln w="9525">
            <a:solidFill>
              <a:srgbClr val="6C9ADD"/>
            </a:solidFill>
            <a:prstDash val="dash"/>
          </a:ln>
        </p:spPr>
      </p:sp>
      <p:pic>
        <p:nvPicPr>
          <p:cNvPr id="17" name="图片 16"/>
          <p:cNvPicPr/>
          <p:nvPr/>
        </p:nvPicPr>
        <p:blipFill>
          <a:blip r:embed="rId18"/>
          <a:stretch>
            <a:fillRect/>
          </a:stretch>
        </p:blipFill>
        <p:spPr>
          <a:xfrm>
            <a:off x="5922645" y="4780218"/>
            <a:ext cx="353060" cy="54000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9"/>
          <a:stretch>
            <a:fillRect/>
          </a:stretch>
        </p:blipFill>
        <p:spPr>
          <a:xfrm>
            <a:off x="6530975" y="4780218"/>
            <a:ext cx="421005" cy="54000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20"/>
          <a:stretch>
            <a:fillRect/>
          </a:stretch>
        </p:blipFill>
        <p:spPr>
          <a:xfrm>
            <a:off x="7463550" y="4725608"/>
            <a:ext cx="461010" cy="540000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21"/>
          <a:stretch>
            <a:fillRect/>
          </a:stretch>
        </p:blipFill>
        <p:spPr>
          <a:xfrm>
            <a:off x="8149350" y="4725608"/>
            <a:ext cx="655320" cy="54000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22"/>
          <a:stretch>
            <a:fillRect/>
          </a:stretch>
        </p:blipFill>
        <p:spPr>
          <a:xfrm>
            <a:off x="9064385" y="4765613"/>
            <a:ext cx="488950" cy="54000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23"/>
          <a:stretch>
            <a:fillRect/>
          </a:stretch>
        </p:blipFill>
        <p:spPr>
          <a:xfrm>
            <a:off x="9621915" y="4780218"/>
            <a:ext cx="607060" cy="5400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9513" y="2761615"/>
            <a:ext cx="457200" cy="485775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5"/>
          <a:srcRect l="24872" t="10460" r="13675"/>
          <a:stretch>
            <a:fillRect/>
          </a:stretch>
        </p:blipFill>
        <p:spPr>
          <a:xfrm>
            <a:off x="6786880" y="2781300"/>
            <a:ext cx="456565" cy="49466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15425" y="2761615"/>
            <a:ext cx="438150" cy="45720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753" y="2761615"/>
            <a:ext cx="600075" cy="53340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566737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时间对齐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43445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247890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060690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83221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610725" y="54673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</a:t>
            </a:r>
            <a:r>
              <a:rPr lang="zh-CN"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</a:t>
            </a:r>
            <a:endParaRPr lang="zh-CN"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2" name="图片 81" descr="ChatGPT Image 2026年6月18日 20_03_10"/>
          <p:cNvPicPr>
            <a:picLocks noChangeAspect="1"/>
          </p:cNvPicPr>
          <p:nvPr/>
        </p:nvPicPr>
        <p:blipFill>
          <a:blip r:embed="rId28"/>
          <a:srcRect l="8652" t="3524" r="9569" b="4579"/>
          <a:stretch>
            <a:fillRect/>
          </a:stretch>
        </p:blipFill>
        <p:spPr>
          <a:xfrm>
            <a:off x="243840" y="1813560"/>
            <a:ext cx="1302385" cy="3096895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2755900" y="765175"/>
            <a:ext cx="1976755" cy="400050"/>
          </a:xfrm>
          <a:prstGeom prst="roundRect">
            <a:avLst>
              <a:gd name="adj" fmla="val 13793"/>
            </a:avLst>
          </a:prstGeom>
          <a:solidFill>
            <a:srgbClr val="E00000"/>
          </a:solidFill>
          <a:ln w="0">
            <a:solidFill>
              <a:srgbClr val="E0000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47365" y="80073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信号多维变换</a:t>
            </a:r>
            <a:endParaRPr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103745" y="735330"/>
            <a:ext cx="1990725" cy="399600"/>
          </a:xfrm>
          <a:prstGeom prst="roundRect">
            <a:avLst>
              <a:gd name="adj" fmla="val 16172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392035" y="7651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特征精确提取</a:t>
            </a:r>
            <a:endParaRPr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91135" y="836930"/>
            <a:ext cx="1427480" cy="399415"/>
          </a:xfrm>
          <a:prstGeom prst="roundRect">
            <a:avLst>
              <a:gd name="adj" fmla="val 16172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1135" y="857885"/>
            <a:ext cx="135509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原始IQ信号流</a:t>
            </a:r>
            <a:endParaRPr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687050" y="800735"/>
            <a:ext cx="1200150" cy="399415"/>
          </a:xfrm>
          <a:prstGeom prst="roundRect">
            <a:avLst>
              <a:gd name="adj" fmla="val 16172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0746105" y="856615"/>
            <a:ext cx="115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3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作用与目标</a:t>
            </a:r>
            <a:endParaRPr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137400" y="3825240"/>
            <a:ext cx="1990725" cy="399600"/>
          </a:xfrm>
          <a:prstGeom prst="roundRect">
            <a:avLst>
              <a:gd name="adj" fmla="val 16172"/>
            </a:avLst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400925" y="38862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t"/>
          <a:lstStyle/>
          <a:p>
            <a:pPr algn="ctr">
              <a:defRPr sz="1650" b="1">
                <a:solidFill>
                  <a:srgbClr val="073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多维表征整合</a:t>
            </a:r>
            <a:endParaRPr sz="16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10458450" y="4603115"/>
            <a:ext cx="342900" cy="43561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60" name="右箭头 59"/>
          <p:cNvSpPr>
            <a:spLocks noGrp="1"/>
          </p:cNvSpPr>
          <p:nvPr/>
        </p:nvSpPr>
        <p:spPr>
          <a:xfrm>
            <a:off x="10382250" y="1845310"/>
            <a:ext cx="352425" cy="43434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</p:sp>
      <p:sp>
        <p:nvSpPr>
          <p:cNvPr id="44" name="右箭头 43"/>
          <p:cNvSpPr>
            <a:spLocks noGrp="1"/>
          </p:cNvSpPr>
          <p:nvPr/>
        </p:nvSpPr>
        <p:spPr>
          <a:xfrm>
            <a:off x="1631315" y="3068955"/>
            <a:ext cx="323850" cy="453390"/>
          </a:xfrm>
          <a:prstGeom prst="rightArrow">
            <a:avLst/>
          </a:prstGeom>
          <a:solidFill>
            <a:srgbClr val="0B49A7"/>
          </a:solidFill>
          <a:ln w="0">
            <a:solidFill>
              <a:srgbClr val="0B49A7"/>
            </a:solidFill>
            <a:prstDash val="soli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WPS 演示</Application>
  <PresentationFormat>Converted Presentation</PresentationFormat>
  <Paragraphs>87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HongShilong</cp:lastModifiedBy>
  <cp:revision>6</cp:revision>
  <dcterms:created xsi:type="dcterms:W3CDTF">2026-06-18T12:07:00Z</dcterms:created>
  <dcterms:modified xsi:type="dcterms:W3CDTF">2026-06-23T10:07:39Z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983C3AC0F7A3469F8DD69F8179CD6887_13</vt:lpwstr>
  </property>
</Properties>
</file>