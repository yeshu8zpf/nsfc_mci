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4" Type="http://schemas.openxmlformats.org/officeDocument/2006/relationships/notesSlide" Target="../notesSlides/notesSlide1.x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" y="109728"/>
            <a:ext cx="11932920" cy="6638544"/>
          </a:xfrm>
          <a:prstGeom prst="roundRect">
            <a:avLst>
              <a:gd name="adj" fmla="val 1653"/>
            </a:avLst>
          </a:prstGeom>
          <a:ln w="22225">
            <a:solidFill>
              <a:srgbClr val="4874CB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2075688" y="256032"/>
            <a:ext cx="8046720" cy="621792"/>
          </a:xfrm>
          <a:prstGeom prst="roundRect">
            <a:avLst>
              <a:gd name="adj" fmla="val 50000"/>
            </a:avLst>
          </a:prstGeom>
          <a:solidFill>
            <a:srgbClr val="2E54A1"/>
          </a:solidFill>
        </p:spPr>
      </p:sp>
      <p:sp>
        <p:nvSpPr>
          <p:cNvPr id="4" name="Text 2"/>
          <p:cNvSpPr/>
          <p:nvPr/>
        </p:nvSpPr>
        <p:spPr>
          <a:xfrm>
            <a:off x="2075688" y="256032"/>
            <a:ext cx="8046720" cy="6217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知识驱动的轻量化频谱信号识别与目标轨迹分析方法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11480" y="1225296"/>
            <a:ext cx="1481328" cy="4297680"/>
          </a:xfrm>
          <a:prstGeom prst="roundRect">
            <a:avLst>
              <a:gd name="adj" fmla="val 4938"/>
            </a:avLst>
          </a:prstGeom>
          <a:solidFill>
            <a:srgbClr val="DAE3F5"/>
          </a:solidFill>
          <a:ln w="15875">
            <a:solidFill>
              <a:srgbClr val="2E54A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12064" y="1353312"/>
            <a:ext cx="1280160" cy="1865376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2E54A1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517904"/>
            <a:ext cx="621792" cy="62179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12064" y="2340864"/>
            <a:ext cx="128016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频谱知识</a:t>
            </a:r>
            <a:endParaRPr lang="en-US" sz="140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图谱先验</a:t>
            </a:r>
            <a:endParaRPr lang="en-US" sz="1400" dirty="0"/>
          </a:p>
          <a:p>
            <a:pPr marL="0" indent="0" algn="ctr">
              <a:lnSpc>
                <a:spcPct val="98000"/>
              </a:lnSpc>
              <a:buNone/>
            </a:pP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12064" y="3346704"/>
            <a:ext cx="1280160" cy="2048256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2E54A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22757" y="3659429"/>
            <a:ext cx="62230" cy="181051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11" name="Shape 8"/>
          <p:cNvSpPr/>
          <p:nvPr/>
        </p:nvSpPr>
        <p:spPr>
          <a:xfrm>
            <a:off x="822325" y="3518611"/>
            <a:ext cx="62230" cy="321869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12" name="Shape 9"/>
          <p:cNvSpPr/>
          <p:nvPr/>
        </p:nvSpPr>
        <p:spPr>
          <a:xfrm>
            <a:off x="921893" y="3619195"/>
            <a:ext cx="62230" cy="221285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13" name="Shape 10"/>
          <p:cNvSpPr/>
          <p:nvPr/>
        </p:nvSpPr>
        <p:spPr>
          <a:xfrm>
            <a:off x="1021461" y="3438144"/>
            <a:ext cx="62230" cy="402336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14" name="Shape 11"/>
          <p:cNvSpPr/>
          <p:nvPr/>
        </p:nvSpPr>
        <p:spPr>
          <a:xfrm>
            <a:off x="1121029" y="3558845"/>
            <a:ext cx="62230" cy="281635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15" name="Shape 12"/>
          <p:cNvSpPr/>
          <p:nvPr/>
        </p:nvSpPr>
        <p:spPr>
          <a:xfrm>
            <a:off x="1220597" y="3478378"/>
            <a:ext cx="62230" cy="362102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16" name="Shape 13"/>
          <p:cNvSpPr/>
          <p:nvPr/>
        </p:nvSpPr>
        <p:spPr>
          <a:xfrm>
            <a:off x="1320165" y="3639312"/>
            <a:ext cx="62230" cy="201168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17" name="Shape 14"/>
          <p:cNvSpPr/>
          <p:nvPr/>
        </p:nvSpPr>
        <p:spPr>
          <a:xfrm>
            <a:off x="1419733" y="3526658"/>
            <a:ext cx="62230" cy="313822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18" name="Shape 15"/>
          <p:cNvSpPr/>
          <p:nvPr/>
        </p:nvSpPr>
        <p:spPr>
          <a:xfrm>
            <a:off x="1519301" y="3679546"/>
            <a:ext cx="62230" cy="160934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19" name="Shape 16"/>
          <p:cNvSpPr/>
          <p:nvPr/>
        </p:nvSpPr>
        <p:spPr>
          <a:xfrm>
            <a:off x="704088" y="3840480"/>
            <a:ext cx="896112" cy="0"/>
          </a:xfrm>
          <a:prstGeom prst="line">
            <a:avLst/>
          </a:prstGeom>
          <a:noFill/>
          <a:ln w="9525">
            <a:solidFill>
              <a:srgbClr val="5B647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12064" y="3950208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⋮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22757" y="4445813"/>
            <a:ext cx="62230" cy="181051"/>
          </a:xfrm>
          <a:prstGeom prst="rect">
            <a:avLst/>
          </a:prstGeom>
          <a:solidFill>
            <a:srgbClr val="159A8C"/>
          </a:solidFill>
        </p:spPr>
      </p:sp>
      <p:sp>
        <p:nvSpPr>
          <p:cNvPr id="22" name="Shape 19"/>
          <p:cNvSpPr/>
          <p:nvPr/>
        </p:nvSpPr>
        <p:spPr>
          <a:xfrm>
            <a:off x="822325" y="4304995"/>
            <a:ext cx="62230" cy="321869"/>
          </a:xfrm>
          <a:prstGeom prst="rect">
            <a:avLst/>
          </a:prstGeom>
          <a:solidFill>
            <a:srgbClr val="159A8C"/>
          </a:solidFill>
        </p:spPr>
      </p:sp>
      <p:sp>
        <p:nvSpPr>
          <p:cNvPr id="23" name="Shape 20"/>
          <p:cNvSpPr/>
          <p:nvPr/>
        </p:nvSpPr>
        <p:spPr>
          <a:xfrm>
            <a:off x="921893" y="4405579"/>
            <a:ext cx="62230" cy="221285"/>
          </a:xfrm>
          <a:prstGeom prst="rect">
            <a:avLst/>
          </a:prstGeom>
          <a:solidFill>
            <a:srgbClr val="159A8C"/>
          </a:solidFill>
        </p:spPr>
      </p:sp>
      <p:sp>
        <p:nvSpPr>
          <p:cNvPr id="24" name="Shape 21"/>
          <p:cNvSpPr/>
          <p:nvPr/>
        </p:nvSpPr>
        <p:spPr>
          <a:xfrm>
            <a:off x="1021461" y="4224528"/>
            <a:ext cx="62230" cy="402336"/>
          </a:xfrm>
          <a:prstGeom prst="rect">
            <a:avLst/>
          </a:prstGeom>
          <a:solidFill>
            <a:srgbClr val="159A8C"/>
          </a:solidFill>
        </p:spPr>
      </p:sp>
      <p:sp>
        <p:nvSpPr>
          <p:cNvPr id="25" name="Shape 22"/>
          <p:cNvSpPr/>
          <p:nvPr/>
        </p:nvSpPr>
        <p:spPr>
          <a:xfrm>
            <a:off x="1121029" y="4345229"/>
            <a:ext cx="62230" cy="281635"/>
          </a:xfrm>
          <a:prstGeom prst="rect">
            <a:avLst/>
          </a:prstGeom>
          <a:solidFill>
            <a:srgbClr val="159A8C"/>
          </a:solidFill>
        </p:spPr>
      </p:sp>
      <p:sp>
        <p:nvSpPr>
          <p:cNvPr id="26" name="Shape 23"/>
          <p:cNvSpPr/>
          <p:nvPr/>
        </p:nvSpPr>
        <p:spPr>
          <a:xfrm>
            <a:off x="1220597" y="4264762"/>
            <a:ext cx="62230" cy="362102"/>
          </a:xfrm>
          <a:prstGeom prst="rect">
            <a:avLst/>
          </a:prstGeom>
          <a:solidFill>
            <a:srgbClr val="159A8C"/>
          </a:solidFill>
        </p:spPr>
      </p:sp>
      <p:sp>
        <p:nvSpPr>
          <p:cNvPr id="27" name="Shape 24"/>
          <p:cNvSpPr/>
          <p:nvPr/>
        </p:nvSpPr>
        <p:spPr>
          <a:xfrm>
            <a:off x="1320165" y="4425696"/>
            <a:ext cx="62230" cy="201168"/>
          </a:xfrm>
          <a:prstGeom prst="rect">
            <a:avLst/>
          </a:prstGeom>
          <a:solidFill>
            <a:srgbClr val="159A8C"/>
          </a:solidFill>
        </p:spPr>
      </p:sp>
      <p:sp>
        <p:nvSpPr>
          <p:cNvPr id="28" name="Shape 25"/>
          <p:cNvSpPr/>
          <p:nvPr/>
        </p:nvSpPr>
        <p:spPr>
          <a:xfrm>
            <a:off x="1419733" y="4313042"/>
            <a:ext cx="62230" cy="313822"/>
          </a:xfrm>
          <a:prstGeom prst="rect">
            <a:avLst/>
          </a:prstGeom>
          <a:solidFill>
            <a:srgbClr val="159A8C"/>
          </a:solidFill>
        </p:spPr>
      </p:sp>
      <p:sp>
        <p:nvSpPr>
          <p:cNvPr id="29" name="Shape 26"/>
          <p:cNvSpPr/>
          <p:nvPr/>
        </p:nvSpPr>
        <p:spPr>
          <a:xfrm>
            <a:off x="1519301" y="4465930"/>
            <a:ext cx="62230" cy="160934"/>
          </a:xfrm>
          <a:prstGeom prst="rect">
            <a:avLst/>
          </a:prstGeom>
          <a:solidFill>
            <a:srgbClr val="159A8C"/>
          </a:solidFill>
        </p:spPr>
      </p:sp>
      <p:sp>
        <p:nvSpPr>
          <p:cNvPr id="30" name="Shape 27"/>
          <p:cNvSpPr/>
          <p:nvPr/>
        </p:nvSpPr>
        <p:spPr>
          <a:xfrm>
            <a:off x="704088" y="4626864"/>
            <a:ext cx="896112" cy="0"/>
          </a:xfrm>
          <a:prstGeom prst="line">
            <a:avLst/>
          </a:prstGeom>
          <a:noFill/>
          <a:ln w="9525">
            <a:solidFill>
              <a:srgbClr val="5B647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12064" y="4791456"/>
            <a:ext cx="128016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提取后频谱信号（时频谱）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901952" y="3054096"/>
            <a:ext cx="274320" cy="822960"/>
          </a:xfrm>
          <a:prstGeom prst="rightArrow">
            <a:avLst/>
          </a:prstGeom>
          <a:solidFill>
            <a:srgbClr val="4874CB"/>
          </a:solidFill>
        </p:spPr>
      </p:sp>
      <p:sp>
        <p:nvSpPr>
          <p:cNvPr id="33" name="Shape 30"/>
          <p:cNvSpPr/>
          <p:nvPr/>
        </p:nvSpPr>
        <p:spPr>
          <a:xfrm>
            <a:off x="2194560" y="1060704"/>
            <a:ext cx="2697480" cy="877824"/>
          </a:xfrm>
          <a:prstGeom prst="roundRect">
            <a:avLst>
              <a:gd name="adj" fmla="val 6250"/>
            </a:avLst>
          </a:prstGeom>
          <a:solidFill>
            <a:srgbClr val="C00000"/>
          </a:solidFill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2194560" y="1060704"/>
            <a:ext cx="2697480" cy="877824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基于轻量卷积网络的</a:t>
            </a:r>
            <a:endParaRPr lang="en-US" sz="19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知识引导信号检测</a:t>
            </a:r>
            <a:endParaRPr lang="en-US" sz="1900" dirty="0"/>
          </a:p>
        </p:txBody>
      </p:sp>
      <p:sp>
        <p:nvSpPr>
          <p:cNvPr id="35" name="Shape 32"/>
          <p:cNvSpPr/>
          <p:nvPr/>
        </p:nvSpPr>
        <p:spPr>
          <a:xfrm>
            <a:off x="2194560" y="2011680"/>
            <a:ext cx="2697480" cy="3511296"/>
          </a:xfrm>
          <a:prstGeom prst="roundRect">
            <a:avLst>
              <a:gd name="adj" fmla="val 2034"/>
            </a:avLst>
          </a:prstGeom>
          <a:solidFill>
            <a:srgbClr val="FADBD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394960" y="1060704"/>
            <a:ext cx="2697480" cy="877824"/>
          </a:xfrm>
          <a:prstGeom prst="roundRect">
            <a:avLst>
              <a:gd name="adj" fmla="val 6250"/>
            </a:avLst>
          </a:prstGeom>
          <a:solidFill>
            <a:srgbClr val="2E54A1"/>
          </a:solidFill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5394960" y="1060704"/>
            <a:ext cx="2697480" cy="877824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基于原型网络的</a:t>
            </a:r>
            <a:endParaRPr lang="en-US" sz="19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知识驱动小样本分类</a:t>
            </a:r>
            <a:endParaRPr lang="en-US" sz="1900" dirty="0"/>
          </a:p>
        </p:txBody>
      </p:sp>
      <p:sp>
        <p:nvSpPr>
          <p:cNvPr id="38" name="Shape 35"/>
          <p:cNvSpPr/>
          <p:nvPr/>
        </p:nvSpPr>
        <p:spPr>
          <a:xfrm>
            <a:off x="5394960" y="2011680"/>
            <a:ext cx="2697480" cy="3511296"/>
          </a:xfrm>
          <a:prstGeom prst="roundRect">
            <a:avLst>
              <a:gd name="adj" fmla="val 2034"/>
            </a:avLst>
          </a:prstGeom>
          <a:solidFill>
            <a:srgbClr val="FADBDF"/>
          </a:solidFill>
          <a:ln w="12700">
            <a:solidFill>
              <a:srgbClr val="2E54A1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595360" y="1060704"/>
            <a:ext cx="2697480" cy="877824"/>
          </a:xfrm>
          <a:prstGeom prst="roundRect">
            <a:avLst>
              <a:gd name="adj" fmla="val 6250"/>
            </a:avLst>
          </a:prstGeom>
          <a:solidFill>
            <a:srgbClr val="C00000"/>
          </a:solidFill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40" name="Text 37"/>
          <p:cNvSpPr/>
          <p:nvPr/>
        </p:nvSpPr>
        <p:spPr>
          <a:xfrm>
            <a:off x="8595360" y="1060704"/>
            <a:ext cx="2697480" cy="877824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知识驱动的轻量化</a:t>
            </a:r>
            <a:endParaRPr lang="en-US" sz="19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目标轨迹估计与预测</a:t>
            </a:r>
            <a:endParaRPr lang="en-US" sz="1900" dirty="0"/>
          </a:p>
        </p:txBody>
      </p:sp>
      <p:sp>
        <p:nvSpPr>
          <p:cNvPr id="41" name="Shape 38"/>
          <p:cNvSpPr/>
          <p:nvPr/>
        </p:nvSpPr>
        <p:spPr>
          <a:xfrm>
            <a:off x="8595360" y="2011680"/>
            <a:ext cx="2697480" cy="3511296"/>
          </a:xfrm>
          <a:prstGeom prst="roundRect">
            <a:avLst>
              <a:gd name="adj" fmla="val 2034"/>
            </a:avLst>
          </a:prstGeom>
          <a:solidFill>
            <a:srgbClr val="FADBD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313432" y="2103120"/>
            <a:ext cx="2459736" cy="16459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6BAC0"/>
            </a:solidFill>
            <a:prstDash val="solid"/>
          </a:ln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43" name="Text 40"/>
          <p:cNvSpPr/>
          <p:nvPr/>
        </p:nvSpPr>
        <p:spPr>
          <a:xfrm>
            <a:off x="2350008" y="2194560"/>
            <a:ext cx="23865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轻量卷积特征提取</a:t>
            </a:r>
            <a:endParaRPr lang="en-US" sz="1600" dirty="0"/>
          </a:p>
        </p:txBody>
      </p:sp>
      <p:sp>
        <p:nvSpPr>
          <p:cNvPr id="44" name="Shape 41"/>
          <p:cNvSpPr/>
          <p:nvPr/>
        </p:nvSpPr>
        <p:spPr>
          <a:xfrm>
            <a:off x="2383536" y="3036722"/>
            <a:ext cx="35560" cy="172822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45" name="Shape 42"/>
          <p:cNvSpPr/>
          <p:nvPr/>
        </p:nvSpPr>
        <p:spPr>
          <a:xfrm>
            <a:off x="2440432" y="2902306"/>
            <a:ext cx="35560" cy="307238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46" name="Shape 43"/>
          <p:cNvSpPr/>
          <p:nvPr/>
        </p:nvSpPr>
        <p:spPr>
          <a:xfrm>
            <a:off x="2497328" y="2998318"/>
            <a:ext cx="35560" cy="211226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47" name="Shape 44"/>
          <p:cNvSpPr/>
          <p:nvPr/>
        </p:nvSpPr>
        <p:spPr>
          <a:xfrm>
            <a:off x="2554224" y="2825496"/>
            <a:ext cx="35560" cy="384048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48" name="Shape 45"/>
          <p:cNvSpPr/>
          <p:nvPr/>
        </p:nvSpPr>
        <p:spPr>
          <a:xfrm>
            <a:off x="2611120" y="2940710"/>
            <a:ext cx="35560" cy="268834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49" name="Shape 46"/>
          <p:cNvSpPr/>
          <p:nvPr/>
        </p:nvSpPr>
        <p:spPr>
          <a:xfrm>
            <a:off x="2668016" y="2863901"/>
            <a:ext cx="35560" cy="345643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50" name="Shape 47"/>
          <p:cNvSpPr/>
          <p:nvPr/>
        </p:nvSpPr>
        <p:spPr>
          <a:xfrm>
            <a:off x="2724912" y="3017520"/>
            <a:ext cx="35560" cy="192024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51" name="Shape 48"/>
          <p:cNvSpPr/>
          <p:nvPr/>
        </p:nvSpPr>
        <p:spPr>
          <a:xfrm>
            <a:off x="2781808" y="2909987"/>
            <a:ext cx="35560" cy="299557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52" name="Shape 49"/>
          <p:cNvSpPr/>
          <p:nvPr/>
        </p:nvSpPr>
        <p:spPr>
          <a:xfrm>
            <a:off x="2838704" y="3055925"/>
            <a:ext cx="35560" cy="153619"/>
          </a:xfrm>
          <a:prstGeom prst="rect">
            <a:avLst/>
          </a:prstGeom>
          <a:solidFill>
            <a:srgbClr val="4874CB"/>
          </a:solidFill>
        </p:spPr>
      </p:sp>
      <p:sp>
        <p:nvSpPr>
          <p:cNvPr id="53" name="Shape 50"/>
          <p:cNvSpPr/>
          <p:nvPr/>
        </p:nvSpPr>
        <p:spPr>
          <a:xfrm>
            <a:off x="2372868" y="3209544"/>
            <a:ext cx="512064" cy="0"/>
          </a:xfrm>
          <a:prstGeom prst="line">
            <a:avLst/>
          </a:prstGeom>
          <a:noFill/>
          <a:ln w="9525">
            <a:solidFill>
              <a:srgbClr val="5B6470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2253996" y="3291840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时频图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55" name="Shape 52"/>
          <p:cNvSpPr/>
          <p:nvPr/>
        </p:nvSpPr>
        <p:spPr>
          <a:xfrm>
            <a:off x="2884805" y="2948940"/>
            <a:ext cx="146304" cy="137160"/>
          </a:xfrm>
          <a:prstGeom prst="rightArrow">
            <a:avLst/>
          </a:prstGeom>
          <a:solidFill>
            <a:srgbClr val="5B6470"/>
          </a:solidFill>
        </p:spPr>
      </p:sp>
      <p:sp>
        <p:nvSpPr>
          <p:cNvPr id="56" name="Shape 53"/>
          <p:cNvSpPr/>
          <p:nvPr/>
        </p:nvSpPr>
        <p:spPr>
          <a:xfrm>
            <a:off x="3049524" y="2843784"/>
            <a:ext cx="987552" cy="347472"/>
          </a:xfrm>
          <a:prstGeom prst="roundRect">
            <a:avLst>
              <a:gd name="adj" fmla="val 13158"/>
            </a:avLst>
          </a:prstGeom>
          <a:solidFill>
            <a:srgbClr val="2E54A1"/>
          </a:solidFill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57" name="Text 54"/>
          <p:cNvSpPr/>
          <p:nvPr/>
        </p:nvSpPr>
        <p:spPr>
          <a:xfrm>
            <a:off x="3049524" y="2843784"/>
            <a:ext cx="987552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MobileNetV3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3168396" y="3291840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轻量网络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4256151" y="2953385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4874C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425315" y="2953385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159A8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94479" y="2953385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C000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4082796" y="3291840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特征向量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66" name="Shape 63"/>
          <p:cNvSpPr/>
          <p:nvPr/>
        </p:nvSpPr>
        <p:spPr>
          <a:xfrm>
            <a:off x="2313432" y="3877056"/>
            <a:ext cx="2459736" cy="16459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6BAC0"/>
            </a:solidFill>
            <a:prstDash val="solid"/>
          </a:ln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7" name="Text 64"/>
          <p:cNvSpPr/>
          <p:nvPr/>
        </p:nvSpPr>
        <p:spPr>
          <a:xfrm>
            <a:off x="2350008" y="3968496"/>
            <a:ext cx="23865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知识门控有无判决</a:t>
            </a:r>
            <a:endParaRPr lang="en-US" sz="1600" dirty="0"/>
          </a:p>
        </p:txBody>
      </p:sp>
      <p:pic>
        <p:nvPicPr>
          <p:cNvPr id="6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2596" y="4553712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2345436" y="5065776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海况先验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70" name="Shape 66"/>
          <p:cNvSpPr/>
          <p:nvPr/>
        </p:nvSpPr>
        <p:spPr>
          <a:xfrm>
            <a:off x="3023235" y="4723130"/>
            <a:ext cx="189865" cy="137160"/>
          </a:xfrm>
          <a:prstGeom prst="rightArrow">
            <a:avLst/>
          </a:prstGeom>
          <a:solidFill>
            <a:srgbClr val="5B6470"/>
          </a:solidFill>
        </p:spPr>
      </p:sp>
      <p:pic>
        <p:nvPicPr>
          <p:cNvPr id="7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556" y="4553712"/>
            <a:ext cx="475488" cy="475488"/>
          </a:xfrm>
          <a:prstGeom prst="rect">
            <a:avLst/>
          </a:prstGeom>
        </p:spPr>
      </p:pic>
      <p:sp>
        <p:nvSpPr>
          <p:cNvPr id="72" name="Text 67"/>
          <p:cNvSpPr/>
          <p:nvPr/>
        </p:nvSpPr>
        <p:spPr>
          <a:xfrm>
            <a:off x="3168396" y="5065776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知识门控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7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8516" y="4672584"/>
            <a:ext cx="219456" cy="219456"/>
          </a:xfrm>
          <a:prstGeom prst="rect">
            <a:avLst/>
          </a:prstGeom>
        </p:spPr>
      </p:pic>
      <p:pic>
        <p:nvPicPr>
          <p:cNvPr id="7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3692" y="4672584"/>
            <a:ext cx="219456" cy="219456"/>
          </a:xfrm>
          <a:prstGeom prst="rect">
            <a:avLst/>
          </a:prstGeom>
        </p:spPr>
      </p:pic>
      <p:sp>
        <p:nvSpPr>
          <p:cNvPr id="76" name="Text 69"/>
          <p:cNvSpPr/>
          <p:nvPr/>
        </p:nvSpPr>
        <p:spPr>
          <a:xfrm>
            <a:off x="3991356" y="5065776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有无判决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77" name="Shape 70"/>
          <p:cNvSpPr/>
          <p:nvPr/>
        </p:nvSpPr>
        <p:spPr>
          <a:xfrm>
            <a:off x="5513832" y="2103120"/>
            <a:ext cx="2459736" cy="16459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6BAC0"/>
            </a:solidFill>
            <a:prstDash val="solid"/>
          </a:ln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8" name="Text 71"/>
          <p:cNvSpPr/>
          <p:nvPr/>
        </p:nvSpPr>
        <p:spPr>
          <a:xfrm>
            <a:off x="5550408" y="2194560"/>
            <a:ext cx="23865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小样本原型学习</a:t>
            </a:r>
            <a:endParaRPr lang="en-US" sz="1600" dirty="0"/>
          </a:p>
        </p:txBody>
      </p:sp>
      <p:pic>
        <p:nvPicPr>
          <p:cNvPr id="7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2996" y="2779776"/>
            <a:ext cx="475488" cy="475488"/>
          </a:xfrm>
          <a:prstGeom prst="rect">
            <a:avLst/>
          </a:prstGeom>
        </p:spPr>
      </p:pic>
      <p:sp>
        <p:nvSpPr>
          <p:cNvPr id="80" name="Text 72"/>
          <p:cNvSpPr/>
          <p:nvPr/>
        </p:nvSpPr>
        <p:spPr>
          <a:xfrm>
            <a:off x="5545836" y="3291840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少量样本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81" name="Shape 73"/>
          <p:cNvSpPr/>
          <p:nvPr/>
        </p:nvSpPr>
        <p:spPr>
          <a:xfrm>
            <a:off x="6223000" y="2953385"/>
            <a:ext cx="187325" cy="137160"/>
          </a:xfrm>
          <a:prstGeom prst="rightArrow">
            <a:avLst/>
          </a:prstGeom>
          <a:solidFill>
            <a:srgbClr val="5B6470"/>
          </a:solidFill>
        </p:spPr>
      </p:sp>
      <p:pic>
        <p:nvPicPr>
          <p:cNvPr id="82" name="Image 6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956" y="2779776"/>
            <a:ext cx="475488" cy="475488"/>
          </a:xfrm>
          <a:prstGeom prst="rect">
            <a:avLst/>
          </a:prstGeom>
        </p:spPr>
      </p:pic>
      <p:sp>
        <p:nvSpPr>
          <p:cNvPr id="83" name="Text 74"/>
          <p:cNvSpPr/>
          <p:nvPr/>
        </p:nvSpPr>
        <p:spPr>
          <a:xfrm>
            <a:off x="6368796" y="3291840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知识先验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84" name="Shape 75"/>
          <p:cNvSpPr/>
          <p:nvPr/>
        </p:nvSpPr>
        <p:spPr>
          <a:xfrm>
            <a:off x="7062470" y="2948940"/>
            <a:ext cx="189865" cy="137160"/>
          </a:xfrm>
          <a:prstGeom prst="rightArrow">
            <a:avLst/>
          </a:prstGeom>
          <a:solidFill>
            <a:srgbClr val="5B6470"/>
          </a:solidFill>
        </p:spPr>
      </p:sp>
      <p:pic>
        <p:nvPicPr>
          <p:cNvPr id="85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8916" y="2779776"/>
            <a:ext cx="475488" cy="475488"/>
          </a:xfrm>
          <a:prstGeom prst="rect">
            <a:avLst/>
          </a:prstGeom>
        </p:spPr>
      </p:pic>
      <p:sp>
        <p:nvSpPr>
          <p:cNvPr id="86" name="Text 76"/>
          <p:cNvSpPr/>
          <p:nvPr/>
        </p:nvSpPr>
        <p:spPr>
          <a:xfrm>
            <a:off x="7191756" y="3291840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类模板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87" name="Shape 77"/>
          <p:cNvSpPr/>
          <p:nvPr/>
        </p:nvSpPr>
        <p:spPr>
          <a:xfrm>
            <a:off x="5513832" y="3877056"/>
            <a:ext cx="2459736" cy="16459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6BAC0"/>
            </a:solidFill>
            <a:prstDash val="solid"/>
          </a:ln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88" name="Text 78"/>
          <p:cNvSpPr/>
          <p:nvPr/>
        </p:nvSpPr>
        <p:spPr>
          <a:xfrm>
            <a:off x="5550408" y="3968496"/>
            <a:ext cx="23865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距离比对与开集发现</a:t>
            </a:r>
            <a:endParaRPr lang="en-US" sz="1600" dirty="0"/>
          </a:p>
        </p:txBody>
      </p:sp>
      <p:pic>
        <p:nvPicPr>
          <p:cNvPr id="89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82996" y="4553712"/>
            <a:ext cx="475488" cy="475488"/>
          </a:xfrm>
          <a:prstGeom prst="rect">
            <a:avLst/>
          </a:prstGeom>
        </p:spPr>
      </p:pic>
      <p:sp>
        <p:nvSpPr>
          <p:cNvPr id="90" name="Text 79"/>
          <p:cNvSpPr/>
          <p:nvPr/>
        </p:nvSpPr>
        <p:spPr>
          <a:xfrm>
            <a:off x="5545836" y="5065776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比对距离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92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5956" y="4553712"/>
            <a:ext cx="475488" cy="475488"/>
          </a:xfrm>
          <a:prstGeom prst="rect">
            <a:avLst/>
          </a:prstGeom>
        </p:spPr>
      </p:pic>
      <p:sp>
        <p:nvSpPr>
          <p:cNvPr id="93" name="Text 81"/>
          <p:cNvSpPr/>
          <p:nvPr/>
        </p:nvSpPr>
        <p:spPr>
          <a:xfrm>
            <a:off x="6368796" y="5065776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判定类型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95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28916" y="4553712"/>
            <a:ext cx="475488" cy="475488"/>
          </a:xfrm>
          <a:prstGeom prst="rect">
            <a:avLst/>
          </a:prstGeom>
        </p:spPr>
      </p:pic>
      <p:sp>
        <p:nvSpPr>
          <p:cNvPr id="96" name="Text 83"/>
          <p:cNvSpPr/>
          <p:nvPr/>
        </p:nvSpPr>
        <p:spPr>
          <a:xfrm>
            <a:off x="7191756" y="5065776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回写图谱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97" name="Shape 84"/>
          <p:cNvSpPr/>
          <p:nvPr/>
        </p:nvSpPr>
        <p:spPr>
          <a:xfrm>
            <a:off x="8714232" y="2103120"/>
            <a:ext cx="2459736" cy="16459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6BAC0"/>
            </a:solidFill>
            <a:prstDash val="solid"/>
          </a:ln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98" name="Text 85"/>
          <p:cNvSpPr/>
          <p:nvPr/>
        </p:nvSpPr>
        <p:spPr>
          <a:xfrm>
            <a:off x="8750808" y="2194560"/>
            <a:ext cx="23865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卡尔曼滤波状态估计</a:t>
            </a:r>
            <a:endParaRPr lang="en-US" sz="1600" dirty="0"/>
          </a:p>
        </p:txBody>
      </p:sp>
      <p:pic>
        <p:nvPicPr>
          <p:cNvPr id="99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83396" y="2779776"/>
            <a:ext cx="475488" cy="475488"/>
          </a:xfrm>
          <a:prstGeom prst="rect">
            <a:avLst/>
          </a:prstGeom>
        </p:spPr>
      </p:pic>
      <p:sp>
        <p:nvSpPr>
          <p:cNvPr id="100" name="Text 86"/>
          <p:cNvSpPr/>
          <p:nvPr/>
        </p:nvSpPr>
        <p:spPr>
          <a:xfrm>
            <a:off x="8746236" y="3291840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多源观测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02" name="Shape 88"/>
          <p:cNvSpPr/>
          <p:nvPr/>
        </p:nvSpPr>
        <p:spPr>
          <a:xfrm>
            <a:off x="9660636" y="2843784"/>
            <a:ext cx="566928" cy="347472"/>
          </a:xfrm>
          <a:prstGeom prst="roundRect">
            <a:avLst>
              <a:gd name="adj" fmla="val 13158"/>
            </a:avLst>
          </a:prstGeom>
          <a:solidFill>
            <a:srgbClr val="2E54A1"/>
          </a:solidFill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03" name="Text 89"/>
          <p:cNvSpPr/>
          <p:nvPr/>
        </p:nvSpPr>
        <p:spPr>
          <a:xfrm>
            <a:off x="9660636" y="2843784"/>
            <a:ext cx="566928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EKF</a:t>
            </a:r>
            <a:endParaRPr lang="en-US" sz="1100" dirty="0"/>
          </a:p>
        </p:txBody>
      </p:sp>
      <p:sp>
        <p:nvSpPr>
          <p:cNvPr id="104" name="Text 90"/>
          <p:cNvSpPr/>
          <p:nvPr/>
        </p:nvSpPr>
        <p:spPr>
          <a:xfrm>
            <a:off x="9569196" y="3291840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滤波估计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06" name="Shape 92"/>
          <p:cNvSpPr/>
          <p:nvPr/>
        </p:nvSpPr>
        <p:spPr>
          <a:xfrm>
            <a:off x="10465308" y="2971800"/>
            <a:ext cx="201168" cy="164592"/>
          </a:xfrm>
          <a:prstGeom prst="line">
            <a:avLst/>
          </a:prstGeom>
          <a:noFill/>
          <a:ln w="25400">
            <a:solidFill>
              <a:srgbClr val="4874CB"/>
            </a:solidFill>
            <a:prstDash val="solid"/>
          </a:ln>
        </p:spPr>
      </p:sp>
      <p:sp>
        <p:nvSpPr>
          <p:cNvPr id="107" name="Shape 93"/>
          <p:cNvSpPr/>
          <p:nvPr/>
        </p:nvSpPr>
        <p:spPr>
          <a:xfrm>
            <a:off x="10666476" y="2971800"/>
            <a:ext cx="182880" cy="100584"/>
          </a:xfrm>
          <a:prstGeom prst="line">
            <a:avLst/>
          </a:prstGeom>
          <a:noFill/>
          <a:ln w="25400">
            <a:solidFill>
              <a:srgbClr val="4874CB"/>
            </a:solidFill>
            <a:prstDash val="solid"/>
          </a:ln>
        </p:spPr>
      </p:sp>
      <p:sp>
        <p:nvSpPr>
          <p:cNvPr id="108" name="Shape 94"/>
          <p:cNvSpPr/>
          <p:nvPr/>
        </p:nvSpPr>
        <p:spPr>
          <a:xfrm>
            <a:off x="10849356" y="2898648"/>
            <a:ext cx="164592" cy="173736"/>
          </a:xfrm>
          <a:prstGeom prst="line">
            <a:avLst/>
          </a:prstGeom>
          <a:noFill/>
          <a:ln w="25400">
            <a:solidFill>
              <a:srgbClr val="4874CB"/>
            </a:solidFill>
            <a:prstDash val="solid"/>
          </a:ln>
        </p:spPr>
      </p:sp>
      <p:sp>
        <p:nvSpPr>
          <p:cNvPr id="109" name="Shape 95"/>
          <p:cNvSpPr/>
          <p:nvPr/>
        </p:nvSpPr>
        <p:spPr>
          <a:xfrm>
            <a:off x="10433304" y="3104388"/>
            <a:ext cx="64008" cy="64008"/>
          </a:xfrm>
          <a:prstGeom prst="ellipse">
            <a:avLst/>
          </a:prstGeom>
          <a:solidFill>
            <a:srgbClr val="4874C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Shape 96"/>
          <p:cNvSpPr/>
          <p:nvPr/>
        </p:nvSpPr>
        <p:spPr>
          <a:xfrm>
            <a:off x="10634472" y="2939796"/>
            <a:ext cx="64008" cy="64008"/>
          </a:xfrm>
          <a:prstGeom prst="ellipse">
            <a:avLst/>
          </a:prstGeom>
          <a:solidFill>
            <a:srgbClr val="4874C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1" name="Shape 97"/>
          <p:cNvSpPr/>
          <p:nvPr/>
        </p:nvSpPr>
        <p:spPr>
          <a:xfrm>
            <a:off x="10817352" y="3040380"/>
            <a:ext cx="64008" cy="64008"/>
          </a:xfrm>
          <a:prstGeom prst="ellipse">
            <a:avLst/>
          </a:prstGeom>
          <a:solidFill>
            <a:srgbClr val="4874C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98"/>
          <p:cNvSpPr/>
          <p:nvPr/>
        </p:nvSpPr>
        <p:spPr>
          <a:xfrm>
            <a:off x="10981944" y="2866644"/>
            <a:ext cx="64008" cy="64008"/>
          </a:xfrm>
          <a:prstGeom prst="ellipse">
            <a:avLst/>
          </a:prstGeom>
          <a:solidFill>
            <a:srgbClr val="4874C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99"/>
          <p:cNvSpPr/>
          <p:nvPr/>
        </p:nvSpPr>
        <p:spPr>
          <a:xfrm>
            <a:off x="10995660" y="2843784"/>
            <a:ext cx="128016" cy="109728"/>
          </a:xfrm>
          <a:prstGeom prst="rightArrow">
            <a:avLst/>
          </a:prstGeom>
          <a:solidFill>
            <a:srgbClr val="4874CB"/>
          </a:solidFill>
        </p:spPr>
      </p:sp>
      <p:sp>
        <p:nvSpPr>
          <p:cNvPr id="114" name="Text 100"/>
          <p:cNvSpPr/>
          <p:nvPr/>
        </p:nvSpPr>
        <p:spPr>
          <a:xfrm>
            <a:off x="10392156" y="3291840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位置速度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15" name="Shape 101"/>
          <p:cNvSpPr/>
          <p:nvPr/>
        </p:nvSpPr>
        <p:spPr>
          <a:xfrm>
            <a:off x="8714232" y="3877056"/>
            <a:ext cx="2459736" cy="16459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6BAC0"/>
            </a:solidFill>
            <a:prstDash val="solid"/>
          </a:ln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16" name="Text 102"/>
          <p:cNvSpPr/>
          <p:nvPr/>
        </p:nvSpPr>
        <p:spPr>
          <a:xfrm>
            <a:off x="8750808" y="3968496"/>
            <a:ext cx="23865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知识驱动轨迹预测</a:t>
            </a:r>
            <a:endParaRPr lang="en-US" sz="1600" dirty="0"/>
          </a:p>
        </p:txBody>
      </p:sp>
      <p:sp>
        <p:nvSpPr>
          <p:cNvPr id="117" name="Shape 103"/>
          <p:cNvSpPr/>
          <p:nvPr/>
        </p:nvSpPr>
        <p:spPr>
          <a:xfrm>
            <a:off x="8837676" y="4617720"/>
            <a:ext cx="566928" cy="347472"/>
          </a:xfrm>
          <a:prstGeom prst="roundRect">
            <a:avLst>
              <a:gd name="adj" fmla="val 13158"/>
            </a:avLst>
          </a:prstGeom>
          <a:solidFill>
            <a:srgbClr val="2E54A1"/>
          </a:solidFill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18" name="Text 104"/>
          <p:cNvSpPr/>
          <p:nvPr/>
        </p:nvSpPr>
        <p:spPr>
          <a:xfrm>
            <a:off x="8837676" y="4617720"/>
            <a:ext cx="566928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GRU</a:t>
            </a:r>
            <a:endParaRPr lang="en-US" sz="1100" dirty="0"/>
          </a:p>
        </p:txBody>
      </p:sp>
      <p:sp>
        <p:nvSpPr>
          <p:cNvPr id="119" name="Text 105"/>
          <p:cNvSpPr/>
          <p:nvPr/>
        </p:nvSpPr>
        <p:spPr>
          <a:xfrm>
            <a:off x="8746236" y="5065776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循环网络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121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706356" y="4553712"/>
            <a:ext cx="475488" cy="475488"/>
          </a:xfrm>
          <a:prstGeom prst="rect">
            <a:avLst/>
          </a:prstGeom>
        </p:spPr>
      </p:pic>
      <p:sp>
        <p:nvSpPr>
          <p:cNvPr id="122" name="Text 107"/>
          <p:cNvSpPr/>
          <p:nvPr/>
        </p:nvSpPr>
        <p:spPr>
          <a:xfrm>
            <a:off x="9569196" y="5065776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航路先验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24" name="Shape 109"/>
          <p:cNvSpPr/>
          <p:nvPr/>
        </p:nvSpPr>
        <p:spPr>
          <a:xfrm>
            <a:off x="10465308" y="4745736"/>
            <a:ext cx="201168" cy="164592"/>
          </a:xfrm>
          <a:prstGeom prst="line">
            <a:avLst/>
          </a:prstGeom>
          <a:noFill/>
          <a:ln w="25400">
            <a:solidFill>
              <a:srgbClr val="C00000"/>
            </a:solidFill>
            <a:prstDash val="dash"/>
          </a:ln>
        </p:spPr>
      </p:sp>
      <p:sp>
        <p:nvSpPr>
          <p:cNvPr id="125" name="Shape 110"/>
          <p:cNvSpPr/>
          <p:nvPr/>
        </p:nvSpPr>
        <p:spPr>
          <a:xfrm>
            <a:off x="10666476" y="4745736"/>
            <a:ext cx="182880" cy="100584"/>
          </a:xfrm>
          <a:prstGeom prst="line">
            <a:avLst/>
          </a:prstGeom>
          <a:noFill/>
          <a:ln w="25400">
            <a:solidFill>
              <a:srgbClr val="C00000"/>
            </a:solidFill>
            <a:prstDash val="dash"/>
          </a:ln>
        </p:spPr>
      </p:sp>
      <p:sp>
        <p:nvSpPr>
          <p:cNvPr id="126" name="Shape 111"/>
          <p:cNvSpPr/>
          <p:nvPr/>
        </p:nvSpPr>
        <p:spPr>
          <a:xfrm>
            <a:off x="10849356" y="4672584"/>
            <a:ext cx="164592" cy="173736"/>
          </a:xfrm>
          <a:prstGeom prst="line">
            <a:avLst/>
          </a:prstGeom>
          <a:noFill/>
          <a:ln w="25400">
            <a:solidFill>
              <a:srgbClr val="C00000"/>
            </a:solidFill>
            <a:prstDash val="dash"/>
          </a:ln>
        </p:spPr>
      </p:sp>
      <p:sp>
        <p:nvSpPr>
          <p:cNvPr id="127" name="Shape 112"/>
          <p:cNvSpPr/>
          <p:nvPr/>
        </p:nvSpPr>
        <p:spPr>
          <a:xfrm>
            <a:off x="10433304" y="4878324"/>
            <a:ext cx="64008" cy="64008"/>
          </a:xfrm>
          <a:prstGeom prst="ellipse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Shape 113"/>
          <p:cNvSpPr/>
          <p:nvPr/>
        </p:nvSpPr>
        <p:spPr>
          <a:xfrm>
            <a:off x="10634472" y="4713732"/>
            <a:ext cx="64008" cy="64008"/>
          </a:xfrm>
          <a:prstGeom prst="ellipse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Shape 114"/>
          <p:cNvSpPr/>
          <p:nvPr/>
        </p:nvSpPr>
        <p:spPr>
          <a:xfrm>
            <a:off x="10817352" y="4814316"/>
            <a:ext cx="64008" cy="64008"/>
          </a:xfrm>
          <a:prstGeom prst="ellipse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0" name="Shape 115"/>
          <p:cNvSpPr/>
          <p:nvPr/>
        </p:nvSpPr>
        <p:spPr>
          <a:xfrm>
            <a:off x="10981944" y="4640580"/>
            <a:ext cx="64008" cy="64008"/>
          </a:xfrm>
          <a:prstGeom prst="ellipse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Shape 116"/>
          <p:cNvSpPr/>
          <p:nvPr/>
        </p:nvSpPr>
        <p:spPr>
          <a:xfrm>
            <a:off x="10995660" y="4617720"/>
            <a:ext cx="128016" cy="109728"/>
          </a:xfrm>
          <a:prstGeom prst="rightArrow">
            <a:avLst/>
          </a:prstGeom>
          <a:solidFill>
            <a:srgbClr val="C00000"/>
          </a:solidFill>
        </p:spPr>
      </p:sp>
      <p:sp>
        <p:nvSpPr>
          <p:cNvPr id="132" name="Text 117"/>
          <p:cNvSpPr/>
          <p:nvPr/>
        </p:nvSpPr>
        <p:spPr>
          <a:xfrm>
            <a:off x="10392156" y="5065776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预测轨迹</a:t>
            </a:r>
            <a:endParaRPr 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33" name="Shape 118"/>
          <p:cNvSpPr/>
          <p:nvPr/>
        </p:nvSpPr>
        <p:spPr>
          <a:xfrm>
            <a:off x="4969764" y="1280160"/>
            <a:ext cx="347472" cy="475488"/>
          </a:xfrm>
          <a:prstGeom prst="chevron">
            <a:avLst/>
          </a:prstGeom>
          <a:solidFill>
            <a:srgbClr val="E06B74"/>
          </a:solidFill>
        </p:spPr>
      </p:sp>
      <p:sp>
        <p:nvSpPr>
          <p:cNvPr id="134" name="Text 119"/>
          <p:cNvSpPr/>
          <p:nvPr/>
        </p:nvSpPr>
        <p:spPr>
          <a:xfrm>
            <a:off x="4942332" y="3017520"/>
            <a:ext cx="40233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存</a:t>
            </a:r>
            <a:endParaRPr lang="en-US" sz="13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</a:t>
            </a:r>
            <a:endParaRPr lang="en-US" sz="13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信</a:t>
            </a:r>
            <a:endParaRPr lang="en-US" sz="13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号</a:t>
            </a:r>
            <a:endParaRPr lang="en-US" sz="1300" dirty="0"/>
          </a:p>
        </p:txBody>
      </p:sp>
      <p:sp>
        <p:nvSpPr>
          <p:cNvPr id="135" name="Shape 120"/>
          <p:cNvSpPr/>
          <p:nvPr/>
        </p:nvSpPr>
        <p:spPr>
          <a:xfrm>
            <a:off x="8170164" y="1280160"/>
            <a:ext cx="347472" cy="475488"/>
          </a:xfrm>
          <a:prstGeom prst="chevron">
            <a:avLst/>
          </a:prstGeom>
          <a:solidFill>
            <a:srgbClr val="E06B74"/>
          </a:solidFill>
        </p:spPr>
      </p:sp>
      <p:sp>
        <p:nvSpPr>
          <p:cNvPr id="136" name="Text 121"/>
          <p:cNvSpPr/>
          <p:nvPr/>
        </p:nvSpPr>
        <p:spPr>
          <a:xfrm>
            <a:off x="8142732" y="3017520"/>
            <a:ext cx="40233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</a:t>
            </a:r>
            <a:endParaRPr lang="en-US" sz="13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标</a:t>
            </a:r>
            <a:endParaRPr lang="en-US" sz="13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</a:t>
            </a:r>
            <a:endParaRPr lang="en-US" sz="13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型</a:t>
            </a:r>
            <a:endParaRPr lang="en-US" sz="1300" dirty="0"/>
          </a:p>
        </p:txBody>
      </p:sp>
      <p:sp>
        <p:nvSpPr>
          <p:cNvPr id="137" name="Shape 122"/>
          <p:cNvSpPr/>
          <p:nvPr/>
        </p:nvSpPr>
        <p:spPr>
          <a:xfrm>
            <a:off x="3415284" y="5577840"/>
            <a:ext cx="256032" cy="292608"/>
          </a:xfrm>
          <a:prstGeom prst="downArrow">
            <a:avLst/>
          </a:prstGeom>
          <a:solidFill>
            <a:srgbClr val="4874CB"/>
          </a:solidFill>
        </p:spPr>
      </p:sp>
      <p:sp>
        <p:nvSpPr>
          <p:cNvPr id="138" name="Shape 123"/>
          <p:cNvSpPr/>
          <p:nvPr/>
        </p:nvSpPr>
        <p:spPr>
          <a:xfrm>
            <a:off x="6615684" y="5577840"/>
            <a:ext cx="256032" cy="292608"/>
          </a:xfrm>
          <a:prstGeom prst="downArrow">
            <a:avLst/>
          </a:prstGeom>
          <a:solidFill>
            <a:srgbClr val="4874CB"/>
          </a:solidFill>
        </p:spPr>
      </p:sp>
      <p:sp>
        <p:nvSpPr>
          <p:cNvPr id="140" name="Shape 125"/>
          <p:cNvSpPr/>
          <p:nvPr/>
        </p:nvSpPr>
        <p:spPr>
          <a:xfrm>
            <a:off x="2194560" y="5870448"/>
            <a:ext cx="90982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2E54A1"/>
            </a:solidFill>
            <a:prstDash val="solid"/>
          </a:ln>
          <a:effectLst>
            <a:outerShdw blurRad="38100" dist="127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41" name="Text 126"/>
          <p:cNvSpPr/>
          <p:nvPr/>
        </p:nvSpPr>
        <p:spPr>
          <a:xfrm>
            <a:off x="2194560" y="5870448"/>
            <a:ext cx="909828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支撑海域自主侦测的目标级态势认知</a:t>
            </a:r>
            <a:endParaRPr lang="en-US" sz="2400" dirty="0"/>
          </a:p>
        </p:txBody>
      </p:sp>
      <p:sp>
        <p:nvSpPr>
          <p:cNvPr id="142" name="Shape 52"/>
          <p:cNvSpPr/>
          <p:nvPr/>
        </p:nvSpPr>
        <p:spPr>
          <a:xfrm>
            <a:off x="4071620" y="2948940"/>
            <a:ext cx="146304" cy="137160"/>
          </a:xfrm>
          <a:prstGeom prst="rightArrow">
            <a:avLst/>
          </a:prstGeom>
          <a:solidFill>
            <a:srgbClr val="5B6470"/>
          </a:solidFill>
        </p:spPr>
      </p:sp>
      <p:sp>
        <p:nvSpPr>
          <p:cNvPr id="143" name="Shape 66"/>
          <p:cNvSpPr/>
          <p:nvPr/>
        </p:nvSpPr>
        <p:spPr>
          <a:xfrm>
            <a:off x="3861435" y="4723130"/>
            <a:ext cx="189865" cy="137160"/>
          </a:xfrm>
          <a:prstGeom prst="rightArrow">
            <a:avLst/>
          </a:prstGeom>
          <a:solidFill>
            <a:srgbClr val="5B6470"/>
          </a:solidFill>
        </p:spPr>
      </p:sp>
      <p:sp>
        <p:nvSpPr>
          <p:cNvPr id="144" name="Shape 73"/>
          <p:cNvSpPr/>
          <p:nvPr/>
        </p:nvSpPr>
        <p:spPr>
          <a:xfrm>
            <a:off x="6223000" y="4713605"/>
            <a:ext cx="187325" cy="137160"/>
          </a:xfrm>
          <a:prstGeom prst="rightArrow">
            <a:avLst/>
          </a:prstGeom>
          <a:solidFill>
            <a:srgbClr val="5B6470"/>
          </a:solidFill>
        </p:spPr>
      </p:sp>
      <p:sp>
        <p:nvSpPr>
          <p:cNvPr id="145" name="Shape 75"/>
          <p:cNvSpPr/>
          <p:nvPr/>
        </p:nvSpPr>
        <p:spPr>
          <a:xfrm>
            <a:off x="7062470" y="4723130"/>
            <a:ext cx="189865" cy="137160"/>
          </a:xfrm>
          <a:prstGeom prst="rightArrow">
            <a:avLst/>
          </a:prstGeom>
          <a:solidFill>
            <a:srgbClr val="5B6470"/>
          </a:solidFill>
        </p:spPr>
      </p:sp>
      <p:sp>
        <p:nvSpPr>
          <p:cNvPr id="146" name="Shape 123"/>
          <p:cNvSpPr/>
          <p:nvPr/>
        </p:nvSpPr>
        <p:spPr>
          <a:xfrm>
            <a:off x="9925939" y="5577840"/>
            <a:ext cx="256032" cy="292608"/>
          </a:xfrm>
          <a:prstGeom prst="downArrow">
            <a:avLst/>
          </a:prstGeom>
          <a:solidFill>
            <a:srgbClr val="4874CB"/>
          </a:solidFill>
        </p:spPr>
      </p:sp>
      <p:sp>
        <p:nvSpPr>
          <p:cNvPr id="147" name="Shape 75"/>
          <p:cNvSpPr/>
          <p:nvPr/>
        </p:nvSpPr>
        <p:spPr>
          <a:xfrm>
            <a:off x="9404350" y="2998470"/>
            <a:ext cx="189865" cy="137160"/>
          </a:xfrm>
          <a:prstGeom prst="rightArrow">
            <a:avLst/>
          </a:prstGeom>
          <a:solidFill>
            <a:srgbClr val="5B6470"/>
          </a:solidFill>
        </p:spPr>
      </p:sp>
      <p:sp>
        <p:nvSpPr>
          <p:cNvPr id="148" name="Shape 75"/>
          <p:cNvSpPr/>
          <p:nvPr/>
        </p:nvSpPr>
        <p:spPr>
          <a:xfrm>
            <a:off x="10243185" y="2971800"/>
            <a:ext cx="189865" cy="137160"/>
          </a:xfrm>
          <a:prstGeom prst="rightArrow">
            <a:avLst/>
          </a:prstGeom>
          <a:solidFill>
            <a:srgbClr val="5B6470"/>
          </a:solidFill>
        </p:spPr>
      </p:sp>
      <p:sp>
        <p:nvSpPr>
          <p:cNvPr id="149" name="Shape 75"/>
          <p:cNvSpPr/>
          <p:nvPr/>
        </p:nvSpPr>
        <p:spPr>
          <a:xfrm>
            <a:off x="9471025" y="4727575"/>
            <a:ext cx="189865" cy="137160"/>
          </a:xfrm>
          <a:prstGeom prst="rightArrow">
            <a:avLst/>
          </a:prstGeom>
          <a:solidFill>
            <a:srgbClr val="5B6470"/>
          </a:solidFill>
        </p:spPr>
      </p:sp>
      <p:sp>
        <p:nvSpPr>
          <p:cNvPr id="150" name="Shape 75"/>
          <p:cNvSpPr/>
          <p:nvPr/>
        </p:nvSpPr>
        <p:spPr>
          <a:xfrm>
            <a:off x="10202545" y="4727575"/>
            <a:ext cx="189865" cy="137160"/>
          </a:xfrm>
          <a:prstGeom prst="rightArrow">
            <a:avLst/>
          </a:prstGeom>
          <a:solidFill>
            <a:srgbClr val="5B6470"/>
          </a:solid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254</Words>
  <Application>WPS 演示</Application>
  <PresentationFormat>On-screen Show (16:9)</PresentationFormat>
  <Paragraphs>85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宋体</vt:lpstr>
      <vt:lpstr>Wingdings</vt:lpstr>
      <vt:lpstr>微软雅黑</vt:lpstr>
      <vt:lpstr>微软雅黑</vt:lpstr>
      <vt:lpstr>Calibri</vt:lpstr>
      <vt:lpstr>MS PGothic</vt:lpstr>
      <vt:lpstr>Arial Unicode MS</vt:lpstr>
      <vt:lpstr>等线</vt:lpstr>
      <vt:lpstr>Office Theme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。。。。</cp:lastModifiedBy>
  <cp:revision>4</cp:revision>
  <dcterms:created xsi:type="dcterms:W3CDTF">2026-06-15T09:04:00Z</dcterms:created>
  <dcterms:modified xsi:type="dcterms:W3CDTF">2026-06-15T09:19:34Z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78EFD6425727462284D9BA40F71A0252_12</vt:lpwstr>
  </property>
  <property fmtid="{D5CDD505-2E9C-101B-9397-08002B2CF9AE}" pid="3" name="KSOProductBuildVer">
    <vt:lpwstr>2052-12.1.0.26895</vt:lpwstr>
  </property>
</Properties>
</file>