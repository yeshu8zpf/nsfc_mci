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72" r:id="rId1"/>
  </p:sldMasterIdLst>
  <p:notesMasterIdLst>
    <p:notesMasterId r:id="rId3"/>
  </p:notesMasterIdLst>
  <p:sldIdLst>
    <p:sldId id="256" r:id="rId2"/>
  </p:sldIdLst>
  <p:sldSz cx="10691813" cy="7920038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E54A1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900" autoAdjust="0"/>
    <p:restoredTop sz="86010" autoAdjust="0"/>
  </p:normalViewPr>
  <p:slideViewPr>
    <p:cSldViewPr snapToGrid="0">
      <p:cViewPr varScale="1">
        <p:scale>
          <a:sx n="60" d="100"/>
          <a:sy n="60" d="100"/>
        </p:scale>
        <p:origin x="1230" y="4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核心技术加示意图</a:t>
            </a:r>
            <a:endParaRPr lang="en-US" altLang="zh-CN" dirty="0"/>
          </a:p>
          <a:p>
            <a:r>
              <a:rPr lang="zh-CN" altLang="en-US" dirty="0"/>
              <a:t>图中海杂波、采集两个框很突兀，直接放到研究内容一的第一个框里，三项研究内容的逻辑关系箭头放在正中间，不要画折线，删掉数据流</a:t>
            </a:r>
            <a:endParaRPr lang="en-US" altLang="zh-CN" dirty="0"/>
          </a:p>
          <a:p>
            <a:r>
              <a:rPr lang="zh-CN" altLang="en-US" dirty="0"/>
              <a:t>创新点里面的关键词可以放在这张图里</a:t>
            </a: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01886" y="1296173"/>
            <a:ext cx="9088041" cy="2757347"/>
          </a:xfrm>
        </p:spPr>
        <p:txBody>
          <a:bodyPr anchor="b"/>
          <a:lstStyle>
            <a:lvl1pPr algn="ctr">
              <a:defRPr sz="6929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36477" y="4159854"/>
            <a:ext cx="8018860" cy="1912175"/>
          </a:xfrm>
        </p:spPr>
        <p:txBody>
          <a:bodyPr/>
          <a:lstStyle>
            <a:lvl1pPr marL="0" indent="0" algn="ctr">
              <a:buNone/>
              <a:defRPr sz="2772"/>
            </a:lvl1pPr>
            <a:lvl2pPr marL="528020" indent="0" algn="ctr">
              <a:buNone/>
              <a:defRPr sz="2310"/>
            </a:lvl2pPr>
            <a:lvl3pPr marL="1056041" indent="0" algn="ctr">
              <a:buNone/>
              <a:defRPr sz="2079"/>
            </a:lvl3pPr>
            <a:lvl4pPr marL="1584061" indent="0" algn="ctr">
              <a:buNone/>
              <a:defRPr sz="1848"/>
            </a:lvl4pPr>
            <a:lvl5pPr marL="2112081" indent="0" algn="ctr">
              <a:buNone/>
              <a:defRPr sz="1848"/>
            </a:lvl5pPr>
            <a:lvl6pPr marL="2640101" indent="0" algn="ctr">
              <a:buNone/>
              <a:defRPr sz="1848"/>
            </a:lvl6pPr>
            <a:lvl7pPr marL="3168122" indent="0" algn="ctr">
              <a:buNone/>
              <a:defRPr sz="1848"/>
            </a:lvl7pPr>
            <a:lvl8pPr marL="3696142" indent="0" algn="ctr">
              <a:buNone/>
              <a:defRPr sz="1848"/>
            </a:lvl8pPr>
            <a:lvl9pPr marL="4224162" indent="0" algn="ctr">
              <a:buNone/>
              <a:defRPr sz="1848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D68A4E-1AD5-4525-8412-8CB756C9DD23}" type="datetimeFigureOut">
              <a:rPr lang="en-US" altLang="zh-CN" smtClean="0"/>
              <a:t>6/18/2026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7D7D57-5647-403E-A6BA-90867ADD46E0}" type="slidenum">
              <a:rPr lang="en-US" altLang="zh-CN" smtClean="0"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682749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D68A4E-1AD5-4525-8412-8CB756C9DD23}" type="datetimeFigureOut">
              <a:rPr lang="en-US" altLang="zh-CN" smtClean="0"/>
              <a:t>6/18/2026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7D7D57-5647-403E-A6BA-90867ADD46E0}" type="slidenum">
              <a:rPr lang="en-US" altLang="zh-CN" smtClean="0"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2512106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9494" y="1974512"/>
            <a:ext cx="9221689" cy="3294515"/>
          </a:xfrm>
        </p:spPr>
        <p:txBody>
          <a:bodyPr anchor="b"/>
          <a:lstStyle>
            <a:lvl1pPr>
              <a:defRPr sz="6929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9494" y="5300194"/>
            <a:ext cx="9221689" cy="1732508"/>
          </a:xfrm>
        </p:spPr>
        <p:txBody>
          <a:bodyPr/>
          <a:lstStyle>
            <a:lvl1pPr marL="0" indent="0">
              <a:buNone/>
              <a:defRPr sz="2772">
                <a:solidFill>
                  <a:schemeClr val="tx1"/>
                </a:solidFill>
              </a:defRPr>
            </a:lvl1pPr>
            <a:lvl2pPr marL="528020" indent="0">
              <a:buNone/>
              <a:defRPr sz="2310">
                <a:solidFill>
                  <a:schemeClr val="tx1">
                    <a:tint val="75000"/>
                  </a:schemeClr>
                </a:solidFill>
              </a:defRPr>
            </a:lvl2pPr>
            <a:lvl3pPr marL="1056041" indent="0">
              <a:buNone/>
              <a:defRPr sz="2079">
                <a:solidFill>
                  <a:schemeClr val="tx1">
                    <a:tint val="75000"/>
                  </a:schemeClr>
                </a:solidFill>
              </a:defRPr>
            </a:lvl3pPr>
            <a:lvl4pPr marL="1584061" indent="0">
              <a:buNone/>
              <a:defRPr sz="1848">
                <a:solidFill>
                  <a:schemeClr val="tx1">
                    <a:tint val="75000"/>
                  </a:schemeClr>
                </a:solidFill>
              </a:defRPr>
            </a:lvl4pPr>
            <a:lvl5pPr marL="2112081" indent="0">
              <a:buNone/>
              <a:defRPr sz="1848">
                <a:solidFill>
                  <a:schemeClr val="tx1">
                    <a:tint val="75000"/>
                  </a:schemeClr>
                </a:solidFill>
              </a:defRPr>
            </a:lvl5pPr>
            <a:lvl6pPr marL="2640101" indent="0">
              <a:buNone/>
              <a:defRPr sz="1848">
                <a:solidFill>
                  <a:schemeClr val="tx1">
                    <a:tint val="75000"/>
                  </a:schemeClr>
                </a:solidFill>
              </a:defRPr>
            </a:lvl6pPr>
            <a:lvl7pPr marL="3168122" indent="0">
              <a:buNone/>
              <a:defRPr sz="1848">
                <a:solidFill>
                  <a:schemeClr val="tx1">
                    <a:tint val="75000"/>
                  </a:schemeClr>
                </a:solidFill>
              </a:defRPr>
            </a:lvl7pPr>
            <a:lvl8pPr marL="3696142" indent="0">
              <a:buNone/>
              <a:defRPr sz="1848">
                <a:solidFill>
                  <a:schemeClr val="tx1">
                    <a:tint val="75000"/>
                  </a:schemeClr>
                </a:solidFill>
              </a:defRPr>
            </a:lvl8pPr>
            <a:lvl9pPr marL="4224162" indent="0">
              <a:buNone/>
              <a:defRPr sz="1848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D68A4E-1AD5-4525-8412-8CB756C9DD23}" type="datetimeFigureOut">
              <a:rPr lang="en-US" altLang="zh-CN" smtClean="0"/>
              <a:t>6/18/2026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7D7D57-5647-403E-A6BA-90867ADD46E0}" type="slidenum">
              <a:rPr lang="en-US" altLang="zh-CN" smtClean="0"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6216462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35062" y="2108344"/>
            <a:ext cx="4544021" cy="5025191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412730" y="2108344"/>
            <a:ext cx="4544021" cy="5025191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D68A4E-1AD5-4525-8412-8CB756C9DD23}" type="datetimeFigureOut">
              <a:rPr lang="en-US" altLang="zh-CN" smtClean="0"/>
              <a:t>6/18/2026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7D7D57-5647-403E-A6BA-90867ADD46E0}" type="slidenum">
              <a:rPr lang="en-US" altLang="zh-CN" smtClean="0"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2732948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6455" y="421671"/>
            <a:ext cx="9221689" cy="1530841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36456" y="1941510"/>
            <a:ext cx="4523137" cy="951504"/>
          </a:xfrm>
        </p:spPr>
        <p:txBody>
          <a:bodyPr anchor="b"/>
          <a:lstStyle>
            <a:lvl1pPr marL="0" indent="0">
              <a:buNone/>
              <a:defRPr sz="2772" b="1"/>
            </a:lvl1pPr>
            <a:lvl2pPr marL="528020" indent="0">
              <a:buNone/>
              <a:defRPr sz="2310" b="1"/>
            </a:lvl2pPr>
            <a:lvl3pPr marL="1056041" indent="0">
              <a:buNone/>
              <a:defRPr sz="2079" b="1"/>
            </a:lvl3pPr>
            <a:lvl4pPr marL="1584061" indent="0">
              <a:buNone/>
              <a:defRPr sz="1848" b="1"/>
            </a:lvl4pPr>
            <a:lvl5pPr marL="2112081" indent="0">
              <a:buNone/>
              <a:defRPr sz="1848" b="1"/>
            </a:lvl5pPr>
            <a:lvl6pPr marL="2640101" indent="0">
              <a:buNone/>
              <a:defRPr sz="1848" b="1"/>
            </a:lvl6pPr>
            <a:lvl7pPr marL="3168122" indent="0">
              <a:buNone/>
              <a:defRPr sz="1848" b="1"/>
            </a:lvl7pPr>
            <a:lvl8pPr marL="3696142" indent="0">
              <a:buNone/>
              <a:defRPr sz="1848" b="1"/>
            </a:lvl8pPr>
            <a:lvl9pPr marL="4224162" indent="0">
              <a:buNone/>
              <a:defRPr sz="1848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36456" y="2893014"/>
            <a:ext cx="4523137" cy="42551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412731" y="1941510"/>
            <a:ext cx="4545413" cy="951504"/>
          </a:xfrm>
        </p:spPr>
        <p:txBody>
          <a:bodyPr anchor="b"/>
          <a:lstStyle>
            <a:lvl1pPr marL="0" indent="0">
              <a:buNone/>
              <a:defRPr sz="2772" b="1"/>
            </a:lvl1pPr>
            <a:lvl2pPr marL="528020" indent="0">
              <a:buNone/>
              <a:defRPr sz="2310" b="1"/>
            </a:lvl2pPr>
            <a:lvl3pPr marL="1056041" indent="0">
              <a:buNone/>
              <a:defRPr sz="2079" b="1"/>
            </a:lvl3pPr>
            <a:lvl4pPr marL="1584061" indent="0">
              <a:buNone/>
              <a:defRPr sz="1848" b="1"/>
            </a:lvl4pPr>
            <a:lvl5pPr marL="2112081" indent="0">
              <a:buNone/>
              <a:defRPr sz="1848" b="1"/>
            </a:lvl5pPr>
            <a:lvl6pPr marL="2640101" indent="0">
              <a:buNone/>
              <a:defRPr sz="1848" b="1"/>
            </a:lvl6pPr>
            <a:lvl7pPr marL="3168122" indent="0">
              <a:buNone/>
              <a:defRPr sz="1848" b="1"/>
            </a:lvl7pPr>
            <a:lvl8pPr marL="3696142" indent="0">
              <a:buNone/>
              <a:defRPr sz="1848" b="1"/>
            </a:lvl8pPr>
            <a:lvl9pPr marL="4224162" indent="0">
              <a:buNone/>
              <a:defRPr sz="1848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412731" y="2893014"/>
            <a:ext cx="4545413" cy="42551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D68A4E-1AD5-4525-8412-8CB756C9DD23}" type="datetimeFigureOut">
              <a:rPr lang="en-US" altLang="zh-CN" smtClean="0"/>
              <a:t>6/18/2026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7D7D57-5647-403E-A6BA-90867ADD46E0}" type="slidenum">
              <a:rPr lang="en-US" altLang="zh-CN" smtClean="0"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7536139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D68A4E-1AD5-4525-8412-8CB756C9DD23}" type="datetimeFigureOut">
              <a:rPr lang="en-US" altLang="zh-CN" smtClean="0"/>
              <a:t>6/18/2026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7D7D57-5647-403E-A6BA-90867ADD46E0}" type="slidenum">
              <a:rPr lang="en-US" altLang="zh-CN" smtClean="0"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7678973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D68A4E-1AD5-4525-8412-8CB756C9DD23}" type="datetimeFigureOut">
              <a:rPr lang="en-US" altLang="zh-CN" smtClean="0"/>
              <a:t>6/18/2026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7D7D57-5647-403E-A6BA-90867ADD46E0}" type="slidenum">
              <a:rPr lang="en-US" altLang="zh-CN" smtClean="0"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5587282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6455" y="528002"/>
            <a:ext cx="3448388" cy="1848009"/>
          </a:xfrm>
        </p:spPr>
        <p:txBody>
          <a:bodyPr anchor="b"/>
          <a:lstStyle>
            <a:lvl1pPr>
              <a:defRPr sz="3696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45413" y="1140341"/>
            <a:ext cx="5412730" cy="5628360"/>
          </a:xfrm>
        </p:spPr>
        <p:txBody>
          <a:bodyPr/>
          <a:lstStyle>
            <a:lvl1pPr>
              <a:defRPr sz="3696"/>
            </a:lvl1pPr>
            <a:lvl2pPr>
              <a:defRPr sz="3234"/>
            </a:lvl2pPr>
            <a:lvl3pPr>
              <a:defRPr sz="2772"/>
            </a:lvl3pPr>
            <a:lvl4pPr>
              <a:defRPr sz="2310"/>
            </a:lvl4pPr>
            <a:lvl5pPr>
              <a:defRPr sz="2310"/>
            </a:lvl5pPr>
            <a:lvl6pPr>
              <a:defRPr sz="2310"/>
            </a:lvl6pPr>
            <a:lvl7pPr>
              <a:defRPr sz="2310"/>
            </a:lvl7pPr>
            <a:lvl8pPr>
              <a:defRPr sz="2310"/>
            </a:lvl8pPr>
            <a:lvl9pPr>
              <a:defRPr sz="231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36455" y="2376011"/>
            <a:ext cx="3448388" cy="4401855"/>
          </a:xfrm>
        </p:spPr>
        <p:txBody>
          <a:bodyPr/>
          <a:lstStyle>
            <a:lvl1pPr marL="0" indent="0">
              <a:buNone/>
              <a:defRPr sz="1848"/>
            </a:lvl1pPr>
            <a:lvl2pPr marL="528020" indent="0">
              <a:buNone/>
              <a:defRPr sz="1617"/>
            </a:lvl2pPr>
            <a:lvl3pPr marL="1056041" indent="0">
              <a:buNone/>
              <a:defRPr sz="1386"/>
            </a:lvl3pPr>
            <a:lvl4pPr marL="1584061" indent="0">
              <a:buNone/>
              <a:defRPr sz="1155"/>
            </a:lvl4pPr>
            <a:lvl5pPr marL="2112081" indent="0">
              <a:buNone/>
              <a:defRPr sz="1155"/>
            </a:lvl5pPr>
            <a:lvl6pPr marL="2640101" indent="0">
              <a:buNone/>
              <a:defRPr sz="1155"/>
            </a:lvl6pPr>
            <a:lvl7pPr marL="3168122" indent="0">
              <a:buNone/>
              <a:defRPr sz="1155"/>
            </a:lvl7pPr>
            <a:lvl8pPr marL="3696142" indent="0">
              <a:buNone/>
              <a:defRPr sz="1155"/>
            </a:lvl8pPr>
            <a:lvl9pPr marL="4224162" indent="0">
              <a:buNone/>
              <a:defRPr sz="1155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D68A4E-1AD5-4525-8412-8CB756C9DD23}" type="datetimeFigureOut">
              <a:rPr lang="en-US" altLang="zh-CN" smtClean="0"/>
              <a:t>6/18/2026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7D7D57-5647-403E-A6BA-90867ADD46E0}" type="slidenum">
              <a:rPr lang="en-US" altLang="zh-CN" smtClean="0"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4859753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6455" y="528002"/>
            <a:ext cx="3448388" cy="1848009"/>
          </a:xfrm>
        </p:spPr>
        <p:txBody>
          <a:bodyPr anchor="b"/>
          <a:lstStyle>
            <a:lvl1pPr>
              <a:defRPr sz="3696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545413" y="1140341"/>
            <a:ext cx="5412730" cy="5628360"/>
          </a:xfrm>
        </p:spPr>
        <p:txBody>
          <a:bodyPr anchor="t"/>
          <a:lstStyle>
            <a:lvl1pPr marL="0" indent="0">
              <a:buNone/>
              <a:defRPr sz="3696"/>
            </a:lvl1pPr>
            <a:lvl2pPr marL="528020" indent="0">
              <a:buNone/>
              <a:defRPr sz="3234"/>
            </a:lvl2pPr>
            <a:lvl3pPr marL="1056041" indent="0">
              <a:buNone/>
              <a:defRPr sz="2772"/>
            </a:lvl3pPr>
            <a:lvl4pPr marL="1584061" indent="0">
              <a:buNone/>
              <a:defRPr sz="2310"/>
            </a:lvl4pPr>
            <a:lvl5pPr marL="2112081" indent="0">
              <a:buNone/>
              <a:defRPr sz="2310"/>
            </a:lvl5pPr>
            <a:lvl6pPr marL="2640101" indent="0">
              <a:buNone/>
              <a:defRPr sz="2310"/>
            </a:lvl6pPr>
            <a:lvl7pPr marL="3168122" indent="0">
              <a:buNone/>
              <a:defRPr sz="2310"/>
            </a:lvl7pPr>
            <a:lvl8pPr marL="3696142" indent="0">
              <a:buNone/>
              <a:defRPr sz="2310"/>
            </a:lvl8pPr>
            <a:lvl9pPr marL="4224162" indent="0">
              <a:buNone/>
              <a:defRPr sz="231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36455" y="2376011"/>
            <a:ext cx="3448388" cy="4401855"/>
          </a:xfrm>
        </p:spPr>
        <p:txBody>
          <a:bodyPr/>
          <a:lstStyle>
            <a:lvl1pPr marL="0" indent="0">
              <a:buNone/>
              <a:defRPr sz="1848"/>
            </a:lvl1pPr>
            <a:lvl2pPr marL="528020" indent="0">
              <a:buNone/>
              <a:defRPr sz="1617"/>
            </a:lvl2pPr>
            <a:lvl3pPr marL="1056041" indent="0">
              <a:buNone/>
              <a:defRPr sz="1386"/>
            </a:lvl3pPr>
            <a:lvl4pPr marL="1584061" indent="0">
              <a:buNone/>
              <a:defRPr sz="1155"/>
            </a:lvl4pPr>
            <a:lvl5pPr marL="2112081" indent="0">
              <a:buNone/>
              <a:defRPr sz="1155"/>
            </a:lvl5pPr>
            <a:lvl6pPr marL="2640101" indent="0">
              <a:buNone/>
              <a:defRPr sz="1155"/>
            </a:lvl6pPr>
            <a:lvl7pPr marL="3168122" indent="0">
              <a:buNone/>
              <a:defRPr sz="1155"/>
            </a:lvl7pPr>
            <a:lvl8pPr marL="3696142" indent="0">
              <a:buNone/>
              <a:defRPr sz="1155"/>
            </a:lvl8pPr>
            <a:lvl9pPr marL="4224162" indent="0">
              <a:buNone/>
              <a:defRPr sz="1155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D68A4E-1AD5-4525-8412-8CB756C9DD23}" type="datetimeFigureOut">
              <a:rPr lang="en-US" altLang="zh-CN" smtClean="0"/>
              <a:t>6/18/2026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7D7D57-5647-403E-A6BA-90867ADD46E0}" type="slidenum">
              <a:rPr lang="en-US" altLang="zh-CN" smtClean="0"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1138540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D68A4E-1AD5-4525-8412-8CB756C9DD23}" type="datetimeFigureOut">
              <a:rPr lang="en-US" altLang="zh-CN" smtClean="0"/>
              <a:t>6/18/2026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7D7D57-5647-403E-A6BA-90867ADD46E0}" type="slidenum">
              <a:rPr lang="en-US" altLang="zh-CN" smtClean="0"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9564194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651329" y="421669"/>
            <a:ext cx="2305422" cy="6711866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35063" y="421669"/>
            <a:ext cx="6782619" cy="6711866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D68A4E-1AD5-4525-8412-8CB756C9DD23}" type="datetimeFigureOut">
              <a:rPr lang="en-US" altLang="zh-CN" smtClean="0"/>
              <a:t>6/18/2026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7D7D57-5647-403E-A6BA-90867ADD46E0}" type="slidenum">
              <a:rPr lang="en-US" altLang="zh-CN" smtClean="0"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5089034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35062" y="421671"/>
            <a:ext cx="9221689" cy="153084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35062" y="2108344"/>
            <a:ext cx="9221689" cy="502519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35062" y="7340703"/>
            <a:ext cx="2405658" cy="42166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8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AD68A4E-1AD5-4525-8412-8CB756C9DD23}" type="datetimeFigureOut">
              <a:rPr lang="en-US" altLang="zh-CN" smtClean="0"/>
              <a:t>6/18/2026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541663" y="7340703"/>
            <a:ext cx="3608487" cy="42166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38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551093" y="7340703"/>
            <a:ext cx="2405658" cy="42166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38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07D7D57-5647-403E-A6BA-90867ADD46E0}" type="slidenum">
              <a:rPr lang="en-US" altLang="zh-CN" smtClean="0"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2007425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1056041" rtl="0" eaLnBrk="1" latinLnBrk="0" hangingPunct="1">
        <a:lnSpc>
          <a:spcPct val="90000"/>
        </a:lnSpc>
        <a:spcBef>
          <a:spcPct val="0"/>
        </a:spcBef>
        <a:buNone/>
        <a:defRPr sz="5082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64010" indent="-264010" algn="l" defTabSz="1056041" rtl="0" eaLnBrk="1" latinLnBrk="0" hangingPunct="1">
        <a:lnSpc>
          <a:spcPct val="90000"/>
        </a:lnSpc>
        <a:spcBef>
          <a:spcPts val="1155"/>
        </a:spcBef>
        <a:buFont typeface="Arial" panose="020B0604020202020204" pitchFamily="34" charset="0"/>
        <a:buChar char="•"/>
        <a:defRPr sz="3234" kern="1200">
          <a:solidFill>
            <a:schemeClr val="tx1"/>
          </a:solidFill>
          <a:latin typeface="+mn-lt"/>
          <a:ea typeface="+mn-ea"/>
          <a:cs typeface="+mn-cs"/>
        </a:defRPr>
      </a:lvl1pPr>
      <a:lvl2pPr marL="792030" indent="-264010" algn="l" defTabSz="1056041" rtl="0" eaLnBrk="1" latinLnBrk="0" hangingPunct="1">
        <a:lnSpc>
          <a:spcPct val="90000"/>
        </a:lnSpc>
        <a:spcBef>
          <a:spcPts val="577"/>
        </a:spcBef>
        <a:buFont typeface="Arial" panose="020B0604020202020204" pitchFamily="34" charset="0"/>
        <a:buChar char="•"/>
        <a:defRPr sz="2772" kern="1200">
          <a:solidFill>
            <a:schemeClr val="tx1"/>
          </a:solidFill>
          <a:latin typeface="+mn-lt"/>
          <a:ea typeface="+mn-ea"/>
          <a:cs typeface="+mn-cs"/>
        </a:defRPr>
      </a:lvl2pPr>
      <a:lvl3pPr marL="1320051" indent="-264010" algn="l" defTabSz="1056041" rtl="0" eaLnBrk="1" latinLnBrk="0" hangingPunct="1">
        <a:lnSpc>
          <a:spcPct val="90000"/>
        </a:lnSpc>
        <a:spcBef>
          <a:spcPts val="577"/>
        </a:spcBef>
        <a:buFont typeface="Arial" panose="020B0604020202020204" pitchFamily="34" charset="0"/>
        <a:buChar char="•"/>
        <a:defRPr sz="2310" kern="1200">
          <a:solidFill>
            <a:schemeClr val="tx1"/>
          </a:solidFill>
          <a:latin typeface="+mn-lt"/>
          <a:ea typeface="+mn-ea"/>
          <a:cs typeface="+mn-cs"/>
        </a:defRPr>
      </a:lvl3pPr>
      <a:lvl4pPr marL="1848071" indent="-264010" algn="l" defTabSz="1056041" rtl="0" eaLnBrk="1" latinLnBrk="0" hangingPunct="1">
        <a:lnSpc>
          <a:spcPct val="90000"/>
        </a:lnSpc>
        <a:spcBef>
          <a:spcPts val="577"/>
        </a:spcBef>
        <a:buFont typeface="Arial" panose="020B0604020202020204" pitchFamily="34" charset="0"/>
        <a:buChar char="•"/>
        <a:defRPr sz="2079" kern="1200">
          <a:solidFill>
            <a:schemeClr val="tx1"/>
          </a:solidFill>
          <a:latin typeface="+mn-lt"/>
          <a:ea typeface="+mn-ea"/>
          <a:cs typeface="+mn-cs"/>
        </a:defRPr>
      </a:lvl4pPr>
      <a:lvl5pPr marL="2376091" indent="-264010" algn="l" defTabSz="1056041" rtl="0" eaLnBrk="1" latinLnBrk="0" hangingPunct="1">
        <a:lnSpc>
          <a:spcPct val="90000"/>
        </a:lnSpc>
        <a:spcBef>
          <a:spcPts val="577"/>
        </a:spcBef>
        <a:buFont typeface="Arial" panose="020B0604020202020204" pitchFamily="34" charset="0"/>
        <a:buChar char="•"/>
        <a:defRPr sz="2079" kern="1200">
          <a:solidFill>
            <a:schemeClr val="tx1"/>
          </a:solidFill>
          <a:latin typeface="+mn-lt"/>
          <a:ea typeface="+mn-ea"/>
          <a:cs typeface="+mn-cs"/>
        </a:defRPr>
      </a:lvl5pPr>
      <a:lvl6pPr marL="2904112" indent="-264010" algn="l" defTabSz="1056041" rtl="0" eaLnBrk="1" latinLnBrk="0" hangingPunct="1">
        <a:lnSpc>
          <a:spcPct val="90000"/>
        </a:lnSpc>
        <a:spcBef>
          <a:spcPts val="577"/>
        </a:spcBef>
        <a:buFont typeface="Arial" panose="020B0604020202020204" pitchFamily="34" charset="0"/>
        <a:buChar char="•"/>
        <a:defRPr sz="2079" kern="1200">
          <a:solidFill>
            <a:schemeClr val="tx1"/>
          </a:solidFill>
          <a:latin typeface="+mn-lt"/>
          <a:ea typeface="+mn-ea"/>
          <a:cs typeface="+mn-cs"/>
        </a:defRPr>
      </a:lvl6pPr>
      <a:lvl7pPr marL="3432132" indent="-264010" algn="l" defTabSz="1056041" rtl="0" eaLnBrk="1" latinLnBrk="0" hangingPunct="1">
        <a:lnSpc>
          <a:spcPct val="90000"/>
        </a:lnSpc>
        <a:spcBef>
          <a:spcPts val="577"/>
        </a:spcBef>
        <a:buFont typeface="Arial" panose="020B0604020202020204" pitchFamily="34" charset="0"/>
        <a:buChar char="•"/>
        <a:defRPr sz="2079" kern="1200">
          <a:solidFill>
            <a:schemeClr val="tx1"/>
          </a:solidFill>
          <a:latin typeface="+mn-lt"/>
          <a:ea typeface="+mn-ea"/>
          <a:cs typeface="+mn-cs"/>
        </a:defRPr>
      </a:lvl7pPr>
      <a:lvl8pPr marL="3960152" indent="-264010" algn="l" defTabSz="1056041" rtl="0" eaLnBrk="1" latinLnBrk="0" hangingPunct="1">
        <a:lnSpc>
          <a:spcPct val="90000"/>
        </a:lnSpc>
        <a:spcBef>
          <a:spcPts val="577"/>
        </a:spcBef>
        <a:buFont typeface="Arial" panose="020B0604020202020204" pitchFamily="34" charset="0"/>
        <a:buChar char="•"/>
        <a:defRPr sz="2079" kern="1200">
          <a:solidFill>
            <a:schemeClr val="tx1"/>
          </a:solidFill>
          <a:latin typeface="+mn-lt"/>
          <a:ea typeface="+mn-ea"/>
          <a:cs typeface="+mn-cs"/>
        </a:defRPr>
      </a:lvl8pPr>
      <a:lvl9pPr marL="4488172" indent="-264010" algn="l" defTabSz="1056041" rtl="0" eaLnBrk="1" latinLnBrk="0" hangingPunct="1">
        <a:lnSpc>
          <a:spcPct val="90000"/>
        </a:lnSpc>
        <a:spcBef>
          <a:spcPts val="577"/>
        </a:spcBef>
        <a:buFont typeface="Arial" panose="020B0604020202020204" pitchFamily="34" charset="0"/>
        <a:buChar char="•"/>
        <a:defRPr sz="207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56041" rtl="0" eaLnBrk="1" latinLnBrk="0" hangingPunct="1">
        <a:defRPr sz="2079" kern="1200">
          <a:solidFill>
            <a:schemeClr val="tx1"/>
          </a:solidFill>
          <a:latin typeface="+mn-lt"/>
          <a:ea typeface="+mn-ea"/>
          <a:cs typeface="+mn-cs"/>
        </a:defRPr>
      </a:lvl1pPr>
      <a:lvl2pPr marL="528020" algn="l" defTabSz="1056041" rtl="0" eaLnBrk="1" latinLnBrk="0" hangingPunct="1">
        <a:defRPr sz="2079" kern="1200">
          <a:solidFill>
            <a:schemeClr val="tx1"/>
          </a:solidFill>
          <a:latin typeface="+mn-lt"/>
          <a:ea typeface="+mn-ea"/>
          <a:cs typeface="+mn-cs"/>
        </a:defRPr>
      </a:lvl2pPr>
      <a:lvl3pPr marL="1056041" algn="l" defTabSz="1056041" rtl="0" eaLnBrk="1" latinLnBrk="0" hangingPunct="1">
        <a:defRPr sz="2079" kern="1200">
          <a:solidFill>
            <a:schemeClr val="tx1"/>
          </a:solidFill>
          <a:latin typeface="+mn-lt"/>
          <a:ea typeface="+mn-ea"/>
          <a:cs typeface="+mn-cs"/>
        </a:defRPr>
      </a:lvl3pPr>
      <a:lvl4pPr marL="1584061" algn="l" defTabSz="1056041" rtl="0" eaLnBrk="1" latinLnBrk="0" hangingPunct="1">
        <a:defRPr sz="2079" kern="1200">
          <a:solidFill>
            <a:schemeClr val="tx1"/>
          </a:solidFill>
          <a:latin typeface="+mn-lt"/>
          <a:ea typeface="+mn-ea"/>
          <a:cs typeface="+mn-cs"/>
        </a:defRPr>
      </a:lvl4pPr>
      <a:lvl5pPr marL="2112081" algn="l" defTabSz="1056041" rtl="0" eaLnBrk="1" latinLnBrk="0" hangingPunct="1">
        <a:defRPr sz="2079" kern="1200">
          <a:solidFill>
            <a:schemeClr val="tx1"/>
          </a:solidFill>
          <a:latin typeface="+mn-lt"/>
          <a:ea typeface="+mn-ea"/>
          <a:cs typeface="+mn-cs"/>
        </a:defRPr>
      </a:lvl5pPr>
      <a:lvl6pPr marL="2640101" algn="l" defTabSz="1056041" rtl="0" eaLnBrk="1" latinLnBrk="0" hangingPunct="1">
        <a:defRPr sz="2079" kern="1200">
          <a:solidFill>
            <a:schemeClr val="tx1"/>
          </a:solidFill>
          <a:latin typeface="+mn-lt"/>
          <a:ea typeface="+mn-ea"/>
          <a:cs typeface="+mn-cs"/>
        </a:defRPr>
      </a:lvl6pPr>
      <a:lvl7pPr marL="3168122" algn="l" defTabSz="1056041" rtl="0" eaLnBrk="1" latinLnBrk="0" hangingPunct="1">
        <a:defRPr sz="2079" kern="1200">
          <a:solidFill>
            <a:schemeClr val="tx1"/>
          </a:solidFill>
          <a:latin typeface="+mn-lt"/>
          <a:ea typeface="+mn-ea"/>
          <a:cs typeface="+mn-cs"/>
        </a:defRPr>
      </a:lvl7pPr>
      <a:lvl8pPr marL="3696142" algn="l" defTabSz="1056041" rtl="0" eaLnBrk="1" latinLnBrk="0" hangingPunct="1">
        <a:defRPr sz="2079" kern="1200">
          <a:solidFill>
            <a:schemeClr val="tx1"/>
          </a:solidFill>
          <a:latin typeface="+mn-lt"/>
          <a:ea typeface="+mn-ea"/>
          <a:cs typeface="+mn-cs"/>
        </a:defRPr>
      </a:lvl8pPr>
      <a:lvl9pPr marL="4224162" algn="l" defTabSz="1056041" rtl="0" eaLnBrk="1" latinLnBrk="0" hangingPunct="1">
        <a:defRPr sz="207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圆角矩形 80"/>
          <p:cNvSpPr>
            <a:spLocks/>
          </p:cNvSpPr>
          <p:nvPr/>
        </p:nvSpPr>
        <p:spPr>
          <a:xfrm>
            <a:off x="342268" y="69227"/>
            <a:ext cx="9996169" cy="7753644"/>
          </a:xfrm>
          <a:prstGeom prst="roundRect">
            <a:avLst>
              <a:gd name="adj" fmla="val 3556"/>
            </a:avLst>
          </a:prstGeom>
          <a:noFill/>
          <a:ln w="25400" cmpd="sng">
            <a:solidFill>
              <a:schemeClr val="accent1">
                <a:shade val="50000"/>
              </a:schemeClr>
            </a:solidFill>
            <a:prstDash val="dash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" name="矩形: 圆角 3"/>
          <p:cNvSpPr>
            <a:spLocks noGrp="1"/>
          </p:cNvSpPr>
          <p:nvPr/>
        </p:nvSpPr>
        <p:spPr>
          <a:xfrm>
            <a:off x="1915480" y="97167"/>
            <a:ext cx="6849745" cy="477520"/>
          </a:xfrm>
          <a:prstGeom prst="roundRect">
            <a:avLst>
              <a:gd name="adj" fmla="val 50000"/>
            </a:avLst>
          </a:prstGeom>
          <a:solidFill>
            <a:srgbClr val="2E54A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2" name="clean-title"/>
          <p:cNvSpPr>
            <a:spLocks noGrp="1"/>
          </p:cNvSpPr>
          <p:nvPr/>
        </p:nvSpPr>
        <p:spPr>
          <a:xfrm>
            <a:off x="2951372" y="202576"/>
            <a:ext cx="4789068" cy="33855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spAutoFit/>
          </a:bodyPr>
          <a:lstStyle/>
          <a:p>
            <a:pPr algn="ctr">
              <a:defRPr sz="139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altLang="en-US" sz="16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海杂波场景电磁频谱数据智能处理</a:t>
            </a:r>
            <a:endParaRPr sz="1600" b="1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7532BA07-95AC-05F5-D6D3-127CFEB6A054}"/>
              </a:ext>
            </a:extLst>
          </p:cNvPr>
          <p:cNvGrpSpPr/>
          <p:nvPr/>
        </p:nvGrpSpPr>
        <p:grpSpPr>
          <a:xfrm>
            <a:off x="360138" y="1026054"/>
            <a:ext cx="7514494" cy="1826228"/>
            <a:chOff x="587828" y="999034"/>
            <a:chExt cx="7143117" cy="1817687"/>
          </a:xfrm>
        </p:grpSpPr>
        <p:sp>
          <p:nvSpPr>
            <p:cNvPr id="3" name="矩形: 圆角 2">
              <a:extLst>
                <a:ext uri="{FF2B5EF4-FFF2-40B4-BE49-F238E27FC236}">
                  <a16:creationId xmlns:a16="http://schemas.microsoft.com/office/drawing/2014/main" id="{F8AF08BB-6D8E-01CD-6FBA-179FBB199F07}"/>
                </a:ext>
              </a:extLst>
            </p:cNvPr>
            <p:cNvSpPr/>
            <p:nvPr/>
          </p:nvSpPr>
          <p:spPr>
            <a:xfrm>
              <a:off x="587828" y="999034"/>
              <a:ext cx="7143117" cy="1817687"/>
            </a:xfrm>
            <a:prstGeom prst="roundRect">
              <a:avLst>
                <a:gd name="adj" fmla="val 7070"/>
              </a:avLst>
            </a:prstGeom>
            <a:solidFill>
              <a:srgbClr val="FADBDF"/>
            </a:solidFill>
            <a:ln w="25400"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sz="2235" dirty="0">
                <a:solidFill>
                  <a:srgbClr val="C00000"/>
                </a:solidFill>
              </a:endParaRPr>
            </a:p>
          </p:txBody>
        </p:sp>
        <p:grpSp>
          <p:nvGrpSpPr>
            <p:cNvPr id="476" name="组合 475">
              <a:extLst>
                <a:ext uri="{FF2B5EF4-FFF2-40B4-BE49-F238E27FC236}">
                  <a16:creationId xmlns:a16="http://schemas.microsoft.com/office/drawing/2014/main" id="{2DE27678-9B99-B4A1-626E-2AACDC40C477}"/>
                </a:ext>
              </a:extLst>
            </p:cNvPr>
            <p:cNvGrpSpPr/>
            <p:nvPr/>
          </p:nvGrpSpPr>
          <p:grpSpPr>
            <a:xfrm>
              <a:off x="634620" y="1168420"/>
              <a:ext cx="2454590" cy="1478915"/>
              <a:chOff x="459642" y="1168420"/>
              <a:chExt cx="2957327" cy="1478915"/>
            </a:xfrm>
          </p:grpSpPr>
          <p:sp>
            <p:nvSpPr>
              <p:cNvPr id="5" name="矩形: 圆角 1150">
                <a:extLst>
                  <a:ext uri="{FF2B5EF4-FFF2-40B4-BE49-F238E27FC236}">
                    <a16:creationId xmlns:a16="http://schemas.microsoft.com/office/drawing/2014/main" id="{F7C5C5AA-0D1F-13E7-3C01-D273500E161B}"/>
                  </a:ext>
                </a:extLst>
              </p:cNvPr>
              <p:cNvSpPr/>
              <p:nvPr/>
            </p:nvSpPr>
            <p:spPr>
              <a:xfrm>
                <a:off x="775635" y="1168420"/>
                <a:ext cx="2256436" cy="1478915"/>
              </a:xfrm>
              <a:prstGeom prst="roundRect">
                <a:avLst>
                  <a:gd name="adj" fmla="val 4026"/>
                </a:avLst>
              </a:prstGeom>
              <a:solidFill>
                <a:schemeClr val="bg1"/>
              </a:solidFill>
              <a:ln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>
                  <a:defRPr/>
                </a:pPr>
                <a:endParaRPr lang="zh-CN" altLang="en-US" sz="2235" dirty="0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1C77C660-CCCC-BB43-CE62-7B532DD14256}"/>
                  </a:ext>
                </a:extLst>
              </p:cNvPr>
              <p:cNvSpPr txBox="1"/>
              <p:nvPr/>
            </p:nvSpPr>
            <p:spPr>
              <a:xfrm>
                <a:off x="459642" y="1295436"/>
                <a:ext cx="2957327" cy="27570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>
                  <a:buClrTx/>
                  <a:buSzTx/>
                  <a:buFontTx/>
                </a:pPr>
                <a:r>
                  <a:rPr lang="en-US" altLang="zh-CN" sz="1200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1.1</a:t>
                </a:r>
                <a:r>
                  <a:rPr lang="zh-CN" altLang="en-US" sz="1200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信号传播规律建模</a:t>
                </a:r>
              </a:p>
            </p:txBody>
          </p:sp>
        </p:grpSp>
        <p:grpSp>
          <p:nvGrpSpPr>
            <p:cNvPr id="477" name="组合 476">
              <a:extLst>
                <a:ext uri="{FF2B5EF4-FFF2-40B4-BE49-F238E27FC236}">
                  <a16:creationId xmlns:a16="http://schemas.microsoft.com/office/drawing/2014/main" id="{6BC1471C-097E-406C-656F-8E7698299734}"/>
                </a:ext>
              </a:extLst>
            </p:cNvPr>
            <p:cNvGrpSpPr/>
            <p:nvPr/>
          </p:nvGrpSpPr>
          <p:grpSpPr>
            <a:xfrm>
              <a:off x="3139796" y="1168420"/>
              <a:ext cx="2021891" cy="1478915"/>
              <a:chOff x="3659048" y="1168420"/>
              <a:chExt cx="2484862" cy="1478915"/>
            </a:xfrm>
          </p:grpSpPr>
          <p:sp>
            <p:nvSpPr>
              <p:cNvPr id="11" name="矩形: 圆角 1150">
                <a:extLst>
                  <a:ext uri="{FF2B5EF4-FFF2-40B4-BE49-F238E27FC236}">
                    <a16:creationId xmlns:a16="http://schemas.microsoft.com/office/drawing/2014/main" id="{A257C579-0963-97FD-FFCB-18011124C9A9}"/>
                  </a:ext>
                </a:extLst>
              </p:cNvPr>
              <p:cNvSpPr/>
              <p:nvPr/>
            </p:nvSpPr>
            <p:spPr>
              <a:xfrm>
                <a:off x="3683028" y="1168420"/>
                <a:ext cx="2460882" cy="1478915"/>
              </a:xfrm>
              <a:prstGeom prst="roundRect">
                <a:avLst>
                  <a:gd name="adj" fmla="val 4026"/>
                </a:avLst>
              </a:prstGeom>
              <a:solidFill>
                <a:schemeClr val="bg1"/>
              </a:solidFill>
              <a:ln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>
                  <a:defRPr/>
                </a:pPr>
                <a:endParaRPr lang="zh-CN" altLang="en-US" sz="2235" dirty="0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4" name="文本框 13">
                <a:extLst>
                  <a:ext uri="{FF2B5EF4-FFF2-40B4-BE49-F238E27FC236}">
                    <a16:creationId xmlns:a16="http://schemas.microsoft.com/office/drawing/2014/main" id="{D945A4AA-B0BB-8B37-1D55-EDF7E985A251}"/>
                  </a:ext>
                </a:extLst>
              </p:cNvPr>
              <p:cNvSpPr txBox="1"/>
              <p:nvPr/>
            </p:nvSpPr>
            <p:spPr>
              <a:xfrm>
                <a:off x="3659048" y="1294140"/>
                <a:ext cx="2460882" cy="27570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1200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1.2 </a:t>
                </a:r>
                <a:r>
                  <a:rPr lang="zh-CN" altLang="en-US" sz="1200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频谱特征增强</a:t>
                </a:r>
                <a:endParaRPr lang="zh-CN" altLang="en-US" sz="1200" b="1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478" name="组合 477">
              <a:extLst>
                <a:ext uri="{FF2B5EF4-FFF2-40B4-BE49-F238E27FC236}">
                  <a16:creationId xmlns:a16="http://schemas.microsoft.com/office/drawing/2014/main" id="{32B9D1A8-B89D-BE77-BD94-FD6D97DBB5CE}"/>
                </a:ext>
              </a:extLst>
            </p:cNvPr>
            <p:cNvGrpSpPr/>
            <p:nvPr/>
          </p:nvGrpSpPr>
          <p:grpSpPr>
            <a:xfrm>
              <a:off x="5295205" y="1168420"/>
              <a:ext cx="2236124" cy="1478915"/>
              <a:chOff x="6499048" y="1168420"/>
              <a:chExt cx="2673099" cy="1478915"/>
            </a:xfrm>
          </p:grpSpPr>
          <p:sp>
            <p:nvSpPr>
              <p:cNvPr id="12" name="矩形: 圆角 1150">
                <a:extLst>
                  <a:ext uri="{FF2B5EF4-FFF2-40B4-BE49-F238E27FC236}">
                    <a16:creationId xmlns:a16="http://schemas.microsoft.com/office/drawing/2014/main" id="{B9444E71-DA4C-91CB-EABA-C911C95C2AA9}"/>
                  </a:ext>
                </a:extLst>
              </p:cNvPr>
              <p:cNvSpPr/>
              <p:nvPr/>
            </p:nvSpPr>
            <p:spPr>
              <a:xfrm>
                <a:off x="6834341" y="1168420"/>
                <a:ext cx="2337806" cy="1478915"/>
              </a:xfrm>
              <a:prstGeom prst="roundRect">
                <a:avLst>
                  <a:gd name="adj" fmla="val 4026"/>
                </a:avLst>
              </a:prstGeom>
              <a:solidFill>
                <a:schemeClr val="bg1"/>
              </a:solidFill>
              <a:ln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>
                  <a:defRPr/>
                </a:pPr>
                <a:endParaRPr lang="zh-CN" altLang="en-US" sz="2235" dirty="0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7" name="文本框 16">
                <a:extLst>
                  <a:ext uri="{FF2B5EF4-FFF2-40B4-BE49-F238E27FC236}">
                    <a16:creationId xmlns:a16="http://schemas.microsoft.com/office/drawing/2014/main" id="{A2B4F00D-EA0A-264D-D66A-F3E0728D7F64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499048" y="1335217"/>
                <a:ext cx="2259037" cy="27570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1200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1.3 </a:t>
                </a:r>
                <a:r>
                  <a:rPr lang="zh-CN" altLang="en-US" sz="1200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多维表征提取</a:t>
                </a:r>
                <a:endParaRPr lang="zh-CN" altLang="en-US" sz="1200" b="1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</p:grpSp>
      <p:grpSp>
        <p:nvGrpSpPr>
          <p:cNvPr id="487" name="组合 486">
            <a:extLst>
              <a:ext uri="{FF2B5EF4-FFF2-40B4-BE49-F238E27FC236}">
                <a16:creationId xmlns:a16="http://schemas.microsoft.com/office/drawing/2014/main" id="{A2293891-17C4-7767-6180-BA528B1E788C}"/>
              </a:ext>
            </a:extLst>
          </p:cNvPr>
          <p:cNvGrpSpPr/>
          <p:nvPr/>
        </p:nvGrpSpPr>
        <p:grpSpPr>
          <a:xfrm>
            <a:off x="345752" y="3438694"/>
            <a:ext cx="2296433" cy="1485864"/>
            <a:chOff x="459642" y="1168420"/>
            <a:chExt cx="2630039" cy="1478915"/>
          </a:xfrm>
          <a:solidFill>
            <a:srgbClr val="2E54A1">
              <a:alpha val="20000"/>
            </a:srgbClr>
          </a:solidFill>
        </p:grpSpPr>
        <p:sp>
          <p:nvSpPr>
            <p:cNvPr id="494" name="矩形: 圆角 1150">
              <a:extLst>
                <a:ext uri="{FF2B5EF4-FFF2-40B4-BE49-F238E27FC236}">
                  <a16:creationId xmlns:a16="http://schemas.microsoft.com/office/drawing/2014/main" id="{14A01C43-C4EF-9898-3CBC-2887AAF440C3}"/>
                </a:ext>
              </a:extLst>
            </p:cNvPr>
            <p:cNvSpPr/>
            <p:nvPr/>
          </p:nvSpPr>
          <p:spPr>
            <a:xfrm>
              <a:off x="775635" y="1168420"/>
              <a:ext cx="2314046" cy="1478915"/>
            </a:xfrm>
            <a:prstGeom prst="roundRect">
              <a:avLst>
                <a:gd name="adj" fmla="val 4026"/>
              </a:avLst>
            </a:prstGeom>
            <a:grpFill/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>
                <a:defRPr/>
              </a:pPr>
              <a:endParaRPr lang="zh-CN" altLang="en-US" sz="2235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95" name="文本框 494">
              <a:extLst>
                <a:ext uri="{FF2B5EF4-FFF2-40B4-BE49-F238E27FC236}">
                  <a16:creationId xmlns:a16="http://schemas.microsoft.com/office/drawing/2014/main" id="{1D178B06-98F2-DF8D-15AE-8799531ED8ED}"/>
                </a:ext>
              </a:extLst>
            </p:cNvPr>
            <p:cNvSpPr txBox="1"/>
            <p:nvPr/>
          </p:nvSpPr>
          <p:spPr>
            <a:xfrm>
              <a:off x="459642" y="1295437"/>
              <a:ext cx="2307873" cy="275704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pPr algn="ctr">
                <a:buClrTx/>
                <a:buSzTx/>
                <a:buFontTx/>
              </a:pPr>
              <a:r>
                <a:rPr lang="en-US" altLang="zh-CN" sz="12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2.3 </a:t>
              </a:r>
              <a:r>
                <a:rPr lang="zh-CN" altLang="en-US" sz="12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频谱数据可信管理</a:t>
              </a:r>
            </a:p>
          </p:txBody>
        </p:sp>
      </p:grpSp>
      <p:grpSp>
        <p:nvGrpSpPr>
          <p:cNvPr id="488" name="组合 487">
            <a:extLst>
              <a:ext uri="{FF2B5EF4-FFF2-40B4-BE49-F238E27FC236}">
                <a16:creationId xmlns:a16="http://schemas.microsoft.com/office/drawing/2014/main" id="{E9AFEE4F-29CC-4BF2-AF06-613A19442413}"/>
              </a:ext>
            </a:extLst>
          </p:cNvPr>
          <p:cNvGrpSpPr/>
          <p:nvPr/>
        </p:nvGrpSpPr>
        <p:grpSpPr>
          <a:xfrm>
            <a:off x="2791706" y="3438694"/>
            <a:ext cx="2316479" cy="1485864"/>
            <a:chOff x="3437706" y="1168420"/>
            <a:chExt cx="2706207" cy="1478915"/>
          </a:xfrm>
          <a:solidFill>
            <a:srgbClr val="2E54A1">
              <a:alpha val="20000"/>
            </a:srgbClr>
          </a:solidFill>
        </p:grpSpPr>
        <p:sp>
          <p:nvSpPr>
            <p:cNvPr id="492" name="矩形: 圆角 1150">
              <a:extLst>
                <a:ext uri="{FF2B5EF4-FFF2-40B4-BE49-F238E27FC236}">
                  <a16:creationId xmlns:a16="http://schemas.microsoft.com/office/drawing/2014/main" id="{4399A576-3097-ED6D-AE46-884D43072E2D}"/>
                </a:ext>
              </a:extLst>
            </p:cNvPr>
            <p:cNvSpPr/>
            <p:nvPr/>
          </p:nvSpPr>
          <p:spPr>
            <a:xfrm>
              <a:off x="3774556" y="1168420"/>
              <a:ext cx="2369357" cy="1478915"/>
            </a:xfrm>
            <a:prstGeom prst="roundRect">
              <a:avLst>
                <a:gd name="adj" fmla="val 4026"/>
              </a:avLst>
            </a:prstGeom>
            <a:grpFill/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>
                <a:defRPr/>
              </a:pPr>
              <a:endParaRPr lang="zh-CN" altLang="en-US" sz="2235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93" name="文本框 492">
              <a:extLst>
                <a:ext uri="{FF2B5EF4-FFF2-40B4-BE49-F238E27FC236}">
                  <a16:creationId xmlns:a16="http://schemas.microsoft.com/office/drawing/2014/main" id="{AB81CE10-E95D-EC5E-271D-2BA1AD55346D}"/>
                </a:ext>
              </a:extLst>
            </p:cNvPr>
            <p:cNvSpPr txBox="1"/>
            <p:nvPr/>
          </p:nvSpPr>
          <p:spPr>
            <a:xfrm>
              <a:off x="3437706" y="1294141"/>
              <a:ext cx="2354162" cy="275704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2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2.2 </a:t>
              </a:r>
              <a:r>
                <a:rPr lang="zh-CN" altLang="en-US" sz="12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频谱向量库存储压缩</a:t>
              </a:r>
              <a:endParaRPr lang="zh-CN" altLang="en-US" sz="12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489" name="组合 488">
            <a:extLst>
              <a:ext uri="{FF2B5EF4-FFF2-40B4-BE49-F238E27FC236}">
                <a16:creationId xmlns:a16="http://schemas.microsoft.com/office/drawing/2014/main" id="{6A931F64-A644-302C-C61C-261EC0362328}"/>
              </a:ext>
            </a:extLst>
          </p:cNvPr>
          <p:cNvGrpSpPr/>
          <p:nvPr/>
        </p:nvGrpSpPr>
        <p:grpSpPr>
          <a:xfrm>
            <a:off x="5248644" y="3438694"/>
            <a:ext cx="2352382" cy="1485864"/>
            <a:chOff x="6499048" y="1168420"/>
            <a:chExt cx="2673099" cy="1478915"/>
          </a:xfrm>
          <a:solidFill>
            <a:srgbClr val="2E54A1">
              <a:alpha val="20000"/>
            </a:srgbClr>
          </a:solidFill>
        </p:grpSpPr>
        <p:sp>
          <p:nvSpPr>
            <p:cNvPr id="490" name="矩形: 圆角 1150">
              <a:extLst>
                <a:ext uri="{FF2B5EF4-FFF2-40B4-BE49-F238E27FC236}">
                  <a16:creationId xmlns:a16="http://schemas.microsoft.com/office/drawing/2014/main" id="{90AB47E3-CE21-316A-2959-D78EE522587F}"/>
                </a:ext>
              </a:extLst>
            </p:cNvPr>
            <p:cNvSpPr/>
            <p:nvPr/>
          </p:nvSpPr>
          <p:spPr>
            <a:xfrm>
              <a:off x="6834341" y="1168420"/>
              <a:ext cx="2337806" cy="1478915"/>
            </a:xfrm>
            <a:prstGeom prst="roundRect">
              <a:avLst>
                <a:gd name="adj" fmla="val 4026"/>
              </a:avLst>
            </a:prstGeom>
            <a:grpFill/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>
                <a:defRPr/>
              </a:pPr>
              <a:endParaRPr lang="zh-CN" altLang="en-US" sz="2235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91" name="文本框 490">
              <a:extLst>
                <a:ext uri="{FF2B5EF4-FFF2-40B4-BE49-F238E27FC236}">
                  <a16:creationId xmlns:a16="http://schemas.microsoft.com/office/drawing/2014/main" id="{12B7993B-9A60-AA22-E30E-F030ECADE83D}"/>
                </a:ext>
              </a:extLst>
            </p:cNvPr>
            <p:cNvSpPr txBox="1">
              <a:spLocks/>
            </p:cNvSpPr>
            <p:nvPr/>
          </p:nvSpPr>
          <p:spPr>
            <a:xfrm>
              <a:off x="6499048" y="1335217"/>
              <a:ext cx="2175537" cy="275704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2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2.1 </a:t>
              </a:r>
              <a:r>
                <a:rPr lang="zh-CN" altLang="en-US" sz="12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频谱数据价值评估</a:t>
              </a:r>
              <a:endParaRPr lang="zh-CN" altLang="en-US" sz="12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496" name="组合 495">
            <a:extLst>
              <a:ext uri="{FF2B5EF4-FFF2-40B4-BE49-F238E27FC236}">
                <a16:creationId xmlns:a16="http://schemas.microsoft.com/office/drawing/2014/main" id="{2850F510-A993-61CC-E0E6-24C339BCF410}"/>
              </a:ext>
            </a:extLst>
          </p:cNvPr>
          <p:cNvGrpSpPr/>
          <p:nvPr/>
        </p:nvGrpSpPr>
        <p:grpSpPr>
          <a:xfrm>
            <a:off x="2581457" y="5295174"/>
            <a:ext cx="7537462" cy="1826228"/>
            <a:chOff x="565995" y="999034"/>
            <a:chExt cx="7164950" cy="1817687"/>
          </a:xfrm>
        </p:grpSpPr>
        <p:sp>
          <p:nvSpPr>
            <p:cNvPr id="497" name="矩形: 圆角 496">
              <a:extLst>
                <a:ext uri="{FF2B5EF4-FFF2-40B4-BE49-F238E27FC236}">
                  <a16:creationId xmlns:a16="http://schemas.microsoft.com/office/drawing/2014/main" id="{CF6A454E-1F66-95AE-55EB-9F1D27826B91}"/>
                </a:ext>
              </a:extLst>
            </p:cNvPr>
            <p:cNvSpPr/>
            <p:nvPr/>
          </p:nvSpPr>
          <p:spPr>
            <a:xfrm>
              <a:off x="587828" y="999034"/>
              <a:ext cx="7143117" cy="1817687"/>
            </a:xfrm>
            <a:prstGeom prst="roundRect">
              <a:avLst>
                <a:gd name="adj" fmla="val 7070"/>
              </a:avLst>
            </a:prstGeom>
            <a:solidFill>
              <a:srgbClr val="FADBDF"/>
            </a:solidFill>
            <a:ln w="25400"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sz="2235" dirty="0">
                <a:solidFill>
                  <a:srgbClr val="C00000"/>
                </a:solidFill>
              </a:endParaRPr>
            </a:p>
          </p:txBody>
        </p:sp>
        <p:grpSp>
          <p:nvGrpSpPr>
            <p:cNvPr id="498" name="组合 497">
              <a:extLst>
                <a:ext uri="{FF2B5EF4-FFF2-40B4-BE49-F238E27FC236}">
                  <a16:creationId xmlns:a16="http://schemas.microsoft.com/office/drawing/2014/main" id="{5486D922-2F96-4DE0-A68C-C189CB085649}"/>
                </a:ext>
              </a:extLst>
            </p:cNvPr>
            <p:cNvGrpSpPr/>
            <p:nvPr/>
          </p:nvGrpSpPr>
          <p:grpSpPr>
            <a:xfrm>
              <a:off x="565995" y="1168420"/>
              <a:ext cx="2333057" cy="1478915"/>
              <a:chOff x="376961" y="1168420"/>
              <a:chExt cx="2810905" cy="1478915"/>
            </a:xfrm>
          </p:grpSpPr>
          <p:sp>
            <p:nvSpPr>
              <p:cNvPr id="505" name="矩形: 圆角 1150">
                <a:extLst>
                  <a:ext uri="{FF2B5EF4-FFF2-40B4-BE49-F238E27FC236}">
                    <a16:creationId xmlns:a16="http://schemas.microsoft.com/office/drawing/2014/main" id="{DED59914-35C9-BEE8-7375-56C792FFD19E}"/>
                  </a:ext>
                </a:extLst>
              </p:cNvPr>
              <p:cNvSpPr/>
              <p:nvPr/>
            </p:nvSpPr>
            <p:spPr>
              <a:xfrm>
                <a:off x="775635" y="1168420"/>
                <a:ext cx="2412231" cy="1478915"/>
              </a:xfrm>
              <a:prstGeom prst="roundRect">
                <a:avLst>
                  <a:gd name="adj" fmla="val 4026"/>
                </a:avLst>
              </a:prstGeom>
              <a:solidFill>
                <a:schemeClr val="bg1"/>
              </a:solidFill>
              <a:ln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>
                  <a:defRPr/>
                </a:pPr>
                <a:endParaRPr lang="zh-CN" altLang="en-US" sz="2235" dirty="0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506" name="文本框 505">
                <a:extLst>
                  <a:ext uri="{FF2B5EF4-FFF2-40B4-BE49-F238E27FC236}">
                    <a16:creationId xmlns:a16="http://schemas.microsoft.com/office/drawing/2014/main" id="{EF76AC36-77F3-5BBB-C5B5-1E6990403BDF}"/>
                  </a:ext>
                </a:extLst>
              </p:cNvPr>
              <p:cNvSpPr txBox="1"/>
              <p:nvPr/>
            </p:nvSpPr>
            <p:spPr>
              <a:xfrm>
                <a:off x="376961" y="1295437"/>
                <a:ext cx="2347605" cy="27570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>
                  <a:buClrTx/>
                  <a:buSzTx/>
                  <a:buFontTx/>
                </a:pPr>
                <a:r>
                  <a:rPr lang="en-US" altLang="zh-CN" sz="1200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3.3 </a:t>
                </a:r>
                <a:r>
                  <a:rPr lang="zh-CN" altLang="en-US" sz="1200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可信协同决策</a:t>
                </a:r>
              </a:p>
            </p:txBody>
          </p:sp>
        </p:grpSp>
        <p:grpSp>
          <p:nvGrpSpPr>
            <p:cNvPr id="499" name="组合 498">
              <a:extLst>
                <a:ext uri="{FF2B5EF4-FFF2-40B4-BE49-F238E27FC236}">
                  <a16:creationId xmlns:a16="http://schemas.microsoft.com/office/drawing/2014/main" id="{F8D1CA9F-77F5-B5B4-8C93-E7C339867DFC}"/>
                </a:ext>
              </a:extLst>
            </p:cNvPr>
            <p:cNvGrpSpPr/>
            <p:nvPr/>
          </p:nvGrpSpPr>
          <p:grpSpPr>
            <a:xfrm>
              <a:off x="3139796" y="1168420"/>
              <a:ext cx="2231845" cy="1478915"/>
              <a:chOff x="3659048" y="1168420"/>
              <a:chExt cx="2742891" cy="1478915"/>
            </a:xfrm>
          </p:grpSpPr>
          <p:sp>
            <p:nvSpPr>
              <p:cNvPr id="503" name="矩形: 圆角 1150">
                <a:extLst>
                  <a:ext uri="{FF2B5EF4-FFF2-40B4-BE49-F238E27FC236}">
                    <a16:creationId xmlns:a16="http://schemas.microsoft.com/office/drawing/2014/main" id="{5F82E58F-D659-25A5-3779-4D60A085D687}"/>
                  </a:ext>
                </a:extLst>
              </p:cNvPr>
              <p:cNvSpPr/>
              <p:nvPr/>
            </p:nvSpPr>
            <p:spPr>
              <a:xfrm>
                <a:off x="3849517" y="1168420"/>
                <a:ext cx="2415239" cy="1478915"/>
              </a:xfrm>
              <a:prstGeom prst="roundRect">
                <a:avLst>
                  <a:gd name="adj" fmla="val 4026"/>
                </a:avLst>
              </a:prstGeom>
              <a:solidFill>
                <a:schemeClr val="bg1"/>
              </a:solidFill>
              <a:ln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>
                  <a:defRPr/>
                </a:pPr>
                <a:endParaRPr lang="zh-CN" altLang="en-US" sz="2235" dirty="0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504" name="文本框 503">
                <a:extLst>
                  <a:ext uri="{FF2B5EF4-FFF2-40B4-BE49-F238E27FC236}">
                    <a16:creationId xmlns:a16="http://schemas.microsoft.com/office/drawing/2014/main" id="{B27F32D2-36B8-91CC-B3EA-32C4E6EB2482}"/>
                  </a:ext>
                </a:extLst>
              </p:cNvPr>
              <p:cNvSpPr txBox="1"/>
              <p:nvPr/>
            </p:nvSpPr>
            <p:spPr>
              <a:xfrm>
                <a:off x="3659048" y="1294141"/>
                <a:ext cx="2742891" cy="27570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1200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3.2 </a:t>
                </a:r>
                <a:r>
                  <a:rPr lang="zh-CN" altLang="en-US" sz="1200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轻量化目标识别与轨迹分析</a:t>
                </a:r>
                <a:endParaRPr lang="zh-CN" altLang="en-US" sz="1200" b="1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500" name="组合 499">
              <a:extLst>
                <a:ext uri="{FF2B5EF4-FFF2-40B4-BE49-F238E27FC236}">
                  <a16:creationId xmlns:a16="http://schemas.microsoft.com/office/drawing/2014/main" id="{68CFD35B-CF04-E7EF-4A7A-69AE4D8F7D62}"/>
                </a:ext>
              </a:extLst>
            </p:cNvPr>
            <p:cNvGrpSpPr/>
            <p:nvPr/>
          </p:nvGrpSpPr>
          <p:grpSpPr>
            <a:xfrm>
              <a:off x="5295205" y="1168420"/>
              <a:ext cx="2236123" cy="1478915"/>
              <a:chOff x="6499049" y="1168420"/>
              <a:chExt cx="2673098" cy="1478915"/>
            </a:xfrm>
          </p:grpSpPr>
          <p:sp>
            <p:nvSpPr>
              <p:cNvPr id="501" name="矩形: 圆角 1150">
                <a:extLst>
                  <a:ext uri="{FF2B5EF4-FFF2-40B4-BE49-F238E27FC236}">
                    <a16:creationId xmlns:a16="http://schemas.microsoft.com/office/drawing/2014/main" id="{321638C3-2EC8-A232-DD98-7DE36F39AAE0}"/>
                  </a:ext>
                </a:extLst>
              </p:cNvPr>
              <p:cNvSpPr/>
              <p:nvPr/>
            </p:nvSpPr>
            <p:spPr>
              <a:xfrm>
                <a:off x="6775688" y="1168420"/>
                <a:ext cx="2396459" cy="1478915"/>
              </a:xfrm>
              <a:prstGeom prst="roundRect">
                <a:avLst>
                  <a:gd name="adj" fmla="val 4026"/>
                </a:avLst>
              </a:prstGeom>
              <a:solidFill>
                <a:schemeClr val="bg1"/>
              </a:solidFill>
              <a:ln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>
                  <a:defRPr/>
                </a:pPr>
                <a:endParaRPr lang="zh-CN" altLang="en-US" sz="2235" dirty="0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502" name="文本框 501">
                <a:extLst>
                  <a:ext uri="{FF2B5EF4-FFF2-40B4-BE49-F238E27FC236}">
                    <a16:creationId xmlns:a16="http://schemas.microsoft.com/office/drawing/2014/main" id="{F8ECD7AC-52AA-E032-BDD8-FBCD78A02473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499049" y="1335217"/>
                <a:ext cx="2201951" cy="27570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1200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3.1</a:t>
                </a:r>
                <a:r>
                  <a:rPr lang="zh-CN" altLang="en-US" sz="1200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频谱知识图谱构建</a:t>
                </a:r>
                <a:endParaRPr lang="zh-CN" altLang="en-US" sz="1200" b="1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</p:grpSp>
      <p:sp>
        <p:nvSpPr>
          <p:cNvPr id="507" name="矩形: 圆角 1150">
            <a:extLst>
              <a:ext uri="{FF2B5EF4-FFF2-40B4-BE49-F238E27FC236}">
                <a16:creationId xmlns:a16="http://schemas.microsoft.com/office/drawing/2014/main" id="{B78F6FB8-2C70-816F-BCBC-BDBC65F3DEDB}"/>
              </a:ext>
            </a:extLst>
          </p:cNvPr>
          <p:cNvSpPr/>
          <p:nvPr/>
        </p:nvSpPr>
        <p:spPr>
          <a:xfrm>
            <a:off x="1499012" y="620399"/>
            <a:ext cx="1203425" cy="347678"/>
          </a:xfrm>
          <a:prstGeom prst="roundRect">
            <a:avLst>
              <a:gd name="adj" fmla="val 4026"/>
            </a:avLst>
          </a:prstGeom>
          <a:solidFill>
            <a:schemeClr val="bg1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>
              <a:defRPr/>
            </a:pPr>
            <a:endParaRPr lang="zh-CN" altLang="en-US" sz="2235" dirty="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08" name="文本框 507">
            <a:extLst>
              <a:ext uri="{FF2B5EF4-FFF2-40B4-BE49-F238E27FC236}">
                <a16:creationId xmlns:a16="http://schemas.microsoft.com/office/drawing/2014/main" id="{935508C5-A157-143E-4726-69BAE9210A7A}"/>
              </a:ext>
            </a:extLst>
          </p:cNvPr>
          <p:cNvSpPr txBox="1"/>
          <p:nvPr/>
        </p:nvSpPr>
        <p:spPr>
          <a:xfrm>
            <a:off x="1478484" y="641454"/>
            <a:ext cx="120342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海杂波</a:t>
            </a:r>
            <a:endParaRPr lang="zh-CN" altLang="en-US" sz="1200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09" name="矩形: 圆角 1150">
            <a:extLst>
              <a:ext uri="{FF2B5EF4-FFF2-40B4-BE49-F238E27FC236}">
                <a16:creationId xmlns:a16="http://schemas.microsoft.com/office/drawing/2014/main" id="{5C298ACE-0956-D085-4890-2D8B2FBA985C}"/>
              </a:ext>
            </a:extLst>
          </p:cNvPr>
          <p:cNvSpPr/>
          <p:nvPr/>
        </p:nvSpPr>
        <p:spPr>
          <a:xfrm>
            <a:off x="3810143" y="597020"/>
            <a:ext cx="1203425" cy="347678"/>
          </a:xfrm>
          <a:prstGeom prst="roundRect">
            <a:avLst>
              <a:gd name="adj" fmla="val 4026"/>
            </a:avLst>
          </a:prstGeom>
          <a:solidFill>
            <a:schemeClr val="bg1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>
              <a:defRPr/>
            </a:pPr>
            <a:endParaRPr lang="zh-CN" altLang="en-US" sz="2235" dirty="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10" name="文本框 509">
            <a:extLst>
              <a:ext uri="{FF2B5EF4-FFF2-40B4-BE49-F238E27FC236}">
                <a16:creationId xmlns:a16="http://schemas.microsoft.com/office/drawing/2014/main" id="{938CD066-B233-AA5C-6E5E-7290AEEC2F5B}"/>
              </a:ext>
            </a:extLst>
          </p:cNvPr>
          <p:cNvSpPr txBox="1"/>
          <p:nvPr/>
        </p:nvSpPr>
        <p:spPr>
          <a:xfrm>
            <a:off x="3789617" y="618075"/>
            <a:ext cx="120342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采集</a:t>
            </a:r>
            <a:r>
              <a:rPr lang="zh-CN" altLang="en-US" sz="801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（软件无线电）</a:t>
            </a:r>
            <a:endParaRPr lang="zh-CN" altLang="en-US" sz="1200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7" name="文本框 66">
            <a:extLst>
              <a:ext uri="{FF2B5EF4-FFF2-40B4-BE49-F238E27FC236}">
                <a16:creationId xmlns:a16="http://schemas.microsoft.com/office/drawing/2014/main" id="{EB088A91-7BEB-CC6B-02C0-4FD82EF60F9A}"/>
              </a:ext>
            </a:extLst>
          </p:cNvPr>
          <p:cNvSpPr txBox="1"/>
          <p:nvPr/>
        </p:nvSpPr>
        <p:spPr>
          <a:xfrm>
            <a:off x="6849732" y="2727274"/>
            <a:ext cx="27780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数据流</a:t>
            </a:r>
            <a:endParaRPr lang="zh-CN" altLang="en-US" sz="1200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91" name="直接连接符 90">
            <a:extLst>
              <a:ext uri="{FF2B5EF4-FFF2-40B4-BE49-F238E27FC236}">
                <a16:creationId xmlns:a16="http://schemas.microsoft.com/office/drawing/2014/main" id="{A4B9E01C-389A-EA4D-0F19-C5C03DDBAFBD}"/>
              </a:ext>
            </a:extLst>
          </p:cNvPr>
          <p:cNvCxnSpPr>
            <a:cxnSpLocks/>
          </p:cNvCxnSpPr>
          <p:nvPr/>
        </p:nvCxnSpPr>
        <p:spPr>
          <a:xfrm flipV="1">
            <a:off x="6808379" y="4797178"/>
            <a:ext cx="0" cy="344662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5" name="矩形: 圆角 94">
            <a:extLst>
              <a:ext uri="{FF2B5EF4-FFF2-40B4-BE49-F238E27FC236}">
                <a16:creationId xmlns:a16="http://schemas.microsoft.com/office/drawing/2014/main" id="{6D1B219D-AAFC-D4F4-142D-EC305726211E}"/>
              </a:ext>
            </a:extLst>
          </p:cNvPr>
          <p:cNvSpPr/>
          <p:nvPr/>
        </p:nvSpPr>
        <p:spPr>
          <a:xfrm>
            <a:off x="7948159" y="1034595"/>
            <a:ext cx="2159699" cy="1817687"/>
          </a:xfrm>
          <a:prstGeom prst="roundRect">
            <a:avLst>
              <a:gd name="adj" fmla="val 7070"/>
            </a:avLst>
          </a:prstGeom>
          <a:solidFill>
            <a:srgbClr val="FADBDF"/>
          </a:solidFill>
          <a:ln w="25400"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2235" dirty="0">
              <a:solidFill>
                <a:srgbClr val="C00000"/>
              </a:solidFill>
            </a:endParaRPr>
          </a:p>
        </p:txBody>
      </p:sp>
      <p:sp>
        <p:nvSpPr>
          <p:cNvPr id="96" name="矩形: 圆角 1197">
            <a:extLst>
              <a:ext uri="{FF2B5EF4-FFF2-40B4-BE49-F238E27FC236}">
                <a16:creationId xmlns:a16="http://schemas.microsoft.com/office/drawing/2014/main" id="{D82CAAE1-AB03-F6EE-49A2-097595D5711F}"/>
              </a:ext>
            </a:extLst>
          </p:cNvPr>
          <p:cNvSpPr/>
          <p:nvPr/>
        </p:nvSpPr>
        <p:spPr>
          <a:xfrm>
            <a:off x="8019841" y="1089179"/>
            <a:ext cx="396240" cy="1696961"/>
          </a:xfrm>
          <a:prstGeom prst="roundRect">
            <a:avLst>
              <a:gd name="adj" fmla="val 27564"/>
            </a:avLst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</a:pPr>
            <a:r>
              <a:rPr kumimoji="0" lang="zh-CN" altLang="en-US" sz="1700" b="1" i="0" u="none" strike="noStrike" kern="1200" cap="none" spc="-20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rPr>
              <a:t>研究内容一方案</a:t>
            </a:r>
          </a:p>
        </p:txBody>
      </p:sp>
      <p:grpSp>
        <p:nvGrpSpPr>
          <p:cNvPr id="97" name="组合 96">
            <a:extLst>
              <a:ext uri="{FF2B5EF4-FFF2-40B4-BE49-F238E27FC236}">
                <a16:creationId xmlns:a16="http://schemas.microsoft.com/office/drawing/2014/main" id="{579CE362-EB7D-1194-FDD1-3312E54ED985}"/>
              </a:ext>
            </a:extLst>
          </p:cNvPr>
          <p:cNvGrpSpPr/>
          <p:nvPr/>
        </p:nvGrpSpPr>
        <p:grpSpPr>
          <a:xfrm>
            <a:off x="8416081" y="1233560"/>
            <a:ext cx="1608132" cy="1478915"/>
            <a:chOff x="1470246" y="1168420"/>
            <a:chExt cx="1937502" cy="1478915"/>
          </a:xfrm>
        </p:grpSpPr>
        <p:sp>
          <p:nvSpPr>
            <p:cNvPr id="98" name="矩形: 圆角 1150">
              <a:extLst>
                <a:ext uri="{FF2B5EF4-FFF2-40B4-BE49-F238E27FC236}">
                  <a16:creationId xmlns:a16="http://schemas.microsoft.com/office/drawing/2014/main" id="{54ADF6B4-35CE-BE44-C595-4BC639225459}"/>
                </a:ext>
              </a:extLst>
            </p:cNvPr>
            <p:cNvSpPr/>
            <p:nvPr/>
          </p:nvSpPr>
          <p:spPr>
            <a:xfrm>
              <a:off x="1510625" y="1168420"/>
              <a:ext cx="1846737" cy="1478915"/>
            </a:xfrm>
            <a:prstGeom prst="roundRect">
              <a:avLst>
                <a:gd name="adj" fmla="val 4026"/>
              </a:avLst>
            </a:prstGeom>
            <a:solidFill>
              <a:schemeClr val="bg1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235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99" name="文本框 98">
              <a:extLst>
                <a:ext uri="{FF2B5EF4-FFF2-40B4-BE49-F238E27FC236}">
                  <a16:creationId xmlns:a16="http://schemas.microsoft.com/office/drawing/2014/main" id="{F74FAF55-FEDA-07FF-18AA-95C78D00C281}"/>
                </a:ext>
              </a:extLst>
            </p:cNvPr>
            <p:cNvSpPr txBox="1"/>
            <p:nvPr/>
          </p:nvSpPr>
          <p:spPr>
            <a:xfrm>
              <a:off x="1641936" y="1284414"/>
              <a:ext cx="169769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buClrTx/>
                <a:buSzTx/>
                <a:buFontTx/>
              </a:pPr>
              <a:r>
                <a:rPr lang="zh-CN" altLang="en-US" sz="12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海杂波干扰下</a:t>
              </a:r>
            </a:p>
          </p:txBody>
        </p:sp>
        <p:sp>
          <p:nvSpPr>
            <p:cNvPr id="102" name="文本框 101">
              <a:extLst>
                <a:ext uri="{FF2B5EF4-FFF2-40B4-BE49-F238E27FC236}">
                  <a16:creationId xmlns:a16="http://schemas.microsoft.com/office/drawing/2014/main" id="{8B9B4D88-A143-9007-11A1-6BEB7E660EE5}"/>
                </a:ext>
              </a:extLst>
            </p:cNvPr>
            <p:cNvSpPr txBox="1"/>
            <p:nvPr/>
          </p:nvSpPr>
          <p:spPr>
            <a:xfrm>
              <a:off x="1470246" y="1605822"/>
              <a:ext cx="1937502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algn="ctr">
                <a:buClrTx/>
                <a:buSzTx/>
                <a:buFontTx/>
                <a:defRPr sz="1600" b="1"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</a:lstStyle>
            <a:p>
              <a:r>
                <a:rPr lang="zh-CN" altLang="en-US" dirty="0"/>
                <a:t>微弱电磁频谱信号传播规律分析与提取</a:t>
              </a:r>
            </a:p>
          </p:txBody>
        </p:sp>
      </p:grpSp>
      <p:sp>
        <p:nvSpPr>
          <p:cNvPr id="103" name="矩形: 圆角 102">
            <a:extLst>
              <a:ext uri="{FF2B5EF4-FFF2-40B4-BE49-F238E27FC236}">
                <a16:creationId xmlns:a16="http://schemas.microsoft.com/office/drawing/2014/main" id="{296B54A3-AAA5-33C4-1474-4E1D3FBD6027}"/>
              </a:ext>
            </a:extLst>
          </p:cNvPr>
          <p:cNvSpPr/>
          <p:nvPr/>
        </p:nvSpPr>
        <p:spPr>
          <a:xfrm>
            <a:off x="7882328" y="3289083"/>
            <a:ext cx="2159699" cy="1817687"/>
          </a:xfrm>
          <a:prstGeom prst="roundRect">
            <a:avLst>
              <a:gd name="adj" fmla="val 7070"/>
            </a:avLst>
          </a:prstGeom>
          <a:solidFill>
            <a:srgbClr val="2E54A1">
              <a:alpha val="30000"/>
            </a:srgbClr>
          </a:solidFill>
          <a:ln w="25400"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2235" dirty="0">
              <a:solidFill>
                <a:srgbClr val="C00000"/>
              </a:solidFill>
            </a:endParaRPr>
          </a:p>
        </p:txBody>
      </p:sp>
      <p:sp>
        <p:nvSpPr>
          <p:cNvPr id="104" name="矩形: 圆角 1197">
            <a:extLst>
              <a:ext uri="{FF2B5EF4-FFF2-40B4-BE49-F238E27FC236}">
                <a16:creationId xmlns:a16="http://schemas.microsoft.com/office/drawing/2014/main" id="{7F08F7EF-D1BC-77F4-DCFA-A5A71840C192}"/>
              </a:ext>
            </a:extLst>
          </p:cNvPr>
          <p:cNvSpPr/>
          <p:nvPr/>
        </p:nvSpPr>
        <p:spPr>
          <a:xfrm>
            <a:off x="7954010" y="3286659"/>
            <a:ext cx="396240" cy="1766297"/>
          </a:xfrm>
          <a:prstGeom prst="roundRect">
            <a:avLst>
              <a:gd name="adj" fmla="val 27564"/>
            </a:avLst>
          </a:prstGeom>
          <a:solidFill>
            <a:srgbClr val="2E54A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</a:pPr>
            <a:r>
              <a:rPr kumimoji="0" lang="zh-CN" altLang="en-US" sz="1700" b="1" i="0" u="none" strike="noStrike" kern="1200" cap="none" spc="-20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rPr>
              <a:t>研究内容二方案</a:t>
            </a:r>
          </a:p>
        </p:txBody>
      </p:sp>
      <p:grpSp>
        <p:nvGrpSpPr>
          <p:cNvPr id="105" name="组合 104">
            <a:extLst>
              <a:ext uri="{FF2B5EF4-FFF2-40B4-BE49-F238E27FC236}">
                <a16:creationId xmlns:a16="http://schemas.microsoft.com/office/drawing/2014/main" id="{D3598889-8116-4FA7-8815-7694FB4A1DE6}"/>
              </a:ext>
            </a:extLst>
          </p:cNvPr>
          <p:cNvGrpSpPr/>
          <p:nvPr/>
        </p:nvGrpSpPr>
        <p:grpSpPr>
          <a:xfrm>
            <a:off x="8350250" y="3488048"/>
            <a:ext cx="1608132" cy="1478915"/>
            <a:chOff x="1470246" y="1168420"/>
            <a:chExt cx="1937502" cy="1478915"/>
          </a:xfrm>
        </p:grpSpPr>
        <p:sp>
          <p:nvSpPr>
            <p:cNvPr id="106" name="矩形: 圆角 1150">
              <a:extLst>
                <a:ext uri="{FF2B5EF4-FFF2-40B4-BE49-F238E27FC236}">
                  <a16:creationId xmlns:a16="http://schemas.microsoft.com/office/drawing/2014/main" id="{F51EC366-9325-2AF8-EBC7-450F659A3332}"/>
                </a:ext>
              </a:extLst>
            </p:cNvPr>
            <p:cNvSpPr/>
            <p:nvPr/>
          </p:nvSpPr>
          <p:spPr>
            <a:xfrm>
              <a:off x="1510625" y="1168420"/>
              <a:ext cx="1846737" cy="1478915"/>
            </a:xfrm>
            <a:prstGeom prst="roundRect">
              <a:avLst>
                <a:gd name="adj" fmla="val 4026"/>
              </a:avLst>
            </a:prstGeom>
            <a:solidFill>
              <a:schemeClr val="bg1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235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107" name="文本框 106">
              <a:extLst>
                <a:ext uri="{FF2B5EF4-FFF2-40B4-BE49-F238E27FC236}">
                  <a16:creationId xmlns:a16="http://schemas.microsoft.com/office/drawing/2014/main" id="{FEDA58CC-D7CE-046A-4E44-6C7EF4D92A1E}"/>
                </a:ext>
              </a:extLst>
            </p:cNvPr>
            <p:cNvSpPr txBox="1"/>
            <p:nvPr/>
          </p:nvSpPr>
          <p:spPr>
            <a:xfrm>
              <a:off x="1641936" y="1284414"/>
              <a:ext cx="169769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buClrTx/>
                <a:buSzTx/>
                <a:buFontTx/>
              </a:pPr>
              <a:r>
                <a:rPr lang="zh-CN" altLang="en-US" sz="12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有限算力端侧</a:t>
              </a:r>
            </a:p>
          </p:txBody>
        </p:sp>
        <p:sp>
          <p:nvSpPr>
            <p:cNvPr id="108" name="文本框 107">
              <a:extLst>
                <a:ext uri="{FF2B5EF4-FFF2-40B4-BE49-F238E27FC236}">
                  <a16:creationId xmlns:a16="http://schemas.microsoft.com/office/drawing/2014/main" id="{AEAC3F37-B379-FEE4-8FAC-24F94A896E57}"/>
                </a:ext>
              </a:extLst>
            </p:cNvPr>
            <p:cNvSpPr txBox="1"/>
            <p:nvPr/>
          </p:nvSpPr>
          <p:spPr>
            <a:xfrm>
              <a:off x="1470246" y="1605822"/>
              <a:ext cx="1937502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algn="ctr">
                <a:buClrTx/>
                <a:buSzTx/>
                <a:buFontTx/>
                <a:defRPr sz="1600" b="1"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</a:lstStyle>
            <a:p>
              <a:r>
                <a:rPr lang="zh-CN" altLang="en-US" dirty="0"/>
                <a:t>频谱数据的可信管理和轻量存储方法</a:t>
              </a:r>
            </a:p>
          </p:txBody>
        </p:sp>
      </p:grpSp>
      <p:sp>
        <p:nvSpPr>
          <p:cNvPr id="109" name="矩形: 圆角 108">
            <a:extLst>
              <a:ext uri="{FF2B5EF4-FFF2-40B4-BE49-F238E27FC236}">
                <a16:creationId xmlns:a16="http://schemas.microsoft.com/office/drawing/2014/main" id="{BFF338D6-8A79-DCF7-F253-FBC783BCB00C}"/>
              </a:ext>
            </a:extLst>
          </p:cNvPr>
          <p:cNvSpPr/>
          <p:nvPr/>
        </p:nvSpPr>
        <p:spPr>
          <a:xfrm>
            <a:off x="368165" y="5295174"/>
            <a:ext cx="2159699" cy="1817687"/>
          </a:xfrm>
          <a:prstGeom prst="roundRect">
            <a:avLst>
              <a:gd name="adj" fmla="val 7070"/>
            </a:avLst>
          </a:prstGeom>
          <a:solidFill>
            <a:srgbClr val="FADBDF"/>
          </a:solidFill>
          <a:ln w="25400"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2235" dirty="0">
              <a:solidFill>
                <a:srgbClr val="C00000"/>
              </a:solidFill>
            </a:endParaRPr>
          </a:p>
        </p:txBody>
      </p:sp>
      <p:sp>
        <p:nvSpPr>
          <p:cNvPr id="110" name="矩形: 圆角 1197">
            <a:extLst>
              <a:ext uri="{FF2B5EF4-FFF2-40B4-BE49-F238E27FC236}">
                <a16:creationId xmlns:a16="http://schemas.microsoft.com/office/drawing/2014/main" id="{2DC3E7B2-BA32-10E6-8807-274AEBF03420}"/>
              </a:ext>
            </a:extLst>
          </p:cNvPr>
          <p:cNvSpPr/>
          <p:nvPr/>
        </p:nvSpPr>
        <p:spPr>
          <a:xfrm>
            <a:off x="439847" y="5350724"/>
            <a:ext cx="396240" cy="1660195"/>
          </a:xfrm>
          <a:prstGeom prst="roundRect">
            <a:avLst>
              <a:gd name="adj" fmla="val 27564"/>
            </a:avLst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</a:pPr>
            <a:r>
              <a:rPr kumimoji="0" lang="zh-CN" altLang="en-US" sz="1700" b="1" i="0" u="none" strike="noStrike" kern="1200" cap="none" spc="-20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rPr>
              <a:t>研究内容三方案</a:t>
            </a:r>
          </a:p>
        </p:txBody>
      </p:sp>
      <p:grpSp>
        <p:nvGrpSpPr>
          <p:cNvPr id="111" name="组合 110">
            <a:extLst>
              <a:ext uri="{FF2B5EF4-FFF2-40B4-BE49-F238E27FC236}">
                <a16:creationId xmlns:a16="http://schemas.microsoft.com/office/drawing/2014/main" id="{B7F3F992-A719-8FB1-366D-FCD4F6AC88C4}"/>
              </a:ext>
            </a:extLst>
          </p:cNvPr>
          <p:cNvGrpSpPr/>
          <p:nvPr/>
        </p:nvGrpSpPr>
        <p:grpSpPr>
          <a:xfrm>
            <a:off x="803851" y="5494139"/>
            <a:ext cx="1659084" cy="1478915"/>
            <a:chOff x="1431408" y="1168420"/>
            <a:chExt cx="1998890" cy="1478915"/>
          </a:xfrm>
        </p:grpSpPr>
        <p:sp>
          <p:nvSpPr>
            <p:cNvPr id="112" name="矩形: 圆角 1150">
              <a:extLst>
                <a:ext uri="{FF2B5EF4-FFF2-40B4-BE49-F238E27FC236}">
                  <a16:creationId xmlns:a16="http://schemas.microsoft.com/office/drawing/2014/main" id="{AB7D64DE-3786-5884-7670-64F0C2C1DFD3}"/>
                </a:ext>
              </a:extLst>
            </p:cNvPr>
            <p:cNvSpPr/>
            <p:nvPr/>
          </p:nvSpPr>
          <p:spPr>
            <a:xfrm>
              <a:off x="1510625" y="1168420"/>
              <a:ext cx="1846737" cy="1478915"/>
            </a:xfrm>
            <a:prstGeom prst="roundRect">
              <a:avLst>
                <a:gd name="adj" fmla="val 4026"/>
              </a:avLst>
            </a:prstGeom>
            <a:solidFill>
              <a:schemeClr val="bg1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235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113" name="文本框 112">
              <a:extLst>
                <a:ext uri="{FF2B5EF4-FFF2-40B4-BE49-F238E27FC236}">
                  <a16:creationId xmlns:a16="http://schemas.microsoft.com/office/drawing/2014/main" id="{DAE42263-F836-3BC4-030D-6A948066373A}"/>
                </a:ext>
              </a:extLst>
            </p:cNvPr>
            <p:cNvSpPr txBox="1"/>
            <p:nvPr/>
          </p:nvSpPr>
          <p:spPr>
            <a:xfrm>
              <a:off x="1431408" y="1411949"/>
              <a:ext cx="199889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buClrTx/>
                <a:buSzTx/>
                <a:buFontTx/>
              </a:pPr>
              <a:r>
                <a:rPr lang="zh-CN" altLang="en-US" sz="12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基于频谱知识图谱的</a:t>
              </a:r>
            </a:p>
          </p:txBody>
        </p:sp>
        <p:sp>
          <p:nvSpPr>
            <p:cNvPr id="114" name="文本框 113">
              <a:extLst>
                <a:ext uri="{FF2B5EF4-FFF2-40B4-BE49-F238E27FC236}">
                  <a16:creationId xmlns:a16="http://schemas.microsoft.com/office/drawing/2014/main" id="{374184C7-666E-2704-45DA-CDF96A20BD7B}"/>
                </a:ext>
              </a:extLst>
            </p:cNvPr>
            <p:cNvSpPr txBox="1"/>
            <p:nvPr/>
          </p:nvSpPr>
          <p:spPr>
            <a:xfrm>
              <a:off x="1470246" y="1732823"/>
              <a:ext cx="1937502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algn="ctr">
                <a:buClrTx/>
                <a:buSzTx/>
                <a:buFontTx/>
                <a:defRPr sz="1600" b="1"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</a:lstStyle>
            <a:p>
              <a:r>
                <a:rPr lang="zh-CN" altLang="en-US" dirty="0"/>
                <a:t>轻量化目标识别与可信协同决策方法</a:t>
              </a:r>
            </a:p>
          </p:txBody>
        </p:sp>
      </p:grpSp>
      <p:sp>
        <p:nvSpPr>
          <p:cNvPr id="116" name="矩形: 圆角 1150">
            <a:extLst>
              <a:ext uri="{FF2B5EF4-FFF2-40B4-BE49-F238E27FC236}">
                <a16:creationId xmlns:a16="http://schemas.microsoft.com/office/drawing/2014/main" id="{0EC4D989-8A89-B9B2-F35F-FB403E252508}"/>
              </a:ext>
            </a:extLst>
          </p:cNvPr>
          <p:cNvSpPr/>
          <p:nvPr/>
        </p:nvSpPr>
        <p:spPr>
          <a:xfrm>
            <a:off x="6221406" y="7278951"/>
            <a:ext cx="1203425" cy="347678"/>
          </a:xfrm>
          <a:prstGeom prst="roundRect">
            <a:avLst>
              <a:gd name="adj" fmla="val 4026"/>
            </a:avLst>
          </a:prstGeom>
          <a:solidFill>
            <a:schemeClr val="bg1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>
              <a:defRPr/>
            </a:pPr>
            <a:endParaRPr lang="zh-CN" altLang="en-US" sz="2235" dirty="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7" name="文本框 116">
            <a:extLst>
              <a:ext uri="{FF2B5EF4-FFF2-40B4-BE49-F238E27FC236}">
                <a16:creationId xmlns:a16="http://schemas.microsoft.com/office/drawing/2014/main" id="{FDE4CEAC-AE7D-7FF8-A7E2-2ECD925231D8}"/>
              </a:ext>
            </a:extLst>
          </p:cNvPr>
          <p:cNvSpPr txBox="1"/>
          <p:nvPr/>
        </p:nvSpPr>
        <p:spPr>
          <a:xfrm>
            <a:off x="6200878" y="7300006"/>
            <a:ext cx="120342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验证</a:t>
            </a:r>
            <a:endParaRPr lang="zh-CN" altLang="en-US" sz="1200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8" name="矩形: 圆角 1197">
            <a:extLst>
              <a:ext uri="{FF2B5EF4-FFF2-40B4-BE49-F238E27FC236}">
                <a16:creationId xmlns:a16="http://schemas.microsoft.com/office/drawing/2014/main" id="{D52CDB6B-AAEC-7D5A-8404-E128A6F0F766}"/>
              </a:ext>
            </a:extLst>
          </p:cNvPr>
          <p:cNvSpPr/>
          <p:nvPr/>
        </p:nvSpPr>
        <p:spPr>
          <a:xfrm>
            <a:off x="624453" y="7261669"/>
            <a:ext cx="1615430" cy="413938"/>
          </a:xfrm>
          <a:prstGeom prst="roundRect">
            <a:avLst>
              <a:gd name="adj" fmla="val 27564"/>
            </a:avLst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</a:pPr>
            <a:r>
              <a:rPr kumimoji="0" lang="zh-CN" altLang="en-US" sz="1700" b="1" i="0" u="none" strike="noStrike" kern="1200" cap="none" spc="-20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rPr>
              <a:t>研究内容四方案</a:t>
            </a:r>
          </a:p>
        </p:txBody>
      </p:sp>
      <p:sp>
        <p:nvSpPr>
          <p:cNvPr id="120" name="文本框 119">
            <a:extLst>
              <a:ext uri="{FF2B5EF4-FFF2-40B4-BE49-F238E27FC236}">
                <a16:creationId xmlns:a16="http://schemas.microsoft.com/office/drawing/2014/main" id="{4F13AD9D-F7D4-E376-A0AC-23926651FF89}"/>
              </a:ext>
            </a:extLst>
          </p:cNvPr>
          <p:cNvSpPr txBox="1"/>
          <p:nvPr/>
        </p:nvSpPr>
        <p:spPr>
          <a:xfrm>
            <a:off x="2183713" y="7339388"/>
            <a:ext cx="392658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buClrTx/>
              <a:buSzTx/>
              <a:buFontTx/>
              <a:defRPr sz="1600" b="1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sz="1400" dirty="0"/>
              <a:t>海杂波场景电磁频谱数据智能处理原型系统验证</a:t>
            </a:r>
          </a:p>
        </p:txBody>
      </p:sp>
      <p:cxnSp>
        <p:nvCxnSpPr>
          <p:cNvPr id="121" name="直接连接符 120">
            <a:extLst>
              <a:ext uri="{FF2B5EF4-FFF2-40B4-BE49-F238E27FC236}">
                <a16:creationId xmlns:a16="http://schemas.microsoft.com/office/drawing/2014/main" id="{5189E98A-56D9-0AC3-D269-566CEE2ABA27}"/>
              </a:ext>
            </a:extLst>
          </p:cNvPr>
          <p:cNvCxnSpPr>
            <a:cxnSpLocks/>
          </p:cNvCxnSpPr>
          <p:nvPr/>
        </p:nvCxnSpPr>
        <p:spPr>
          <a:xfrm flipH="1">
            <a:off x="379885" y="5119468"/>
            <a:ext cx="6428494" cy="1242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3" name="直接箭头连接符 122">
            <a:extLst>
              <a:ext uri="{FF2B5EF4-FFF2-40B4-BE49-F238E27FC236}">
                <a16:creationId xmlns:a16="http://schemas.microsoft.com/office/drawing/2014/main" id="{A41AF332-D474-CE5F-5B32-39D6948CDDAA}"/>
              </a:ext>
            </a:extLst>
          </p:cNvPr>
          <p:cNvCxnSpPr>
            <a:cxnSpLocks/>
            <a:stCxn id="507" idx="3"/>
            <a:endCxn id="510" idx="1"/>
          </p:cNvCxnSpPr>
          <p:nvPr/>
        </p:nvCxnSpPr>
        <p:spPr>
          <a:xfrm flipV="1">
            <a:off x="2702437" y="787352"/>
            <a:ext cx="1087180" cy="6886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" name="直接箭头连接符 125">
            <a:extLst>
              <a:ext uri="{FF2B5EF4-FFF2-40B4-BE49-F238E27FC236}">
                <a16:creationId xmlns:a16="http://schemas.microsoft.com/office/drawing/2014/main" id="{F4983E9A-A90C-FA35-2EC1-C1B9A2F800E9}"/>
              </a:ext>
            </a:extLst>
          </p:cNvPr>
          <p:cNvCxnSpPr>
            <a:cxnSpLocks/>
          </p:cNvCxnSpPr>
          <p:nvPr/>
        </p:nvCxnSpPr>
        <p:spPr>
          <a:xfrm>
            <a:off x="4350567" y="921572"/>
            <a:ext cx="0" cy="335213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5" name="直接箭头连接符 194">
            <a:extLst>
              <a:ext uri="{FF2B5EF4-FFF2-40B4-BE49-F238E27FC236}">
                <a16:creationId xmlns:a16="http://schemas.microsoft.com/office/drawing/2014/main" id="{23441351-9820-D28A-90FF-F1F5A9B10A3D}"/>
              </a:ext>
            </a:extLst>
          </p:cNvPr>
          <p:cNvCxnSpPr>
            <a:cxnSpLocks/>
          </p:cNvCxnSpPr>
          <p:nvPr/>
        </p:nvCxnSpPr>
        <p:spPr>
          <a:xfrm>
            <a:off x="2694840" y="1933727"/>
            <a:ext cx="519616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2" name="直接箭头连接符 201">
            <a:extLst>
              <a:ext uri="{FF2B5EF4-FFF2-40B4-BE49-F238E27FC236}">
                <a16:creationId xmlns:a16="http://schemas.microsoft.com/office/drawing/2014/main" id="{62132D10-E2C7-79FB-B2A5-ABB50DF8AF03}"/>
              </a:ext>
            </a:extLst>
          </p:cNvPr>
          <p:cNvCxnSpPr>
            <a:cxnSpLocks/>
          </p:cNvCxnSpPr>
          <p:nvPr/>
        </p:nvCxnSpPr>
        <p:spPr>
          <a:xfrm>
            <a:off x="5171796" y="1943352"/>
            <a:ext cx="519616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6" name="直接箭头连接符 205">
            <a:extLst>
              <a:ext uri="{FF2B5EF4-FFF2-40B4-BE49-F238E27FC236}">
                <a16:creationId xmlns:a16="http://schemas.microsoft.com/office/drawing/2014/main" id="{36CF4DBC-D2F9-00E3-8824-F8C358D7D94A}"/>
              </a:ext>
            </a:extLst>
          </p:cNvPr>
          <p:cNvCxnSpPr>
            <a:cxnSpLocks/>
            <a:stCxn id="12" idx="2"/>
          </p:cNvCxnSpPr>
          <p:nvPr/>
        </p:nvCxnSpPr>
        <p:spPr>
          <a:xfrm flipH="1">
            <a:off x="6630466" y="2682100"/>
            <a:ext cx="5514" cy="900537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7" name="直接箭头连接符 206">
            <a:extLst>
              <a:ext uri="{FF2B5EF4-FFF2-40B4-BE49-F238E27FC236}">
                <a16:creationId xmlns:a16="http://schemas.microsoft.com/office/drawing/2014/main" id="{9187FCFE-BF50-7336-D326-9D0EC893DEF2}"/>
              </a:ext>
            </a:extLst>
          </p:cNvPr>
          <p:cNvCxnSpPr>
            <a:cxnSpLocks/>
          </p:cNvCxnSpPr>
          <p:nvPr/>
        </p:nvCxnSpPr>
        <p:spPr>
          <a:xfrm>
            <a:off x="6766069" y="6943738"/>
            <a:ext cx="0" cy="335213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8" name="直接箭头连接符 207">
            <a:extLst>
              <a:ext uri="{FF2B5EF4-FFF2-40B4-BE49-F238E27FC236}">
                <a16:creationId xmlns:a16="http://schemas.microsoft.com/office/drawing/2014/main" id="{7F7FF5BF-D4B5-0757-9705-7E841C5A906D}"/>
              </a:ext>
            </a:extLst>
          </p:cNvPr>
          <p:cNvCxnSpPr>
            <a:cxnSpLocks/>
          </p:cNvCxnSpPr>
          <p:nvPr/>
        </p:nvCxnSpPr>
        <p:spPr>
          <a:xfrm>
            <a:off x="7271767" y="4814841"/>
            <a:ext cx="0" cy="675916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2" name="直接箭头连接符 211">
            <a:extLst>
              <a:ext uri="{FF2B5EF4-FFF2-40B4-BE49-F238E27FC236}">
                <a16:creationId xmlns:a16="http://schemas.microsoft.com/office/drawing/2014/main" id="{77F53141-73DD-C0FA-B7DB-1DDA9D444806}"/>
              </a:ext>
            </a:extLst>
          </p:cNvPr>
          <p:cNvCxnSpPr>
            <a:cxnSpLocks/>
          </p:cNvCxnSpPr>
          <p:nvPr/>
        </p:nvCxnSpPr>
        <p:spPr>
          <a:xfrm flipH="1">
            <a:off x="5108185" y="4195486"/>
            <a:ext cx="519616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3" name="直接箭头连接符 212">
            <a:extLst>
              <a:ext uri="{FF2B5EF4-FFF2-40B4-BE49-F238E27FC236}">
                <a16:creationId xmlns:a16="http://schemas.microsoft.com/office/drawing/2014/main" id="{FB7BA0CF-30EE-259F-FD8D-83D50DD92794}"/>
              </a:ext>
            </a:extLst>
          </p:cNvPr>
          <p:cNvCxnSpPr>
            <a:cxnSpLocks/>
          </p:cNvCxnSpPr>
          <p:nvPr/>
        </p:nvCxnSpPr>
        <p:spPr>
          <a:xfrm flipH="1">
            <a:off x="2560429" y="4229353"/>
            <a:ext cx="519616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4" name="直接箭头连接符 213">
            <a:extLst>
              <a:ext uri="{FF2B5EF4-FFF2-40B4-BE49-F238E27FC236}">
                <a16:creationId xmlns:a16="http://schemas.microsoft.com/office/drawing/2014/main" id="{05976468-C6E5-39CD-3C01-42BF88FA676C}"/>
              </a:ext>
            </a:extLst>
          </p:cNvPr>
          <p:cNvCxnSpPr>
            <a:cxnSpLocks/>
          </p:cNvCxnSpPr>
          <p:nvPr/>
        </p:nvCxnSpPr>
        <p:spPr>
          <a:xfrm flipH="1">
            <a:off x="7420710" y="6193620"/>
            <a:ext cx="519616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6" name="直接箭头连接符 215">
            <a:extLst>
              <a:ext uri="{FF2B5EF4-FFF2-40B4-BE49-F238E27FC236}">
                <a16:creationId xmlns:a16="http://schemas.microsoft.com/office/drawing/2014/main" id="{660C8871-B659-0326-1B96-98970B4576D2}"/>
              </a:ext>
            </a:extLst>
          </p:cNvPr>
          <p:cNvCxnSpPr>
            <a:cxnSpLocks/>
          </p:cNvCxnSpPr>
          <p:nvPr/>
        </p:nvCxnSpPr>
        <p:spPr>
          <a:xfrm>
            <a:off x="4984293" y="6202087"/>
            <a:ext cx="519616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6" name="任意多边形: 形状 225">
            <a:extLst>
              <a:ext uri="{FF2B5EF4-FFF2-40B4-BE49-F238E27FC236}">
                <a16:creationId xmlns:a16="http://schemas.microsoft.com/office/drawing/2014/main" id="{5D1E362C-6850-76D9-C254-7CDB78B50F2A}"/>
              </a:ext>
            </a:extLst>
          </p:cNvPr>
          <p:cNvSpPr/>
          <p:nvPr/>
        </p:nvSpPr>
        <p:spPr>
          <a:xfrm>
            <a:off x="724961" y="3914574"/>
            <a:ext cx="300210" cy="223913"/>
          </a:xfrm>
          <a:custGeom>
            <a:avLst/>
            <a:gdLst>
              <a:gd name="csX0" fmla="*/ 61719 w 269842"/>
              <a:gd name="csY0" fmla="*/ 0 h 223913"/>
              <a:gd name="csX1" fmla="*/ 269842 w 269842"/>
              <a:gd name="csY1" fmla="*/ 0 h 223913"/>
              <a:gd name="csX2" fmla="*/ 269842 w 269842"/>
              <a:gd name="csY2" fmla="*/ 223913 h 223913"/>
              <a:gd name="csX3" fmla="*/ 61719 w 269842"/>
              <a:gd name="csY3" fmla="*/ 223913 h 223913"/>
              <a:gd name="csX4" fmla="*/ 0 w 269842"/>
              <a:gd name="csY4" fmla="*/ 162194 h 223913"/>
              <a:gd name="csX5" fmla="*/ 0 w 269842"/>
              <a:gd name="csY5" fmla="*/ 61719 h 223913"/>
              <a:gd name="csX6" fmla="*/ 61719 w 269842"/>
              <a:gd name="csY6" fmla="*/ 0 h 22391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269842" h="223913">
                <a:moveTo>
                  <a:pt x="61719" y="0"/>
                </a:moveTo>
                <a:lnTo>
                  <a:pt x="269842" y="0"/>
                </a:lnTo>
                <a:lnTo>
                  <a:pt x="269842" y="223913"/>
                </a:lnTo>
                <a:lnTo>
                  <a:pt x="61719" y="223913"/>
                </a:lnTo>
                <a:cubicBezTo>
                  <a:pt x="27633" y="223913"/>
                  <a:pt x="0" y="196280"/>
                  <a:pt x="0" y="162194"/>
                </a:cubicBezTo>
                <a:lnTo>
                  <a:pt x="0" y="61719"/>
                </a:lnTo>
                <a:cubicBezTo>
                  <a:pt x="0" y="27633"/>
                  <a:pt x="27633" y="0"/>
                  <a:pt x="61719" y="0"/>
                </a:cubicBezTo>
                <a:close/>
              </a:path>
            </a:pathLst>
          </a:cu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cxnSp>
        <p:nvCxnSpPr>
          <p:cNvPr id="93" name="直接箭头连接符 92">
            <a:extLst>
              <a:ext uri="{FF2B5EF4-FFF2-40B4-BE49-F238E27FC236}">
                <a16:creationId xmlns:a16="http://schemas.microsoft.com/office/drawing/2014/main" id="{9957D627-D79B-2BE4-8D04-ACC85A28FD1E}"/>
              </a:ext>
            </a:extLst>
          </p:cNvPr>
          <p:cNvCxnSpPr>
            <a:cxnSpLocks/>
          </p:cNvCxnSpPr>
          <p:nvPr/>
        </p:nvCxnSpPr>
        <p:spPr>
          <a:xfrm flipV="1">
            <a:off x="392965" y="4024404"/>
            <a:ext cx="311544" cy="3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0" name="矩形: 圆角 1197">
            <a:extLst>
              <a:ext uri="{FF2B5EF4-FFF2-40B4-BE49-F238E27FC236}">
                <a16:creationId xmlns:a16="http://schemas.microsoft.com/office/drawing/2014/main" id="{D6E7BCD3-4B6A-F9B6-F17D-8C528E538E36}"/>
              </a:ext>
            </a:extLst>
          </p:cNvPr>
          <p:cNvSpPr/>
          <p:nvPr/>
        </p:nvSpPr>
        <p:spPr>
          <a:xfrm>
            <a:off x="724961" y="3914574"/>
            <a:ext cx="1734745" cy="223913"/>
          </a:xfrm>
          <a:prstGeom prst="roundRect">
            <a:avLst>
              <a:gd name="adj" fmla="val 27564"/>
            </a:avLst>
          </a:prstGeom>
          <a:noFill/>
          <a:ln w="1905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noAutofit/>
          </a:bodyPr>
          <a:lstStyle/>
          <a:p>
            <a:pPr>
              <a:lnSpc>
                <a:spcPct val="8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1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     链上链下分层存证</a:t>
            </a:r>
            <a:endParaRPr kumimoji="0" lang="zh-CN" altLang="en-US" sz="1100" b="1" i="0" u="none" strike="noStrike" kern="1200" cap="none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+mn-ea"/>
            </a:endParaRPr>
          </a:p>
        </p:txBody>
      </p:sp>
      <p:sp>
        <p:nvSpPr>
          <p:cNvPr id="227" name="任意多边形: 形状 226">
            <a:extLst>
              <a:ext uri="{FF2B5EF4-FFF2-40B4-BE49-F238E27FC236}">
                <a16:creationId xmlns:a16="http://schemas.microsoft.com/office/drawing/2014/main" id="{403FFB0D-E252-7A29-7E2B-264C107AC502}"/>
              </a:ext>
            </a:extLst>
          </p:cNvPr>
          <p:cNvSpPr/>
          <p:nvPr/>
        </p:nvSpPr>
        <p:spPr>
          <a:xfrm>
            <a:off x="724961" y="4233371"/>
            <a:ext cx="300210" cy="223913"/>
          </a:xfrm>
          <a:custGeom>
            <a:avLst/>
            <a:gdLst>
              <a:gd name="csX0" fmla="*/ 61719 w 269842"/>
              <a:gd name="csY0" fmla="*/ 0 h 223913"/>
              <a:gd name="csX1" fmla="*/ 269842 w 269842"/>
              <a:gd name="csY1" fmla="*/ 0 h 223913"/>
              <a:gd name="csX2" fmla="*/ 269842 w 269842"/>
              <a:gd name="csY2" fmla="*/ 223913 h 223913"/>
              <a:gd name="csX3" fmla="*/ 61719 w 269842"/>
              <a:gd name="csY3" fmla="*/ 223913 h 223913"/>
              <a:gd name="csX4" fmla="*/ 0 w 269842"/>
              <a:gd name="csY4" fmla="*/ 162194 h 223913"/>
              <a:gd name="csX5" fmla="*/ 0 w 269842"/>
              <a:gd name="csY5" fmla="*/ 61719 h 223913"/>
              <a:gd name="csX6" fmla="*/ 61719 w 269842"/>
              <a:gd name="csY6" fmla="*/ 0 h 22391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269842" h="223913">
                <a:moveTo>
                  <a:pt x="61719" y="0"/>
                </a:moveTo>
                <a:lnTo>
                  <a:pt x="269842" y="0"/>
                </a:lnTo>
                <a:lnTo>
                  <a:pt x="269842" y="223913"/>
                </a:lnTo>
                <a:lnTo>
                  <a:pt x="61719" y="223913"/>
                </a:lnTo>
                <a:cubicBezTo>
                  <a:pt x="27633" y="223913"/>
                  <a:pt x="0" y="196280"/>
                  <a:pt x="0" y="162194"/>
                </a:cubicBezTo>
                <a:lnTo>
                  <a:pt x="0" y="61719"/>
                </a:lnTo>
                <a:cubicBezTo>
                  <a:pt x="0" y="27633"/>
                  <a:pt x="27633" y="0"/>
                  <a:pt x="61719" y="0"/>
                </a:cubicBezTo>
                <a:close/>
              </a:path>
            </a:pathLst>
          </a:cu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28" name="矩形: 圆角 1197">
            <a:extLst>
              <a:ext uri="{FF2B5EF4-FFF2-40B4-BE49-F238E27FC236}">
                <a16:creationId xmlns:a16="http://schemas.microsoft.com/office/drawing/2014/main" id="{DD6CD055-BBD4-5F5A-2E1C-F586E202501E}"/>
              </a:ext>
            </a:extLst>
          </p:cNvPr>
          <p:cNvSpPr/>
          <p:nvPr/>
        </p:nvSpPr>
        <p:spPr>
          <a:xfrm>
            <a:off x="724961" y="4233371"/>
            <a:ext cx="1734745" cy="223913"/>
          </a:xfrm>
          <a:prstGeom prst="roundRect">
            <a:avLst>
              <a:gd name="adj" fmla="val 27564"/>
            </a:avLst>
          </a:prstGeom>
          <a:noFill/>
          <a:ln w="1905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noAutofit/>
          </a:bodyPr>
          <a:lstStyle/>
          <a:p>
            <a:pPr>
              <a:lnSpc>
                <a:spcPct val="8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1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     可验证分级协同索引</a:t>
            </a:r>
            <a:endParaRPr kumimoji="0" lang="zh-CN" altLang="en-US" sz="1100" b="1" i="0" u="none" strike="noStrike" kern="1200" cap="none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+mn-ea"/>
            </a:endParaRPr>
          </a:p>
        </p:txBody>
      </p:sp>
      <p:sp>
        <p:nvSpPr>
          <p:cNvPr id="229" name="任意多边形: 形状 228">
            <a:extLst>
              <a:ext uri="{FF2B5EF4-FFF2-40B4-BE49-F238E27FC236}">
                <a16:creationId xmlns:a16="http://schemas.microsoft.com/office/drawing/2014/main" id="{7CC5655E-14EE-EDB3-7A80-93A57E4F07F3}"/>
              </a:ext>
            </a:extLst>
          </p:cNvPr>
          <p:cNvSpPr/>
          <p:nvPr/>
        </p:nvSpPr>
        <p:spPr>
          <a:xfrm>
            <a:off x="724961" y="4563313"/>
            <a:ext cx="300210" cy="223913"/>
          </a:xfrm>
          <a:custGeom>
            <a:avLst/>
            <a:gdLst>
              <a:gd name="csX0" fmla="*/ 61719 w 269842"/>
              <a:gd name="csY0" fmla="*/ 0 h 223913"/>
              <a:gd name="csX1" fmla="*/ 269842 w 269842"/>
              <a:gd name="csY1" fmla="*/ 0 h 223913"/>
              <a:gd name="csX2" fmla="*/ 269842 w 269842"/>
              <a:gd name="csY2" fmla="*/ 223913 h 223913"/>
              <a:gd name="csX3" fmla="*/ 61719 w 269842"/>
              <a:gd name="csY3" fmla="*/ 223913 h 223913"/>
              <a:gd name="csX4" fmla="*/ 0 w 269842"/>
              <a:gd name="csY4" fmla="*/ 162194 h 223913"/>
              <a:gd name="csX5" fmla="*/ 0 w 269842"/>
              <a:gd name="csY5" fmla="*/ 61719 h 223913"/>
              <a:gd name="csX6" fmla="*/ 61719 w 269842"/>
              <a:gd name="csY6" fmla="*/ 0 h 22391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269842" h="223913">
                <a:moveTo>
                  <a:pt x="61719" y="0"/>
                </a:moveTo>
                <a:lnTo>
                  <a:pt x="269842" y="0"/>
                </a:lnTo>
                <a:lnTo>
                  <a:pt x="269842" y="223913"/>
                </a:lnTo>
                <a:lnTo>
                  <a:pt x="61719" y="223913"/>
                </a:lnTo>
                <a:cubicBezTo>
                  <a:pt x="27633" y="223913"/>
                  <a:pt x="0" y="196280"/>
                  <a:pt x="0" y="162194"/>
                </a:cubicBezTo>
                <a:lnTo>
                  <a:pt x="0" y="61719"/>
                </a:lnTo>
                <a:cubicBezTo>
                  <a:pt x="0" y="27633"/>
                  <a:pt x="27633" y="0"/>
                  <a:pt x="61719" y="0"/>
                </a:cubicBezTo>
                <a:close/>
              </a:path>
            </a:pathLst>
          </a:cu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30" name="矩形: 圆角 1197">
            <a:extLst>
              <a:ext uri="{FF2B5EF4-FFF2-40B4-BE49-F238E27FC236}">
                <a16:creationId xmlns:a16="http://schemas.microsoft.com/office/drawing/2014/main" id="{A24FA40F-C5AB-B2D3-AE47-7837D89B97DD}"/>
              </a:ext>
            </a:extLst>
          </p:cNvPr>
          <p:cNvSpPr/>
          <p:nvPr/>
        </p:nvSpPr>
        <p:spPr>
          <a:xfrm>
            <a:off x="724961" y="4563313"/>
            <a:ext cx="1734745" cy="223913"/>
          </a:xfrm>
          <a:prstGeom prst="roundRect">
            <a:avLst>
              <a:gd name="adj" fmla="val 27564"/>
            </a:avLst>
          </a:prstGeom>
          <a:noFill/>
          <a:ln w="1905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noAutofit/>
          </a:bodyPr>
          <a:lstStyle/>
          <a:p>
            <a:pPr>
              <a:lnSpc>
                <a:spcPct val="8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1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     高效可学习索引</a:t>
            </a:r>
            <a:endParaRPr kumimoji="0" lang="zh-CN" altLang="en-US" sz="1100" b="1" i="0" u="none" strike="noStrike" kern="1200" cap="none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+mn-ea"/>
            </a:endParaRPr>
          </a:p>
        </p:txBody>
      </p:sp>
      <p:cxnSp>
        <p:nvCxnSpPr>
          <p:cNvPr id="233" name="直接连接符 232">
            <a:extLst>
              <a:ext uri="{FF2B5EF4-FFF2-40B4-BE49-F238E27FC236}">
                <a16:creationId xmlns:a16="http://schemas.microsoft.com/office/drawing/2014/main" id="{224F243B-ABDD-CDD0-846B-2C0C9DA1671D}"/>
              </a:ext>
            </a:extLst>
          </p:cNvPr>
          <p:cNvCxnSpPr>
            <a:cxnSpLocks/>
          </p:cNvCxnSpPr>
          <p:nvPr/>
        </p:nvCxnSpPr>
        <p:spPr>
          <a:xfrm flipV="1">
            <a:off x="411008" y="4010325"/>
            <a:ext cx="0" cy="1142474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7" name="矩形: 圆角 1197">
            <a:extLst>
              <a:ext uri="{FF2B5EF4-FFF2-40B4-BE49-F238E27FC236}">
                <a16:creationId xmlns:a16="http://schemas.microsoft.com/office/drawing/2014/main" id="{F350E32D-2857-DB7A-BCFB-6DF3E4ECB936}"/>
              </a:ext>
            </a:extLst>
          </p:cNvPr>
          <p:cNvSpPr/>
          <p:nvPr/>
        </p:nvSpPr>
        <p:spPr>
          <a:xfrm>
            <a:off x="1239662" y="1630179"/>
            <a:ext cx="620438" cy="937299"/>
          </a:xfrm>
          <a:prstGeom prst="roundRect">
            <a:avLst>
              <a:gd name="adj" fmla="val 27564"/>
            </a:avLst>
          </a:prstGeom>
          <a:noFill/>
          <a:ln w="1905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rIns="0" rtlCol="0" anchor="ctr">
            <a:noAutofit/>
          </a:bodyPr>
          <a:lstStyle/>
          <a:p>
            <a:pPr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链上链下分层存证</a:t>
            </a:r>
            <a:endParaRPr kumimoji="0" lang="zh-CN" altLang="en-US" sz="1400" b="1" i="0" u="none" strike="noStrike" kern="1200" cap="none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+mn-ea"/>
            </a:endParaRPr>
          </a:p>
        </p:txBody>
      </p:sp>
      <p:sp>
        <p:nvSpPr>
          <p:cNvPr id="319" name="矩形: 圆角 1197">
            <a:extLst>
              <a:ext uri="{FF2B5EF4-FFF2-40B4-BE49-F238E27FC236}">
                <a16:creationId xmlns:a16="http://schemas.microsoft.com/office/drawing/2014/main" id="{98B3DF96-D4A6-8BAA-1E5D-114CC3B48FCC}"/>
              </a:ext>
            </a:extLst>
          </p:cNvPr>
          <p:cNvSpPr/>
          <p:nvPr/>
        </p:nvSpPr>
        <p:spPr>
          <a:xfrm>
            <a:off x="2118145" y="1595654"/>
            <a:ext cx="224854" cy="1001636"/>
          </a:xfrm>
          <a:prstGeom prst="roundRect">
            <a:avLst>
              <a:gd name="adj" fmla="val 27564"/>
            </a:avLst>
          </a:prstGeom>
          <a:solidFill>
            <a:srgbClr val="C00000"/>
          </a:solidFill>
          <a:ln w="1905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rIns="0" rtlCol="0" anchor="ctr">
            <a:noAutofit/>
          </a:bodyPr>
          <a:lstStyle/>
          <a:p>
            <a:pPr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规律输出</a:t>
            </a:r>
            <a:endParaRPr kumimoji="0" lang="zh-CN" altLang="en-US" sz="1400" b="1" i="0" u="none" strike="noStrike" kern="1200" cap="none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+mn-ea"/>
            </a:endParaRPr>
          </a:p>
        </p:txBody>
      </p:sp>
      <p:sp>
        <p:nvSpPr>
          <p:cNvPr id="320" name="任意多边形: 形状 319">
            <a:extLst>
              <a:ext uri="{FF2B5EF4-FFF2-40B4-BE49-F238E27FC236}">
                <a16:creationId xmlns:a16="http://schemas.microsoft.com/office/drawing/2014/main" id="{91115CA1-7093-15EC-4F9D-B970BD0CDAE3}"/>
              </a:ext>
            </a:extLst>
          </p:cNvPr>
          <p:cNvSpPr/>
          <p:nvPr/>
        </p:nvSpPr>
        <p:spPr>
          <a:xfrm>
            <a:off x="3271486" y="1653521"/>
            <a:ext cx="150921" cy="223913"/>
          </a:xfrm>
          <a:custGeom>
            <a:avLst/>
            <a:gdLst>
              <a:gd name="csX0" fmla="*/ 61719 w 269842"/>
              <a:gd name="csY0" fmla="*/ 0 h 223913"/>
              <a:gd name="csX1" fmla="*/ 269842 w 269842"/>
              <a:gd name="csY1" fmla="*/ 0 h 223913"/>
              <a:gd name="csX2" fmla="*/ 269842 w 269842"/>
              <a:gd name="csY2" fmla="*/ 223913 h 223913"/>
              <a:gd name="csX3" fmla="*/ 61719 w 269842"/>
              <a:gd name="csY3" fmla="*/ 223913 h 223913"/>
              <a:gd name="csX4" fmla="*/ 0 w 269842"/>
              <a:gd name="csY4" fmla="*/ 162194 h 223913"/>
              <a:gd name="csX5" fmla="*/ 0 w 269842"/>
              <a:gd name="csY5" fmla="*/ 61719 h 223913"/>
              <a:gd name="csX6" fmla="*/ 61719 w 269842"/>
              <a:gd name="csY6" fmla="*/ 0 h 22391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269842" h="223913">
                <a:moveTo>
                  <a:pt x="61719" y="0"/>
                </a:moveTo>
                <a:lnTo>
                  <a:pt x="269842" y="0"/>
                </a:lnTo>
                <a:lnTo>
                  <a:pt x="269842" y="223913"/>
                </a:lnTo>
                <a:lnTo>
                  <a:pt x="61719" y="223913"/>
                </a:lnTo>
                <a:cubicBezTo>
                  <a:pt x="27633" y="223913"/>
                  <a:pt x="0" y="196280"/>
                  <a:pt x="0" y="162194"/>
                </a:cubicBezTo>
                <a:lnTo>
                  <a:pt x="0" y="61719"/>
                </a:lnTo>
                <a:cubicBezTo>
                  <a:pt x="0" y="27633"/>
                  <a:pt x="27633" y="0"/>
                  <a:pt x="61719" y="0"/>
                </a:cubicBezTo>
                <a:close/>
              </a:path>
            </a:pathLst>
          </a:cu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325" name="矩形: 圆角 1197">
            <a:extLst>
              <a:ext uri="{FF2B5EF4-FFF2-40B4-BE49-F238E27FC236}">
                <a16:creationId xmlns:a16="http://schemas.microsoft.com/office/drawing/2014/main" id="{60365E2A-4424-CA29-61CD-D8F73CE8A783}"/>
              </a:ext>
            </a:extLst>
          </p:cNvPr>
          <p:cNvSpPr/>
          <p:nvPr/>
        </p:nvSpPr>
        <p:spPr>
          <a:xfrm>
            <a:off x="3271486" y="1653521"/>
            <a:ext cx="1734745" cy="223913"/>
          </a:xfrm>
          <a:prstGeom prst="roundRect">
            <a:avLst>
              <a:gd name="adj" fmla="val 27564"/>
            </a:avLst>
          </a:prstGeom>
          <a:noFill/>
          <a:ln w="1905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noAutofit/>
          </a:bodyPr>
          <a:lstStyle/>
          <a:p>
            <a:pPr>
              <a:lnSpc>
                <a:spcPct val="8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1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 多通道观测与参考构造</a:t>
            </a:r>
            <a:endParaRPr kumimoji="0" lang="zh-CN" altLang="en-US" sz="1100" b="1" i="0" u="none" strike="noStrike" kern="1200" cap="none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+mn-ea"/>
            </a:endParaRPr>
          </a:p>
        </p:txBody>
      </p:sp>
      <p:sp>
        <p:nvSpPr>
          <p:cNvPr id="326" name="任意多边形: 形状 325">
            <a:extLst>
              <a:ext uri="{FF2B5EF4-FFF2-40B4-BE49-F238E27FC236}">
                <a16:creationId xmlns:a16="http://schemas.microsoft.com/office/drawing/2014/main" id="{2B50D059-EC62-B88D-E034-B1AC8203DF8F}"/>
              </a:ext>
            </a:extLst>
          </p:cNvPr>
          <p:cNvSpPr/>
          <p:nvPr/>
        </p:nvSpPr>
        <p:spPr>
          <a:xfrm>
            <a:off x="3271486" y="1972318"/>
            <a:ext cx="150921" cy="223913"/>
          </a:xfrm>
          <a:custGeom>
            <a:avLst/>
            <a:gdLst>
              <a:gd name="csX0" fmla="*/ 61719 w 269842"/>
              <a:gd name="csY0" fmla="*/ 0 h 223913"/>
              <a:gd name="csX1" fmla="*/ 269842 w 269842"/>
              <a:gd name="csY1" fmla="*/ 0 h 223913"/>
              <a:gd name="csX2" fmla="*/ 269842 w 269842"/>
              <a:gd name="csY2" fmla="*/ 223913 h 223913"/>
              <a:gd name="csX3" fmla="*/ 61719 w 269842"/>
              <a:gd name="csY3" fmla="*/ 223913 h 223913"/>
              <a:gd name="csX4" fmla="*/ 0 w 269842"/>
              <a:gd name="csY4" fmla="*/ 162194 h 223913"/>
              <a:gd name="csX5" fmla="*/ 0 w 269842"/>
              <a:gd name="csY5" fmla="*/ 61719 h 223913"/>
              <a:gd name="csX6" fmla="*/ 61719 w 269842"/>
              <a:gd name="csY6" fmla="*/ 0 h 22391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269842" h="223913">
                <a:moveTo>
                  <a:pt x="61719" y="0"/>
                </a:moveTo>
                <a:lnTo>
                  <a:pt x="269842" y="0"/>
                </a:lnTo>
                <a:lnTo>
                  <a:pt x="269842" y="223913"/>
                </a:lnTo>
                <a:lnTo>
                  <a:pt x="61719" y="223913"/>
                </a:lnTo>
                <a:cubicBezTo>
                  <a:pt x="27633" y="223913"/>
                  <a:pt x="0" y="196280"/>
                  <a:pt x="0" y="162194"/>
                </a:cubicBezTo>
                <a:lnTo>
                  <a:pt x="0" y="61719"/>
                </a:lnTo>
                <a:cubicBezTo>
                  <a:pt x="0" y="27633"/>
                  <a:pt x="27633" y="0"/>
                  <a:pt x="61719" y="0"/>
                </a:cubicBezTo>
                <a:close/>
              </a:path>
            </a:pathLst>
          </a:cu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327" name="矩形: 圆角 1197">
            <a:extLst>
              <a:ext uri="{FF2B5EF4-FFF2-40B4-BE49-F238E27FC236}">
                <a16:creationId xmlns:a16="http://schemas.microsoft.com/office/drawing/2014/main" id="{269FD9FE-E70A-E5D6-871A-B9F95300D11B}"/>
              </a:ext>
            </a:extLst>
          </p:cNvPr>
          <p:cNvSpPr/>
          <p:nvPr/>
        </p:nvSpPr>
        <p:spPr>
          <a:xfrm>
            <a:off x="3271486" y="1972318"/>
            <a:ext cx="1734745" cy="223913"/>
          </a:xfrm>
          <a:prstGeom prst="roundRect">
            <a:avLst>
              <a:gd name="adj" fmla="val 27564"/>
            </a:avLst>
          </a:prstGeom>
          <a:noFill/>
          <a:ln w="1905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noAutofit/>
          </a:bodyPr>
          <a:lstStyle/>
          <a:p>
            <a:pPr>
              <a:lnSpc>
                <a:spcPct val="8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1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 目标保护型自适应干扰对消</a:t>
            </a:r>
            <a:endParaRPr kumimoji="0" lang="zh-CN" altLang="en-US" sz="1100" b="1" i="0" u="none" strike="noStrike" kern="1200" cap="none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+mn-ea"/>
            </a:endParaRPr>
          </a:p>
        </p:txBody>
      </p:sp>
      <p:sp>
        <p:nvSpPr>
          <p:cNvPr id="330" name="任意多边形: 形状 329">
            <a:extLst>
              <a:ext uri="{FF2B5EF4-FFF2-40B4-BE49-F238E27FC236}">
                <a16:creationId xmlns:a16="http://schemas.microsoft.com/office/drawing/2014/main" id="{45CB434E-A9FF-7012-68D5-AEAC8ECCE159}"/>
              </a:ext>
            </a:extLst>
          </p:cNvPr>
          <p:cNvSpPr/>
          <p:nvPr/>
        </p:nvSpPr>
        <p:spPr>
          <a:xfrm>
            <a:off x="3271486" y="2302260"/>
            <a:ext cx="150921" cy="223913"/>
          </a:xfrm>
          <a:custGeom>
            <a:avLst/>
            <a:gdLst>
              <a:gd name="csX0" fmla="*/ 61719 w 269842"/>
              <a:gd name="csY0" fmla="*/ 0 h 223913"/>
              <a:gd name="csX1" fmla="*/ 269842 w 269842"/>
              <a:gd name="csY1" fmla="*/ 0 h 223913"/>
              <a:gd name="csX2" fmla="*/ 269842 w 269842"/>
              <a:gd name="csY2" fmla="*/ 223913 h 223913"/>
              <a:gd name="csX3" fmla="*/ 61719 w 269842"/>
              <a:gd name="csY3" fmla="*/ 223913 h 223913"/>
              <a:gd name="csX4" fmla="*/ 0 w 269842"/>
              <a:gd name="csY4" fmla="*/ 162194 h 223913"/>
              <a:gd name="csX5" fmla="*/ 0 w 269842"/>
              <a:gd name="csY5" fmla="*/ 61719 h 223913"/>
              <a:gd name="csX6" fmla="*/ 61719 w 269842"/>
              <a:gd name="csY6" fmla="*/ 0 h 22391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269842" h="223913">
                <a:moveTo>
                  <a:pt x="61719" y="0"/>
                </a:moveTo>
                <a:lnTo>
                  <a:pt x="269842" y="0"/>
                </a:lnTo>
                <a:lnTo>
                  <a:pt x="269842" y="223913"/>
                </a:lnTo>
                <a:lnTo>
                  <a:pt x="61719" y="223913"/>
                </a:lnTo>
                <a:cubicBezTo>
                  <a:pt x="27633" y="223913"/>
                  <a:pt x="0" y="196280"/>
                  <a:pt x="0" y="162194"/>
                </a:cubicBezTo>
                <a:lnTo>
                  <a:pt x="0" y="61719"/>
                </a:lnTo>
                <a:cubicBezTo>
                  <a:pt x="0" y="27633"/>
                  <a:pt x="27633" y="0"/>
                  <a:pt x="61719" y="0"/>
                </a:cubicBezTo>
                <a:close/>
              </a:path>
            </a:pathLst>
          </a:cu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331" name="矩形: 圆角 1197">
            <a:extLst>
              <a:ext uri="{FF2B5EF4-FFF2-40B4-BE49-F238E27FC236}">
                <a16:creationId xmlns:a16="http://schemas.microsoft.com/office/drawing/2014/main" id="{E7A870C2-7E17-4BF2-D95E-EC9C0463A7A4}"/>
              </a:ext>
            </a:extLst>
          </p:cNvPr>
          <p:cNvSpPr/>
          <p:nvPr/>
        </p:nvSpPr>
        <p:spPr>
          <a:xfrm>
            <a:off x="3271486" y="2302260"/>
            <a:ext cx="1734745" cy="223913"/>
          </a:xfrm>
          <a:prstGeom prst="roundRect">
            <a:avLst>
              <a:gd name="adj" fmla="val 27564"/>
            </a:avLst>
          </a:prstGeom>
          <a:noFill/>
          <a:ln w="1905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noAutofit/>
          </a:bodyPr>
          <a:lstStyle/>
          <a:p>
            <a:pPr>
              <a:lnSpc>
                <a:spcPct val="8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1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 残余频谱增强与参数输出</a:t>
            </a:r>
            <a:endParaRPr kumimoji="0" lang="zh-CN" altLang="en-US" sz="1100" b="1" i="0" u="none" strike="noStrike" kern="1200" cap="none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+mn-ea"/>
            </a:endParaRPr>
          </a:p>
        </p:txBody>
      </p:sp>
      <p:sp>
        <p:nvSpPr>
          <p:cNvPr id="332" name="任意多边形: 形状 331">
            <a:extLst>
              <a:ext uri="{FF2B5EF4-FFF2-40B4-BE49-F238E27FC236}">
                <a16:creationId xmlns:a16="http://schemas.microsoft.com/office/drawing/2014/main" id="{5C0B5559-22EA-205A-A836-6C759EDA344C}"/>
              </a:ext>
            </a:extLst>
          </p:cNvPr>
          <p:cNvSpPr/>
          <p:nvPr/>
        </p:nvSpPr>
        <p:spPr>
          <a:xfrm>
            <a:off x="5763094" y="1661902"/>
            <a:ext cx="300210" cy="223913"/>
          </a:xfrm>
          <a:custGeom>
            <a:avLst/>
            <a:gdLst>
              <a:gd name="csX0" fmla="*/ 61719 w 269842"/>
              <a:gd name="csY0" fmla="*/ 0 h 223913"/>
              <a:gd name="csX1" fmla="*/ 269842 w 269842"/>
              <a:gd name="csY1" fmla="*/ 0 h 223913"/>
              <a:gd name="csX2" fmla="*/ 269842 w 269842"/>
              <a:gd name="csY2" fmla="*/ 223913 h 223913"/>
              <a:gd name="csX3" fmla="*/ 61719 w 269842"/>
              <a:gd name="csY3" fmla="*/ 223913 h 223913"/>
              <a:gd name="csX4" fmla="*/ 0 w 269842"/>
              <a:gd name="csY4" fmla="*/ 162194 h 223913"/>
              <a:gd name="csX5" fmla="*/ 0 w 269842"/>
              <a:gd name="csY5" fmla="*/ 61719 h 223913"/>
              <a:gd name="csX6" fmla="*/ 61719 w 269842"/>
              <a:gd name="csY6" fmla="*/ 0 h 22391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269842" h="223913">
                <a:moveTo>
                  <a:pt x="61719" y="0"/>
                </a:moveTo>
                <a:lnTo>
                  <a:pt x="269842" y="0"/>
                </a:lnTo>
                <a:lnTo>
                  <a:pt x="269842" y="223913"/>
                </a:lnTo>
                <a:lnTo>
                  <a:pt x="61719" y="223913"/>
                </a:lnTo>
                <a:cubicBezTo>
                  <a:pt x="27633" y="223913"/>
                  <a:pt x="0" y="196280"/>
                  <a:pt x="0" y="162194"/>
                </a:cubicBezTo>
                <a:lnTo>
                  <a:pt x="0" y="61719"/>
                </a:lnTo>
                <a:cubicBezTo>
                  <a:pt x="0" y="27633"/>
                  <a:pt x="27633" y="0"/>
                  <a:pt x="61719" y="0"/>
                </a:cubicBezTo>
                <a:close/>
              </a:path>
            </a:pathLst>
          </a:cu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333" name="矩形: 圆角 1197">
            <a:extLst>
              <a:ext uri="{FF2B5EF4-FFF2-40B4-BE49-F238E27FC236}">
                <a16:creationId xmlns:a16="http://schemas.microsoft.com/office/drawing/2014/main" id="{A47331DD-3563-52CA-8BC5-4CCE3367ED69}"/>
              </a:ext>
            </a:extLst>
          </p:cNvPr>
          <p:cNvSpPr/>
          <p:nvPr/>
        </p:nvSpPr>
        <p:spPr>
          <a:xfrm>
            <a:off x="5763094" y="1661902"/>
            <a:ext cx="1734745" cy="223913"/>
          </a:xfrm>
          <a:prstGeom prst="roundRect">
            <a:avLst>
              <a:gd name="adj" fmla="val 27564"/>
            </a:avLst>
          </a:prstGeom>
          <a:noFill/>
          <a:ln w="1905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noAutofit/>
          </a:bodyPr>
          <a:lstStyle/>
          <a:p>
            <a:pPr>
              <a:lnSpc>
                <a:spcPct val="8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1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     多域谱图张量构建</a:t>
            </a:r>
            <a:endParaRPr kumimoji="0" lang="zh-CN" altLang="en-US" sz="1100" b="1" i="0" u="none" strike="noStrike" kern="1200" cap="none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+mn-ea"/>
            </a:endParaRPr>
          </a:p>
        </p:txBody>
      </p:sp>
      <p:sp>
        <p:nvSpPr>
          <p:cNvPr id="335" name="任意多边形: 形状 334">
            <a:extLst>
              <a:ext uri="{FF2B5EF4-FFF2-40B4-BE49-F238E27FC236}">
                <a16:creationId xmlns:a16="http://schemas.microsoft.com/office/drawing/2014/main" id="{3A281053-33C8-ED15-82D2-8C7439EA1FF7}"/>
              </a:ext>
            </a:extLst>
          </p:cNvPr>
          <p:cNvSpPr/>
          <p:nvPr/>
        </p:nvSpPr>
        <p:spPr>
          <a:xfrm>
            <a:off x="5763094" y="1980699"/>
            <a:ext cx="300210" cy="223913"/>
          </a:xfrm>
          <a:custGeom>
            <a:avLst/>
            <a:gdLst>
              <a:gd name="csX0" fmla="*/ 61719 w 269842"/>
              <a:gd name="csY0" fmla="*/ 0 h 223913"/>
              <a:gd name="csX1" fmla="*/ 269842 w 269842"/>
              <a:gd name="csY1" fmla="*/ 0 h 223913"/>
              <a:gd name="csX2" fmla="*/ 269842 w 269842"/>
              <a:gd name="csY2" fmla="*/ 223913 h 223913"/>
              <a:gd name="csX3" fmla="*/ 61719 w 269842"/>
              <a:gd name="csY3" fmla="*/ 223913 h 223913"/>
              <a:gd name="csX4" fmla="*/ 0 w 269842"/>
              <a:gd name="csY4" fmla="*/ 162194 h 223913"/>
              <a:gd name="csX5" fmla="*/ 0 w 269842"/>
              <a:gd name="csY5" fmla="*/ 61719 h 223913"/>
              <a:gd name="csX6" fmla="*/ 61719 w 269842"/>
              <a:gd name="csY6" fmla="*/ 0 h 22391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269842" h="223913">
                <a:moveTo>
                  <a:pt x="61719" y="0"/>
                </a:moveTo>
                <a:lnTo>
                  <a:pt x="269842" y="0"/>
                </a:lnTo>
                <a:lnTo>
                  <a:pt x="269842" y="223913"/>
                </a:lnTo>
                <a:lnTo>
                  <a:pt x="61719" y="223913"/>
                </a:lnTo>
                <a:cubicBezTo>
                  <a:pt x="27633" y="223913"/>
                  <a:pt x="0" y="196280"/>
                  <a:pt x="0" y="162194"/>
                </a:cubicBezTo>
                <a:lnTo>
                  <a:pt x="0" y="61719"/>
                </a:lnTo>
                <a:cubicBezTo>
                  <a:pt x="0" y="27633"/>
                  <a:pt x="27633" y="0"/>
                  <a:pt x="61719" y="0"/>
                </a:cubicBezTo>
                <a:close/>
              </a:path>
            </a:pathLst>
          </a:cu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339" name="矩形: 圆角 1197">
            <a:extLst>
              <a:ext uri="{FF2B5EF4-FFF2-40B4-BE49-F238E27FC236}">
                <a16:creationId xmlns:a16="http://schemas.microsoft.com/office/drawing/2014/main" id="{DFEF8FC7-77C6-067D-2913-078420557276}"/>
              </a:ext>
            </a:extLst>
          </p:cNvPr>
          <p:cNvSpPr/>
          <p:nvPr/>
        </p:nvSpPr>
        <p:spPr>
          <a:xfrm>
            <a:off x="5763094" y="1980699"/>
            <a:ext cx="1734745" cy="223913"/>
          </a:xfrm>
          <a:prstGeom prst="roundRect">
            <a:avLst>
              <a:gd name="adj" fmla="val 27564"/>
            </a:avLst>
          </a:prstGeom>
          <a:noFill/>
          <a:ln w="1905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noAutofit/>
          </a:bodyPr>
          <a:lstStyle/>
          <a:p>
            <a:pPr>
              <a:lnSpc>
                <a:spcPct val="8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1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     候选区域检测与分离</a:t>
            </a:r>
            <a:endParaRPr kumimoji="0" lang="zh-CN" altLang="en-US" sz="1100" b="1" i="0" u="none" strike="noStrike" kern="1200" cap="none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+mn-ea"/>
            </a:endParaRPr>
          </a:p>
        </p:txBody>
      </p:sp>
      <p:sp>
        <p:nvSpPr>
          <p:cNvPr id="340" name="任意多边形: 形状 339">
            <a:extLst>
              <a:ext uri="{FF2B5EF4-FFF2-40B4-BE49-F238E27FC236}">
                <a16:creationId xmlns:a16="http://schemas.microsoft.com/office/drawing/2014/main" id="{2C718FAB-DB28-A068-F4CE-5747E8D9F2A6}"/>
              </a:ext>
            </a:extLst>
          </p:cNvPr>
          <p:cNvSpPr/>
          <p:nvPr/>
        </p:nvSpPr>
        <p:spPr>
          <a:xfrm>
            <a:off x="5763094" y="2310641"/>
            <a:ext cx="300210" cy="223913"/>
          </a:xfrm>
          <a:custGeom>
            <a:avLst/>
            <a:gdLst>
              <a:gd name="csX0" fmla="*/ 61719 w 269842"/>
              <a:gd name="csY0" fmla="*/ 0 h 223913"/>
              <a:gd name="csX1" fmla="*/ 269842 w 269842"/>
              <a:gd name="csY1" fmla="*/ 0 h 223913"/>
              <a:gd name="csX2" fmla="*/ 269842 w 269842"/>
              <a:gd name="csY2" fmla="*/ 223913 h 223913"/>
              <a:gd name="csX3" fmla="*/ 61719 w 269842"/>
              <a:gd name="csY3" fmla="*/ 223913 h 223913"/>
              <a:gd name="csX4" fmla="*/ 0 w 269842"/>
              <a:gd name="csY4" fmla="*/ 162194 h 223913"/>
              <a:gd name="csX5" fmla="*/ 0 w 269842"/>
              <a:gd name="csY5" fmla="*/ 61719 h 223913"/>
              <a:gd name="csX6" fmla="*/ 61719 w 269842"/>
              <a:gd name="csY6" fmla="*/ 0 h 22391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269842" h="223913">
                <a:moveTo>
                  <a:pt x="61719" y="0"/>
                </a:moveTo>
                <a:lnTo>
                  <a:pt x="269842" y="0"/>
                </a:lnTo>
                <a:lnTo>
                  <a:pt x="269842" y="223913"/>
                </a:lnTo>
                <a:lnTo>
                  <a:pt x="61719" y="223913"/>
                </a:lnTo>
                <a:cubicBezTo>
                  <a:pt x="27633" y="223913"/>
                  <a:pt x="0" y="196280"/>
                  <a:pt x="0" y="162194"/>
                </a:cubicBezTo>
                <a:lnTo>
                  <a:pt x="0" y="61719"/>
                </a:lnTo>
                <a:cubicBezTo>
                  <a:pt x="0" y="27633"/>
                  <a:pt x="27633" y="0"/>
                  <a:pt x="61719" y="0"/>
                </a:cubicBezTo>
                <a:close/>
              </a:path>
            </a:pathLst>
          </a:cu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341" name="矩形: 圆角 1197">
            <a:extLst>
              <a:ext uri="{FF2B5EF4-FFF2-40B4-BE49-F238E27FC236}">
                <a16:creationId xmlns:a16="http://schemas.microsoft.com/office/drawing/2014/main" id="{02059C35-5702-105C-FE08-F0C9BF556401}"/>
              </a:ext>
            </a:extLst>
          </p:cNvPr>
          <p:cNvSpPr/>
          <p:nvPr/>
        </p:nvSpPr>
        <p:spPr>
          <a:xfrm>
            <a:off x="5763094" y="2310641"/>
            <a:ext cx="1734745" cy="223913"/>
          </a:xfrm>
          <a:prstGeom prst="roundRect">
            <a:avLst>
              <a:gd name="adj" fmla="val 27564"/>
            </a:avLst>
          </a:prstGeom>
          <a:noFill/>
          <a:ln w="1905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noAutofit/>
          </a:bodyPr>
          <a:lstStyle/>
          <a:p>
            <a:pPr>
              <a:lnSpc>
                <a:spcPct val="8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1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     参数反演与同步恢复</a:t>
            </a:r>
            <a:endParaRPr kumimoji="0" lang="zh-CN" altLang="en-US" sz="1100" b="1" i="0" u="none" strike="noStrike" kern="1200" cap="none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+mn-ea"/>
            </a:endParaRPr>
          </a:p>
        </p:txBody>
      </p:sp>
      <p:sp>
        <p:nvSpPr>
          <p:cNvPr id="342" name="矩形: 圆角 1197">
            <a:extLst>
              <a:ext uri="{FF2B5EF4-FFF2-40B4-BE49-F238E27FC236}">
                <a16:creationId xmlns:a16="http://schemas.microsoft.com/office/drawing/2014/main" id="{A2758CCC-8EF8-73AE-0CA5-12BD34EFD8AF}"/>
              </a:ext>
            </a:extLst>
          </p:cNvPr>
          <p:cNvSpPr/>
          <p:nvPr/>
        </p:nvSpPr>
        <p:spPr>
          <a:xfrm>
            <a:off x="5744485" y="3892482"/>
            <a:ext cx="620438" cy="937299"/>
          </a:xfrm>
          <a:prstGeom prst="roundRect">
            <a:avLst>
              <a:gd name="adj" fmla="val 27564"/>
            </a:avLst>
          </a:prstGeom>
          <a:noFill/>
          <a:ln w="1905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rIns="0" rtlCol="0" anchor="ctr">
            <a:noAutofit/>
          </a:bodyPr>
          <a:lstStyle/>
          <a:p>
            <a:pPr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事件窗口构建</a:t>
            </a:r>
            <a:endParaRPr kumimoji="0" lang="zh-CN" altLang="en-US" sz="1400" b="1" i="0" u="none" strike="noStrike" kern="1200" cap="none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+mn-ea"/>
            </a:endParaRPr>
          </a:p>
        </p:txBody>
      </p:sp>
      <p:sp>
        <p:nvSpPr>
          <p:cNvPr id="343" name="矩形: 圆角 1197">
            <a:extLst>
              <a:ext uri="{FF2B5EF4-FFF2-40B4-BE49-F238E27FC236}">
                <a16:creationId xmlns:a16="http://schemas.microsoft.com/office/drawing/2014/main" id="{42C23AB0-AF5D-E255-8041-FBDC900E28F7}"/>
              </a:ext>
            </a:extLst>
          </p:cNvPr>
          <p:cNvSpPr/>
          <p:nvPr/>
        </p:nvSpPr>
        <p:spPr>
          <a:xfrm>
            <a:off x="6517927" y="3984297"/>
            <a:ext cx="927788" cy="276999"/>
          </a:xfrm>
          <a:prstGeom prst="roundRect">
            <a:avLst>
              <a:gd name="adj" fmla="val 27564"/>
            </a:avLst>
          </a:prstGeom>
          <a:noFill/>
          <a:ln w="1905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noAutofit/>
          </a:bodyPr>
          <a:lstStyle/>
          <a:p>
            <a:pPr>
              <a:lnSpc>
                <a:spcPct val="8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1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存储价值评估</a:t>
            </a:r>
            <a:endParaRPr kumimoji="0" lang="zh-CN" altLang="en-US" sz="1100" b="1" i="0" u="none" strike="noStrike" kern="1200" cap="none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+mn-ea"/>
            </a:endParaRPr>
          </a:p>
        </p:txBody>
      </p:sp>
      <p:sp>
        <p:nvSpPr>
          <p:cNvPr id="344" name="矩形: 圆角 1197">
            <a:extLst>
              <a:ext uri="{FF2B5EF4-FFF2-40B4-BE49-F238E27FC236}">
                <a16:creationId xmlns:a16="http://schemas.microsoft.com/office/drawing/2014/main" id="{71BCDDB9-2980-CDE2-292B-FAACAD3D2079}"/>
              </a:ext>
            </a:extLst>
          </p:cNvPr>
          <p:cNvSpPr/>
          <p:nvPr/>
        </p:nvSpPr>
        <p:spPr>
          <a:xfrm>
            <a:off x="6506440" y="4489794"/>
            <a:ext cx="927788" cy="276999"/>
          </a:xfrm>
          <a:prstGeom prst="roundRect">
            <a:avLst>
              <a:gd name="adj" fmla="val 27564"/>
            </a:avLst>
          </a:prstGeom>
          <a:noFill/>
          <a:ln w="1905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noAutofit/>
          </a:bodyPr>
          <a:lstStyle/>
          <a:p>
            <a:pPr>
              <a:lnSpc>
                <a:spcPct val="8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1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识别价值评估</a:t>
            </a:r>
            <a:endParaRPr kumimoji="0" lang="zh-CN" altLang="en-US" sz="1100" b="1" i="0" u="none" strike="noStrike" kern="1200" cap="none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+mn-ea"/>
            </a:endParaRPr>
          </a:p>
        </p:txBody>
      </p:sp>
      <p:sp>
        <p:nvSpPr>
          <p:cNvPr id="349" name="任意多边形: 形状 348">
            <a:extLst>
              <a:ext uri="{FF2B5EF4-FFF2-40B4-BE49-F238E27FC236}">
                <a16:creationId xmlns:a16="http://schemas.microsoft.com/office/drawing/2014/main" id="{C22B638F-C644-CA91-2C76-1B9BF3BD59E2}"/>
              </a:ext>
            </a:extLst>
          </p:cNvPr>
          <p:cNvSpPr/>
          <p:nvPr/>
        </p:nvSpPr>
        <p:spPr>
          <a:xfrm>
            <a:off x="3213471" y="3970978"/>
            <a:ext cx="300210" cy="223913"/>
          </a:xfrm>
          <a:custGeom>
            <a:avLst/>
            <a:gdLst>
              <a:gd name="csX0" fmla="*/ 61719 w 269842"/>
              <a:gd name="csY0" fmla="*/ 0 h 223913"/>
              <a:gd name="csX1" fmla="*/ 269842 w 269842"/>
              <a:gd name="csY1" fmla="*/ 0 h 223913"/>
              <a:gd name="csX2" fmla="*/ 269842 w 269842"/>
              <a:gd name="csY2" fmla="*/ 223913 h 223913"/>
              <a:gd name="csX3" fmla="*/ 61719 w 269842"/>
              <a:gd name="csY3" fmla="*/ 223913 h 223913"/>
              <a:gd name="csX4" fmla="*/ 0 w 269842"/>
              <a:gd name="csY4" fmla="*/ 162194 h 223913"/>
              <a:gd name="csX5" fmla="*/ 0 w 269842"/>
              <a:gd name="csY5" fmla="*/ 61719 h 223913"/>
              <a:gd name="csX6" fmla="*/ 61719 w 269842"/>
              <a:gd name="csY6" fmla="*/ 0 h 22391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269842" h="223913">
                <a:moveTo>
                  <a:pt x="61719" y="0"/>
                </a:moveTo>
                <a:lnTo>
                  <a:pt x="269842" y="0"/>
                </a:lnTo>
                <a:lnTo>
                  <a:pt x="269842" y="223913"/>
                </a:lnTo>
                <a:lnTo>
                  <a:pt x="61719" y="223913"/>
                </a:lnTo>
                <a:cubicBezTo>
                  <a:pt x="27633" y="223913"/>
                  <a:pt x="0" y="196280"/>
                  <a:pt x="0" y="162194"/>
                </a:cubicBezTo>
                <a:lnTo>
                  <a:pt x="0" y="61719"/>
                </a:lnTo>
                <a:cubicBezTo>
                  <a:pt x="0" y="27633"/>
                  <a:pt x="27633" y="0"/>
                  <a:pt x="61719" y="0"/>
                </a:cubicBezTo>
                <a:close/>
              </a:path>
            </a:pathLst>
          </a:cu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350" name="矩形: 圆角 1197">
            <a:extLst>
              <a:ext uri="{FF2B5EF4-FFF2-40B4-BE49-F238E27FC236}">
                <a16:creationId xmlns:a16="http://schemas.microsoft.com/office/drawing/2014/main" id="{12B74950-FCF5-1DBC-0C34-82BD4154920F}"/>
              </a:ext>
            </a:extLst>
          </p:cNvPr>
          <p:cNvSpPr/>
          <p:nvPr/>
        </p:nvSpPr>
        <p:spPr>
          <a:xfrm>
            <a:off x="3213471" y="3970978"/>
            <a:ext cx="1734745" cy="223913"/>
          </a:xfrm>
          <a:prstGeom prst="roundRect">
            <a:avLst>
              <a:gd name="adj" fmla="val 27564"/>
            </a:avLst>
          </a:prstGeom>
          <a:noFill/>
          <a:ln w="1905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noAutofit/>
          </a:bodyPr>
          <a:lstStyle/>
          <a:p>
            <a:pPr>
              <a:lnSpc>
                <a:spcPct val="8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1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     表征提取与量化压缩</a:t>
            </a:r>
            <a:endParaRPr kumimoji="0" lang="zh-CN" altLang="en-US" sz="1100" b="1" i="0" u="none" strike="noStrike" kern="1200" cap="none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+mn-ea"/>
            </a:endParaRPr>
          </a:p>
        </p:txBody>
      </p:sp>
      <p:sp>
        <p:nvSpPr>
          <p:cNvPr id="351" name="任意多边形: 形状 350">
            <a:extLst>
              <a:ext uri="{FF2B5EF4-FFF2-40B4-BE49-F238E27FC236}">
                <a16:creationId xmlns:a16="http://schemas.microsoft.com/office/drawing/2014/main" id="{C9F06A9E-2DF8-2973-29DC-62338B7A9DD5}"/>
              </a:ext>
            </a:extLst>
          </p:cNvPr>
          <p:cNvSpPr/>
          <p:nvPr/>
        </p:nvSpPr>
        <p:spPr>
          <a:xfrm>
            <a:off x="3213471" y="4289775"/>
            <a:ext cx="300210" cy="223913"/>
          </a:xfrm>
          <a:custGeom>
            <a:avLst/>
            <a:gdLst>
              <a:gd name="csX0" fmla="*/ 61719 w 269842"/>
              <a:gd name="csY0" fmla="*/ 0 h 223913"/>
              <a:gd name="csX1" fmla="*/ 269842 w 269842"/>
              <a:gd name="csY1" fmla="*/ 0 h 223913"/>
              <a:gd name="csX2" fmla="*/ 269842 w 269842"/>
              <a:gd name="csY2" fmla="*/ 223913 h 223913"/>
              <a:gd name="csX3" fmla="*/ 61719 w 269842"/>
              <a:gd name="csY3" fmla="*/ 223913 h 223913"/>
              <a:gd name="csX4" fmla="*/ 0 w 269842"/>
              <a:gd name="csY4" fmla="*/ 162194 h 223913"/>
              <a:gd name="csX5" fmla="*/ 0 w 269842"/>
              <a:gd name="csY5" fmla="*/ 61719 h 223913"/>
              <a:gd name="csX6" fmla="*/ 61719 w 269842"/>
              <a:gd name="csY6" fmla="*/ 0 h 22391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269842" h="223913">
                <a:moveTo>
                  <a:pt x="61719" y="0"/>
                </a:moveTo>
                <a:lnTo>
                  <a:pt x="269842" y="0"/>
                </a:lnTo>
                <a:lnTo>
                  <a:pt x="269842" y="223913"/>
                </a:lnTo>
                <a:lnTo>
                  <a:pt x="61719" y="223913"/>
                </a:lnTo>
                <a:cubicBezTo>
                  <a:pt x="27633" y="223913"/>
                  <a:pt x="0" y="196280"/>
                  <a:pt x="0" y="162194"/>
                </a:cubicBezTo>
                <a:lnTo>
                  <a:pt x="0" y="61719"/>
                </a:lnTo>
                <a:cubicBezTo>
                  <a:pt x="0" y="27633"/>
                  <a:pt x="27633" y="0"/>
                  <a:pt x="61719" y="0"/>
                </a:cubicBezTo>
                <a:close/>
              </a:path>
            </a:pathLst>
          </a:cu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352" name="矩形: 圆角 1197">
            <a:extLst>
              <a:ext uri="{FF2B5EF4-FFF2-40B4-BE49-F238E27FC236}">
                <a16:creationId xmlns:a16="http://schemas.microsoft.com/office/drawing/2014/main" id="{24286B41-8410-4981-54AD-9A5DB49CE4F7}"/>
              </a:ext>
            </a:extLst>
          </p:cNvPr>
          <p:cNvSpPr/>
          <p:nvPr/>
        </p:nvSpPr>
        <p:spPr>
          <a:xfrm>
            <a:off x="3213471" y="4289775"/>
            <a:ext cx="1734745" cy="223913"/>
          </a:xfrm>
          <a:prstGeom prst="roundRect">
            <a:avLst>
              <a:gd name="adj" fmla="val 27564"/>
            </a:avLst>
          </a:prstGeom>
          <a:noFill/>
          <a:ln w="1905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noAutofit/>
          </a:bodyPr>
          <a:lstStyle/>
          <a:p>
            <a:pPr>
              <a:lnSpc>
                <a:spcPct val="8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1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     高局部性磁盘索引存储</a:t>
            </a:r>
            <a:endParaRPr kumimoji="0" lang="zh-CN" altLang="en-US" sz="1100" b="1" i="0" u="none" strike="noStrike" kern="1200" cap="none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+mn-ea"/>
            </a:endParaRPr>
          </a:p>
        </p:txBody>
      </p:sp>
      <p:sp>
        <p:nvSpPr>
          <p:cNvPr id="353" name="任意多边形: 形状 352">
            <a:extLst>
              <a:ext uri="{FF2B5EF4-FFF2-40B4-BE49-F238E27FC236}">
                <a16:creationId xmlns:a16="http://schemas.microsoft.com/office/drawing/2014/main" id="{61E09DE2-C7E3-F788-6FA0-83F55D166B69}"/>
              </a:ext>
            </a:extLst>
          </p:cNvPr>
          <p:cNvSpPr/>
          <p:nvPr/>
        </p:nvSpPr>
        <p:spPr>
          <a:xfrm>
            <a:off x="3213471" y="4619717"/>
            <a:ext cx="300210" cy="223913"/>
          </a:xfrm>
          <a:custGeom>
            <a:avLst/>
            <a:gdLst>
              <a:gd name="csX0" fmla="*/ 61719 w 269842"/>
              <a:gd name="csY0" fmla="*/ 0 h 223913"/>
              <a:gd name="csX1" fmla="*/ 269842 w 269842"/>
              <a:gd name="csY1" fmla="*/ 0 h 223913"/>
              <a:gd name="csX2" fmla="*/ 269842 w 269842"/>
              <a:gd name="csY2" fmla="*/ 223913 h 223913"/>
              <a:gd name="csX3" fmla="*/ 61719 w 269842"/>
              <a:gd name="csY3" fmla="*/ 223913 h 223913"/>
              <a:gd name="csX4" fmla="*/ 0 w 269842"/>
              <a:gd name="csY4" fmla="*/ 162194 h 223913"/>
              <a:gd name="csX5" fmla="*/ 0 w 269842"/>
              <a:gd name="csY5" fmla="*/ 61719 h 223913"/>
              <a:gd name="csX6" fmla="*/ 61719 w 269842"/>
              <a:gd name="csY6" fmla="*/ 0 h 22391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269842" h="223913">
                <a:moveTo>
                  <a:pt x="61719" y="0"/>
                </a:moveTo>
                <a:lnTo>
                  <a:pt x="269842" y="0"/>
                </a:lnTo>
                <a:lnTo>
                  <a:pt x="269842" y="223913"/>
                </a:lnTo>
                <a:lnTo>
                  <a:pt x="61719" y="223913"/>
                </a:lnTo>
                <a:cubicBezTo>
                  <a:pt x="27633" y="223913"/>
                  <a:pt x="0" y="196280"/>
                  <a:pt x="0" y="162194"/>
                </a:cubicBezTo>
                <a:lnTo>
                  <a:pt x="0" y="61719"/>
                </a:lnTo>
                <a:cubicBezTo>
                  <a:pt x="0" y="27633"/>
                  <a:pt x="27633" y="0"/>
                  <a:pt x="61719" y="0"/>
                </a:cubicBezTo>
                <a:close/>
              </a:path>
            </a:pathLst>
          </a:cu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354" name="矩形: 圆角 1197">
            <a:extLst>
              <a:ext uri="{FF2B5EF4-FFF2-40B4-BE49-F238E27FC236}">
                <a16:creationId xmlns:a16="http://schemas.microsoft.com/office/drawing/2014/main" id="{14324F93-AE16-A042-0D52-985F3FF02E03}"/>
              </a:ext>
            </a:extLst>
          </p:cNvPr>
          <p:cNvSpPr/>
          <p:nvPr/>
        </p:nvSpPr>
        <p:spPr>
          <a:xfrm>
            <a:off x="3213471" y="4619717"/>
            <a:ext cx="1734745" cy="223913"/>
          </a:xfrm>
          <a:prstGeom prst="roundRect">
            <a:avLst>
              <a:gd name="adj" fmla="val 27564"/>
            </a:avLst>
          </a:prstGeom>
          <a:noFill/>
          <a:ln w="1905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noAutofit/>
          </a:bodyPr>
          <a:lstStyle/>
          <a:p>
            <a:pPr>
              <a:lnSpc>
                <a:spcPct val="8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1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     无缓冲并发插入</a:t>
            </a:r>
            <a:endParaRPr kumimoji="0" lang="zh-CN" altLang="en-US" sz="1100" b="1" i="0" u="none" strike="noStrike" kern="1200" cap="none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+mn-ea"/>
            </a:endParaRPr>
          </a:p>
        </p:txBody>
      </p:sp>
      <p:sp>
        <p:nvSpPr>
          <p:cNvPr id="372" name="任意多边形: 形状 371">
            <a:extLst>
              <a:ext uri="{FF2B5EF4-FFF2-40B4-BE49-F238E27FC236}">
                <a16:creationId xmlns:a16="http://schemas.microsoft.com/office/drawing/2014/main" id="{132ACA2F-4F5B-C144-06EF-C440D84320DE}"/>
              </a:ext>
            </a:extLst>
          </p:cNvPr>
          <p:cNvSpPr/>
          <p:nvPr/>
        </p:nvSpPr>
        <p:spPr>
          <a:xfrm>
            <a:off x="7960338" y="5886854"/>
            <a:ext cx="150921" cy="223913"/>
          </a:xfrm>
          <a:custGeom>
            <a:avLst/>
            <a:gdLst>
              <a:gd name="csX0" fmla="*/ 61719 w 269842"/>
              <a:gd name="csY0" fmla="*/ 0 h 223913"/>
              <a:gd name="csX1" fmla="*/ 269842 w 269842"/>
              <a:gd name="csY1" fmla="*/ 0 h 223913"/>
              <a:gd name="csX2" fmla="*/ 269842 w 269842"/>
              <a:gd name="csY2" fmla="*/ 223913 h 223913"/>
              <a:gd name="csX3" fmla="*/ 61719 w 269842"/>
              <a:gd name="csY3" fmla="*/ 223913 h 223913"/>
              <a:gd name="csX4" fmla="*/ 0 w 269842"/>
              <a:gd name="csY4" fmla="*/ 162194 h 223913"/>
              <a:gd name="csX5" fmla="*/ 0 w 269842"/>
              <a:gd name="csY5" fmla="*/ 61719 h 223913"/>
              <a:gd name="csX6" fmla="*/ 61719 w 269842"/>
              <a:gd name="csY6" fmla="*/ 0 h 22391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269842" h="223913">
                <a:moveTo>
                  <a:pt x="61719" y="0"/>
                </a:moveTo>
                <a:lnTo>
                  <a:pt x="269842" y="0"/>
                </a:lnTo>
                <a:lnTo>
                  <a:pt x="269842" y="223913"/>
                </a:lnTo>
                <a:lnTo>
                  <a:pt x="61719" y="223913"/>
                </a:lnTo>
                <a:cubicBezTo>
                  <a:pt x="27633" y="223913"/>
                  <a:pt x="0" y="196280"/>
                  <a:pt x="0" y="162194"/>
                </a:cubicBezTo>
                <a:lnTo>
                  <a:pt x="0" y="61719"/>
                </a:lnTo>
                <a:cubicBezTo>
                  <a:pt x="0" y="27633"/>
                  <a:pt x="27633" y="0"/>
                  <a:pt x="61719" y="0"/>
                </a:cubicBezTo>
                <a:close/>
              </a:path>
            </a:pathLst>
          </a:cu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373" name="矩形: 圆角 1197">
            <a:extLst>
              <a:ext uri="{FF2B5EF4-FFF2-40B4-BE49-F238E27FC236}">
                <a16:creationId xmlns:a16="http://schemas.microsoft.com/office/drawing/2014/main" id="{BA59736F-762D-CF1C-BA14-B22BA81502A8}"/>
              </a:ext>
            </a:extLst>
          </p:cNvPr>
          <p:cNvSpPr/>
          <p:nvPr/>
        </p:nvSpPr>
        <p:spPr>
          <a:xfrm>
            <a:off x="7960338" y="5886854"/>
            <a:ext cx="1734745" cy="223913"/>
          </a:xfrm>
          <a:prstGeom prst="roundRect">
            <a:avLst>
              <a:gd name="adj" fmla="val 27564"/>
            </a:avLst>
          </a:prstGeom>
          <a:noFill/>
          <a:ln w="1905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noAutofit/>
          </a:bodyPr>
          <a:lstStyle/>
          <a:p>
            <a:pPr>
              <a:lnSpc>
                <a:spcPct val="8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1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 频谱数据表征</a:t>
            </a:r>
            <a:endParaRPr kumimoji="0" lang="zh-CN" altLang="en-US" sz="1100" b="1" i="0" u="none" strike="noStrike" kern="1200" cap="none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+mn-ea"/>
            </a:endParaRPr>
          </a:p>
        </p:txBody>
      </p:sp>
      <p:sp>
        <p:nvSpPr>
          <p:cNvPr id="374" name="任意多边形: 形状 373">
            <a:extLst>
              <a:ext uri="{FF2B5EF4-FFF2-40B4-BE49-F238E27FC236}">
                <a16:creationId xmlns:a16="http://schemas.microsoft.com/office/drawing/2014/main" id="{87CF28DC-F5F4-41D9-6133-A9D4A35F80E1}"/>
              </a:ext>
            </a:extLst>
          </p:cNvPr>
          <p:cNvSpPr/>
          <p:nvPr/>
        </p:nvSpPr>
        <p:spPr>
          <a:xfrm>
            <a:off x="7960338" y="6205651"/>
            <a:ext cx="150921" cy="223913"/>
          </a:xfrm>
          <a:custGeom>
            <a:avLst/>
            <a:gdLst>
              <a:gd name="csX0" fmla="*/ 61719 w 269842"/>
              <a:gd name="csY0" fmla="*/ 0 h 223913"/>
              <a:gd name="csX1" fmla="*/ 269842 w 269842"/>
              <a:gd name="csY1" fmla="*/ 0 h 223913"/>
              <a:gd name="csX2" fmla="*/ 269842 w 269842"/>
              <a:gd name="csY2" fmla="*/ 223913 h 223913"/>
              <a:gd name="csX3" fmla="*/ 61719 w 269842"/>
              <a:gd name="csY3" fmla="*/ 223913 h 223913"/>
              <a:gd name="csX4" fmla="*/ 0 w 269842"/>
              <a:gd name="csY4" fmla="*/ 162194 h 223913"/>
              <a:gd name="csX5" fmla="*/ 0 w 269842"/>
              <a:gd name="csY5" fmla="*/ 61719 h 223913"/>
              <a:gd name="csX6" fmla="*/ 61719 w 269842"/>
              <a:gd name="csY6" fmla="*/ 0 h 22391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269842" h="223913">
                <a:moveTo>
                  <a:pt x="61719" y="0"/>
                </a:moveTo>
                <a:lnTo>
                  <a:pt x="269842" y="0"/>
                </a:lnTo>
                <a:lnTo>
                  <a:pt x="269842" y="223913"/>
                </a:lnTo>
                <a:lnTo>
                  <a:pt x="61719" y="223913"/>
                </a:lnTo>
                <a:cubicBezTo>
                  <a:pt x="27633" y="223913"/>
                  <a:pt x="0" y="196280"/>
                  <a:pt x="0" y="162194"/>
                </a:cubicBezTo>
                <a:lnTo>
                  <a:pt x="0" y="61719"/>
                </a:lnTo>
                <a:cubicBezTo>
                  <a:pt x="0" y="27633"/>
                  <a:pt x="27633" y="0"/>
                  <a:pt x="61719" y="0"/>
                </a:cubicBezTo>
                <a:close/>
              </a:path>
            </a:pathLst>
          </a:cu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375" name="矩形: 圆角 1197">
            <a:extLst>
              <a:ext uri="{FF2B5EF4-FFF2-40B4-BE49-F238E27FC236}">
                <a16:creationId xmlns:a16="http://schemas.microsoft.com/office/drawing/2014/main" id="{9ABA55C9-EB3C-9244-9EF6-5B7F284B9FE1}"/>
              </a:ext>
            </a:extLst>
          </p:cNvPr>
          <p:cNvSpPr/>
          <p:nvPr/>
        </p:nvSpPr>
        <p:spPr>
          <a:xfrm>
            <a:off x="7960338" y="6205651"/>
            <a:ext cx="1734745" cy="223913"/>
          </a:xfrm>
          <a:prstGeom prst="roundRect">
            <a:avLst>
              <a:gd name="adj" fmla="val 27564"/>
            </a:avLst>
          </a:prstGeom>
          <a:noFill/>
          <a:ln w="1905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noAutofit/>
          </a:bodyPr>
          <a:lstStyle/>
          <a:p>
            <a:pPr>
              <a:lnSpc>
                <a:spcPct val="8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1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 电磁态势知识图谱构建</a:t>
            </a:r>
            <a:endParaRPr kumimoji="0" lang="zh-CN" altLang="en-US" sz="1100" b="1" i="0" u="none" strike="noStrike" kern="1200" cap="none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+mn-ea"/>
            </a:endParaRPr>
          </a:p>
        </p:txBody>
      </p:sp>
      <p:sp>
        <p:nvSpPr>
          <p:cNvPr id="376" name="任意多边形: 形状 375">
            <a:extLst>
              <a:ext uri="{FF2B5EF4-FFF2-40B4-BE49-F238E27FC236}">
                <a16:creationId xmlns:a16="http://schemas.microsoft.com/office/drawing/2014/main" id="{CB604DDC-049E-94F3-DF85-8705702717A5}"/>
              </a:ext>
            </a:extLst>
          </p:cNvPr>
          <p:cNvSpPr/>
          <p:nvPr/>
        </p:nvSpPr>
        <p:spPr>
          <a:xfrm>
            <a:off x="7960338" y="6535593"/>
            <a:ext cx="150921" cy="223913"/>
          </a:xfrm>
          <a:custGeom>
            <a:avLst/>
            <a:gdLst>
              <a:gd name="csX0" fmla="*/ 61719 w 269842"/>
              <a:gd name="csY0" fmla="*/ 0 h 223913"/>
              <a:gd name="csX1" fmla="*/ 269842 w 269842"/>
              <a:gd name="csY1" fmla="*/ 0 h 223913"/>
              <a:gd name="csX2" fmla="*/ 269842 w 269842"/>
              <a:gd name="csY2" fmla="*/ 223913 h 223913"/>
              <a:gd name="csX3" fmla="*/ 61719 w 269842"/>
              <a:gd name="csY3" fmla="*/ 223913 h 223913"/>
              <a:gd name="csX4" fmla="*/ 0 w 269842"/>
              <a:gd name="csY4" fmla="*/ 162194 h 223913"/>
              <a:gd name="csX5" fmla="*/ 0 w 269842"/>
              <a:gd name="csY5" fmla="*/ 61719 h 223913"/>
              <a:gd name="csX6" fmla="*/ 61719 w 269842"/>
              <a:gd name="csY6" fmla="*/ 0 h 22391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269842" h="223913">
                <a:moveTo>
                  <a:pt x="61719" y="0"/>
                </a:moveTo>
                <a:lnTo>
                  <a:pt x="269842" y="0"/>
                </a:lnTo>
                <a:lnTo>
                  <a:pt x="269842" y="223913"/>
                </a:lnTo>
                <a:lnTo>
                  <a:pt x="61719" y="223913"/>
                </a:lnTo>
                <a:cubicBezTo>
                  <a:pt x="27633" y="223913"/>
                  <a:pt x="0" y="196280"/>
                  <a:pt x="0" y="162194"/>
                </a:cubicBezTo>
                <a:lnTo>
                  <a:pt x="0" y="61719"/>
                </a:lnTo>
                <a:cubicBezTo>
                  <a:pt x="0" y="27633"/>
                  <a:pt x="27633" y="0"/>
                  <a:pt x="61719" y="0"/>
                </a:cubicBezTo>
                <a:close/>
              </a:path>
            </a:pathLst>
          </a:cu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377" name="矩形: 圆角 1197">
            <a:extLst>
              <a:ext uri="{FF2B5EF4-FFF2-40B4-BE49-F238E27FC236}">
                <a16:creationId xmlns:a16="http://schemas.microsoft.com/office/drawing/2014/main" id="{E44ED0C2-BD5D-F0CC-84F0-E48900F0AA07}"/>
              </a:ext>
            </a:extLst>
          </p:cNvPr>
          <p:cNvSpPr/>
          <p:nvPr/>
        </p:nvSpPr>
        <p:spPr>
          <a:xfrm>
            <a:off x="7960338" y="6535593"/>
            <a:ext cx="1734745" cy="223913"/>
          </a:xfrm>
          <a:prstGeom prst="roundRect">
            <a:avLst>
              <a:gd name="adj" fmla="val 27564"/>
            </a:avLst>
          </a:prstGeom>
          <a:noFill/>
          <a:ln w="1905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noAutofit/>
          </a:bodyPr>
          <a:lstStyle/>
          <a:p>
            <a:pPr>
              <a:lnSpc>
                <a:spcPct val="8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1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 知识图谱增量更新与演化</a:t>
            </a:r>
            <a:endParaRPr kumimoji="0" lang="zh-CN" altLang="en-US" sz="1100" b="1" i="0" u="none" strike="noStrike" kern="1200" cap="none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+mn-ea"/>
            </a:endParaRPr>
          </a:p>
        </p:txBody>
      </p:sp>
      <p:sp>
        <p:nvSpPr>
          <p:cNvPr id="389" name="任意多边形: 形状 388">
            <a:extLst>
              <a:ext uri="{FF2B5EF4-FFF2-40B4-BE49-F238E27FC236}">
                <a16:creationId xmlns:a16="http://schemas.microsoft.com/office/drawing/2014/main" id="{DED44489-37AD-90F4-8BEB-C7D0F3522FD6}"/>
              </a:ext>
            </a:extLst>
          </p:cNvPr>
          <p:cNvSpPr/>
          <p:nvPr/>
        </p:nvSpPr>
        <p:spPr>
          <a:xfrm>
            <a:off x="5641120" y="5925249"/>
            <a:ext cx="150921" cy="223913"/>
          </a:xfrm>
          <a:custGeom>
            <a:avLst/>
            <a:gdLst>
              <a:gd name="csX0" fmla="*/ 61719 w 269842"/>
              <a:gd name="csY0" fmla="*/ 0 h 223913"/>
              <a:gd name="csX1" fmla="*/ 269842 w 269842"/>
              <a:gd name="csY1" fmla="*/ 0 h 223913"/>
              <a:gd name="csX2" fmla="*/ 269842 w 269842"/>
              <a:gd name="csY2" fmla="*/ 223913 h 223913"/>
              <a:gd name="csX3" fmla="*/ 61719 w 269842"/>
              <a:gd name="csY3" fmla="*/ 223913 h 223913"/>
              <a:gd name="csX4" fmla="*/ 0 w 269842"/>
              <a:gd name="csY4" fmla="*/ 162194 h 223913"/>
              <a:gd name="csX5" fmla="*/ 0 w 269842"/>
              <a:gd name="csY5" fmla="*/ 61719 h 223913"/>
              <a:gd name="csX6" fmla="*/ 61719 w 269842"/>
              <a:gd name="csY6" fmla="*/ 0 h 22391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269842" h="223913">
                <a:moveTo>
                  <a:pt x="61719" y="0"/>
                </a:moveTo>
                <a:lnTo>
                  <a:pt x="269842" y="0"/>
                </a:lnTo>
                <a:lnTo>
                  <a:pt x="269842" y="223913"/>
                </a:lnTo>
                <a:lnTo>
                  <a:pt x="61719" y="223913"/>
                </a:lnTo>
                <a:cubicBezTo>
                  <a:pt x="27633" y="223913"/>
                  <a:pt x="0" y="196280"/>
                  <a:pt x="0" y="162194"/>
                </a:cubicBezTo>
                <a:lnTo>
                  <a:pt x="0" y="61719"/>
                </a:lnTo>
                <a:cubicBezTo>
                  <a:pt x="0" y="27633"/>
                  <a:pt x="27633" y="0"/>
                  <a:pt x="61719" y="0"/>
                </a:cubicBezTo>
                <a:close/>
              </a:path>
            </a:pathLst>
          </a:cu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390" name="矩形: 圆角 1197">
            <a:extLst>
              <a:ext uri="{FF2B5EF4-FFF2-40B4-BE49-F238E27FC236}">
                <a16:creationId xmlns:a16="http://schemas.microsoft.com/office/drawing/2014/main" id="{F4E49637-A4C8-6513-BFFD-E9CD749C8DBE}"/>
              </a:ext>
            </a:extLst>
          </p:cNvPr>
          <p:cNvSpPr/>
          <p:nvPr/>
        </p:nvSpPr>
        <p:spPr>
          <a:xfrm>
            <a:off x="5641120" y="5925249"/>
            <a:ext cx="1734745" cy="223913"/>
          </a:xfrm>
          <a:prstGeom prst="roundRect">
            <a:avLst>
              <a:gd name="adj" fmla="val 27564"/>
            </a:avLst>
          </a:prstGeom>
          <a:noFill/>
          <a:ln w="1905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noAutofit/>
          </a:bodyPr>
          <a:lstStyle/>
          <a:p>
            <a:pPr>
              <a:lnSpc>
                <a:spcPct val="8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1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 知识引导信号检测</a:t>
            </a:r>
            <a:endParaRPr kumimoji="0" lang="zh-CN" altLang="en-US" sz="1100" b="1" i="0" u="none" strike="noStrike" kern="1200" cap="none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+mn-ea"/>
            </a:endParaRPr>
          </a:p>
        </p:txBody>
      </p:sp>
      <p:sp>
        <p:nvSpPr>
          <p:cNvPr id="391" name="任意多边形: 形状 390">
            <a:extLst>
              <a:ext uri="{FF2B5EF4-FFF2-40B4-BE49-F238E27FC236}">
                <a16:creationId xmlns:a16="http://schemas.microsoft.com/office/drawing/2014/main" id="{71EED93D-D9E7-0ED5-35C5-6628CB2F0438}"/>
              </a:ext>
            </a:extLst>
          </p:cNvPr>
          <p:cNvSpPr/>
          <p:nvPr/>
        </p:nvSpPr>
        <p:spPr>
          <a:xfrm>
            <a:off x="5641120" y="6244046"/>
            <a:ext cx="150921" cy="223913"/>
          </a:xfrm>
          <a:custGeom>
            <a:avLst/>
            <a:gdLst>
              <a:gd name="csX0" fmla="*/ 61719 w 269842"/>
              <a:gd name="csY0" fmla="*/ 0 h 223913"/>
              <a:gd name="csX1" fmla="*/ 269842 w 269842"/>
              <a:gd name="csY1" fmla="*/ 0 h 223913"/>
              <a:gd name="csX2" fmla="*/ 269842 w 269842"/>
              <a:gd name="csY2" fmla="*/ 223913 h 223913"/>
              <a:gd name="csX3" fmla="*/ 61719 w 269842"/>
              <a:gd name="csY3" fmla="*/ 223913 h 223913"/>
              <a:gd name="csX4" fmla="*/ 0 w 269842"/>
              <a:gd name="csY4" fmla="*/ 162194 h 223913"/>
              <a:gd name="csX5" fmla="*/ 0 w 269842"/>
              <a:gd name="csY5" fmla="*/ 61719 h 223913"/>
              <a:gd name="csX6" fmla="*/ 61719 w 269842"/>
              <a:gd name="csY6" fmla="*/ 0 h 22391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269842" h="223913">
                <a:moveTo>
                  <a:pt x="61719" y="0"/>
                </a:moveTo>
                <a:lnTo>
                  <a:pt x="269842" y="0"/>
                </a:lnTo>
                <a:lnTo>
                  <a:pt x="269842" y="223913"/>
                </a:lnTo>
                <a:lnTo>
                  <a:pt x="61719" y="223913"/>
                </a:lnTo>
                <a:cubicBezTo>
                  <a:pt x="27633" y="223913"/>
                  <a:pt x="0" y="196280"/>
                  <a:pt x="0" y="162194"/>
                </a:cubicBezTo>
                <a:lnTo>
                  <a:pt x="0" y="61719"/>
                </a:lnTo>
                <a:cubicBezTo>
                  <a:pt x="0" y="27633"/>
                  <a:pt x="27633" y="0"/>
                  <a:pt x="61719" y="0"/>
                </a:cubicBezTo>
                <a:close/>
              </a:path>
            </a:pathLst>
          </a:cu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392" name="矩形: 圆角 1197">
            <a:extLst>
              <a:ext uri="{FF2B5EF4-FFF2-40B4-BE49-F238E27FC236}">
                <a16:creationId xmlns:a16="http://schemas.microsoft.com/office/drawing/2014/main" id="{6B3B68F8-82A6-FAD3-9C9D-8BD40F57A5BC}"/>
              </a:ext>
            </a:extLst>
          </p:cNvPr>
          <p:cNvSpPr/>
          <p:nvPr/>
        </p:nvSpPr>
        <p:spPr>
          <a:xfrm>
            <a:off x="5641120" y="6244046"/>
            <a:ext cx="1734745" cy="223913"/>
          </a:xfrm>
          <a:prstGeom prst="roundRect">
            <a:avLst>
              <a:gd name="adj" fmla="val 27564"/>
            </a:avLst>
          </a:prstGeom>
          <a:noFill/>
          <a:ln w="1905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noAutofit/>
          </a:bodyPr>
          <a:lstStyle/>
          <a:p>
            <a:pPr>
              <a:lnSpc>
                <a:spcPct val="8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1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 知识驱动小样本分类</a:t>
            </a:r>
            <a:endParaRPr kumimoji="0" lang="zh-CN" altLang="en-US" sz="1100" b="1" i="0" u="none" strike="noStrike" kern="1200" cap="none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+mn-ea"/>
            </a:endParaRPr>
          </a:p>
        </p:txBody>
      </p:sp>
      <p:sp>
        <p:nvSpPr>
          <p:cNvPr id="393" name="任意多边形: 形状 392">
            <a:extLst>
              <a:ext uri="{FF2B5EF4-FFF2-40B4-BE49-F238E27FC236}">
                <a16:creationId xmlns:a16="http://schemas.microsoft.com/office/drawing/2014/main" id="{9FF96031-3799-916F-C039-B08E1D9E5DB8}"/>
              </a:ext>
            </a:extLst>
          </p:cNvPr>
          <p:cNvSpPr/>
          <p:nvPr/>
        </p:nvSpPr>
        <p:spPr>
          <a:xfrm>
            <a:off x="5641120" y="6573988"/>
            <a:ext cx="150921" cy="223913"/>
          </a:xfrm>
          <a:custGeom>
            <a:avLst/>
            <a:gdLst>
              <a:gd name="csX0" fmla="*/ 61719 w 269842"/>
              <a:gd name="csY0" fmla="*/ 0 h 223913"/>
              <a:gd name="csX1" fmla="*/ 269842 w 269842"/>
              <a:gd name="csY1" fmla="*/ 0 h 223913"/>
              <a:gd name="csX2" fmla="*/ 269842 w 269842"/>
              <a:gd name="csY2" fmla="*/ 223913 h 223913"/>
              <a:gd name="csX3" fmla="*/ 61719 w 269842"/>
              <a:gd name="csY3" fmla="*/ 223913 h 223913"/>
              <a:gd name="csX4" fmla="*/ 0 w 269842"/>
              <a:gd name="csY4" fmla="*/ 162194 h 223913"/>
              <a:gd name="csX5" fmla="*/ 0 w 269842"/>
              <a:gd name="csY5" fmla="*/ 61719 h 223913"/>
              <a:gd name="csX6" fmla="*/ 61719 w 269842"/>
              <a:gd name="csY6" fmla="*/ 0 h 22391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269842" h="223913">
                <a:moveTo>
                  <a:pt x="61719" y="0"/>
                </a:moveTo>
                <a:lnTo>
                  <a:pt x="269842" y="0"/>
                </a:lnTo>
                <a:lnTo>
                  <a:pt x="269842" y="223913"/>
                </a:lnTo>
                <a:lnTo>
                  <a:pt x="61719" y="223913"/>
                </a:lnTo>
                <a:cubicBezTo>
                  <a:pt x="27633" y="223913"/>
                  <a:pt x="0" y="196280"/>
                  <a:pt x="0" y="162194"/>
                </a:cubicBezTo>
                <a:lnTo>
                  <a:pt x="0" y="61719"/>
                </a:lnTo>
                <a:cubicBezTo>
                  <a:pt x="0" y="27633"/>
                  <a:pt x="27633" y="0"/>
                  <a:pt x="61719" y="0"/>
                </a:cubicBezTo>
                <a:close/>
              </a:path>
            </a:pathLst>
          </a:cu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394" name="矩形: 圆角 1197">
            <a:extLst>
              <a:ext uri="{FF2B5EF4-FFF2-40B4-BE49-F238E27FC236}">
                <a16:creationId xmlns:a16="http://schemas.microsoft.com/office/drawing/2014/main" id="{7E023011-9B5E-9844-87F1-C5090706EE9D}"/>
              </a:ext>
            </a:extLst>
          </p:cNvPr>
          <p:cNvSpPr/>
          <p:nvPr/>
        </p:nvSpPr>
        <p:spPr>
          <a:xfrm>
            <a:off x="5641120" y="6573988"/>
            <a:ext cx="1734745" cy="223913"/>
          </a:xfrm>
          <a:prstGeom prst="roundRect">
            <a:avLst>
              <a:gd name="adj" fmla="val 27564"/>
            </a:avLst>
          </a:prstGeom>
          <a:noFill/>
          <a:ln w="1905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noAutofit/>
          </a:bodyPr>
          <a:lstStyle/>
          <a:p>
            <a:pPr>
              <a:lnSpc>
                <a:spcPct val="8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1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 轻量化目标轨迹估计与预测</a:t>
            </a:r>
            <a:endParaRPr kumimoji="0" lang="zh-CN" altLang="en-US" sz="1100" b="1" i="0" u="none" strike="noStrike" kern="1200" cap="none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+mn-ea"/>
            </a:endParaRPr>
          </a:p>
        </p:txBody>
      </p:sp>
      <p:sp>
        <p:nvSpPr>
          <p:cNvPr id="424" name="矩形: 圆角 1197">
            <a:extLst>
              <a:ext uri="{FF2B5EF4-FFF2-40B4-BE49-F238E27FC236}">
                <a16:creationId xmlns:a16="http://schemas.microsoft.com/office/drawing/2014/main" id="{26E5E468-5AD2-7126-7F4B-996808382797}"/>
              </a:ext>
            </a:extLst>
          </p:cNvPr>
          <p:cNvSpPr/>
          <p:nvPr/>
        </p:nvSpPr>
        <p:spPr>
          <a:xfrm>
            <a:off x="3780642" y="5860958"/>
            <a:ext cx="469827" cy="967111"/>
          </a:xfrm>
          <a:prstGeom prst="roundRect">
            <a:avLst>
              <a:gd name="adj" fmla="val 27564"/>
            </a:avLst>
          </a:prstGeom>
          <a:noFill/>
          <a:ln w="1905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rIns="0" rtlCol="0" anchor="ctr">
            <a:noAutofit/>
          </a:bodyPr>
          <a:lstStyle/>
          <a:p>
            <a:pPr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决策结果</a:t>
            </a:r>
          </a:p>
          <a:p>
            <a:pPr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一致性确权</a:t>
            </a:r>
            <a:endParaRPr kumimoji="0" lang="zh-CN" altLang="en-US" sz="1400" b="1" i="0" u="none" strike="noStrike" kern="1200" cap="none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+mn-ea"/>
            </a:endParaRPr>
          </a:p>
        </p:txBody>
      </p:sp>
      <p:sp>
        <p:nvSpPr>
          <p:cNvPr id="425" name="矩形: 圆角 1197">
            <a:extLst>
              <a:ext uri="{FF2B5EF4-FFF2-40B4-BE49-F238E27FC236}">
                <a16:creationId xmlns:a16="http://schemas.microsoft.com/office/drawing/2014/main" id="{52A20800-2604-BF49-DEAD-0411BC4A7497}"/>
              </a:ext>
            </a:extLst>
          </p:cNvPr>
          <p:cNvSpPr/>
          <p:nvPr/>
        </p:nvSpPr>
        <p:spPr>
          <a:xfrm>
            <a:off x="4412265" y="5826433"/>
            <a:ext cx="519616" cy="1001636"/>
          </a:xfrm>
          <a:prstGeom prst="roundRect">
            <a:avLst>
              <a:gd name="adj" fmla="val 27564"/>
            </a:avLst>
          </a:prstGeom>
          <a:solidFill>
            <a:srgbClr val="C00000"/>
          </a:solidFill>
          <a:ln w="1905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rIns="0" rtlCol="0" anchor="ctr">
            <a:noAutofit/>
          </a:bodyPr>
          <a:lstStyle/>
          <a:p>
            <a:pPr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确权结果与存证输出</a:t>
            </a:r>
            <a:endParaRPr kumimoji="0" lang="zh-CN" altLang="en-US" sz="1400" b="1" i="0" u="none" strike="noStrike" kern="1200" cap="none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+mn-ea"/>
            </a:endParaRPr>
          </a:p>
        </p:txBody>
      </p:sp>
      <p:sp>
        <p:nvSpPr>
          <p:cNvPr id="517" name="矩形: 圆角 1197">
            <a:extLst>
              <a:ext uri="{FF2B5EF4-FFF2-40B4-BE49-F238E27FC236}">
                <a16:creationId xmlns:a16="http://schemas.microsoft.com/office/drawing/2014/main" id="{331E4351-CE43-B989-6D57-804C053159D7}"/>
              </a:ext>
            </a:extLst>
          </p:cNvPr>
          <p:cNvSpPr/>
          <p:nvPr/>
        </p:nvSpPr>
        <p:spPr>
          <a:xfrm>
            <a:off x="3131574" y="5860958"/>
            <a:ext cx="469827" cy="967111"/>
          </a:xfrm>
          <a:prstGeom prst="roundRect">
            <a:avLst>
              <a:gd name="adj" fmla="val 27564"/>
            </a:avLst>
          </a:prstGeom>
          <a:noFill/>
          <a:ln w="1905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rIns="0" rtlCol="0" anchor="ctr">
            <a:noAutofit/>
          </a:bodyPr>
          <a:lstStyle/>
          <a:p>
            <a:pPr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分布式可信协同决策</a:t>
            </a:r>
            <a:endParaRPr kumimoji="0" lang="zh-CN" altLang="en-US" sz="1400" b="1" i="0" u="none" strike="noStrike" kern="1200" cap="none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+mn-ea"/>
            </a:endParaRPr>
          </a:p>
        </p:txBody>
      </p:sp>
      <p:sp>
        <p:nvSpPr>
          <p:cNvPr id="519" name="文本框 518">
            <a:extLst>
              <a:ext uri="{FF2B5EF4-FFF2-40B4-BE49-F238E27FC236}">
                <a16:creationId xmlns:a16="http://schemas.microsoft.com/office/drawing/2014/main" id="{69BD9746-29DA-9AD4-93A2-9ACB1F7A467A}"/>
              </a:ext>
            </a:extLst>
          </p:cNvPr>
          <p:cNvSpPr txBox="1"/>
          <p:nvPr/>
        </p:nvSpPr>
        <p:spPr>
          <a:xfrm>
            <a:off x="3179970" y="6791978"/>
            <a:ext cx="1639263" cy="206488"/>
          </a:xfrm>
          <a:prstGeom prst="rect">
            <a:avLst/>
          </a:prstGeom>
          <a:noFill/>
          <a:ln w="1905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rIns="0" rtlCol="0" anchor="ctr">
            <a:noAutofit/>
          </a:bodyPr>
          <a:lstStyle>
            <a:defPPr>
              <a:defRPr lang="en-US"/>
            </a:defPPr>
            <a:lvl1pPr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defRPr sz="1400" b="1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zh-CN" altLang="en-US" sz="1050" dirty="0">
                <a:solidFill>
                  <a:schemeClr val="tx1"/>
                </a:solidFill>
              </a:rPr>
              <a:t>轻量级安全传输方法</a:t>
            </a:r>
          </a:p>
        </p:txBody>
      </p:sp>
      <p:sp>
        <p:nvSpPr>
          <p:cNvPr id="7" name="矩形: 圆角 1197">
            <a:extLst>
              <a:ext uri="{FF2B5EF4-FFF2-40B4-BE49-F238E27FC236}">
                <a16:creationId xmlns:a16="http://schemas.microsoft.com/office/drawing/2014/main" id="{A705FB52-3156-0C4A-3492-D35900C9994E}"/>
              </a:ext>
            </a:extLst>
          </p:cNvPr>
          <p:cNvSpPr/>
          <p:nvPr/>
        </p:nvSpPr>
        <p:spPr>
          <a:xfrm>
            <a:off x="9942197" y="1083405"/>
            <a:ext cx="396240" cy="1696961"/>
          </a:xfrm>
          <a:prstGeom prst="roundRect">
            <a:avLst>
              <a:gd name="adj" fmla="val 0"/>
            </a:avLst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</a:pPr>
            <a:r>
              <a:rPr kumimoji="0" lang="zh-CN" altLang="en-US" sz="1700" b="1" i="0" u="none" strike="noStrike" kern="1200" cap="none" spc="-20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rPr>
              <a:t>怎么提取</a:t>
            </a:r>
          </a:p>
        </p:txBody>
      </p:sp>
      <p:sp>
        <p:nvSpPr>
          <p:cNvPr id="8" name="矩形: 圆角 1197">
            <a:extLst>
              <a:ext uri="{FF2B5EF4-FFF2-40B4-BE49-F238E27FC236}">
                <a16:creationId xmlns:a16="http://schemas.microsoft.com/office/drawing/2014/main" id="{19319065-F6E3-94E6-1E41-9B90460A073A}"/>
              </a:ext>
            </a:extLst>
          </p:cNvPr>
          <p:cNvSpPr/>
          <p:nvPr/>
        </p:nvSpPr>
        <p:spPr>
          <a:xfrm>
            <a:off x="9940803" y="3346410"/>
            <a:ext cx="396240" cy="1696961"/>
          </a:xfrm>
          <a:prstGeom prst="roundRect">
            <a:avLst>
              <a:gd name="adj" fmla="val 0"/>
            </a:avLst>
          </a:prstGeom>
          <a:solidFill>
            <a:srgbClr val="2E54A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</a:pPr>
            <a:r>
              <a:rPr kumimoji="0" lang="zh-CN" altLang="en-US" sz="1700" b="1" i="0" u="none" strike="noStrike" kern="1200" cap="none" spc="-20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rPr>
              <a:t>怎么存储</a:t>
            </a:r>
          </a:p>
        </p:txBody>
      </p:sp>
      <p:sp>
        <p:nvSpPr>
          <p:cNvPr id="9" name="矩形: 圆角 1197">
            <a:extLst>
              <a:ext uri="{FF2B5EF4-FFF2-40B4-BE49-F238E27FC236}">
                <a16:creationId xmlns:a16="http://schemas.microsoft.com/office/drawing/2014/main" id="{5B13FAA9-FC6E-5892-DBF3-FA0535DBCFF2}"/>
              </a:ext>
            </a:extLst>
          </p:cNvPr>
          <p:cNvSpPr/>
          <p:nvPr/>
        </p:nvSpPr>
        <p:spPr>
          <a:xfrm>
            <a:off x="9942197" y="5395565"/>
            <a:ext cx="396240" cy="1696961"/>
          </a:xfrm>
          <a:prstGeom prst="roundRect">
            <a:avLst>
              <a:gd name="adj" fmla="val 0"/>
            </a:avLst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</a:pPr>
            <a:r>
              <a:rPr kumimoji="0" lang="zh-CN" altLang="en-US" sz="1700" b="1" i="0" u="none" strike="noStrike" kern="1200" cap="none" spc="-20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rPr>
              <a:t>怎么处理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2013 - 2022 主题">
  <a:themeElements>
    <a:clrScheme name="Office 2013 - 2022 主题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 主题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296</TotalTime>
  <Words>340</Words>
  <Application>Microsoft Office PowerPoint</Application>
  <PresentationFormat>自定义</PresentationFormat>
  <Paragraphs>59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7" baseType="lpstr">
      <vt:lpstr>等线</vt:lpstr>
      <vt:lpstr>微软雅黑</vt:lpstr>
      <vt:lpstr>Arial</vt:lpstr>
      <vt:lpstr>Calibri</vt:lpstr>
      <vt:lpstr>Calibri Light</vt:lpstr>
      <vt:lpstr>Office 2013 - 2022 主题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Hodge Chang</cp:lastModifiedBy>
  <cp:revision>28</cp:revision>
  <dcterms:created xsi:type="dcterms:W3CDTF">2026-06-15T13:57:41Z</dcterms:created>
  <dcterms:modified xsi:type="dcterms:W3CDTF">2026-06-18T02:05:32Z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2052-12.1.0.26895</vt:lpwstr>
  </property>
  <property fmtid="{D5CDD505-2E9C-101B-9397-08002B2CF9AE}" pid="3" name="ICV">
    <vt:lpwstr>CCB4CCE1F4F0462ABE8EFD1EDFF8C9FF_12</vt:lpwstr>
  </property>
</Properties>
</file>