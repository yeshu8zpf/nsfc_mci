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1160125" cy="9720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17" autoAdjust="0"/>
    <p:restoredTop sz="94778" autoAdjust="0"/>
  </p:normalViewPr>
  <p:slideViewPr>
    <p:cSldViewPr snapToGrid="0">
      <p:cViewPr>
        <p:scale>
          <a:sx n="100" d="100"/>
          <a:sy n="100" d="100"/>
        </p:scale>
        <p:origin x="36" y="-27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核心技术加示意图</a:t>
            </a:r>
            <a:endParaRPr lang="en-US" altLang="zh-CN" dirty="0"/>
          </a:p>
          <a:p>
            <a:r>
              <a:rPr lang="zh-CN" altLang="en-US" dirty="0"/>
              <a:t>图中海杂波、采集两个框很突兀，直接放到研究内容一的第一个框里，三项研究内容的逻辑关系箭头放在正中间，不要画折线，删掉数据流</a:t>
            </a:r>
            <a:endParaRPr lang="en-US" altLang="zh-CN" dirty="0"/>
          </a:p>
          <a:p>
            <a:r>
              <a:rPr lang="zh-CN" altLang="en-US" dirty="0"/>
              <a:t>创新点里面的关键词可以放在这张图里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7063" y="1590840"/>
            <a:ext cx="9486715" cy="3384191"/>
          </a:xfrm>
        </p:spPr>
        <p:txBody>
          <a:bodyPr anchor="b"/>
          <a:lstStyle>
            <a:lvl1pPr algn="ctr">
              <a:defRPr sz="73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5106" y="5105538"/>
            <a:ext cx="8370631" cy="2346881"/>
          </a:xfrm>
        </p:spPr>
        <p:txBody>
          <a:bodyPr/>
          <a:lstStyle>
            <a:lvl1pPr marL="0" indent="0" algn="ctr">
              <a:buNone/>
              <a:defRPr sz="2925"/>
            </a:lvl1pPr>
            <a:lvl2pPr marL="558165" indent="0" algn="ctr">
              <a:buNone/>
              <a:defRPr sz="2440"/>
            </a:lvl2pPr>
            <a:lvl3pPr marL="1116330" indent="0" algn="ctr">
              <a:buNone/>
              <a:defRPr sz="2200"/>
            </a:lvl3pPr>
            <a:lvl4pPr marL="1674495" indent="0" algn="ctr">
              <a:buNone/>
              <a:defRPr sz="1955"/>
            </a:lvl4pPr>
            <a:lvl5pPr marL="2232025" indent="0" algn="ctr">
              <a:buNone/>
              <a:defRPr sz="1955"/>
            </a:lvl5pPr>
            <a:lvl6pPr marL="2790190" indent="0" algn="ctr">
              <a:buNone/>
              <a:defRPr sz="1955"/>
            </a:lvl6pPr>
            <a:lvl7pPr marL="3348355" indent="0" algn="ctr">
              <a:buNone/>
              <a:defRPr sz="1955"/>
            </a:lvl7pPr>
            <a:lvl8pPr marL="3906520" indent="0" algn="ctr">
              <a:buNone/>
              <a:defRPr sz="1955"/>
            </a:lvl8pPr>
            <a:lvl9pPr marL="4464050" indent="0" algn="ctr">
              <a:buNone/>
              <a:defRPr sz="195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6" y="2423389"/>
            <a:ext cx="9626226" cy="4043476"/>
          </a:xfrm>
        </p:spPr>
        <p:txBody>
          <a:bodyPr anchor="b"/>
          <a:lstStyle>
            <a:lvl1pPr>
              <a:defRPr sz="73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496" y="6505118"/>
            <a:ext cx="9626226" cy="2126369"/>
          </a:xfrm>
        </p:spPr>
        <p:txBody>
          <a:bodyPr/>
          <a:lstStyle>
            <a:lvl1pPr marL="0" indent="0">
              <a:buNone/>
              <a:defRPr sz="2925">
                <a:solidFill>
                  <a:schemeClr val="tx1"/>
                </a:solidFill>
              </a:defRPr>
            </a:lvl1pPr>
            <a:lvl2pPr marL="558165" indent="0">
              <a:buNone/>
              <a:defRPr sz="2440">
                <a:solidFill>
                  <a:schemeClr val="tx1">
                    <a:tint val="75000"/>
                  </a:schemeClr>
                </a:solidFill>
              </a:defRPr>
            </a:lvl2pPr>
            <a:lvl3pPr marL="111633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3pPr>
            <a:lvl4pPr marL="167449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4pPr>
            <a:lvl5pPr marL="223202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5pPr>
            <a:lvl6pPr marL="279019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6pPr>
            <a:lvl7pPr marL="334835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7pPr>
            <a:lvl8pPr marL="390652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8pPr>
            <a:lvl9pPr marL="446405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7308" y="2587646"/>
            <a:ext cx="4743358" cy="61675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0176" y="2587646"/>
            <a:ext cx="4743358" cy="61675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517532"/>
            <a:ext cx="9626226" cy="187885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763" y="2382884"/>
            <a:ext cx="4721558" cy="1167815"/>
          </a:xfrm>
        </p:spPr>
        <p:txBody>
          <a:bodyPr anchor="b"/>
          <a:lstStyle>
            <a:lvl1pPr marL="0" indent="0">
              <a:buNone/>
              <a:defRPr sz="2925" b="1"/>
            </a:lvl1pPr>
            <a:lvl2pPr marL="558165" indent="0">
              <a:buNone/>
              <a:defRPr sz="2440" b="1"/>
            </a:lvl2pPr>
            <a:lvl3pPr marL="1116330" indent="0">
              <a:buNone/>
              <a:defRPr sz="2200" b="1"/>
            </a:lvl3pPr>
            <a:lvl4pPr marL="1674495" indent="0">
              <a:buNone/>
              <a:defRPr sz="1955" b="1"/>
            </a:lvl4pPr>
            <a:lvl5pPr marL="2232025" indent="0">
              <a:buNone/>
              <a:defRPr sz="1955" b="1"/>
            </a:lvl5pPr>
            <a:lvl6pPr marL="2790190" indent="0">
              <a:buNone/>
              <a:defRPr sz="1955" b="1"/>
            </a:lvl6pPr>
            <a:lvl7pPr marL="3348355" indent="0">
              <a:buNone/>
              <a:defRPr sz="1955" b="1"/>
            </a:lvl7pPr>
            <a:lvl8pPr marL="3906520" indent="0">
              <a:buNone/>
              <a:defRPr sz="1955" b="1"/>
            </a:lvl8pPr>
            <a:lvl9pPr marL="4464050" indent="0">
              <a:buNone/>
              <a:defRPr sz="195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763" y="3550700"/>
            <a:ext cx="4721558" cy="52225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0177" y="2382884"/>
            <a:ext cx="4744811" cy="1167815"/>
          </a:xfrm>
        </p:spPr>
        <p:txBody>
          <a:bodyPr anchor="b"/>
          <a:lstStyle>
            <a:lvl1pPr marL="0" indent="0">
              <a:buNone/>
              <a:defRPr sz="2925" b="1"/>
            </a:lvl1pPr>
            <a:lvl2pPr marL="558165" indent="0">
              <a:buNone/>
              <a:defRPr sz="2440" b="1"/>
            </a:lvl2pPr>
            <a:lvl3pPr marL="1116330" indent="0">
              <a:buNone/>
              <a:defRPr sz="2200" b="1"/>
            </a:lvl3pPr>
            <a:lvl4pPr marL="1674495" indent="0">
              <a:buNone/>
              <a:defRPr sz="1955" b="1"/>
            </a:lvl4pPr>
            <a:lvl5pPr marL="2232025" indent="0">
              <a:buNone/>
              <a:defRPr sz="1955" b="1"/>
            </a:lvl5pPr>
            <a:lvl6pPr marL="2790190" indent="0">
              <a:buNone/>
              <a:defRPr sz="1955" b="1"/>
            </a:lvl6pPr>
            <a:lvl7pPr marL="3348355" indent="0">
              <a:buNone/>
              <a:defRPr sz="1955" b="1"/>
            </a:lvl7pPr>
            <a:lvl8pPr marL="3906520" indent="0">
              <a:buNone/>
              <a:defRPr sz="1955" b="1"/>
            </a:lvl8pPr>
            <a:lvl9pPr marL="4464050" indent="0">
              <a:buNone/>
              <a:defRPr sz="195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0177" y="3550700"/>
            <a:ext cx="4744811" cy="52225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648035"/>
            <a:ext cx="3599661" cy="2268127"/>
          </a:xfrm>
        </p:spPr>
        <p:txBody>
          <a:bodyPr anchor="b"/>
          <a:lstStyle>
            <a:lvl1pPr>
              <a:defRPr sz="3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4811" y="1399582"/>
            <a:ext cx="5650176" cy="6907888"/>
          </a:xfrm>
        </p:spPr>
        <p:txBody>
          <a:bodyPr/>
          <a:lstStyle>
            <a:lvl1pPr>
              <a:defRPr sz="3905"/>
            </a:lvl1pPr>
            <a:lvl2pPr>
              <a:defRPr sz="3420"/>
            </a:lvl2pPr>
            <a:lvl3pPr>
              <a:defRPr sz="2925"/>
            </a:lvl3pPr>
            <a:lvl4pPr>
              <a:defRPr sz="2440"/>
            </a:lvl4pPr>
            <a:lvl5pPr>
              <a:defRPr sz="2440"/>
            </a:lvl5pPr>
            <a:lvl6pPr>
              <a:defRPr sz="2440"/>
            </a:lvl6pPr>
            <a:lvl7pPr>
              <a:defRPr sz="2440"/>
            </a:lvl7pPr>
            <a:lvl8pPr>
              <a:defRPr sz="2440"/>
            </a:lvl8pPr>
            <a:lvl9pPr>
              <a:defRPr sz="244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62" y="2916163"/>
            <a:ext cx="3599661" cy="5402555"/>
          </a:xfrm>
        </p:spPr>
        <p:txBody>
          <a:bodyPr/>
          <a:lstStyle>
            <a:lvl1pPr marL="0" indent="0">
              <a:buNone/>
              <a:defRPr sz="1955"/>
            </a:lvl1pPr>
            <a:lvl2pPr marL="558165" indent="0">
              <a:buNone/>
              <a:defRPr sz="1705"/>
            </a:lvl2pPr>
            <a:lvl3pPr marL="1116330" indent="0">
              <a:buNone/>
              <a:defRPr sz="1465"/>
            </a:lvl3pPr>
            <a:lvl4pPr marL="1674495" indent="0">
              <a:buNone/>
              <a:defRPr sz="1220"/>
            </a:lvl4pPr>
            <a:lvl5pPr marL="2232025" indent="0">
              <a:buNone/>
              <a:defRPr sz="1220"/>
            </a:lvl5pPr>
            <a:lvl6pPr marL="2790190" indent="0">
              <a:buNone/>
              <a:defRPr sz="1220"/>
            </a:lvl6pPr>
            <a:lvl7pPr marL="3348355" indent="0">
              <a:buNone/>
              <a:defRPr sz="1220"/>
            </a:lvl7pPr>
            <a:lvl8pPr marL="3906520" indent="0">
              <a:buNone/>
              <a:defRPr sz="1220"/>
            </a:lvl8pPr>
            <a:lvl9pPr marL="4464050" indent="0">
              <a:buNone/>
              <a:defRPr sz="122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648035"/>
            <a:ext cx="3599661" cy="2268127"/>
          </a:xfrm>
        </p:spPr>
        <p:txBody>
          <a:bodyPr anchor="b"/>
          <a:lstStyle>
            <a:lvl1pPr>
              <a:defRPr sz="3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4811" y="1399582"/>
            <a:ext cx="5650176" cy="6907888"/>
          </a:xfrm>
        </p:spPr>
        <p:txBody>
          <a:bodyPr anchor="t"/>
          <a:lstStyle>
            <a:lvl1pPr marL="0" indent="0">
              <a:buNone/>
              <a:defRPr sz="3905"/>
            </a:lvl1pPr>
            <a:lvl2pPr marL="558165" indent="0">
              <a:buNone/>
              <a:defRPr sz="3420"/>
            </a:lvl2pPr>
            <a:lvl3pPr marL="1116330" indent="0">
              <a:buNone/>
              <a:defRPr sz="2925"/>
            </a:lvl3pPr>
            <a:lvl4pPr marL="1674495" indent="0">
              <a:buNone/>
              <a:defRPr sz="2440"/>
            </a:lvl4pPr>
            <a:lvl5pPr marL="2232025" indent="0">
              <a:buNone/>
              <a:defRPr sz="2440"/>
            </a:lvl5pPr>
            <a:lvl6pPr marL="2790190" indent="0">
              <a:buNone/>
              <a:defRPr sz="2440"/>
            </a:lvl6pPr>
            <a:lvl7pPr marL="3348355" indent="0">
              <a:buNone/>
              <a:defRPr sz="2440"/>
            </a:lvl7pPr>
            <a:lvl8pPr marL="3906520" indent="0">
              <a:buNone/>
              <a:defRPr sz="2440"/>
            </a:lvl8pPr>
            <a:lvl9pPr marL="4464050" indent="0">
              <a:buNone/>
              <a:defRPr sz="244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62" y="2916163"/>
            <a:ext cx="3599661" cy="5402555"/>
          </a:xfrm>
        </p:spPr>
        <p:txBody>
          <a:bodyPr/>
          <a:lstStyle>
            <a:lvl1pPr marL="0" indent="0">
              <a:buNone/>
              <a:defRPr sz="1955"/>
            </a:lvl1pPr>
            <a:lvl2pPr marL="558165" indent="0">
              <a:buNone/>
              <a:defRPr sz="1705"/>
            </a:lvl2pPr>
            <a:lvl3pPr marL="1116330" indent="0">
              <a:buNone/>
              <a:defRPr sz="1465"/>
            </a:lvl3pPr>
            <a:lvl4pPr marL="1674495" indent="0">
              <a:buNone/>
              <a:defRPr sz="1220"/>
            </a:lvl4pPr>
            <a:lvl5pPr marL="2232025" indent="0">
              <a:buNone/>
              <a:defRPr sz="1220"/>
            </a:lvl5pPr>
            <a:lvl6pPr marL="2790190" indent="0">
              <a:buNone/>
              <a:defRPr sz="1220"/>
            </a:lvl6pPr>
            <a:lvl7pPr marL="3348355" indent="0">
              <a:buNone/>
              <a:defRPr sz="1220"/>
            </a:lvl7pPr>
            <a:lvl8pPr marL="3906520" indent="0">
              <a:buNone/>
              <a:defRPr sz="1220"/>
            </a:lvl8pPr>
            <a:lvl9pPr marL="4464050" indent="0">
              <a:buNone/>
              <a:defRPr sz="122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6978" y="517529"/>
            <a:ext cx="2406556" cy="823771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7309" y="517529"/>
            <a:ext cx="7080159" cy="823771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7308" y="517532"/>
            <a:ext cx="9626226" cy="1878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7308" y="2587646"/>
            <a:ext cx="9626226" cy="616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308" y="9009508"/>
            <a:ext cx="2511190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en-US" altLang="zh-CN" smtClean="0"/>
              <a:t>6/22/2026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7029" y="9009508"/>
            <a:ext cx="3766784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2344" y="9009508"/>
            <a:ext cx="2511190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116330" rtl="0" eaLnBrk="1" latinLnBrk="0" hangingPunct="1">
        <a:lnSpc>
          <a:spcPct val="90000"/>
        </a:lnSpc>
        <a:spcBef>
          <a:spcPct val="0"/>
        </a:spcBef>
        <a:buNone/>
        <a:defRPr sz="53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9400" indent="-279400" algn="l" defTabSz="1116330" rtl="0" eaLnBrk="1" latinLnBrk="0" hangingPunct="1">
        <a:lnSpc>
          <a:spcPct val="90000"/>
        </a:lnSpc>
        <a:spcBef>
          <a:spcPts val="1220"/>
        </a:spcBef>
        <a:buFont typeface="Arial" panose="020B0604020202090204" pitchFamily="34" charset="0"/>
        <a:buChar char="•"/>
        <a:defRPr sz="3420" kern="1200">
          <a:solidFill>
            <a:schemeClr val="tx1"/>
          </a:solidFill>
          <a:latin typeface="+mn-lt"/>
          <a:ea typeface="+mn-ea"/>
          <a:cs typeface="+mn-cs"/>
        </a:defRPr>
      </a:lvl1pPr>
      <a:lvl2pPr marL="83693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2pPr>
      <a:lvl3pPr marL="139509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440" kern="1200">
          <a:solidFill>
            <a:schemeClr val="tx1"/>
          </a:solidFill>
          <a:latin typeface="+mn-lt"/>
          <a:ea typeface="+mn-ea"/>
          <a:cs typeface="+mn-cs"/>
        </a:defRPr>
      </a:lvl3pPr>
      <a:lvl4pPr marL="195262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51142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306895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62712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418528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74345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5816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1633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7449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3202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9019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34835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90652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46405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: 圆角 2"/>
          <p:cNvSpPr>
            <a:spLocks/>
          </p:cNvSpPr>
          <p:nvPr/>
        </p:nvSpPr>
        <p:spPr>
          <a:xfrm>
            <a:off x="632931" y="7311909"/>
            <a:ext cx="7514934" cy="1826344"/>
          </a:xfrm>
          <a:prstGeom prst="roundRect">
            <a:avLst>
              <a:gd name="adj" fmla="val 7070"/>
            </a:avLst>
          </a:prstGeom>
          <a:solidFill>
            <a:schemeClr val="accent1">
              <a:lumMod val="40000"/>
              <a:lumOff val="6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28" name="矩形: 圆角 2"/>
          <p:cNvSpPr>
            <a:spLocks/>
          </p:cNvSpPr>
          <p:nvPr/>
        </p:nvSpPr>
        <p:spPr>
          <a:xfrm>
            <a:off x="713758" y="3240551"/>
            <a:ext cx="7514934" cy="1826344"/>
          </a:xfrm>
          <a:prstGeom prst="roundRect">
            <a:avLst>
              <a:gd name="adj" fmla="val 7070"/>
            </a:avLst>
          </a:prstGeom>
          <a:solidFill>
            <a:schemeClr val="accent1">
              <a:lumMod val="40000"/>
              <a:lumOff val="6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81" name="圆角矩形 80"/>
          <p:cNvSpPr>
            <a:spLocks/>
          </p:cNvSpPr>
          <p:nvPr/>
        </p:nvSpPr>
        <p:spPr>
          <a:xfrm>
            <a:off x="318770" y="54610"/>
            <a:ext cx="10542752" cy="9360963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/>
          </p:cNvSpPr>
          <p:nvPr/>
        </p:nvSpPr>
        <p:spPr>
          <a:xfrm>
            <a:off x="2286725" y="111763"/>
            <a:ext cx="6850058" cy="477542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/>
          </p:cNvSpPr>
          <p:nvPr/>
        </p:nvSpPr>
        <p:spPr>
          <a:xfrm>
            <a:off x="3323092" y="184156"/>
            <a:ext cx="5498716" cy="3302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</a:p>
        </p:txBody>
      </p:sp>
      <p:grpSp>
        <p:nvGrpSpPr>
          <p:cNvPr id="2" name="组合 1"/>
          <p:cNvGrpSpPr>
            <a:grpSpLocks/>
          </p:cNvGrpSpPr>
          <p:nvPr/>
        </p:nvGrpSpPr>
        <p:grpSpPr>
          <a:xfrm>
            <a:off x="731539" y="1040175"/>
            <a:ext cx="7514934" cy="1826344"/>
            <a:chOff x="587828" y="999034"/>
            <a:chExt cx="7143117" cy="1817687"/>
          </a:xfrm>
        </p:grpSpPr>
        <p:sp>
          <p:nvSpPr>
            <p:cNvPr id="3" name="矩形: 圆角 2"/>
            <p:cNvSpPr>
              <a:spLocks/>
            </p:cNvSpPr>
            <p:nvPr/>
          </p:nvSpPr>
          <p:spPr>
            <a:xfrm>
              <a:off x="587828" y="999034"/>
              <a:ext cx="7143117" cy="1817687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grpSp>
          <p:nvGrpSpPr>
            <p:cNvPr id="476" name="组合 475"/>
            <p:cNvGrpSpPr>
              <a:grpSpLocks/>
            </p:cNvGrpSpPr>
            <p:nvPr/>
          </p:nvGrpSpPr>
          <p:grpSpPr>
            <a:xfrm>
              <a:off x="634620" y="1101095"/>
              <a:ext cx="2454590" cy="1546240"/>
              <a:chOff x="459642" y="1101095"/>
              <a:chExt cx="2957327" cy="1546240"/>
            </a:xfrm>
          </p:grpSpPr>
          <p:sp>
            <p:nvSpPr>
              <p:cNvPr id="5" name="矩形: 圆角 1150"/>
              <p:cNvSpPr>
                <a:spLocks/>
              </p:cNvSpPr>
              <p:nvPr/>
            </p:nvSpPr>
            <p:spPr>
              <a:xfrm>
                <a:off x="775635" y="1168420"/>
                <a:ext cx="2473335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6" name="文本框 5"/>
              <p:cNvSpPr txBox="1">
                <a:spLocks/>
              </p:cNvSpPr>
              <p:nvPr/>
            </p:nvSpPr>
            <p:spPr>
              <a:xfrm>
                <a:off x="459642" y="1101095"/>
                <a:ext cx="2957327" cy="45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1.1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复杂海洋环境下电磁频谱信号时空耦合规律建模</a:t>
                </a:r>
              </a:p>
            </p:txBody>
          </p:sp>
        </p:grpSp>
        <p:grpSp>
          <p:nvGrpSpPr>
            <p:cNvPr id="477" name="组合 476"/>
            <p:cNvGrpSpPr>
              <a:grpSpLocks/>
            </p:cNvGrpSpPr>
            <p:nvPr/>
          </p:nvGrpSpPr>
          <p:grpSpPr>
            <a:xfrm>
              <a:off x="3139796" y="1161419"/>
              <a:ext cx="2021891" cy="1485916"/>
              <a:chOff x="3659048" y="1161419"/>
              <a:chExt cx="2484862" cy="1485916"/>
            </a:xfrm>
          </p:grpSpPr>
          <p:sp>
            <p:nvSpPr>
              <p:cNvPr id="11" name="矩形: 圆角 1150"/>
              <p:cNvSpPr>
                <a:spLocks/>
              </p:cNvSpPr>
              <p:nvPr/>
            </p:nvSpPr>
            <p:spPr>
              <a:xfrm>
                <a:off x="3683028" y="1168420"/>
                <a:ext cx="2460882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4" name="文本框 13"/>
              <p:cNvSpPr txBox="1">
                <a:spLocks/>
              </p:cNvSpPr>
              <p:nvPr/>
            </p:nvSpPr>
            <p:spPr>
              <a:xfrm>
                <a:off x="3659048" y="1161419"/>
                <a:ext cx="2460882" cy="45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1.2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基于干扰对消的微弱信号频谱特征增强方法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78" name="组合 477"/>
            <p:cNvGrpSpPr>
              <a:grpSpLocks/>
            </p:cNvGrpSpPr>
            <p:nvPr/>
          </p:nvGrpSpPr>
          <p:grpSpPr>
            <a:xfrm>
              <a:off x="5539663" y="1168420"/>
              <a:ext cx="1991666" cy="1478915"/>
              <a:chOff x="6791278" y="1168420"/>
              <a:chExt cx="2380869" cy="1478915"/>
            </a:xfrm>
          </p:grpSpPr>
          <p:sp>
            <p:nvSpPr>
              <p:cNvPr id="12" name="矩形: 圆角 1150"/>
              <p:cNvSpPr>
                <a:spLocks/>
              </p:cNvSpPr>
              <p:nvPr/>
            </p:nvSpPr>
            <p:spPr>
              <a:xfrm>
                <a:off x="6834341" y="1168420"/>
                <a:ext cx="2337806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7" name="文本框 16"/>
              <p:cNvSpPr txBox="1">
                <a:spLocks/>
              </p:cNvSpPr>
              <p:nvPr/>
            </p:nvSpPr>
            <p:spPr>
              <a:xfrm>
                <a:off x="6791278" y="1183531"/>
                <a:ext cx="2259038" cy="459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1.3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面向微弱电磁信号的多维表征提取方法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494" name="矩形: 圆角 1150"/>
          <p:cNvSpPr>
            <a:spLocks/>
          </p:cNvSpPr>
          <p:nvPr/>
        </p:nvSpPr>
        <p:spPr>
          <a:xfrm>
            <a:off x="6034731" y="3492567"/>
            <a:ext cx="2020662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5" name="文本框 494"/>
          <p:cNvSpPr txBox="1">
            <a:spLocks/>
          </p:cNvSpPr>
          <p:nvPr/>
        </p:nvSpPr>
        <p:spPr>
          <a:xfrm>
            <a:off x="6067991" y="3484748"/>
            <a:ext cx="191465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2.3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向量库协同的频谱数据可信管理</a:t>
            </a:r>
          </a:p>
        </p:txBody>
      </p:sp>
      <p:sp>
        <p:nvSpPr>
          <p:cNvPr id="492" name="矩形: 圆角 1150"/>
          <p:cNvSpPr>
            <a:spLocks/>
          </p:cNvSpPr>
          <p:nvPr/>
        </p:nvSpPr>
        <p:spPr>
          <a:xfrm>
            <a:off x="3460250" y="3479920"/>
            <a:ext cx="2028231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3" name="文本框 492"/>
          <p:cNvSpPr txBox="1">
            <a:spLocks/>
          </p:cNvSpPr>
          <p:nvPr/>
        </p:nvSpPr>
        <p:spPr>
          <a:xfrm>
            <a:off x="3460250" y="3500413"/>
            <a:ext cx="2015223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2.2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基于表征压缩的频谱向量数据库存储优化方法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0" name="矩形: 圆角 1150"/>
          <p:cNvSpPr>
            <a:spLocks/>
          </p:cNvSpPr>
          <p:nvPr/>
        </p:nvSpPr>
        <p:spPr>
          <a:xfrm>
            <a:off x="875697" y="3498989"/>
            <a:ext cx="2057494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1" name="文本框 490"/>
          <p:cNvSpPr txBox="1">
            <a:spLocks/>
          </p:cNvSpPr>
          <p:nvPr/>
        </p:nvSpPr>
        <p:spPr>
          <a:xfrm>
            <a:off x="959735" y="3524647"/>
            <a:ext cx="191468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2.1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事件驱动的频谱数据价值评估模型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>
            <a:spLocks/>
          </p:cNvSpPr>
          <p:nvPr/>
        </p:nvSpPr>
        <p:spPr>
          <a:xfrm>
            <a:off x="632932" y="2808462"/>
            <a:ext cx="915482" cy="5527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400" b="1" dirty="0">
                <a:latin typeface="微软雅黑" panose="020B0503020204020204" charset="-122"/>
                <a:ea typeface="微软雅黑" panose="020B0503020204020204" charset="-122"/>
              </a:rPr>
              <a:t>多维频谱数据流</a:t>
            </a:r>
            <a:endParaRPr lang="zh-CN" altLang="en-US" sz="14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91" name="直接连接符 90"/>
          <p:cNvCxnSpPr>
            <a:cxnSpLocks/>
          </p:cNvCxnSpPr>
          <p:nvPr/>
        </p:nvCxnSpPr>
        <p:spPr>
          <a:xfrm flipV="1">
            <a:off x="2651759" y="3191912"/>
            <a:ext cx="0" cy="3448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: 圆角 94"/>
          <p:cNvSpPr>
            <a:spLocks/>
          </p:cNvSpPr>
          <p:nvPr/>
        </p:nvSpPr>
        <p:spPr>
          <a:xfrm>
            <a:off x="8320136" y="1049065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96" name="矩形: 圆角 1197"/>
          <p:cNvSpPr>
            <a:spLocks/>
          </p:cNvSpPr>
          <p:nvPr/>
        </p:nvSpPr>
        <p:spPr>
          <a:xfrm>
            <a:off x="8391894" y="1103678"/>
            <a:ext cx="396258" cy="169679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研究内容一方案</a:t>
            </a:r>
          </a:p>
        </p:txBody>
      </p:sp>
      <p:grpSp>
        <p:nvGrpSpPr>
          <p:cNvPr id="97" name="组合 96"/>
          <p:cNvGrpSpPr>
            <a:grpSpLocks/>
          </p:cNvGrpSpPr>
          <p:nvPr/>
        </p:nvGrpSpPr>
        <p:grpSpPr>
          <a:xfrm>
            <a:off x="8788152" y="1247830"/>
            <a:ext cx="1607894" cy="1478983"/>
            <a:chOff x="1470246" y="1168420"/>
            <a:chExt cx="1937502" cy="1478915"/>
          </a:xfrm>
        </p:grpSpPr>
        <p:sp>
          <p:nvSpPr>
            <p:cNvPr id="98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9" name="文本框 98"/>
            <p:cNvSpPr txBox="1">
              <a:spLocks/>
            </p:cNvSpPr>
            <p:nvPr/>
          </p:nvSpPr>
          <p:spPr>
            <a:xfrm>
              <a:off x="1641936" y="1284414"/>
              <a:ext cx="1697690" cy="275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charset="-122"/>
                  <a:ea typeface="微软雅黑" panose="020B0503020204020204" charset="-122"/>
                </a:rPr>
                <a:t>海杂波干扰下</a:t>
              </a:r>
            </a:p>
          </p:txBody>
        </p:sp>
        <p:sp>
          <p:nvSpPr>
            <p:cNvPr id="102" name="文本框 101"/>
            <p:cNvSpPr txBox="1">
              <a:spLocks/>
            </p:cNvSpPr>
            <p:nvPr/>
          </p:nvSpPr>
          <p:spPr>
            <a:xfrm>
              <a:off x="1470246" y="1605822"/>
              <a:ext cx="1937502" cy="829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/>
                <a:t>微弱电磁频谱信号传播规律分析与提取</a:t>
              </a:r>
            </a:p>
          </p:txBody>
        </p:sp>
      </p:grpSp>
      <p:sp>
        <p:nvSpPr>
          <p:cNvPr id="103" name="矩形: 圆角 102"/>
          <p:cNvSpPr>
            <a:spLocks/>
          </p:cNvSpPr>
          <p:nvPr/>
        </p:nvSpPr>
        <p:spPr>
          <a:xfrm>
            <a:off x="8254093" y="3303419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2E54A1">
              <a:alpha val="30000"/>
            </a:srgb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04" name="矩形: 圆角 1197"/>
          <p:cNvSpPr>
            <a:spLocks/>
          </p:cNvSpPr>
          <p:nvPr/>
        </p:nvSpPr>
        <p:spPr>
          <a:xfrm>
            <a:off x="8325851" y="3300878"/>
            <a:ext cx="396258" cy="1766651"/>
          </a:xfrm>
          <a:prstGeom prst="roundRect">
            <a:avLst>
              <a:gd name="adj" fmla="val 27564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研究内容二方案</a:t>
            </a:r>
          </a:p>
        </p:txBody>
      </p:sp>
      <p:grpSp>
        <p:nvGrpSpPr>
          <p:cNvPr id="105" name="组合 104"/>
          <p:cNvGrpSpPr>
            <a:grpSpLocks/>
          </p:cNvGrpSpPr>
          <p:nvPr/>
        </p:nvGrpSpPr>
        <p:grpSpPr>
          <a:xfrm>
            <a:off x="8722109" y="3502818"/>
            <a:ext cx="1607894" cy="1478983"/>
            <a:chOff x="1470246" y="1168420"/>
            <a:chExt cx="1937502" cy="1478915"/>
          </a:xfrm>
        </p:grpSpPr>
        <p:sp>
          <p:nvSpPr>
            <p:cNvPr id="106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7" name="文本框 106"/>
            <p:cNvSpPr txBox="1">
              <a:spLocks/>
            </p:cNvSpPr>
            <p:nvPr/>
          </p:nvSpPr>
          <p:spPr>
            <a:xfrm>
              <a:off x="1641936" y="1284414"/>
              <a:ext cx="1697690" cy="275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charset="-122"/>
                  <a:ea typeface="微软雅黑" panose="020B0503020204020204" charset="-122"/>
                </a:rPr>
                <a:t>有限算力端侧</a:t>
              </a:r>
            </a:p>
          </p:txBody>
        </p:sp>
        <p:sp>
          <p:nvSpPr>
            <p:cNvPr id="108" name="文本框 107"/>
            <p:cNvSpPr txBox="1">
              <a:spLocks/>
            </p:cNvSpPr>
            <p:nvPr/>
          </p:nvSpPr>
          <p:spPr>
            <a:xfrm>
              <a:off x="1470246" y="1605822"/>
              <a:ext cx="1937502" cy="8309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/>
                <a:t>频谱数据的轻量存储和可信管理方法</a:t>
              </a:r>
            </a:p>
          </p:txBody>
        </p:sp>
      </p:grpSp>
      <p:sp>
        <p:nvSpPr>
          <p:cNvPr id="109" name="矩形: 圆角 108"/>
          <p:cNvSpPr>
            <a:spLocks/>
          </p:cNvSpPr>
          <p:nvPr/>
        </p:nvSpPr>
        <p:spPr>
          <a:xfrm>
            <a:off x="8128992" y="5300585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10" name="矩形: 圆角 1197"/>
          <p:cNvSpPr>
            <a:spLocks/>
          </p:cNvSpPr>
          <p:nvPr/>
        </p:nvSpPr>
        <p:spPr>
          <a:xfrm>
            <a:off x="8320136" y="5371073"/>
            <a:ext cx="396258" cy="1659966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研究内容三方案</a:t>
            </a:r>
          </a:p>
        </p:txBody>
      </p:sp>
      <p:grpSp>
        <p:nvGrpSpPr>
          <p:cNvPr id="111" name="组合 110"/>
          <p:cNvGrpSpPr>
            <a:grpSpLocks/>
          </p:cNvGrpSpPr>
          <p:nvPr/>
        </p:nvGrpSpPr>
        <p:grpSpPr>
          <a:xfrm>
            <a:off x="8675117" y="5425051"/>
            <a:ext cx="1659331" cy="1478983"/>
            <a:chOff x="1431408" y="1168420"/>
            <a:chExt cx="1998890" cy="1478915"/>
          </a:xfrm>
        </p:grpSpPr>
        <p:sp>
          <p:nvSpPr>
            <p:cNvPr id="112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3" name="文本框 112"/>
            <p:cNvSpPr txBox="1">
              <a:spLocks/>
            </p:cNvSpPr>
            <p:nvPr/>
          </p:nvSpPr>
          <p:spPr>
            <a:xfrm>
              <a:off x="1431408" y="1411949"/>
              <a:ext cx="1998890" cy="275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charset="-122"/>
                  <a:ea typeface="微软雅黑" panose="020B0503020204020204" charset="-122"/>
                </a:rPr>
                <a:t>基于频谱知识图谱的</a:t>
              </a:r>
            </a:p>
          </p:txBody>
        </p:sp>
        <p:sp>
          <p:nvSpPr>
            <p:cNvPr id="114" name="文本框 113"/>
            <p:cNvSpPr txBox="1">
              <a:spLocks/>
            </p:cNvSpPr>
            <p:nvPr/>
          </p:nvSpPr>
          <p:spPr>
            <a:xfrm>
              <a:off x="1470246" y="1732823"/>
              <a:ext cx="1937502" cy="829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/>
                <a:t>轻量化目标识别与可信协同决策方法</a:t>
              </a:r>
            </a:p>
          </p:txBody>
        </p:sp>
      </p:grpSp>
      <p:cxnSp>
        <p:nvCxnSpPr>
          <p:cNvPr id="121" name="直接连接符 120"/>
          <p:cNvCxnSpPr>
            <a:cxnSpLocks/>
          </p:cNvCxnSpPr>
          <p:nvPr/>
        </p:nvCxnSpPr>
        <p:spPr>
          <a:xfrm flipH="1">
            <a:off x="2651759" y="3195781"/>
            <a:ext cx="397676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cxnSpLocks/>
          </p:cNvCxnSpPr>
          <p:nvPr/>
        </p:nvCxnSpPr>
        <p:spPr>
          <a:xfrm>
            <a:off x="2988717" y="1948267"/>
            <a:ext cx="5194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cxnSpLocks/>
          </p:cNvCxnSpPr>
          <p:nvPr/>
        </p:nvCxnSpPr>
        <p:spPr>
          <a:xfrm>
            <a:off x="5484786" y="1957792"/>
            <a:ext cx="5194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/>
          <p:cNvCxnSpPr>
            <a:cxnSpLocks/>
          </p:cNvCxnSpPr>
          <p:nvPr/>
        </p:nvCxnSpPr>
        <p:spPr>
          <a:xfrm>
            <a:off x="4692215" y="5111346"/>
            <a:ext cx="0" cy="27560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任意多边形: 形状 225"/>
          <p:cNvSpPr>
            <a:spLocks/>
          </p:cNvSpPr>
          <p:nvPr/>
        </p:nvSpPr>
        <p:spPr>
          <a:xfrm>
            <a:off x="6157871" y="394750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93" name="直接箭头连接符 92"/>
          <p:cNvCxnSpPr>
            <a:cxnSpLocks/>
          </p:cNvCxnSpPr>
          <p:nvPr/>
        </p:nvCxnSpPr>
        <p:spPr>
          <a:xfrm>
            <a:off x="6628526" y="3182020"/>
            <a:ext cx="0" cy="3308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矩形: 圆角 1197"/>
          <p:cNvSpPr>
            <a:spLocks/>
          </p:cNvSpPr>
          <p:nvPr/>
        </p:nvSpPr>
        <p:spPr>
          <a:xfrm>
            <a:off x="6157871" y="394750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链上链下可信存证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27" name="任意多边形: 形状 226"/>
          <p:cNvSpPr>
            <a:spLocks/>
          </p:cNvSpPr>
          <p:nvPr/>
        </p:nvSpPr>
        <p:spPr>
          <a:xfrm>
            <a:off x="6157871" y="4266294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28" name="矩形: 圆角 1197"/>
          <p:cNvSpPr>
            <a:spLocks/>
          </p:cNvSpPr>
          <p:nvPr/>
        </p:nvSpPr>
        <p:spPr>
          <a:xfrm>
            <a:off x="6157871" y="426629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可验证分级协同索引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29" name="任意多边形: 形状 228"/>
          <p:cNvSpPr>
            <a:spLocks/>
          </p:cNvSpPr>
          <p:nvPr/>
        </p:nvSpPr>
        <p:spPr>
          <a:xfrm>
            <a:off x="6157871" y="459650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30" name="矩形: 圆角 1197"/>
          <p:cNvSpPr>
            <a:spLocks/>
          </p:cNvSpPr>
          <p:nvPr/>
        </p:nvSpPr>
        <p:spPr>
          <a:xfrm>
            <a:off x="6157871" y="459650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链上可学习索引加速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19" name="矩形: 圆角 1197"/>
          <p:cNvSpPr>
            <a:spLocks/>
          </p:cNvSpPr>
          <p:nvPr/>
        </p:nvSpPr>
        <p:spPr>
          <a:xfrm>
            <a:off x="1302747" y="2431079"/>
            <a:ext cx="1349012" cy="23222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时空耦合规律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20" name="任意多边形: 形状 319"/>
          <p:cNvSpPr>
            <a:spLocks/>
          </p:cNvSpPr>
          <p:nvPr/>
        </p:nvSpPr>
        <p:spPr>
          <a:xfrm>
            <a:off x="3643147" y="1668219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5" name="矩形: 圆角 1197"/>
          <p:cNvSpPr>
            <a:spLocks/>
          </p:cNvSpPr>
          <p:nvPr/>
        </p:nvSpPr>
        <p:spPr>
          <a:xfrm>
            <a:off x="3643147" y="166821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多通道采集与处理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26" name="任意多边形: 形状 325"/>
          <p:cNvSpPr>
            <a:spLocks/>
          </p:cNvSpPr>
          <p:nvPr/>
        </p:nvSpPr>
        <p:spPr>
          <a:xfrm>
            <a:off x="3643147" y="198700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7" name="矩形: 圆角 1197"/>
          <p:cNvSpPr>
            <a:spLocks/>
          </p:cNvSpPr>
          <p:nvPr/>
        </p:nvSpPr>
        <p:spPr>
          <a:xfrm>
            <a:off x="3502767" y="1994360"/>
            <a:ext cx="1936915" cy="223530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自适应干扰对消</a:t>
            </a:r>
          </a:p>
        </p:txBody>
      </p:sp>
      <p:sp>
        <p:nvSpPr>
          <p:cNvPr id="330" name="任意多边形: 形状 329"/>
          <p:cNvSpPr>
            <a:spLocks/>
          </p:cNvSpPr>
          <p:nvPr/>
        </p:nvSpPr>
        <p:spPr>
          <a:xfrm>
            <a:off x="3643147" y="231658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1" name="矩形: 圆角 1197"/>
          <p:cNvSpPr>
            <a:spLocks/>
          </p:cNvSpPr>
          <p:nvPr/>
        </p:nvSpPr>
        <p:spPr>
          <a:xfrm>
            <a:off x="3643147" y="2316583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信号频谱增强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32" name="任意多边形: 形状 331"/>
          <p:cNvSpPr>
            <a:spLocks/>
          </p:cNvSpPr>
          <p:nvPr/>
        </p:nvSpPr>
        <p:spPr>
          <a:xfrm>
            <a:off x="6135001" y="1676474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3" name="矩形: 圆角 1197"/>
          <p:cNvSpPr>
            <a:spLocks/>
          </p:cNvSpPr>
          <p:nvPr/>
        </p:nvSpPr>
        <p:spPr>
          <a:xfrm>
            <a:off x="6135001" y="167647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      信号多维变换</a:t>
            </a:r>
          </a:p>
        </p:txBody>
      </p:sp>
      <p:sp>
        <p:nvSpPr>
          <p:cNvPr id="335" name="任意多边形: 形状 334"/>
          <p:cNvSpPr>
            <a:spLocks/>
          </p:cNvSpPr>
          <p:nvPr/>
        </p:nvSpPr>
        <p:spPr>
          <a:xfrm>
            <a:off x="6135001" y="199525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9" name="矩形: 圆角 1197"/>
          <p:cNvSpPr>
            <a:spLocks/>
          </p:cNvSpPr>
          <p:nvPr/>
        </p:nvSpPr>
        <p:spPr>
          <a:xfrm>
            <a:off x="6135001" y="199525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特征精确提取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0" name="任意多边形: 形状 339"/>
          <p:cNvSpPr>
            <a:spLocks/>
          </p:cNvSpPr>
          <p:nvPr/>
        </p:nvSpPr>
        <p:spPr>
          <a:xfrm>
            <a:off x="6135001" y="232483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1" name="矩形: 圆角 1197"/>
          <p:cNvSpPr>
            <a:spLocks/>
          </p:cNvSpPr>
          <p:nvPr/>
        </p:nvSpPr>
        <p:spPr>
          <a:xfrm>
            <a:off x="6135001" y="232483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结构化数据表征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2" name="矩形: 圆角 1197"/>
          <p:cNvSpPr>
            <a:spLocks/>
          </p:cNvSpPr>
          <p:nvPr/>
        </p:nvSpPr>
        <p:spPr>
          <a:xfrm>
            <a:off x="1076366" y="3953035"/>
            <a:ext cx="620423" cy="93730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事件窗口构建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3" name="矩形: 圆角 1197"/>
          <p:cNvSpPr>
            <a:spLocks/>
          </p:cNvSpPr>
          <p:nvPr/>
        </p:nvSpPr>
        <p:spPr>
          <a:xfrm>
            <a:off x="1849831" y="4044479"/>
            <a:ext cx="927777" cy="27687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存储价值筛选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4" name="矩形: 圆角 1197"/>
          <p:cNvSpPr>
            <a:spLocks/>
          </p:cNvSpPr>
          <p:nvPr/>
        </p:nvSpPr>
        <p:spPr>
          <a:xfrm>
            <a:off x="1838401" y="4549962"/>
            <a:ext cx="927777" cy="27687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数据价值评估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49" name="任意多边形: 形状 348"/>
          <p:cNvSpPr>
            <a:spLocks/>
          </p:cNvSpPr>
          <p:nvPr/>
        </p:nvSpPr>
        <p:spPr>
          <a:xfrm>
            <a:off x="3593554" y="4012075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0" name="矩形: 圆角 1197"/>
          <p:cNvSpPr>
            <a:spLocks/>
          </p:cNvSpPr>
          <p:nvPr/>
        </p:nvSpPr>
        <p:spPr>
          <a:xfrm>
            <a:off x="3593554" y="4012075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表征量化压缩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51" name="任意多边形: 形状 350"/>
          <p:cNvSpPr>
            <a:spLocks/>
          </p:cNvSpPr>
          <p:nvPr/>
        </p:nvSpPr>
        <p:spPr>
          <a:xfrm>
            <a:off x="3593554" y="4330859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2" name="矩形: 圆角 1197"/>
          <p:cNvSpPr>
            <a:spLocks/>
          </p:cNvSpPr>
          <p:nvPr/>
        </p:nvSpPr>
        <p:spPr>
          <a:xfrm>
            <a:off x="3593554" y="433085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磁盘高局部性索引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53" name="任意多边形: 形状 352"/>
          <p:cNvSpPr>
            <a:spLocks/>
          </p:cNvSpPr>
          <p:nvPr/>
        </p:nvSpPr>
        <p:spPr>
          <a:xfrm>
            <a:off x="3593554" y="4661074"/>
            <a:ext cx="300369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4" name="矩形: 圆角 1197"/>
          <p:cNvSpPr>
            <a:spLocks/>
          </p:cNvSpPr>
          <p:nvPr/>
        </p:nvSpPr>
        <p:spPr>
          <a:xfrm>
            <a:off x="3593554" y="466107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 向量无缓冲插入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7" name="矩形: 圆角 1197"/>
          <p:cNvSpPr>
            <a:spLocks/>
          </p:cNvSpPr>
          <p:nvPr/>
        </p:nvSpPr>
        <p:spPr>
          <a:xfrm>
            <a:off x="10314127" y="1097963"/>
            <a:ext cx="396258" cy="1696798"/>
          </a:xfrm>
          <a:prstGeom prst="roundRect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怎么提取</a:t>
            </a:r>
          </a:p>
        </p:txBody>
      </p:sp>
      <p:sp>
        <p:nvSpPr>
          <p:cNvPr id="8" name="矩形: 圆角 1197"/>
          <p:cNvSpPr>
            <a:spLocks/>
          </p:cNvSpPr>
          <p:nvPr/>
        </p:nvSpPr>
        <p:spPr>
          <a:xfrm>
            <a:off x="10312857" y="3361206"/>
            <a:ext cx="396258" cy="1696798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怎么存储</a:t>
            </a:r>
          </a:p>
        </p:txBody>
      </p:sp>
      <p:sp>
        <p:nvSpPr>
          <p:cNvPr id="505" name="矩形: 圆角 1150"/>
          <p:cNvSpPr>
            <a:spLocks/>
          </p:cNvSpPr>
          <p:nvPr/>
        </p:nvSpPr>
        <p:spPr>
          <a:xfrm>
            <a:off x="5927449" y="5517784"/>
            <a:ext cx="2106288" cy="1485913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6" name="文本框 505"/>
          <p:cNvSpPr txBox="1">
            <a:spLocks/>
          </p:cNvSpPr>
          <p:nvPr/>
        </p:nvSpPr>
        <p:spPr>
          <a:xfrm>
            <a:off x="5815581" y="5462214"/>
            <a:ext cx="2313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3.3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基于轻量安全传输与低延时确权的可信协同决策方法</a:t>
            </a:r>
          </a:p>
        </p:txBody>
      </p:sp>
      <p:sp>
        <p:nvSpPr>
          <p:cNvPr id="503" name="矩形: 圆角 1150"/>
          <p:cNvSpPr>
            <a:spLocks/>
          </p:cNvSpPr>
          <p:nvPr/>
        </p:nvSpPr>
        <p:spPr>
          <a:xfrm>
            <a:off x="3421996" y="5413163"/>
            <a:ext cx="2160308" cy="1485949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4" name="文本框 503"/>
          <p:cNvSpPr txBox="1">
            <a:spLocks/>
          </p:cNvSpPr>
          <p:nvPr/>
        </p:nvSpPr>
        <p:spPr>
          <a:xfrm>
            <a:off x="3351021" y="5403831"/>
            <a:ext cx="2347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3.2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基于混合专家模型的轻量化目标检测与轨迹分析方法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1" name="矩形: 圆角 1150"/>
          <p:cNvSpPr>
            <a:spLocks/>
          </p:cNvSpPr>
          <p:nvPr/>
        </p:nvSpPr>
        <p:spPr>
          <a:xfrm>
            <a:off x="949950" y="5426569"/>
            <a:ext cx="2108970" cy="1485913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2" name="文本框 501"/>
          <p:cNvSpPr txBox="1">
            <a:spLocks/>
          </p:cNvSpPr>
          <p:nvPr/>
        </p:nvSpPr>
        <p:spPr>
          <a:xfrm>
            <a:off x="969078" y="5429365"/>
            <a:ext cx="2070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微软雅黑" panose="020B0503020204020204" charset="-122"/>
                <a:ea typeface="微软雅黑" panose="020B0503020204020204" charset="-122"/>
              </a:rPr>
              <a:t>3.1 </a:t>
            </a:r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面向电磁态势的频谱知识图谱构建与动态演化方法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16" name="直接箭头连接符 215"/>
          <p:cNvCxnSpPr>
            <a:cxnSpLocks/>
          </p:cNvCxnSpPr>
          <p:nvPr/>
        </p:nvCxnSpPr>
        <p:spPr>
          <a:xfrm>
            <a:off x="3095752" y="6076909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任意多边形: 形状 371"/>
          <p:cNvSpPr>
            <a:spLocks/>
          </p:cNvSpPr>
          <p:nvPr/>
        </p:nvSpPr>
        <p:spPr>
          <a:xfrm>
            <a:off x="1110651" y="5848209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3" name="矩形: 圆角 1197"/>
          <p:cNvSpPr>
            <a:spLocks/>
          </p:cNvSpPr>
          <p:nvPr/>
        </p:nvSpPr>
        <p:spPr>
          <a:xfrm>
            <a:off x="1110651" y="584820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多源频谱数据表征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74" name="任意多边形: 形状 373"/>
          <p:cNvSpPr>
            <a:spLocks/>
          </p:cNvSpPr>
          <p:nvPr/>
        </p:nvSpPr>
        <p:spPr>
          <a:xfrm>
            <a:off x="1110651" y="616699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5" name="矩形: 圆角 1197"/>
          <p:cNvSpPr>
            <a:spLocks/>
          </p:cNvSpPr>
          <p:nvPr/>
        </p:nvSpPr>
        <p:spPr>
          <a:xfrm>
            <a:off x="1110651" y="6166993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态势知识图谱构建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76" name="任意多边形: 形状 375"/>
          <p:cNvSpPr>
            <a:spLocks/>
          </p:cNvSpPr>
          <p:nvPr/>
        </p:nvSpPr>
        <p:spPr>
          <a:xfrm>
            <a:off x="1110651" y="6496573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7" name="矩形: 圆角 1197"/>
          <p:cNvSpPr>
            <a:spLocks/>
          </p:cNvSpPr>
          <p:nvPr/>
        </p:nvSpPr>
        <p:spPr>
          <a:xfrm>
            <a:off x="1110651" y="6496573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知识图谱增量更新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89" name="任意多边形: 形状 388"/>
          <p:cNvSpPr>
            <a:spLocks/>
          </p:cNvSpPr>
          <p:nvPr/>
        </p:nvSpPr>
        <p:spPr>
          <a:xfrm>
            <a:off x="3679283" y="5872904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0" name="矩形: 圆角 1197"/>
          <p:cNvSpPr>
            <a:spLocks/>
          </p:cNvSpPr>
          <p:nvPr/>
        </p:nvSpPr>
        <p:spPr>
          <a:xfrm>
            <a:off x="3679283" y="587290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信号检测专家模型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91" name="任意多边形: 形状 390"/>
          <p:cNvSpPr>
            <a:spLocks/>
          </p:cNvSpPr>
          <p:nvPr/>
        </p:nvSpPr>
        <p:spPr>
          <a:xfrm>
            <a:off x="3679283" y="6191689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2" name="矩形: 圆角 1197"/>
          <p:cNvSpPr>
            <a:spLocks/>
          </p:cNvSpPr>
          <p:nvPr/>
        </p:nvSpPr>
        <p:spPr>
          <a:xfrm>
            <a:off x="3679283" y="6191689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小样本识别专家模型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93" name="任意多边形: 形状 392"/>
          <p:cNvSpPr>
            <a:spLocks/>
          </p:cNvSpPr>
          <p:nvPr/>
        </p:nvSpPr>
        <p:spPr>
          <a:xfrm>
            <a:off x="3679283" y="6521904"/>
            <a:ext cx="151137" cy="224165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4" name="矩形: 圆角 1197"/>
          <p:cNvSpPr>
            <a:spLocks/>
          </p:cNvSpPr>
          <p:nvPr/>
        </p:nvSpPr>
        <p:spPr>
          <a:xfrm>
            <a:off x="3679283" y="652190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轨迹分析专家模型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424" name="矩形: 圆角 1197"/>
          <p:cNvSpPr>
            <a:spLocks/>
          </p:cNvSpPr>
          <p:nvPr/>
        </p:nvSpPr>
        <p:spPr>
          <a:xfrm>
            <a:off x="6021965" y="5871495"/>
            <a:ext cx="2048604" cy="351171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决策结果一致性确权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425" name="矩形: 圆角 1197"/>
          <p:cNvSpPr>
            <a:spLocks/>
          </p:cNvSpPr>
          <p:nvPr/>
        </p:nvSpPr>
        <p:spPr>
          <a:xfrm>
            <a:off x="5996564" y="6640516"/>
            <a:ext cx="1961605" cy="258457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轻量级安全传输方法</a:t>
            </a:r>
            <a:endParaRPr kumimoji="0" lang="zh-CN" altLang="en-US" sz="12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17" name="矩形: 圆角 1197"/>
          <p:cNvSpPr>
            <a:spLocks/>
          </p:cNvSpPr>
          <p:nvPr/>
        </p:nvSpPr>
        <p:spPr>
          <a:xfrm>
            <a:off x="6140081" y="6260768"/>
            <a:ext cx="1812373" cy="282588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分布式可信协同决策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9" name="矩形: 圆角 1197"/>
          <p:cNvSpPr>
            <a:spLocks/>
          </p:cNvSpPr>
          <p:nvPr/>
        </p:nvSpPr>
        <p:spPr>
          <a:xfrm>
            <a:off x="10347149" y="5270422"/>
            <a:ext cx="396258" cy="1696798"/>
          </a:xfrm>
          <a:prstGeom prst="roundRect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怎么处理</a:t>
            </a:r>
          </a:p>
        </p:txBody>
      </p:sp>
      <p:cxnSp>
        <p:nvCxnSpPr>
          <p:cNvPr id="13" name="直接连接符 12"/>
          <p:cNvCxnSpPr>
            <a:cxnSpLocks/>
          </p:cNvCxnSpPr>
          <p:nvPr/>
        </p:nvCxnSpPr>
        <p:spPr>
          <a:xfrm flipH="1">
            <a:off x="1739116" y="5120872"/>
            <a:ext cx="295309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>
            <a:cxnSpLocks/>
          </p:cNvCxnSpPr>
          <p:nvPr/>
        </p:nvCxnSpPr>
        <p:spPr>
          <a:xfrm flipV="1">
            <a:off x="1745429" y="4907521"/>
            <a:ext cx="0" cy="245121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108"/>
          <p:cNvSpPr>
            <a:spLocks/>
          </p:cNvSpPr>
          <p:nvPr/>
        </p:nvSpPr>
        <p:spPr>
          <a:xfrm>
            <a:off x="8170269" y="7307912"/>
            <a:ext cx="2159734" cy="1817453"/>
          </a:xfrm>
          <a:prstGeom prst="roundRect">
            <a:avLst>
              <a:gd name="adj" fmla="val 7070"/>
            </a:avLst>
          </a:prstGeom>
          <a:solidFill>
            <a:srgbClr val="2E54A1">
              <a:alpha val="30000"/>
            </a:srgb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30" name="矩形: 圆角 1197"/>
          <p:cNvSpPr>
            <a:spLocks/>
          </p:cNvSpPr>
          <p:nvPr/>
        </p:nvSpPr>
        <p:spPr>
          <a:xfrm>
            <a:off x="8361413" y="7378400"/>
            <a:ext cx="396258" cy="1659966"/>
          </a:xfrm>
          <a:prstGeom prst="roundRect">
            <a:avLst>
              <a:gd name="adj" fmla="val 27564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研究内容四方案</a:t>
            </a:r>
          </a:p>
        </p:txBody>
      </p:sp>
      <p:grpSp>
        <p:nvGrpSpPr>
          <p:cNvPr id="31" name="组合 30"/>
          <p:cNvGrpSpPr>
            <a:grpSpLocks/>
          </p:cNvGrpSpPr>
          <p:nvPr/>
        </p:nvGrpSpPr>
        <p:grpSpPr>
          <a:xfrm>
            <a:off x="8748780" y="7432377"/>
            <a:ext cx="1607894" cy="1478983"/>
            <a:chOff x="1470246" y="1168420"/>
            <a:chExt cx="1937502" cy="1478915"/>
          </a:xfrm>
        </p:grpSpPr>
        <p:sp>
          <p:nvSpPr>
            <p:cNvPr id="32" name="矩形: 圆角 1150"/>
            <p:cNvSpPr>
              <a:spLocks/>
            </p:cNvSpPr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文本框 33"/>
            <p:cNvSpPr txBox="1">
              <a:spLocks/>
            </p:cNvSpPr>
            <p:nvPr/>
          </p:nvSpPr>
          <p:spPr>
            <a:xfrm>
              <a:off x="1470246" y="1408973"/>
              <a:ext cx="1937502" cy="107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r>
                <a:rPr lang="zh-CN" altLang="en-US" dirty="0">
                  <a:sym typeface="+mn-ea"/>
                </a:rPr>
                <a:t>海杂波场景电磁频谱数据智能处理原型系统验证</a:t>
              </a:r>
              <a:endParaRPr lang="zh-CN" altLang="en-US" dirty="0"/>
            </a:p>
          </p:txBody>
        </p:sp>
      </p:grpSp>
      <p:sp>
        <p:nvSpPr>
          <p:cNvPr id="39" name="矩形: 圆角 1150"/>
          <p:cNvSpPr>
            <a:spLocks/>
          </p:cNvSpPr>
          <p:nvPr/>
        </p:nvSpPr>
        <p:spPr>
          <a:xfrm>
            <a:off x="3668710" y="7489802"/>
            <a:ext cx="2106200" cy="1485932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>
            <a:spLocks/>
          </p:cNvSpPr>
          <p:nvPr/>
        </p:nvSpPr>
        <p:spPr>
          <a:xfrm>
            <a:off x="3853621" y="7624465"/>
            <a:ext cx="2085460" cy="2499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dirty="0"/>
              <a:t>     </a:t>
            </a:r>
            <a:r>
              <a:rPr lang="zh-CN" altLang="zh-CN" b="1" dirty="0"/>
              <a:t>原型</a:t>
            </a:r>
            <a:r>
              <a:rPr lang="zh-CN" altLang="en-US" b="1" dirty="0"/>
              <a:t>系统</a:t>
            </a:r>
            <a:r>
              <a:rPr lang="zh-CN" altLang="zh-CN" b="1" dirty="0"/>
              <a:t>验证</a:t>
            </a:r>
            <a:endParaRPr lang="zh-CN" altLang="zh-CN" sz="1600" dirty="0">
              <a:effectLst/>
            </a:endParaRPr>
          </a:p>
        </p:txBody>
      </p:sp>
      <p:sp>
        <p:nvSpPr>
          <p:cNvPr id="42" name="矩形: 圆角 1150"/>
          <p:cNvSpPr>
            <a:spLocks/>
          </p:cNvSpPr>
          <p:nvPr/>
        </p:nvSpPr>
        <p:spPr>
          <a:xfrm>
            <a:off x="1035038" y="7466668"/>
            <a:ext cx="2160218" cy="148596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>
            <a:spLocks/>
          </p:cNvSpPr>
          <p:nvPr/>
        </p:nvSpPr>
        <p:spPr>
          <a:xfrm>
            <a:off x="933441" y="7470085"/>
            <a:ext cx="2347824" cy="337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场景环境模拟</a:t>
            </a:r>
          </a:p>
        </p:txBody>
      </p:sp>
      <p:grpSp>
        <p:nvGrpSpPr>
          <p:cNvPr id="44" name="组合 43"/>
          <p:cNvGrpSpPr>
            <a:grpSpLocks/>
          </p:cNvGrpSpPr>
          <p:nvPr/>
        </p:nvGrpSpPr>
        <p:grpSpPr>
          <a:xfrm>
            <a:off x="6034269" y="7471669"/>
            <a:ext cx="2115105" cy="1485932"/>
            <a:chOff x="6834605" y="1468587"/>
            <a:chExt cx="2403529" cy="1478915"/>
          </a:xfrm>
        </p:grpSpPr>
        <p:sp>
          <p:nvSpPr>
            <p:cNvPr id="45" name="矩形: 圆角 1150"/>
            <p:cNvSpPr>
              <a:spLocks/>
            </p:cNvSpPr>
            <p:nvPr/>
          </p:nvSpPr>
          <p:spPr>
            <a:xfrm>
              <a:off x="6834605" y="1468587"/>
              <a:ext cx="2396459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6" name="文本框 45"/>
            <p:cNvSpPr txBox="1">
              <a:spLocks/>
            </p:cNvSpPr>
            <p:nvPr/>
          </p:nvSpPr>
          <p:spPr>
            <a:xfrm>
              <a:off x="6908785" y="1572924"/>
              <a:ext cx="2329349" cy="367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zh-CN" b="1" dirty="0"/>
                <a:t>原型系统部署</a:t>
              </a:r>
              <a:endParaRPr lang="zh-CN" altLang="zh-CN" sz="1600" dirty="0">
                <a:effectLst/>
              </a:endParaRPr>
            </a:p>
          </p:txBody>
        </p:sp>
      </p:grpSp>
      <p:cxnSp>
        <p:nvCxnSpPr>
          <p:cNvPr id="50" name="直接箭头连接符 49"/>
          <p:cNvCxnSpPr>
            <a:cxnSpLocks/>
          </p:cNvCxnSpPr>
          <p:nvPr/>
        </p:nvCxnSpPr>
        <p:spPr>
          <a:xfrm>
            <a:off x="5715877" y="8169689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1197"/>
          <p:cNvSpPr>
            <a:spLocks/>
          </p:cNvSpPr>
          <p:nvPr/>
        </p:nvSpPr>
        <p:spPr>
          <a:xfrm>
            <a:off x="10330638" y="7271715"/>
            <a:ext cx="396258" cy="1696797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怎么验证</a:t>
            </a:r>
          </a:p>
        </p:txBody>
      </p:sp>
      <p:cxnSp>
        <p:nvCxnSpPr>
          <p:cNvPr id="71" name="直接连接符 70"/>
          <p:cNvCxnSpPr>
            <a:cxnSpLocks/>
          </p:cNvCxnSpPr>
          <p:nvPr/>
        </p:nvCxnSpPr>
        <p:spPr>
          <a:xfrm flipH="1">
            <a:off x="487688" y="1905085"/>
            <a:ext cx="568986" cy="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cxnSpLocks/>
          </p:cNvCxnSpPr>
          <p:nvPr/>
        </p:nvCxnSpPr>
        <p:spPr>
          <a:xfrm>
            <a:off x="493403" y="1900639"/>
            <a:ext cx="0" cy="623789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3" name="直接连接符 72"/>
          <p:cNvCxnSpPr>
            <a:cxnSpLocks/>
          </p:cNvCxnSpPr>
          <p:nvPr/>
        </p:nvCxnSpPr>
        <p:spPr>
          <a:xfrm flipH="1">
            <a:off x="493403" y="8138530"/>
            <a:ext cx="377207" cy="0"/>
          </a:xfrm>
          <a:prstGeom prst="line">
            <a:avLst/>
          </a:prstGeom>
          <a:ln w="31750" cap="rnd">
            <a:solidFill>
              <a:schemeClr val="tx1"/>
            </a:solidFill>
            <a:round/>
            <a:headEnd type="triangle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4" name="直接连接符 73"/>
          <p:cNvCxnSpPr>
            <a:cxnSpLocks/>
          </p:cNvCxnSpPr>
          <p:nvPr/>
        </p:nvCxnSpPr>
        <p:spPr>
          <a:xfrm flipH="1">
            <a:off x="527695" y="4304859"/>
            <a:ext cx="425469" cy="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</p:cNvCxnSpPr>
          <p:nvPr/>
        </p:nvCxnSpPr>
        <p:spPr>
          <a:xfrm flipH="1">
            <a:off x="527695" y="6107707"/>
            <a:ext cx="391813" cy="0"/>
          </a:xfrm>
          <a:prstGeom prst="line">
            <a:avLst/>
          </a:prstGeom>
          <a:ln w="31750" cap="rnd">
            <a:solidFill>
              <a:schemeClr val="tx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矩形: 圆角 1197">
            <a:extLst>
              <a:ext uri="{FF2B5EF4-FFF2-40B4-BE49-F238E27FC236}">
                <a16:creationId xmlns:a16="http://schemas.microsoft.com/office/drawing/2014/main" id="{C9AF9E0A-6675-51A4-983C-9E5FC41D24EF}"/>
              </a:ext>
            </a:extLst>
          </p:cNvPr>
          <p:cNvSpPr>
            <a:spLocks/>
          </p:cNvSpPr>
          <p:nvPr/>
        </p:nvSpPr>
        <p:spPr>
          <a:xfrm>
            <a:off x="1244008" y="1617736"/>
            <a:ext cx="1642184" cy="27464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环境状态建模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1" name="矩形: 圆角 1197">
            <a:extLst>
              <a:ext uri="{FF2B5EF4-FFF2-40B4-BE49-F238E27FC236}">
                <a16:creationId xmlns:a16="http://schemas.microsoft.com/office/drawing/2014/main" id="{C716E520-7550-46DE-4CDC-5F1122BE7000}"/>
              </a:ext>
            </a:extLst>
          </p:cNvPr>
          <p:cNvSpPr>
            <a:spLocks/>
          </p:cNvSpPr>
          <p:nvPr/>
        </p:nvSpPr>
        <p:spPr>
          <a:xfrm>
            <a:off x="1240793" y="2040028"/>
            <a:ext cx="1642181" cy="27464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海杂波建模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26" name="矩形: 圆角 1197">
            <a:extLst>
              <a:ext uri="{FF2B5EF4-FFF2-40B4-BE49-F238E27FC236}">
                <a16:creationId xmlns:a16="http://schemas.microsoft.com/office/drawing/2014/main" id="{2D185DD1-D63D-09D3-5A87-33F7F18C8847}"/>
              </a:ext>
            </a:extLst>
          </p:cNvPr>
          <p:cNvSpPr>
            <a:spLocks/>
          </p:cNvSpPr>
          <p:nvPr/>
        </p:nvSpPr>
        <p:spPr>
          <a:xfrm>
            <a:off x="6198169" y="7969352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内场平台验证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35" name="矩形: 圆角 1197">
            <a:extLst>
              <a:ext uri="{FF2B5EF4-FFF2-40B4-BE49-F238E27FC236}">
                <a16:creationId xmlns:a16="http://schemas.microsoft.com/office/drawing/2014/main" id="{DDB6BDD1-A388-FBBC-D0D0-A95819DDB277}"/>
              </a:ext>
            </a:extLst>
          </p:cNvPr>
          <p:cNvSpPr>
            <a:spLocks/>
          </p:cNvSpPr>
          <p:nvPr/>
        </p:nvSpPr>
        <p:spPr>
          <a:xfrm>
            <a:off x="1237778" y="8261050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目标辐射特性模拟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48" name="矩形: 圆角 1197">
            <a:extLst>
              <a:ext uri="{FF2B5EF4-FFF2-40B4-BE49-F238E27FC236}">
                <a16:creationId xmlns:a16="http://schemas.microsoft.com/office/drawing/2014/main" id="{98FA8C11-F68B-CD38-DF80-9BCB497B0B30}"/>
              </a:ext>
            </a:extLst>
          </p:cNvPr>
          <p:cNvSpPr>
            <a:spLocks/>
          </p:cNvSpPr>
          <p:nvPr/>
        </p:nvSpPr>
        <p:spPr>
          <a:xfrm>
            <a:off x="1257236" y="8589564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电磁干扰模拟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2" name="矩形: 圆角 1197">
            <a:extLst>
              <a:ext uri="{FF2B5EF4-FFF2-40B4-BE49-F238E27FC236}">
                <a16:creationId xmlns:a16="http://schemas.microsoft.com/office/drawing/2014/main" id="{302FC32B-7919-7D11-9B0B-7307BC0DB350}"/>
              </a:ext>
            </a:extLst>
          </p:cNvPr>
          <p:cNvSpPr>
            <a:spLocks/>
          </p:cNvSpPr>
          <p:nvPr/>
        </p:nvSpPr>
        <p:spPr>
          <a:xfrm>
            <a:off x="1237780" y="7908102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海杂波模拟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4" name="矩形: 圆角 1197">
            <a:extLst>
              <a:ext uri="{FF2B5EF4-FFF2-40B4-BE49-F238E27FC236}">
                <a16:creationId xmlns:a16="http://schemas.microsoft.com/office/drawing/2014/main" id="{AAF7A5A2-52F7-B93B-92B6-935E635BA650}"/>
              </a:ext>
            </a:extLst>
          </p:cNvPr>
          <p:cNvSpPr>
            <a:spLocks/>
          </p:cNvSpPr>
          <p:nvPr/>
        </p:nvSpPr>
        <p:spPr>
          <a:xfrm>
            <a:off x="3890047" y="7988185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电磁信号传播规律验证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6" name="矩形: 圆角 1197">
            <a:extLst>
              <a:ext uri="{FF2B5EF4-FFF2-40B4-BE49-F238E27FC236}">
                <a16:creationId xmlns:a16="http://schemas.microsoft.com/office/drawing/2014/main" id="{5D96B4BA-3250-4FE1-5225-A2ED621F75E1}"/>
              </a:ext>
            </a:extLst>
          </p:cNvPr>
          <p:cNvSpPr>
            <a:spLocks/>
          </p:cNvSpPr>
          <p:nvPr/>
        </p:nvSpPr>
        <p:spPr>
          <a:xfrm>
            <a:off x="3894089" y="8302571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轻量存储和可信管理验证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58" name="矩形: 圆角 1197">
            <a:extLst>
              <a:ext uri="{FF2B5EF4-FFF2-40B4-BE49-F238E27FC236}">
                <a16:creationId xmlns:a16="http://schemas.microsoft.com/office/drawing/2014/main" id="{CDAC8B5A-1A49-09EF-FBA7-1B40AB3259AD}"/>
              </a:ext>
            </a:extLst>
          </p:cNvPr>
          <p:cNvSpPr>
            <a:spLocks/>
          </p:cNvSpPr>
          <p:nvPr/>
        </p:nvSpPr>
        <p:spPr>
          <a:xfrm>
            <a:off x="3845163" y="8647788"/>
            <a:ext cx="1734899" cy="253077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目标识别与可信协同验证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5285A22F-8305-FD6E-D5A9-71E379862F4E}"/>
              </a:ext>
            </a:extLst>
          </p:cNvPr>
          <p:cNvCxnSpPr>
            <a:cxnSpLocks/>
          </p:cNvCxnSpPr>
          <p:nvPr/>
        </p:nvCxnSpPr>
        <p:spPr>
          <a:xfrm>
            <a:off x="3209807" y="8280506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: 圆角 1197">
            <a:extLst>
              <a:ext uri="{FF2B5EF4-FFF2-40B4-BE49-F238E27FC236}">
                <a16:creationId xmlns:a16="http://schemas.microsoft.com/office/drawing/2014/main" id="{EA389F14-9A9A-4A21-539D-9E0BF164F0A0}"/>
              </a:ext>
            </a:extLst>
          </p:cNvPr>
          <p:cNvSpPr>
            <a:spLocks/>
          </p:cNvSpPr>
          <p:nvPr/>
        </p:nvSpPr>
        <p:spPr>
          <a:xfrm>
            <a:off x="6211433" y="8377726"/>
            <a:ext cx="1734899" cy="224165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    外场平台验证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A168385-D7BB-EA8E-71A0-12FDF9E56544}"/>
              </a:ext>
            </a:extLst>
          </p:cNvPr>
          <p:cNvCxnSpPr>
            <a:cxnSpLocks/>
          </p:cNvCxnSpPr>
          <p:nvPr/>
        </p:nvCxnSpPr>
        <p:spPr>
          <a:xfrm>
            <a:off x="1411435" y="3037511"/>
            <a:ext cx="0" cy="5478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F4071B2-E0EC-3DD3-50D4-C9D0B0361B03}"/>
              </a:ext>
            </a:extLst>
          </p:cNvPr>
          <p:cNvCxnSpPr>
            <a:cxnSpLocks/>
          </p:cNvCxnSpPr>
          <p:nvPr/>
        </p:nvCxnSpPr>
        <p:spPr>
          <a:xfrm flipH="1">
            <a:off x="1403180" y="2942730"/>
            <a:ext cx="503219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489A4DEE-427A-6F0F-1543-AA248D9A3B38}"/>
              </a:ext>
            </a:extLst>
          </p:cNvPr>
          <p:cNvCxnSpPr>
            <a:cxnSpLocks/>
          </p:cNvCxnSpPr>
          <p:nvPr/>
        </p:nvCxnSpPr>
        <p:spPr>
          <a:xfrm flipV="1">
            <a:off x="6429056" y="2701384"/>
            <a:ext cx="0" cy="245121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E4C116F9-70EF-697A-B8AF-52F1E15E7EF4}"/>
              </a:ext>
            </a:extLst>
          </p:cNvPr>
          <p:cNvCxnSpPr>
            <a:cxnSpLocks/>
          </p:cNvCxnSpPr>
          <p:nvPr/>
        </p:nvCxnSpPr>
        <p:spPr>
          <a:xfrm>
            <a:off x="5543154" y="6159628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箭头连接符 453">
            <a:extLst>
              <a:ext uri="{FF2B5EF4-FFF2-40B4-BE49-F238E27FC236}">
                <a16:creationId xmlns:a16="http://schemas.microsoft.com/office/drawing/2014/main" id="{E6CAA0C2-8B63-7068-C675-80BB634E3ADB}"/>
              </a:ext>
            </a:extLst>
          </p:cNvPr>
          <p:cNvCxnSpPr>
            <a:cxnSpLocks/>
          </p:cNvCxnSpPr>
          <p:nvPr/>
        </p:nvCxnSpPr>
        <p:spPr>
          <a:xfrm>
            <a:off x="3057590" y="4207706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直接箭头连接符 454">
            <a:extLst>
              <a:ext uri="{FF2B5EF4-FFF2-40B4-BE49-F238E27FC236}">
                <a16:creationId xmlns:a16="http://schemas.microsoft.com/office/drawing/2014/main" id="{AD30D611-EAAA-2A4D-E052-2D79DA7977DD}"/>
              </a:ext>
            </a:extLst>
          </p:cNvPr>
          <p:cNvCxnSpPr>
            <a:cxnSpLocks/>
          </p:cNvCxnSpPr>
          <p:nvPr/>
        </p:nvCxnSpPr>
        <p:spPr>
          <a:xfrm>
            <a:off x="5604116" y="4236240"/>
            <a:ext cx="39244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165</TotalTime>
  <Words>415</Words>
  <Application>Microsoft Office PowerPoint</Application>
  <PresentationFormat>自定义</PresentationFormat>
  <Paragraphs>67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微软雅黑</vt:lpstr>
      <vt:lpstr>Arial</vt:lpstr>
      <vt:lpstr>Calibri</vt:lpstr>
      <vt:lpstr>Calibri Light</vt:lpstr>
      <vt:lpstr>Office 2013 - 2022 主题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65</cp:revision>
  <dcterms:created xsi:type="dcterms:W3CDTF">2026-06-18T08:49:43Z</dcterms:created>
  <dcterms:modified xsi:type="dcterms:W3CDTF">2026-06-22T12:47:13Z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CCB4CCE1F4F0462ABE8EFD1EDFF8C9FF_12</vt:lpwstr>
  </property>
</Properties>
</file>