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1159490" cy="971994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86010" autoAdjust="0"/>
  </p:normalViewPr>
  <p:slideViewPr>
    <p:cSldViewPr snapToGrid="0">
      <p:cViewPr varScale="1">
        <p:scale>
          <a:sx n="60" d="100"/>
          <a:sy n="60" d="100"/>
        </p:scale>
        <p:origin x="123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核心技术加示意图</a:t>
            </a:r>
            <a:endParaRPr lang="en-US" altLang="zh-CN" dirty="0"/>
          </a:p>
          <a:p>
            <a:r>
              <a:rPr lang="zh-CN" altLang="en-US" dirty="0"/>
              <a:t>图中海杂波、采集两个框很突兀，直接放到研究内容一的第一个框里，三项研究内容的逻辑关系箭头放在正中间，不要画折线，删掉数据流</a:t>
            </a:r>
            <a:endParaRPr lang="en-US" altLang="zh-CN" dirty="0"/>
          </a:p>
          <a:p>
            <a:r>
              <a:rPr lang="zh-CN" altLang="en-US" dirty="0"/>
              <a:t>创新点里面的关键词可以放在这张图里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7063" y="1590840"/>
            <a:ext cx="9486715" cy="3384191"/>
          </a:xfrm>
        </p:spPr>
        <p:txBody>
          <a:bodyPr anchor="b"/>
          <a:lstStyle>
            <a:lvl1pPr algn="ctr"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5106" y="5105538"/>
            <a:ext cx="8370631" cy="2346881"/>
          </a:xfrm>
        </p:spPr>
        <p:txBody>
          <a:bodyPr/>
          <a:lstStyle>
            <a:lvl1pPr marL="0" indent="0" algn="ctr">
              <a:buNone/>
              <a:defRPr sz="2925"/>
            </a:lvl1pPr>
            <a:lvl2pPr marL="558165" indent="0" algn="ctr">
              <a:buNone/>
              <a:defRPr sz="2440"/>
            </a:lvl2pPr>
            <a:lvl3pPr marL="1116330" indent="0" algn="ctr">
              <a:buNone/>
              <a:defRPr sz="2200"/>
            </a:lvl3pPr>
            <a:lvl4pPr marL="1674495" indent="0" algn="ctr">
              <a:buNone/>
              <a:defRPr sz="1955"/>
            </a:lvl4pPr>
            <a:lvl5pPr marL="2232025" indent="0" algn="ctr">
              <a:buNone/>
              <a:defRPr sz="1955"/>
            </a:lvl5pPr>
            <a:lvl6pPr marL="2790190" indent="0" algn="ctr">
              <a:buNone/>
              <a:defRPr sz="1955"/>
            </a:lvl6pPr>
            <a:lvl7pPr marL="3348355" indent="0" algn="ctr">
              <a:buNone/>
              <a:defRPr sz="1955"/>
            </a:lvl7pPr>
            <a:lvl8pPr marL="3906520" indent="0" algn="ctr">
              <a:buNone/>
              <a:defRPr sz="1955"/>
            </a:lvl8pPr>
            <a:lvl9pPr marL="4464050" indent="0" algn="ctr">
              <a:buNone/>
              <a:defRPr sz="195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2423389"/>
            <a:ext cx="9626226" cy="4043476"/>
          </a:xfrm>
        </p:spPr>
        <p:txBody>
          <a:bodyPr anchor="b"/>
          <a:lstStyle>
            <a:lvl1pPr>
              <a:defRPr sz="73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96" y="6505118"/>
            <a:ext cx="9626226" cy="2126369"/>
          </a:xfrm>
        </p:spPr>
        <p:txBody>
          <a:bodyPr/>
          <a:lstStyle>
            <a:lvl1pPr marL="0" indent="0">
              <a:buNone/>
              <a:defRPr sz="2925">
                <a:solidFill>
                  <a:schemeClr val="tx1"/>
                </a:solidFill>
              </a:defRPr>
            </a:lvl1pPr>
            <a:lvl2pPr marL="558165" indent="0">
              <a:buNone/>
              <a:defRPr sz="2440">
                <a:solidFill>
                  <a:schemeClr val="tx1">
                    <a:tint val="75000"/>
                  </a:schemeClr>
                </a:solidFill>
              </a:defRPr>
            </a:lvl2pPr>
            <a:lvl3pPr marL="111633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3pPr>
            <a:lvl4pPr marL="167449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4pPr>
            <a:lvl5pPr marL="223202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5pPr>
            <a:lvl6pPr marL="279019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6pPr>
            <a:lvl7pPr marL="3348355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7pPr>
            <a:lvl8pPr marL="390652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8pPr>
            <a:lvl9pPr marL="4464050" indent="0">
              <a:buNone/>
              <a:defRPr sz="195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7308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0176" y="2587646"/>
            <a:ext cx="4743358" cy="61675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517532"/>
            <a:ext cx="9626226" cy="187885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763" y="2382884"/>
            <a:ext cx="4721558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763" y="3550700"/>
            <a:ext cx="4721558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0177" y="2382884"/>
            <a:ext cx="4744811" cy="1167815"/>
          </a:xfrm>
        </p:spPr>
        <p:txBody>
          <a:bodyPr anchor="b"/>
          <a:lstStyle>
            <a:lvl1pPr marL="0" indent="0">
              <a:buNone/>
              <a:defRPr sz="2925" b="1"/>
            </a:lvl1pPr>
            <a:lvl2pPr marL="558165" indent="0">
              <a:buNone/>
              <a:defRPr sz="2440" b="1"/>
            </a:lvl2pPr>
            <a:lvl3pPr marL="1116330" indent="0">
              <a:buNone/>
              <a:defRPr sz="2200" b="1"/>
            </a:lvl3pPr>
            <a:lvl4pPr marL="1674495" indent="0">
              <a:buNone/>
              <a:defRPr sz="1955" b="1"/>
            </a:lvl4pPr>
            <a:lvl5pPr marL="2232025" indent="0">
              <a:buNone/>
              <a:defRPr sz="1955" b="1"/>
            </a:lvl5pPr>
            <a:lvl6pPr marL="2790190" indent="0">
              <a:buNone/>
              <a:defRPr sz="1955" b="1"/>
            </a:lvl6pPr>
            <a:lvl7pPr marL="3348355" indent="0">
              <a:buNone/>
              <a:defRPr sz="1955" b="1"/>
            </a:lvl7pPr>
            <a:lvl8pPr marL="3906520" indent="0">
              <a:buNone/>
              <a:defRPr sz="1955" b="1"/>
            </a:lvl8pPr>
            <a:lvl9pPr marL="4464050" indent="0">
              <a:buNone/>
              <a:defRPr sz="195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0177" y="3550700"/>
            <a:ext cx="4744811" cy="522254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4811" y="1399582"/>
            <a:ext cx="5650176" cy="6907888"/>
          </a:xfrm>
        </p:spPr>
        <p:txBody>
          <a:bodyPr/>
          <a:lstStyle>
            <a:lvl1pPr>
              <a:defRPr sz="3905"/>
            </a:lvl1pPr>
            <a:lvl2pPr>
              <a:defRPr sz="3420"/>
            </a:lvl2pPr>
            <a:lvl3pPr>
              <a:defRPr sz="2925"/>
            </a:lvl3pPr>
            <a:lvl4pPr>
              <a:defRPr sz="2440"/>
            </a:lvl4pPr>
            <a:lvl5pPr>
              <a:defRPr sz="2440"/>
            </a:lvl5pPr>
            <a:lvl6pPr>
              <a:defRPr sz="2440"/>
            </a:lvl6pPr>
            <a:lvl7pPr>
              <a:defRPr sz="2440"/>
            </a:lvl7pPr>
            <a:lvl8pPr>
              <a:defRPr sz="2440"/>
            </a:lvl8pPr>
            <a:lvl9pPr>
              <a:defRPr sz="244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62" y="648035"/>
            <a:ext cx="3599661" cy="2268127"/>
          </a:xfrm>
        </p:spPr>
        <p:txBody>
          <a:bodyPr anchor="b"/>
          <a:lstStyle>
            <a:lvl1pPr>
              <a:defRPr sz="390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4811" y="1399582"/>
            <a:ext cx="5650176" cy="6907888"/>
          </a:xfrm>
        </p:spPr>
        <p:txBody>
          <a:bodyPr anchor="t"/>
          <a:lstStyle>
            <a:lvl1pPr marL="0" indent="0">
              <a:buNone/>
              <a:defRPr sz="3905"/>
            </a:lvl1pPr>
            <a:lvl2pPr marL="558165" indent="0">
              <a:buNone/>
              <a:defRPr sz="3420"/>
            </a:lvl2pPr>
            <a:lvl3pPr marL="1116330" indent="0">
              <a:buNone/>
              <a:defRPr sz="2925"/>
            </a:lvl3pPr>
            <a:lvl4pPr marL="1674495" indent="0">
              <a:buNone/>
              <a:defRPr sz="2440"/>
            </a:lvl4pPr>
            <a:lvl5pPr marL="2232025" indent="0">
              <a:buNone/>
              <a:defRPr sz="2440"/>
            </a:lvl5pPr>
            <a:lvl6pPr marL="2790190" indent="0">
              <a:buNone/>
              <a:defRPr sz="2440"/>
            </a:lvl6pPr>
            <a:lvl7pPr marL="3348355" indent="0">
              <a:buNone/>
              <a:defRPr sz="2440"/>
            </a:lvl7pPr>
            <a:lvl8pPr marL="3906520" indent="0">
              <a:buNone/>
              <a:defRPr sz="2440"/>
            </a:lvl8pPr>
            <a:lvl9pPr marL="4464050" indent="0">
              <a:buNone/>
              <a:defRPr sz="244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62" y="2916163"/>
            <a:ext cx="3599661" cy="5402555"/>
          </a:xfrm>
        </p:spPr>
        <p:txBody>
          <a:bodyPr/>
          <a:lstStyle>
            <a:lvl1pPr marL="0" indent="0">
              <a:buNone/>
              <a:defRPr sz="1955"/>
            </a:lvl1pPr>
            <a:lvl2pPr marL="558165" indent="0">
              <a:buNone/>
              <a:defRPr sz="1705"/>
            </a:lvl2pPr>
            <a:lvl3pPr marL="1116330" indent="0">
              <a:buNone/>
              <a:defRPr sz="1465"/>
            </a:lvl3pPr>
            <a:lvl4pPr marL="1674495" indent="0">
              <a:buNone/>
              <a:defRPr sz="1220"/>
            </a:lvl4pPr>
            <a:lvl5pPr marL="2232025" indent="0">
              <a:buNone/>
              <a:defRPr sz="1220"/>
            </a:lvl5pPr>
            <a:lvl6pPr marL="2790190" indent="0">
              <a:buNone/>
              <a:defRPr sz="1220"/>
            </a:lvl6pPr>
            <a:lvl7pPr marL="3348355" indent="0">
              <a:buNone/>
              <a:defRPr sz="1220"/>
            </a:lvl7pPr>
            <a:lvl8pPr marL="3906520" indent="0">
              <a:buNone/>
              <a:defRPr sz="1220"/>
            </a:lvl8pPr>
            <a:lvl9pPr marL="4464050" indent="0">
              <a:buNone/>
              <a:defRPr sz="122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978" y="517529"/>
            <a:ext cx="2406556" cy="82377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7309" y="517529"/>
            <a:ext cx="7080159" cy="82377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308" y="517532"/>
            <a:ext cx="9626226" cy="1878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308" y="2587646"/>
            <a:ext cx="9626226" cy="616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308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en-US" altLang="zh-CN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7029" y="9009508"/>
            <a:ext cx="3766784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2344" y="9009508"/>
            <a:ext cx="2511190" cy="5175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 lang="en-US" altLang="zh-CN" smtClean="0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116330" rtl="0" eaLnBrk="1" latinLnBrk="0" hangingPunct="1">
        <a:lnSpc>
          <a:spcPct val="90000"/>
        </a:lnSpc>
        <a:spcBef>
          <a:spcPct val="0"/>
        </a:spcBef>
        <a:buNone/>
        <a:defRPr sz="53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9400" indent="-279400" algn="l" defTabSz="1116330" rtl="0" eaLnBrk="1" latinLnBrk="0" hangingPunct="1">
        <a:lnSpc>
          <a:spcPct val="90000"/>
        </a:lnSpc>
        <a:spcBef>
          <a:spcPts val="1220"/>
        </a:spcBef>
        <a:buFont typeface="Arial" panose="020B0604020202090204" pitchFamily="34" charset="0"/>
        <a:buChar char="•"/>
        <a:defRPr sz="3420" kern="1200">
          <a:solidFill>
            <a:schemeClr val="tx1"/>
          </a:solidFill>
          <a:latin typeface="+mn-lt"/>
          <a:ea typeface="+mn-ea"/>
          <a:cs typeface="+mn-cs"/>
        </a:defRPr>
      </a:lvl1pPr>
      <a:lvl2pPr marL="83693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2pPr>
      <a:lvl3pPr marL="139509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440" kern="1200">
          <a:solidFill>
            <a:schemeClr val="tx1"/>
          </a:solidFill>
          <a:latin typeface="+mn-lt"/>
          <a:ea typeface="+mn-ea"/>
          <a:cs typeface="+mn-cs"/>
        </a:defRPr>
      </a:lvl3pPr>
      <a:lvl4pPr marL="19526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51142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306895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62712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4185285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743450" indent="-279400" algn="l" defTabSz="1116330" rtl="0" eaLnBrk="1" latinLnBrk="0" hangingPunct="1">
        <a:lnSpc>
          <a:spcPct val="90000"/>
        </a:lnSpc>
        <a:spcBef>
          <a:spcPct val="122000"/>
        </a:spcBef>
        <a:buFont typeface="Arial" panose="020B060402020209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5816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1633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7449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3202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9019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348355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90652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464050" algn="l" defTabSz="11163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318770" y="54610"/>
            <a:ext cx="10542752" cy="9360963"/>
            <a:chOff x="502" y="86"/>
            <a:chExt cx="16602" cy="14741"/>
          </a:xfrm>
        </p:grpSpPr>
        <p:sp>
          <p:nvSpPr>
            <p:cNvPr id="70" name="矩形: 圆角 2"/>
            <p:cNvSpPr/>
            <p:nvPr/>
          </p:nvSpPr>
          <p:spPr>
            <a:xfrm>
              <a:off x="967" y="11531"/>
              <a:ext cx="11834" cy="2876"/>
            </a:xfrm>
            <a:prstGeom prst="roundRect">
              <a:avLst>
                <a:gd name="adj" fmla="val 707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28" name="矩形: 圆角 2"/>
            <p:cNvSpPr/>
            <p:nvPr/>
          </p:nvSpPr>
          <p:spPr>
            <a:xfrm>
              <a:off x="1124" y="5103"/>
              <a:ext cx="11834" cy="2876"/>
            </a:xfrm>
            <a:prstGeom prst="roundRect">
              <a:avLst>
                <a:gd name="adj" fmla="val 707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81" name="圆角矩形 80"/>
            <p:cNvSpPr/>
            <p:nvPr/>
          </p:nvSpPr>
          <p:spPr>
            <a:xfrm>
              <a:off x="502" y="86"/>
              <a:ext cx="16602" cy="14741"/>
            </a:xfrm>
            <a:prstGeom prst="roundRect">
              <a:avLst>
                <a:gd name="adj" fmla="val 3556"/>
              </a:avLst>
            </a:prstGeom>
            <a:noFill/>
            <a:ln w="25400" cmpd="sng">
              <a:solidFill>
                <a:schemeClr val="accent1">
                  <a:shade val="50000"/>
                </a:schemeClr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buNone/>
              </a:pPr>
            </a:p>
          </p:txBody>
        </p:sp>
        <p:sp>
          <p:nvSpPr>
            <p:cNvPr id="4" name="矩形: 圆角 3"/>
            <p:cNvSpPr>
              <a:spLocks noGrp="1"/>
            </p:cNvSpPr>
            <p:nvPr/>
          </p:nvSpPr>
          <p:spPr>
            <a:xfrm>
              <a:off x="3601" y="176"/>
              <a:ext cx="10787" cy="752"/>
            </a:xfrm>
            <a:prstGeom prst="roundRect">
              <a:avLst>
                <a:gd name="adj" fmla="val 50000"/>
              </a:avLst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buNone/>
              </a:pPr>
              <a:endParaRPr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2" name="clean-title"/>
            <p:cNvSpPr>
              <a:spLocks noGrp="1"/>
            </p:cNvSpPr>
            <p:nvPr/>
          </p:nvSpPr>
          <p:spPr>
            <a:xfrm>
              <a:off x="5233" y="290"/>
              <a:ext cx="8659" cy="5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>
              <a:noAutofit/>
            </a:bodyPr>
            <a:lstStyle/>
            <a:p>
              <a:pPr algn="ctr">
                <a:defRPr sz="1395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lang="zh-CN" altLang="en-US" sz="2000" b="1" dirty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海杂波场景电磁频谱数据智能处理机理与方法</a:t>
              </a:r>
              <a:endPara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1152" y="1638"/>
              <a:ext cx="11834" cy="2876"/>
              <a:chOff x="587828" y="999034"/>
              <a:chExt cx="7143117" cy="1817687"/>
            </a:xfrm>
          </p:grpSpPr>
          <p:sp>
            <p:nvSpPr>
              <p:cNvPr id="3" name="矩形: 圆角 2"/>
              <p:cNvSpPr/>
              <p:nvPr/>
            </p:nvSpPr>
            <p:spPr>
              <a:xfrm>
                <a:off x="587828" y="999034"/>
                <a:ext cx="7143117" cy="1817687"/>
              </a:xfrm>
              <a:prstGeom prst="roundRect">
                <a:avLst>
                  <a:gd name="adj" fmla="val 7070"/>
                </a:avLst>
              </a:prstGeom>
              <a:solidFill>
                <a:srgbClr val="FADBDF"/>
              </a:solidFill>
              <a:ln w="25400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sz="2235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476" name="组合 475"/>
              <p:cNvGrpSpPr/>
              <p:nvPr/>
            </p:nvGrpSpPr>
            <p:grpSpPr>
              <a:xfrm>
                <a:off x="634620" y="1168420"/>
                <a:ext cx="2454590" cy="1478915"/>
                <a:chOff x="459642" y="1168420"/>
                <a:chExt cx="2957327" cy="1478915"/>
              </a:xfrm>
            </p:grpSpPr>
            <p:sp>
              <p:nvSpPr>
                <p:cNvPr id="5" name="矩形: 圆角 1150"/>
                <p:cNvSpPr/>
                <p:nvPr/>
              </p:nvSpPr>
              <p:spPr>
                <a:xfrm>
                  <a:off x="775635" y="1168420"/>
                  <a:ext cx="2256436" cy="1478915"/>
                </a:xfrm>
                <a:prstGeom prst="roundRect">
                  <a:avLst>
                    <a:gd name="adj" fmla="val 4026"/>
                  </a:avLst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defRPr/>
                  </a:pPr>
                  <a:endParaRPr lang="zh-CN" altLang="en-US" sz="2235" dirty="0">
                    <a:solidFill>
                      <a:prstClr val="white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6" name="文本框 5"/>
                <p:cNvSpPr txBox="1"/>
                <p:nvPr/>
              </p:nvSpPr>
              <p:spPr>
                <a:xfrm>
                  <a:off x="459642" y="1295436"/>
                  <a:ext cx="2957327" cy="2743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buClrTx/>
                    <a:buSzTx/>
                    <a:buFontTx/>
                  </a:pPr>
                  <a:r>
                    <a:rPr lang="en-US" altLang="zh-CN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1.1</a:t>
                  </a:r>
                  <a:r>
                    <a:rPr lang="zh-CN" altLang="en-US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信号传播规律建模</a:t>
                  </a:r>
                  <a:endParaRPr lang="zh-CN" altLang="en-US" sz="1200" b="1" dirty="0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477" name="组合 476"/>
              <p:cNvGrpSpPr/>
              <p:nvPr/>
            </p:nvGrpSpPr>
            <p:grpSpPr>
              <a:xfrm>
                <a:off x="3139796" y="1168420"/>
                <a:ext cx="2021891" cy="1478915"/>
                <a:chOff x="3659048" y="1168420"/>
                <a:chExt cx="2484862" cy="1478915"/>
              </a:xfrm>
            </p:grpSpPr>
            <p:sp>
              <p:nvSpPr>
                <p:cNvPr id="11" name="矩形: 圆角 1150"/>
                <p:cNvSpPr/>
                <p:nvPr/>
              </p:nvSpPr>
              <p:spPr>
                <a:xfrm>
                  <a:off x="3683028" y="1168420"/>
                  <a:ext cx="2460882" cy="1478915"/>
                </a:xfrm>
                <a:prstGeom prst="roundRect">
                  <a:avLst>
                    <a:gd name="adj" fmla="val 4026"/>
                  </a:avLst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defRPr/>
                  </a:pPr>
                  <a:endParaRPr lang="zh-CN" altLang="en-US" sz="2235" dirty="0">
                    <a:solidFill>
                      <a:prstClr val="white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3659048" y="1294140"/>
                  <a:ext cx="2460882" cy="2743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1.2 </a:t>
                  </a:r>
                  <a:r>
                    <a:rPr lang="zh-CN" altLang="en-US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频谱特征增强</a:t>
                  </a:r>
                  <a:endParaRPr lang="zh-CN" altLang="en-US" sz="1200" b="1" dirty="0">
                    <a:solidFill>
                      <a:srgbClr val="C00000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478" name="组合 477"/>
              <p:cNvGrpSpPr/>
              <p:nvPr/>
            </p:nvGrpSpPr>
            <p:grpSpPr>
              <a:xfrm>
                <a:off x="5295205" y="1168420"/>
                <a:ext cx="2236124" cy="1478915"/>
                <a:chOff x="6499048" y="1168420"/>
                <a:chExt cx="2673099" cy="1478915"/>
              </a:xfrm>
            </p:grpSpPr>
            <p:sp>
              <p:nvSpPr>
                <p:cNvPr id="12" name="矩形: 圆角 1150"/>
                <p:cNvSpPr/>
                <p:nvPr/>
              </p:nvSpPr>
              <p:spPr>
                <a:xfrm>
                  <a:off x="6834341" y="1168420"/>
                  <a:ext cx="2337806" cy="1478915"/>
                </a:xfrm>
                <a:prstGeom prst="roundRect">
                  <a:avLst>
                    <a:gd name="adj" fmla="val 4026"/>
                  </a:avLst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defRPr/>
                  </a:pPr>
                  <a:endParaRPr lang="zh-CN" altLang="en-US" sz="2235" dirty="0">
                    <a:solidFill>
                      <a:prstClr val="white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6499048" y="1335217"/>
                  <a:ext cx="2259037" cy="2743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1.3 </a:t>
                  </a:r>
                  <a:r>
                    <a:rPr lang="zh-CN" altLang="en-US" sz="1200" b="1" dirty="0">
                      <a:latin typeface="微软雅黑" panose="020B0503020204020204" charset="-122"/>
                      <a:ea typeface="微软雅黑" panose="020B0503020204020204" charset="-122"/>
                    </a:rPr>
                    <a:t>多维表征提取</a:t>
                  </a:r>
                  <a:endParaRPr lang="zh-CN" altLang="en-US" sz="1200" b="1" dirty="0">
                    <a:solidFill>
                      <a:srgbClr val="C00000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487" name="组合 486"/>
            <p:cNvGrpSpPr/>
            <p:nvPr/>
          </p:nvGrpSpPr>
          <p:grpSpPr>
            <a:xfrm>
              <a:off x="1564" y="5438"/>
              <a:ext cx="3182" cy="2340"/>
              <a:chOff x="775635" y="1168420"/>
              <a:chExt cx="2314046" cy="1478915"/>
            </a:xfrm>
            <a:solidFill>
              <a:schemeClr val="bg1"/>
            </a:solidFill>
          </p:grpSpPr>
          <p:sp>
            <p:nvSpPr>
              <p:cNvPr id="494" name="矩形: 圆角 1150"/>
              <p:cNvSpPr/>
              <p:nvPr/>
            </p:nvSpPr>
            <p:spPr>
              <a:xfrm>
                <a:off x="775635" y="1168420"/>
                <a:ext cx="2314046" cy="1478915"/>
              </a:xfrm>
              <a:prstGeom prst="roundRect">
                <a:avLst>
                  <a:gd name="adj" fmla="val 4026"/>
                </a:avLst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95" name="文本框 494"/>
              <p:cNvSpPr txBox="1"/>
              <p:nvPr/>
            </p:nvSpPr>
            <p:spPr>
              <a:xfrm>
                <a:off x="831992" y="1278394"/>
                <a:ext cx="2192651" cy="27430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2.3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频谱数据可信管理</a:t>
                </a:r>
                <a:endParaRPr lang="zh-CN" altLang="en-US" sz="1200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88" name="组合 487"/>
            <p:cNvGrpSpPr/>
            <p:nvPr/>
          </p:nvGrpSpPr>
          <p:grpSpPr>
            <a:xfrm>
              <a:off x="5419" y="5438"/>
              <a:ext cx="3210" cy="2340"/>
              <a:chOff x="3762626" y="1168420"/>
              <a:chExt cx="2381287" cy="1478915"/>
            </a:xfrm>
            <a:solidFill>
              <a:schemeClr val="bg1"/>
            </a:solidFill>
          </p:grpSpPr>
          <p:sp>
            <p:nvSpPr>
              <p:cNvPr id="492" name="矩形: 圆角 1150"/>
              <p:cNvSpPr/>
              <p:nvPr/>
            </p:nvSpPr>
            <p:spPr>
              <a:xfrm>
                <a:off x="3774556" y="1168420"/>
                <a:ext cx="2369357" cy="1478915"/>
              </a:xfrm>
              <a:prstGeom prst="roundRect">
                <a:avLst>
                  <a:gd name="adj" fmla="val 4026"/>
                </a:avLst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93" name="文本框 492"/>
              <p:cNvSpPr txBox="1"/>
              <p:nvPr/>
            </p:nvSpPr>
            <p:spPr>
              <a:xfrm>
                <a:off x="3762626" y="1287821"/>
                <a:ext cx="2354162" cy="27430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2.2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频谱向量库存储压缩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89" name="组合 488"/>
            <p:cNvGrpSpPr/>
            <p:nvPr/>
          </p:nvGrpSpPr>
          <p:grpSpPr>
            <a:xfrm>
              <a:off x="9315" y="5438"/>
              <a:ext cx="3240" cy="2340"/>
              <a:chOff x="6834341" y="1168420"/>
              <a:chExt cx="2337806" cy="1478915"/>
            </a:xfrm>
            <a:solidFill>
              <a:srgbClr val="2E54A1">
                <a:alpha val="20000"/>
              </a:srgbClr>
            </a:solidFill>
          </p:grpSpPr>
          <p:sp>
            <p:nvSpPr>
              <p:cNvPr id="490" name="矩形: 圆角 1150"/>
              <p:cNvSpPr/>
              <p:nvPr/>
            </p:nvSpPr>
            <p:spPr>
              <a:xfrm>
                <a:off x="6834341" y="1168420"/>
                <a:ext cx="233780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91" name="文本框 490"/>
              <p:cNvSpPr txBox="1"/>
              <p:nvPr/>
            </p:nvSpPr>
            <p:spPr>
              <a:xfrm>
                <a:off x="6929828" y="1293499"/>
                <a:ext cx="2175537" cy="27430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charset="-122"/>
                    <a:ea typeface="微软雅黑" panose="020B0503020204020204" charset="-122"/>
                  </a:rPr>
                  <a:t>2.1 </a:t>
                </a: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频谱数据价值评估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sp>
          <p:nvSpPr>
            <p:cNvPr id="507" name="矩形: 圆角 1150"/>
            <p:cNvSpPr/>
            <p:nvPr/>
          </p:nvSpPr>
          <p:spPr>
            <a:xfrm>
              <a:off x="2946" y="1000"/>
              <a:ext cx="1895" cy="548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08" name="文本框 507"/>
            <p:cNvSpPr txBox="1"/>
            <p:nvPr/>
          </p:nvSpPr>
          <p:spPr>
            <a:xfrm>
              <a:off x="2934" y="1000"/>
              <a:ext cx="1895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charset="-122"/>
                  <a:ea typeface="微软雅黑" panose="020B0503020204020204" charset="-122"/>
                </a:rPr>
                <a:t>海杂波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09" name="矩形: 圆角 1150"/>
            <p:cNvSpPr/>
            <p:nvPr/>
          </p:nvSpPr>
          <p:spPr>
            <a:xfrm>
              <a:off x="6585" y="963"/>
              <a:ext cx="1895" cy="548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510" name="文本框 509"/>
            <p:cNvSpPr txBox="1"/>
            <p:nvPr/>
          </p:nvSpPr>
          <p:spPr>
            <a:xfrm>
              <a:off x="6642" y="993"/>
              <a:ext cx="189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latin typeface="微软雅黑" panose="020B0503020204020204" charset="-122"/>
                  <a:ea typeface="微软雅黑" panose="020B0503020204020204" charset="-122"/>
                </a:rPr>
                <a:t>采集</a:t>
              </a:r>
              <a:r>
                <a:rPr lang="zh-CN" altLang="en-US" sz="800" b="1" dirty="0">
                  <a:latin typeface="微软雅黑" panose="020B0503020204020204" charset="-122"/>
                  <a:ea typeface="微软雅黑" panose="020B0503020204020204" charset="-122"/>
                </a:rPr>
                <a:t>（软件无线电）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1060" y="4554"/>
              <a:ext cx="1183" cy="5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zh-CN" altLang="en-US" sz="1000" b="1" dirty="0">
                  <a:latin typeface="微软雅黑" panose="020B0503020204020204" charset="-122"/>
                  <a:ea typeface="微软雅黑" panose="020B0503020204020204" charset="-122"/>
                </a:rPr>
                <a:t>多维频谱数据流</a:t>
              </a:r>
              <a:endParaRPr lang="zh-CN" altLang="en-US" sz="1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91" name="直接连接符 90"/>
            <p:cNvCxnSpPr/>
            <p:nvPr/>
          </p:nvCxnSpPr>
          <p:spPr>
            <a:xfrm flipV="1">
              <a:off x="10244" y="4929"/>
              <a:ext cx="0" cy="54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矩形: 圆角 94"/>
            <p:cNvSpPr/>
            <p:nvPr/>
          </p:nvSpPr>
          <p:spPr>
            <a:xfrm>
              <a:off x="13102" y="1652"/>
              <a:ext cx="3401" cy="2862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96" name="矩形: 圆角 1197"/>
            <p:cNvSpPr/>
            <p:nvPr/>
          </p:nvSpPr>
          <p:spPr>
            <a:xfrm>
              <a:off x="13215" y="1738"/>
              <a:ext cx="624" cy="2672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研究内容一方案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13839" y="1965"/>
              <a:ext cx="2532" cy="2329"/>
              <a:chOff x="1470246" y="1168420"/>
              <a:chExt cx="1937502" cy="1478915"/>
            </a:xfrm>
          </p:grpSpPr>
          <p:sp>
            <p:nvSpPr>
              <p:cNvPr id="98" name="矩形: 圆角 1150"/>
              <p:cNvSpPr/>
              <p:nvPr/>
            </p:nvSpPr>
            <p:spPr>
              <a:xfrm>
                <a:off x="1510625" y="1168420"/>
                <a:ext cx="1846737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641936" y="1284414"/>
                <a:ext cx="1697690" cy="2755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海杂波干扰下</a:t>
                </a:r>
                <a:endParaRPr lang="zh-CN" altLang="en-US" sz="1200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70246" y="1605822"/>
                <a:ext cx="1937502" cy="829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buClrTx/>
                  <a:buSzTx/>
                  <a:buFontTx/>
                  <a:defRPr sz="1600" b="1">
                    <a:latin typeface="微软雅黑" panose="020B0503020204020204" charset="-122"/>
                    <a:ea typeface="微软雅黑" panose="020B0503020204020204" charset="-122"/>
                  </a:defRPr>
                </a:lvl1pPr>
              </a:lstStyle>
              <a:p>
                <a:r>
                  <a:rPr lang="zh-CN" altLang="en-US" dirty="0"/>
                  <a:t>微弱电磁频谱信号传播规律分析与提取</a:t>
                </a:r>
                <a:endParaRPr lang="zh-CN" altLang="en-US" dirty="0"/>
              </a:p>
            </p:txBody>
          </p:sp>
        </p:grpSp>
        <p:sp>
          <p:nvSpPr>
            <p:cNvPr id="103" name="矩形: 圆角 102"/>
            <p:cNvSpPr/>
            <p:nvPr/>
          </p:nvSpPr>
          <p:spPr>
            <a:xfrm>
              <a:off x="12998" y="5202"/>
              <a:ext cx="3401" cy="2862"/>
            </a:xfrm>
            <a:prstGeom prst="roundRect">
              <a:avLst>
                <a:gd name="adj" fmla="val 7070"/>
              </a:avLst>
            </a:prstGeom>
            <a:solidFill>
              <a:srgbClr val="2E54A1">
                <a:alpha val="30000"/>
              </a:srgbClr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104" name="矩形: 圆角 1197"/>
            <p:cNvSpPr/>
            <p:nvPr/>
          </p:nvSpPr>
          <p:spPr>
            <a:xfrm>
              <a:off x="13111" y="5198"/>
              <a:ext cx="624" cy="2782"/>
            </a:xfrm>
            <a:prstGeom prst="roundRect">
              <a:avLst>
                <a:gd name="adj" fmla="val 27564"/>
              </a:avLst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研究内容二方案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grpSp>
          <p:nvGrpSpPr>
            <p:cNvPr id="105" name="组合 104"/>
            <p:cNvGrpSpPr/>
            <p:nvPr/>
          </p:nvGrpSpPr>
          <p:grpSpPr>
            <a:xfrm>
              <a:off x="13735" y="5516"/>
              <a:ext cx="2532" cy="2329"/>
              <a:chOff x="1470246" y="1168420"/>
              <a:chExt cx="1937502" cy="1478915"/>
            </a:xfrm>
          </p:grpSpPr>
          <p:sp>
            <p:nvSpPr>
              <p:cNvPr id="106" name="矩形: 圆角 1150"/>
              <p:cNvSpPr/>
              <p:nvPr/>
            </p:nvSpPr>
            <p:spPr>
              <a:xfrm>
                <a:off x="1510625" y="1168420"/>
                <a:ext cx="1846737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07" name="文本框 106"/>
              <p:cNvSpPr txBox="1"/>
              <p:nvPr/>
            </p:nvSpPr>
            <p:spPr>
              <a:xfrm>
                <a:off x="1641936" y="1284414"/>
                <a:ext cx="1697690" cy="2755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有限算力端侧</a:t>
                </a:r>
                <a:endParaRPr lang="zh-CN" altLang="en-US" sz="1200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08" name="文本框 107"/>
              <p:cNvSpPr txBox="1"/>
              <p:nvPr/>
            </p:nvSpPr>
            <p:spPr>
              <a:xfrm>
                <a:off x="1470246" y="1605822"/>
                <a:ext cx="1937502" cy="829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buClrTx/>
                  <a:buSzTx/>
                  <a:buFontTx/>
                  <a:defRPr sz="1600" b="1">
                    <a:latin typeface="微软雅黑" panose="020B0503020204020204" charset="-122"/>
                    <a:ea typeface="微软雅黑" panose="020B0503020204020204" charset="-122"/>
                  </a:defRPr>
                </a:lvl1pPr>
              </a:lstStyle>
              <a:p>
                <a:r>
                  <a:rPr lang="zh-CN" altLang="en-US" dirty="0"/>
                  <a:t>频谱数据的可信管理和轻量存储方法</a:t>
                </a:r>
                <a:endParaRPr lang="zh-CN" altLang="en-US" dirty="0"/>
              </a:p>
            </p:txBody>
          </p:sp>
        </p:grpSp>
        <p:sp>
          <p:nvSpPr>
            <p:cNvPr id="109" name="矩形: 圆角 108"/>
            <p:cNvSpPr/>
            <p:nvPr/>
          </p:nvSpPr>
          <p:spPr>
            <a:xfrm>
              <a:off x="12801" y="8347"/>
              <a:ext cx="3401" cy="2862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110" name="矩形: 圆角 1197"/>
            <p:cNvSpPr/>
            <p:nvPr/>
          </p:nvSpPr>
          <p:spPr>
            <a:xfrm>
              <a:off x="13102" y="8458"/>
              <a:ext cx="624" cy="2614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研究内容三方案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grpSp>
          <p:nvGrpSpPr>
            <p:cNvPr id="111" name="组合 110"/>
            <p:cNvGrpSpPr/>
            <p:nvPr/>
          </p:nvGrpSpPr>
          <p:grpSpPr>
            <a:xfrm>
              <a:off x="13661" y="8543"/>
              <a:ext cx="2613" cy="2329"/>
              <a:chOff x="1431408" y="1168420"/>
              <a:chExt cx="1998890" cy="1478915"/>
            </a:xfrm>
          </p:grpSpPr>
          <p:sp>
            <p:nvSpPr>
              <p:cNvPr id="112" name="矩形: 圆角 1150"/>
              <p:cNvSpPr/>
              <p:nvPr/>
            </p:nvSpPr>
            <p:spPr>
              <a:xfrm>
                <a:off x="1510625" y="1168420"/>
                <a:ext cx="1846737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13" name="文本框 112"/>
              <p:cNvSpPr txBox="1"/>
              <p:nvPr/>
            </p:nvSpPr>
            <p:spPr>
              <a:xfrm>
                <a:off x="1431408" y="1411949"/>
                <a:ext cx="1998890" cy="2755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zh-CN" altLang="en-US" sz="1200" b="1" dirty="0">
                    <a:latin typeface="微软雅黑" panose="020B0503020204020204" charset="-122"/>
                    <a:ea typeface="微软雅黑" panose="020B0503020204020204" charset="-122"/>
                  </a:rPr>
                  <a:t>基于频谱知识图谱的</a:t>
                </a:r>
                <a:endParaRPr lang="zh-CN" altLang="en-US" sz="1200" b="1" dirty="0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14" name="文本框 113"/>
              <p:cNvSpPr txBox="1"/>
              <p:nvPr/>
            </p:nvSpPr>
            <p:spPr>
              <a:xfrm>
                <a:off x="1470246" y="1732823"/>
                <a:ext cx="1937502" cy="829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buClrTx/>
                  <a:buSzTx/>
                  <a:buFontTx/>
                  <a:defRPr sz="1600" b="1">
                    <a:latin typeface="微软雅黑" panose="020B0503020204020204" charset="-122"/>
                    <a:ea typeface="微软雅黑" panose="020B0503020204020204" charset="-122"/>
                  </a:defRPr>
                </a:lvl1pPr>
              </a:lstStyle>
              <a:p>
                <a:r>
                  <a:rPr lang="zh-CN" altLang="en-US" dirty="0"/>
                  <a:t>轻量化目标识别与可信协同决策方法</a:t>
                </a:r>
                <a:endParaRPr lang="zh-CN" altLang="en-US" dirty="0"/>
              </a:p>
            </p:txBody>
          </p:sp>
        </p:grpSp>
        <p:cxnSp>
          <p:nvCxnSpPr>
            <p:cNvPr id="121" name="直接连接符 120"/>
            <p:cNvCxnSpPr/>
            <p:nvPr/>
          </p:nvCxnSpPr>
          <p:spPr>
            <a:xfrm flipH="1">
              <a:off x="2729" y="4941"/>
              <a:ext cx="75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/>
            <p:cNvCxnSpPr>
              <a:stCxn id="507" idx="3"/>
              <a:endCxn id="510" idx="1"/>
            </p:cNvCxnSpPr>
            <p:nvPr/>
          </p:nvCxnSpPr>
          <p:spPr>
            <a:xfrm flipV="1">
              <a:off x="4841" y="1235"/>
              <a:ext cx="1801" cy="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/>
            <p:cNvCxnSpPr/>
            <p:nvPr/>
          </p:nvCxnSpPr>
          <p:spPr>
            <a:xfrm>
              <a:off x="7677" y="1474"/>
              <a:ext cx="0" cy="52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/>
            <p:nvPr/>
          </p:nvCxnSpPr>
          <p:spPr>
            <a:xfrm>
              <a:off x="4829" y="3068"/>
              <a:ext cx="81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箭头连接符 201"/>
            <p:cNvCxnSpPr/>
            <p:nvPr/>
          </p:nvCxnSpPr>
          <p:spPr>
            <a:xfrm>
              <a:off x="8729" y="3083"/>
              <a:ext cx="81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箭头连接符 205"/>
            <p:cNvCxnSpPr/>
            <p:nvPr/>
          </p:nvCxnSpPr>
          <p:spPr>
            <a:xfrm flipH="1">
              <a:off x="11027" y="4246"/>
              <a:ext cx="9" cy="141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/>
            <p:nvPr/>
          </p:nvCxnSpPr>
          <p:spPr>
            <a:xfrm>
              <a:off x="7389" y="8049"/>
              <a:ext cx="0" cy="4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接箭头连接符 211"/>
            <p:cNvCxnSpPr/>
            <p:nvPr/>
          </p:nvCxnSpPr>
          <p:spPr>
            <a:xfrm flipH="1">
              <a:off x="8629" y="6690"/>
              <a:ext cx="81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接箭头连接符 212"/>
            <p:cNvCxnSpPr/>
            <p:nvPr/>
          </p:nvCxnSpPr>
          <p:spPr>
            <a:xfrm flipH="1">
              <a:off x="4617" y="6683"/>
              <a:ext cx="81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任意多边形: 形状 225"/>
            <p:cNvSpPr/>
            <p:nvPr/>
          </p:nvSpPr>
          <p:spPr>
            <a:xfrm>
              <a:off x="1727" y="6187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cxnSp>
          <p:nvCxnSpPr>
            <p:cNvPr id="93" name="直接箭头连接符 92"/>
            <p:cNvCxnSpPr/>
            <p:nvPr/>
          </p:nvCxnSpPr>
          <p:spPr>
            <a:xfrm>
              <a:off x="2729" y="4932"/>
              <a:ext cx="0" cy="52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矩形: 圆角 1197"/>
            <p:cNvSpPr/>
            <p:nvPr/>
          </p:nvSpPr>
          <p:spPr>
            <a:xfrm>
              <a:off x="1727" y="6187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链上链下分层存证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227" name="任意多边形: 形状 226"/>
            <p:cNvSpPr/>
            <p:nvPr/>
          </p:nvSpPr>
          <p:spPr>
            <a:xfrm>
              <a:off x="1727" y="6689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28" name="矩形: 圆角 1197"/>
            <p:cNvSpPr/>
            <p:nvPr/>
          </p:nvSpPr>
          <p:spPr>
            <a:xfrm>
              <a:off x="1727" y="6689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可验证分级协同索引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229" name="任意多边形: 形状 228"/>
            <p:cNvSpPr/>
            <p:nvPr/>
          </p:nvSpPr>
          <p:spPr>
            <a:xfrm>
              <a:off x="1727" y="7209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30" name="矩形: 圆角 1197"/>
            <p:cNvSpPr/>
            <p:nvPr/>
          </p:nvSpPr>
          <p:spPr>
            <a:xfrm>
              <a:off x="1727" y="7209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高效可学习索引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19" name="矩形: 圆角 1197"/>
            <p:cNvSpPr/>
            <p:nvPr/>
          </p:nvSpPr>
          <p:spPr>
            <a:xfrm>
              <a:off x="3921" y="2535"/>
              <a:ext cx="354" cy="1577"/>
            </a:xfrm>
            <a:prstGeom prst="roundRect">
              <a:avLst>
                <a:gd name="adj" fmla="val 27564"/>
              </a:avLst>
            </a:prstGeom>
            <a:solidFill>
              <a:srgbClr val="C00000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ctr">
              <a:noAutofit/>
            </a:bodyPr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规律输出</a:t>
              </a:r>
              <a:endParaRPr kumimoji="0" lang="zh-CN" altLang="en-US" sz="1400" b="1" i="0" u="none" strike="noStrike" kern="1200" cap="none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20" name="任意多边形: 形状 319"/>
            <p:cNvSpPr/>
            <p:nvPr/>
          </p:nvSpPr>
          <p:spPr>
            <a:xfrm>
              <a:off x="5737" y="2627"/>
              <a:ext cx="238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25" name="矩形: 圆角 1197"/>
            <p:cNvSpPr/>
            <p:nvPr/>
          </p:nvSpPr>
          <p:spPr>
            <a:xfrm>
              <a:off x="5737" y="2627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多通道观测与参考构造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26" name="任意多边形: 形状 325"/>
            <p:cNvSpPr/>
            <p:nvPr/>
          </p:nvSpPr>
          <p:spPr>
            <a:xfrm>
              <a:off x="5737" y="3129"/>
              <a:ext cx="238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27" name="矩形: 圆角 1197"/>
            <p:cNvSpPr/>
            <p:nvPr/>
          </p:nvSpPr>
          <p:spPr>
            <a:xfrm>
              <a:off x="5737" y="3129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目标保护型自适应干扰对消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30" name="任意多边形: 形状 329"/>
            <p:cNvSpPr/>
            <p:nvPr/>
          </p:nvSpPr>
          <p:spPr>
            <a:xfrm>
              <a:off x="5737" y="3648"/>
              <a:ext cx="238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31" name="矩形: 圆角 1197"/>
            <p:cNvSpPr/>
            <p:nvPr/>
          </p:nvSpPr>
          <p:spPr>
            <a:xfrm>
              <a:off x="5737" y="3648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残余频谱增强与参数输出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32" name="任意多边形: 形状 331"/>
            <p:cNvSpPr/>
            <p:nvPr/>
          </p:nvSpPr>
          <p:spPr>
            <a:xfrm>
              <a:off x="9661" y="2640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33" name="矩形: 圆角 1197"/>
            <p:cNvSpPr/>
            <p:nvPr/>
          </p:nvSpPr>
          <p:spPr>
            <a:xfrm>
              <a:off x="9661" y="2640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多域谱图张量构建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35" name="任意多边形: 形状 334"/>
            <p:cNvSpPr/>
            <p:nvPr/>
          </p:nvSpPr>
          <p:spPr>
            <a:xfrm>
              <a:off x="9661" y="3142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39" name="矩形: 圆角 1197"/>
            <p:cNvSpPr/>
            <p:nvPr/>
          </p:nvSpPr>
          <p:spPr>
            <a:xfrm>
              <a:off x="9661" y="3142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候选区域检测与分离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40" name="任意多边形: 形状 339"/>
            <p:cNvSpPr/>
            <p:nvPr/>
          </p:nvSpPr>
          <p:spPr>
            <a:xfrm>
              <a:off x="9661" y="3661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41" name="矩形: 圆角 1197"/>
            <p:cNvSpPr/>
            <p:nvPr/>
          </p:nvSpPr>
          <p:spPr>
            <a:xfrm>
              <a:off x="9661" y="3661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参数反演与同步恢复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42" name="矩形: 圆角 1197"/>
            <p:cNvSpPr/>
            <p:nvPr/>
          </p:nvSpPr>
          <p:spPr>
            <a:xfrm>
              <a:off x="9631" y="6153"/>
              <a:ext cx="977" cy="1476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0" rtlCol="0" anchor="ctr">
              <a:noAutofit/>
            </a:bodyPr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事件窗口构建</a:t>
              </a:r>
              <a:endParaRPr kumimoji="0" lang="zh-CN" altLang="en-US" sz="14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43" name="矩形: 圆角 1197"/>
            <p:cNvSpPr/>
            <p:nvPr/>
          </p:nvSpPr>
          <p:spPr>
            <a:xfrm>
              <a:off x="10849" y="6297"/>
              <a:ext cx="1461" cy="436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存储价值评估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44" name="矩形: 圆角 1197"/>
            <p:cNvSpPr/>
            <p:nvPr/>
          </p:nvSpPr>
          <p:spPr>
            <a:xfrm>
              <a:off x="10831" y="7093"/>
              <a:ext cx="1461" cy="436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识别价值评估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49" name="任意多边形: 形状 348"/>
            <p:cNvSpPr/>
            <p:nvPr/>
          </p:nvSpPr>
          <p:spPr>
            <a:xfrm>
              <a:off x="5645" y="6276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50" name="矩形: 圆角 1197"/>
            <p:cNvSpPr/>
            <p:nvPr/>
          </p:nvSpPr>
          <p:spPr>
            <a:xfrm>
              <a:off x="5645" y="6276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表征提取与量化压缩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51" name="任意多边形: 形状 350"/>
            <p:cNvSpPr/>
            <p:nvPr/>
          </p:nvSpPr>
          <p:spPr>
            <a:xfrm>
              <a:off x="5645" y="6778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52" name="矩形: 圆角 1197"/>
            <p:cNvSpPr/>
            <p:nvPr/>
          </p:nvSpPr>
          <p:spPr>
            <a:xfrm>
              <a:off x="5645" y="6778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高局部性磁盘索引存储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353" name="任意多边形: 形状 352"/>
            <p:cNvSpPr/>
            <p:nvPr/>
          </p:nvSpPr>
          <p:spPr>
            <a:xfrm>
              <a:off x="5645" y="7298"/>
              <a:ext cx="473" cy="353"/>
            </a:xfrm>
            <a:custGeom>
              <a:avLst/>
              <a:gdLst>
                <a:gd name="csX0" fmla="*/ 61719 w 269842"/>
                <a:gd name="csY0" fmla="*/ 0 h 223913"/>
                <a:gd name="csX1" fmla="*/ 269842 w 269842"/>
                <a:gd name="csY1" fmla="*/ 0 h 223913"/>
                <a:gd name="csX2" fmla="*/ 269842 w 269842"/>
                <a:gd name="csY2" fmla="*/ 223913 h 223913"/>
                <a:gd name="csX3" fmla="*/ 61719 w 269842"/>
                <a:gd name="csY3" fmla="*/ 223913 h 223913"/>
                <a:gd name="csX4" fmla="*/ 0 w 269842"/>
                <a:gd name="csY4" fmla="*/ 162194 h 223913"/>
                <a:gd name="csX5" fmla="*/ 0 w 269842"/>
                <a:gd name="csY5" fmla="*/ 61719 h 223913"/>
                <a:gd name="csX6" fmla="*/ 61719 w 269842"/>
                <a:gd name="csY6" fmla="*/ 0 h 223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69842" h="223913">
                  <a:moveTo>
                    <a:pt x="61719" y="0"/>
                  </a:moveTo>
                  <a:lnTo>
                    <a:pt x="269842" y="0"/>
                  </a:lnTo>
                  <a:lnTo>
                    <a:pt x="269842" y="223913"/>
                  </a:lnTo>
                  <a:lnTo>
                    <a:pt x="61719" y="223913"/>
                  </a:lnTo>
                  <a:cubicBezTo>
                    <a:pt x="27633" y="223913"/>
                    <a:pt x="0" y="196280"/>
                    <a:pt x="0" y="162194"/>
                  </a:cubicBezTo>
                  <a:lnTo>
                    <a:pt x="0" y="61719"/>
                  </a:lnTo>
                  <a:cubicBezTo>
                    <a:pt x="0" y="27633"/>
                    <a:pt x="27633" y="0"/>
                    <a:pt x="61719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354" name="矩形: 圆角 1197"/>
            <p:cNvSpPr/>
            <p:nvPr/>
          </p:nvSpPr>
          <p:spPr>
            <a:xfrm>
              <a:off x="5645" y="7298"/>
              <a:ext cx="2732" cy="353"/>
            </a:xfrm>
            <a:prstGeom prst="roundRect">
              <a:avLst>
                <a:gd name="adj" fmla="val 27564"/>
              </a:avLst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1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     无缓冲并发插入</a:t>
              </a:r>
              <a:endParaRPr kumimoji="0" lang="zh-CN" altLang="en-US" sz="1100" b="1" i="0" u="none" strike="noStrike" kern="1200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7" name="矩形: 圆角 1197"/>
            <p:cNvSpPr/>
            <p:nvPr/>
          </p:nvSpPr>
          <p:spPr>
            <a:xfrm>
              <a:off x="16242" y="1729"/>
              <a:ext cx="624" cy="2672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怎么提取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sp>
          <p:nvSpPr>
            <p:cNvPr id="8" name="矩形: 圆角 1197"/>
            <p:cNvSpPr/>
            <p:nvPr/>
          </p:nvSpPr>
          <p:spPr>
            <a:xfrm>
              <a:off x="16240" y="5293"/>
              <a:ext cx="624" cy="2672"/>
            </a:xfrm>
            <a:prstGeom prst="roundRect">
              <a:avLst>
                <a:gd name="adj" fmla="val 0"/>
              </a:avLst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怎么存储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124" y="8348"/>
              <a:ext cx="15702" cy="2672"/>
              <a:chOff x="4190" y="8497"/>
              <a:chExt cx="15702" cy="2672"/>
            </a:xfrm>
          </p:grpSpPr>
          <p:grpSp>
            <p:nvGrpSpPr>
              <p:cNvPr id="496" name="组合 495"/>
              <p:cNvGrpSpPr/>
              <p:nvPr/>
            </p:nvGrpSpPr>
            <p:grpSpPr>
              <a:xfrm>
                <a:off x="4190" y="8607"/>
                <a:ext cx="11414" cy="2340"/>
                <a:chOff x="641447" y="1168399"/>
                <a:chExt cx="6889881" cy="1478972"/>
              </a:xfrm>
            </p:grpSpPr>
            <p:grpSp>
              <p:nvGrpSpPr>
                <p:cNvPr id="498" name="组合 497"/>
                <p:cNvGrpSpPr/>
                <p:nvPr/>
              </p:nvGrpSpPr>
              <p:grpSpPr>
                <a:xfrm>
                  <a:off x="641447" y="1168399"/>
                  <a:ext cx="2257605" cy="1478936"/>
                  <a:chOff x="467867" y="1168399"/>
                  <a:chExt cx="2719999" cy="1478936"/>
                </a:xfrm>
              </p:grpSpPr>
              <p:sp>
                <p:nvSpPr>
                  <p:cNvPr id="505" name="矩形: 圆角 1150"/>
                  <p:cNvSpPr/>
                  <p:nvPr/>
                </p:nvSpPr>
                <p:spPr>
                  <a:xfrm>
                    <a:off x="775635" y="1168420"/>
                    <a:ext cx="2412231" cy="1478915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506" name="文本框 505"/>
                  <p:cNvSpPr txBox="1"/>
                  <p:nvPr/>
                </p:nvSpPr>
                <p:spPr>
                  <a:xfrm>
                    <a:off x="467867" y="1168399"/>
                    <a:ext cx="2347605" cy="2742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>
                      <a:buClrTx/>
                      <a:buSzTx/>
                      <a:buFontTx/>
                    </a:pPr>
                    <a:r>
                      <a:rPr lang="en-US" altLang="zh-CN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3.3 </a:t>
                    </a:r>
                    <a:r>
                      <a:rPr lang="zh-CN" altLang="en-US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可信协同决策</a:t>
                    </a:r>
                    <a:endParaRPr lang="zh-CN" altLang="en-US" sz="1200" b="1" dirty="0"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499" name="组合 498"/>
                <p:cNvGrpSpPr/>
                <p:nvPr/>
              </p:nvGrpSpPr>
              <p:grpSpPr>
                <a:xfrm>
                  <a:off x="3139796" y="1168420"/>
                  <a:ext cx="2231845" cy="1478951"/>
                  <a:chOff x="3659048" y="1168420"/>
                  <a:chExt cx="2742891" cy="1478951"/>
                </a:xfrm>
              </p:grpSpPr>
              <p:sp>
                <p:nvSpPr>
                  <p:cNvPr id="503" name="矩形: 圆角 1150"/>
                  <p:cNvSpPr/>
                  <p:nvPr/>
                </p:nvSpPr>
                <p:spPr>
                  <a:xfrm>
                    <a:off x="3770323" y="1168420"/>
                    <a:ext cx="2523717" cy="1478951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504" name="文本框 503"/>
                  <p:cNvSpPr txBox="1"/>
                  <p:nvPr/>
                </p:nvSpPr>
                <p:spPr>
                  <a:xfrm>
                    <a:off x="3659048" y="1294141"/>
                    <a:ext cx="2742891" cy="2742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3.2 </a:t>
                    </a:r>
                    <a:r>
                      <a:rPr lang="zh-CN" altLang="en-US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轻量化目标识别与轨迹分析</a:t>
                    </a:r>
                    <a:endParaRPr lang="zh-CN" altLang="en-US" sz="1200" b="1" dirty="0">
                      <a:solidFill>
                        <a:srgbClr val="C00000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0" name="组合 499"/>
                <p:cNvGrpSpPr/>
                <p:nvPr/>
              </p:nvGrpSpPr>
              <p:grpSpPr>
                <a:xfrm>
                  <a:off x="5485948" y="1168420"/>
                  <a:ext cx="2045380" cy="1478915"/>
                  <a:chOff x="6727066" y="1168420"/>
                  <a:chExt cx="2445081" cy="1478915"/>
                </a:xfrm>
              </p:grpSpPr>
              <p:sp>
                <p:nvSpPr>
                  <p:cNvPr id="501" name="矩形: 圆角 1150"/>
                  <p:cNvSpPr/>
                  <p:nvPr/>
                </p:nvSpPr>
                <p:spPr>
                  <a:xfrm>
                    <a:off x="6775688" y="1168420"/>
                    <a:ext cx="2396459" cy="1478915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502" name="文本框 501"/>
                  <p:cNvSpPr txBox="1"/>
                  <p:nvPr/>
                </p:nvSpPr>
                <p:spPr>
                  <a:xfrm>
                    <a:off x="6727066" y="1251789"/>
                    <a:ext cx="2201951" cy="2742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3.1</a:t>
                    </a:r>
                    <a:r>
                      <a:rPr lang="zh-CN" altLang="en-US" sz="12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频谱知识图谱构建</a:t>
                    </a:r>
                    <a:endParaRPr lang="zh-CN" altLang="en-US" sz="1200" b="1" dirty="0">
                      <a:solidFill>
                        <a:srgbClr val="C00000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cxnSp>
            <p:nvCxnSpPr>
              <p:cNvPr id="214" name="直接箭头连接符 213"/>
              <p:cNvCxnSpPr/>
              <p:nvPr/>
            </p:nvCxnSpPr>
            <p:spPr>
              <a:xfrm flipH="1">
                <a:off x="11738" y="9754"/>
                <a:ext cx="527" cy="0"/>
              </a:xfrm>
              <a:prstGeom prst="straightConnector1">
                <a:avLst/>
              </a:prstGeom>
              <a:ln w="38100" cap="flat" cmpd="sng">
                <a:solidFill>
                  <a:schemeClr val="tx1"/>
                </a:solidFill>
                <a:prstDash val="solid"/>
                <a:miter lim="800000"/>
                <a:headEnd type="triangle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箭头连接符 215"/>
              <p:cNvCxnSpPr/>
              <p:nvPr/>
            </p:nvCxnSpPr>
            <p:spPr>
              <a:xfrm>
                <a:off x="7849" y="9767"/>
                <a:ext cx="618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2" name="任意多边形: 形状 371"/>
              <p:cNvSpPr/>
              <p:nvPr/>
            </p:nvSpPr>
            <p:spPr>
              <a:xfrm>
                <a:off x="12536" y="9271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" name="矩形: 圆角 1197"/>
              <p:cNvSpPr/>
              <p:nvPr/>
            </p:nvSpPr>
            <p:spPr>
              <a:xfrm>
                <a:off x="12536" y="9271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频谱数据表征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374" name="任意多边形: 形状 373"/>
              <p:cNvSpPr/>
              <p:nvPr/>
            </p:nvSpPr>
            <p:spPr>
              <a:xfrm>
                <a:off x="12536" y="9773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" name="矩形: 圆角 1197"/>
              <p:cNvSpPr/>
              <p:nvPr/>
            </p:nvSpPr>
            <p:spPr>
              <a:xfrm>
                <a:off x="12536" y="9773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电磁态势知识图谱构建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376" name="任意多边形: 形状 375"/>
              <p:cNvSpPr/>
              <p:nvPr/>
            </p:nvSpPr>
            <p:spPr>
              <a:xfrm>
                <a:off x="12536" y="10292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矩形: 圆角 1197"/>
              <p:cNvSpPr/>
              <p:nvPr/>
            </p:nvSpPr>
            <p:spPr>
              <a:xfrm>
                <a:off x="12536" y="10292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知识图谱增量更新与演化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389" name="任意多边形: 形状 388"/>
              <p:cNvSpPr/>
              <p:nvPr/>
            </p:nvSpPr>
            <p:spPr>
              <a:xfrm>
                <a:off x="8884" y="9331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" name="矩形: 圆角 1197"/>
              <p:cNvSpPr/>
              <p:nvPr/>
            </p:nvSpPr>
            <p:spPr>
              <a:xfrm>
                <a:off x="8884" y="9331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知识引导信号检测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391" name="任意多边形: 形状 390"/>
              <p:cNvSpPr/>
              <p:nvPr/>
            </p:nvSpPr>
            <p:spPr>
              <a:xfrm>
                <a:off x="8884" y="9833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" name="矩形: 圆角 1197"/>
              <p:cNvSpPr/>
              <p:nvPr/>
            </p:nvSpPr>
            <p:spPr>
              <a:xfrm>
                <a:off x="8884" y="9833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知识驱动小样本分类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393" name="任意多边形: 形状 392"/>
              <p:cNvSpPr/>
              <p:nvPr/>
            </p:nvSpPr>
            <p:spPr>
              <a:xfrm>
                <a:off x="8884" y="10353"/>
                <a:ext cx="238" cy="353"/>
              </a:xfrm>
              <a:custGeom>
                <a:avLst/>
                <a:gdLst>
                  <a:gd name="csX0" fmla="*/ 61719 w 269842"/>
                  <a:gd name="csY0" fmla="*/ 0 h 223913"/>
                  <a:gd name="csX1" fmla="*/ 269842 w 269842"/>
                  <a:gd name="csY1" fmla="*/ 0 h 223913"/>
                  <a:gd name="csX2" fmla="*/ 269842 w 269842"/>
                  <a:gd name="csY2" fmla="*/ 223913 h 223913"/>
                  <a:gd name="csX3" fmla="*/ 61719 w 269842"/>
                  <a:gd name="csY3" fmla="*/ 223913 h 223913"/>
                  <a:gd name="csX4" fmla="*/ 0 w 269842"/>
                  <a:gd name="csY4" fmla="*/ 162194 h 223913"/>
                  <a:gd name="csX5" fmla="*/ 0 w 269842"/>
                  <a:gd name="csY5" fmla="*/ 61719 h 223913"/>
                  <a:gd name="csX6" fmla="*/ 61719 w 269842"/>
                  <a:gd name="csY6" fmla="*/ 0 h 223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69842" h="223913">
                    <a:moveTo>
                      <a:pt x="61719" y="0"/>
                    </a:moveTo>
                    <a:lnTo>
                      <a:pt x="269842" y="0"/>
                    </a:lnTo>
                    <a:lnTo>
                      <a:pt x="269842" y="223913"/>
                    </a:lnTo>
                    <a:lnTo>
                      <a:pt x="61719" y="223913"/>
                    </a:lnTo>
                    <a:cubicBezTo>
                      <a:pt x="27633" y="223913"/>
                      <a:pt x="0" y="196280"/>
                      <a:pt x="0" y="162194"/>
                    </a:cubicBezTo>
                    <a:lnTo>
                      <a:pt x="0" y="61719"/>
                    </a:lnTo>
                    <a:cubicBezTo>
                      <a:pt x="0" y="27633"/>
                      <a:pt x="27633" y="0"/>
                      <a:pt x="61719" y="0"/>
                    </a:cubicBez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" name="矩形: 圆角 1197"/>
              <p:cNvSpPr/>
              <p:nvPr/>
            </p:nvSpPr>
            <p:spPr>
              <a:xfrm>
                <a:off x="8884" y="10353"/>
                <a:ext cx="2732" cy="353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1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  轻量化目标轨迹估计与预测</a:t>
                </a:r>
                <a:endParaRPr kumimoji="0" lang="zh-CN" altLang="en-US" sz="11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424" name="矩形: 圆角 1197"/>
              <p:cNvSpPr/>
              <p:nvPr/>
            </p:nvSpPr>
            <p:spPr>
              <a:xfrm>
                <a:off x="5953" y="9230"/>
                <a:ext cx="740" cy="1239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rIns="0" rtlCol="0" anchor="ctr">
                <a:noAutofit/>
              </a:bodyPr>
              <a:lstStyle/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决策结果</a:t>
                </a:r>
                <a:endParaRPr lang="zh-CN" altLang="en-US" sz="14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endParaRPr>
              </a:p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一致性确权</a:t>
                </a:r>
                <a:endParaRPr kumimoji="0" lang="zh-CN" altLang="en-US" sz="14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425" name="矩形: 圆角 1197"/>
              <p:cNvSpPr/>
              <p:nvPr/>
            </p:nvSpPr>
            <p:spPr>
              <a:xfrm>
                <a:off x="6948" y="9175"/>
                <a:ext cx="818" cy="1417"/>
              </a:xfrm>
              <a:prstGeom prst="roundRect">
                <a:avLst>
                  <a:gd name="adj" fmla="val 27564"/>
                </a:avLst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rIns="0" rtlCol="0" anchor="ctr">
                <a:noAutofit/>
              </a:bodyPr>
              <a:lstStyle/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确权结果与存证输出</a:t>
                </a:r>
                <a:endParaRPr kumimoji="0" lang="zh-CN" altLang="en-US" sz="1200" b="1" i="0" u="none" strike="noStrike" kern="1200" cap="none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517" name="矩形: 圆角 1197"/>
              <p:cNvSpPr/>
              <p:nvPr/>
            </p:nvSpPr>
            <p:spPr>
              <a:xfrm>
                <a:off x="4931" y="9230"/>
                <a:ext cx="740" cy="1239"/>
              </a:xfrm>
              <a:prstGeom prst="roundRect">
                <a:avLst>
                  <a:gd name="adj" fmla="val 27564"/>
                </a:avLst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rIns="0" rtlCol="0" anchor="ctr">
                <a:noAutofit/>
              </a:bodyPr>
              <a:lstStyle/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400" b="1" dirty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分布式可信协同决策</a:t>
                </a:r>
                <a:endParaRPr kumimoji="0" lang="zh-CN" altLang="en-US" sz="1400" b="1" i="0" u="none" strike="noStrike" kern="1200" cap="none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  <p:sp>
            <p:nvSpPr>
              <p:cNvPr id="519" name="文本框 518"/>
              <p:cNvSpPr txBox="1"/>
              <p:nvPr/>
            </p:nvSpPr>
            <p:spPr>
              <a:xfrm>
                <a:off x="5008" y="10696"/>
                <a:ext cx="2582" cy="32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rIns="0" rtlCol="0" anchor="ctr">
                <a:noAutofit/>
              </a:bodyPr>
              <a:lstStyle>
                <a:defPPr>
                  <a:defRPr lang="en-US"/>
                </a:defPPr>
                <a:lvl1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defRPr sz="1400" b="1">
                    <a:latin typeface="微软雅黑" panose="020B0503020204020204" charset="-122"/>
                    <a:ea typeface="微软雅黑" panose="020B050302020402020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CN" altLang="en-US" sz="1050" dirty="0">
                    <a:solidFill>
                      <a:schemeClr val="tx1"/>
                    </a:solidFill>
                  </a:rPr>
                  <a:t>轻量级安全传输方法</a:t>
                </a:r>
                <a:endParaRPr lang="zh-CN" altLang="en-US" sz="10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: 圆角 1197"/>
              <p:cNvSpPr/>
              <p:nvPr/>
            </p:nvSpPr>
            <p:spPr>
              <a:xfrm>
                <a:off x="19268" y="8497"/>
                <a:ext cx="624" cy="2672"/>
              </a:xfrm>
              <a:prstGeom prst="roundRect">
                <a:avLst>
                  <a:gd name="adj" fmla="val 0"/>
                </a:avLst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zh-CN" altLang="en-US" sz="1700" b="1" i="0" u="none" strike="noStrike" kern="1200" cap="none" spc="-20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+mn-cs"/>
                    <a:sym typeface="+mn-ea"/>
                  </a:rPr>
                  <a:t>怎么处理</a:t>
                </a:r>
                <a:endPara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</p:grpSp>
        <p:cxnSp>
          <p:nvCxnSpPr>
            <p:cNvPr id="13" name="直接连接符 12"/>
            <p:cNvCxnSpPr/>
            <p:nvPr/>
          </p:nvCxnSpPr>
          <p:spPr>
            <a:xfrm flipH="1">
              <a:off x="7376" y="8065"/>
              <a:ext cx="289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 flipV="1">
              <a:off x="10238" y="7711"/>
              <a:ext cx="0" cy="386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: 圆角 108"/>
            <p:cNvSpPr/>
            <p:nvPr/>
          </p:nvSpPr>
          <p:spPr>
            <a:xfrm>
              <a:off x="12866" y="11508"/>
              <a:ext cx="3401" cy="2862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sp>
          <p:nvSpPr>
            <p:cNvPr id="30" name="矩形: 圆角 1197"/>
            <p:cNvSpPr/>
            <p:nvPr/>
          </p:nvSpPr>
          <p:spPr>
            <a:xfrm>
              <a:off x="13167" y="11619"/>
              <a:ext cx="624" cy="2614"/>
            </a:xfrm>
            <a:prstGeom prst="roundRect">
              <a:avLst>
                <a:gd name="adj" fmla="val 27564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rPr>
                <a:t>研究内容四方案</a:t>
              </a:r>
              <a:endPara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13777" y="11704"/>
              <a:ext cx="2532" cy="2329"/>
              <a:chOff x="1470246" y="1168420"/>
              <a:chExt cx="1937502" cy="1478915"/>
            </a:xfrm>
          </p:grpSpPr>
          <p:sp>
            <p:nvSpPr>
              <p:cNvPr id="32" name="矩形: 圆角 1150"/>
              <p:cNvSpPr/>
              <p:nvPr/>
            </p:nvSpPr>
            <p:spPr>
              <a:xfrm>
                <a:off x="1510625" y="1168420"/>
                <a:ext cx="1846737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223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1470246" y="1408973"/>
                <a:ext cx="1937502" cy="107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buClrTx/>
                  <a:buSzTx/>
                  <a:buFontTx/>
                  <a:defRPr sz="1600" b="1">
                    <a:latin typeface="微软雅黑" panose="020B0503020204020204" charset="-122"/>
                    <a:ea typeface="微软雅黑" panose="020B0503020204020204" charset="-122"/>
                  </a:defRPr>
                </a:lvl1pPr>
              </a:lstStyle>
              <a:p>
                <a:r>
                  <a:rPr lang="zh-CN" altLang="en-US" dirty="0">
                    <a:sym typeface="+mn-ea"/>
                  </a:rPr>
                  <a:t>海杂波场景电磁频谱数据智能处理原型系统验证</a:t>
                </a:r>
                <a:endParaRPr lang="zh-CN" altLang="en-US" dirty="0"/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1412" y="11437"/>
              <a:ext cx="15521" cy="2797"/>
              <a:chOff x="4613" y="8625"/>
              <a:chExt cx="15521" cy="2797"/>
            </a:xfrm>
          </p:grpSpPr>
          <p:grpSp>
            <p:nvGrpSpPr>
              <p:cNvPr id="37" name="组合 36"/>
              <p:cNvGrpSpPr/>
              <p:nvPr/>
            </p:nvGrpSpPr>
            <p:grpSpPr>
              <a:xfrm>
                <a:off x="4613" y="9082"/>
                <a:ext cx="11072" cy="2340"/>
                <a:chOff x="896895" y="1468587"/>
                <a:chExt cx="6683719" cy="1478951"/>
              </a:xfrm>
            </p:grpSpPr>
            <p:grpSp>
              <p:nvGrpSpPr>
                <p:cNvPr id="38" name="组合 37"/>
                <p:cNvGrpSpPr/>
                <p:nvPr/>
              </p:nvGrpSpPr>
              <p:grpSpPr>
                <a:xfrm>
                  <a:off x="896895" y="1468587"/>
                  <a:ext cx="2002200" cy="1478915"/>
                  <a:chOff x="775635" y="1468587"/>
                  <a:chExt cx="2412283" cy="1478915"/>
                </a:xfrm>
              </p:grpSpPr>
              <p:sp>
                <p:nvSpPr>
                  <p:cNvPr id="39" name="矩形: 圆角 1150"/>
                  <p:cNvSpPr/>
                  <p:nvPr/>
                </p:nvSpPr>
                <p:spPr>
                  <a:xfrm>
                    <a:off x="775635" y="1468587"/>
                    <a:ext cx="2412231" cy="1478915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1195985" y="1603188"/>
                    <a:ext cx="1991933" cy="32038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>
                      <a:buClrTx/>
                      <a:buSzTx/>
                      <a:buFontTx/>
                    </a:pPr>
                    <a:r>
                      <a:rPr lang="zh-CN" altLang="en-US" sz="1600" b="1" dirty="0">
                        <a:latin typeface="微软雅黑" panose="020B0503020204020204" charset="-122"/>
                        <a:ea typeface="微软雅黑" panose="020B0503020204020204" charset="-122"/>
                      </a:rPr>
                      <a:t>原型系统部署</a:t>
                    </a:r>
                    <a:endParaRPr lang="zh-CN" altLang="en-US" sz="1600" b="1" dirty="0"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41" name="组合 40"/>
                <p:cNvGrpSpPr/>
                <p:nvPr/>
              </p:nvGrpSpPr>
              <p:grpSpPr>
                <a:xfrm>
                  <a:off x="3133760" y="1468587"/>
                  <a:ext cx="2231845" cy="1478951"/>
                  <a:chOff x="3651630" y="1468587"/>
                  <a:chExt cx="2742891" cy="1478951"/>
                </a:xfrm>
              </p:grpSpPr>
              <p:sp>
                <p:nvSpPr>
                  <p:cNvPr id="42" name="矩形: 圆角 1150"/>
                  <p:cNvSpPr/>
                  <p:nvPr/>
                </p:nvSpPr>
                <p:spPr>
                  <a:xfrm>
                    <a:off x="3770323" y="1468587"/>
                    <a:ext cx="2523717" cy="1478951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3651630" y="1588169"/>
                    <a:ext cx="2742891" cy="3355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600" b="1" dirty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场景环境构设</a:t>
                    </a:r>
                    <a:endParaRPr lang="zh-CN" altLang="en-US" sz="1600" b="1" dirty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44" name="组合 43"/>
                <p:cNvGrpSpPr/>
                <p:nvPr/>
              </p:nvGrpSpPr>
              <p:grpSpPr>
                <a:xfrm>
                  <a:off x="5526994" y="1468587"/>
                  <a:ext cx="2053620" cy="1478915"/>
                  <a:chOff x="6776133" y="1468587"/>
                  <a:chExt cx="2454931" cy="1478915"/>
                </a:xfrm>
              </p:grpSpPr>
              <p:sp>
                <p:nvSpPr>
                  <p:cNvPr id="45" name="矩形: 圆角 1150"/>
                  <p:cNvSpPr/>
                  <p:nvPr/>
                </p:nvSpPr>
                <p:spPr>
                  <a:xfrm>
                    <a:off x="6834605" y="1468587"/>
                    <a:ext cx="2396459" cy="1478915"/>
                  </a:xfrm>
                  <a:prstGeom prst="roundRect">
                    <a:avLst>
                      <a:gd name="adj" fmla="val 4026"/>
                    </a:avLst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rtl="0">
                      <a:defRPr/>
                    </a:pPr>
                    <a:endParaRPr lang="zh-CN" altLang="en-US" sz="2235" dirty="0">
                      <a:solidFill>
                        <a:prstClr val="white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46" name="文本框 45"/>
                  <p:cNvSpPr txBox="1"/>
                  <p:nvPr/>
                </p:nvSpPr>
                <p:spPr>
                  <a:xfrm>
                    <a:off x="6776133" y="1572924"/>
                    <a:ext cx="2329349" cy="3355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600" b="1" dirty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原型运行验证</a:t>
                    </a:r>
                    <a:endParaRPr lang="zh-CN" altLang="en-US" sz="1600" b="1" dirty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cxnSp>
            <p:nvCxnSpPr>
              <p:cNvPr id="49" name="直接箭头连接符 48"/>
              <p:cNvCxnSpPr/>
              <p:nvPr/>
            </p:nvCxnSpPr>
            <p:spPr>
              <a:xfrm flipH="1">
                <a:off x="11846" y="10349"/>
                <a:ext cx="527" cy="0"/>
              </a:xfrm>
              <a:prstGeom prst="straightConnector1">
                <a:avLst/>
              </a:prstGeom>
              <a:ln w="38100" cap="flat" cmpd="sng">
                <a:solidFill>
                  <a:schemeClr val="tx1"/>
                </a:solidFill>
                <a:prstDash val="solid"/>
                <a:miter lim="800000"/>
                <a:headEnd type="triangle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>
                <a:off x="7849" y="10364"/>
                <a:ext cx="618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矩形: 圆角 1197"/>
              <p:cNvSpPr/>
              <p:nvPr/>
            </p:nvSpPr>
            <p:spPr>
              <a:xfrm>
                <a:off x="19510" y="8625"/>
                <a:ext cx="624" cy="2672"/>
              </a:xfrm>
              <a:prstGeom prst="roundRect">
                <a:avLst>
                  <a:gd name="adj" fmla="val 0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zh-CN" altLang="en-US" sz="1700" b="1" i="0" u="none" strike="noStrike" kern="1200" cap="none" spc="-20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20B0503020204020204" charset="-122"/>
                    <a:ea typeface="微软雅黑" panose="020B0503020204020204" charset="-122"/>
                    <a:cs typeface="+mn-cs"/>
                    <a:sym typeface="+mn-ea"/>
                  </a:rPr>
                  <a:t>怎么验证</a:t>
                </a:r>
                <a:endParaRPr kumimoji="0" lang="zh-CN" altLang="en-US" sz="1700" b="1" i="0" u="none" strike="noStrike" kern="1200" cap="none" spc="-2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  <a:sym typeface="+mn-ea"/>
                </a:endParaRPr>
              </a:p>
            </p:txBody>
          </p:sp>
        </p:grpSp>
        <p:cxnSp>
          <p:nvCxnSpPr>
            <p:cNvPr id="71" name="直接连接符 70"/>
            <p:cNvCxnSpPr/>
            <p:nvPr/>
          </p:nvCxnSpPr>
          <p:spPr>
            <a:xfrm flipH="1">
              <a:off x="768" y="3000"/>
              <a:ext cx="896" cy="0"/>
            </a:xfrm>
            <a:prstGeom prst="line">
              <a:avLst/>
            </a:prstGeom>
            <a:ln w="31750" cap="rnd">
              <a:solidFill>
                <a:schemeClr val="tx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2" name="直接连接符 71"/>
            <p:cNvCxnSpPr/>
            <p:nvPr/>
          </p:nvCxnSpPr>
          <p:spPr>
            <a:xfrm>
              <a:off x="777" y="2993"/>
              <a:ext cx="0" cy="9823"/>
            </a:xfrm>
            <a:prstGeom prst="line">
              <a:avLst/>
            </a:prstGeom>
            <a:ln w="31750" cap="rnd">
              <a:solidFill>
                <a:schemeClr val="tx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/>
            <p:nvPr/>
          </p:nvCxnSpPr>
          <p:spPr>
            <a:xfrm flipH="1">
              <a:off x="777" y="12816"/>
              <a:ext cx="594" cy="0"/>
            </a:xfrm>
            <a:prstGeom prst="line">
              <a:avLst/>
            </a:prstGeom>
            <a:ln w="31750" cap="rnd">
              <a:solidFill>
                <a:schemeClr val="tx1"/>
              </a:solidFill>
              <a:round/>
              <a:headEnd type="triangle"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4" name="直接连接符 73"/>
            <p:cNvCxnSpPr/>
            <p:nvPr/>
          </p:nvCxnSpPr>
          <p:spPr>
            <a:xfrm flipH="1">
              <a:off x="831" y="6779"/>
              <a:ext cx="670" cy="0"/>
            </a:xfrm>
            <a:prstGeom prst="line">
              <a:avLst/>
            </a:prstGeom>
            <a:ln w="31750" cap="rnd">
              <a:solidFill>
                <a:schemeClr val="tx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/>
            <p:nvPr/>
          </p:nvCxnSpPr>
          <p:spPr>
            <a:xfrm flipH="1">
              <a:off x="831" y="9618"/>
              <a:ext cx="617" cy="0"/>
            </a:xfrm>
            <a:prstGeom prst="line">
              <a:avLst/>
            </a:prstGeom>
            <a:ln w="31750" cap="rnd">
              <a:solidFill>
                <a:schemeClr val="tx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135" y="7612380"/>
            <a:ext cx="556895" cy="5257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592</Words>
  <Application>WPS 文字</Application>
  <PresentationFormat>自定义</PresentationFormat>
  <Paragraphs>115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汉仪旗黑</vt:lpstr>
      <vt:lpstr>汉仪书宋二KW</vt:lpstr>
      <vt:lpstr>Calibri</vt:lpstr>
      <vt:lpstr>Helvetica Neue</vt:lpstr>
      <vt:lpstr>宋体</vt:lpstr>
      <vt:lpstr>Arial Unicode MS</vt:lpstr>
      <vt:lpstr>等线 Light</vt:lpstr>
      <vt:lpstr>汉仪中等线KW</vt:lpstr>
      <vt:lpstr>Calibri Light</vt:lpstr>
      <vt:lpstr>等线</vt:lpstr>
      <vt:lpstr>微软雅黑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杜亚娟</cp:lastModifiedBy>
  <cp:revision>43</cp:revision>
  <dcterms:created xsi:type="dcterms:W3CDTF">2026-06-18T08:49:43Z</dcterms:created>
  <dcterms:modified xsi:type="dcterms:W3CDTF">2026-06-18T08:49:43Z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CCB4CCE1F4F0462ABE8EFD1EDFF8C9FF_12</vt:lpwstr>
  </property>
</Properties>
</file>