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2.xml" ContentType="application/vnd.openxmlformats-officedocument.theme+xml"/>
  <Override PartName="/ppt/tags/tag63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9" r:id="rId2"/>
  </p:sldIdLst>
  <p:sldSz cx="7559675" cy="10691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36" userDrawn="1">
          <p15:clr>
            <a:srgbClr val="A4A3A4"/>
          </p15:clr>
        </p15:guide>
        <p15:guide id="2" pos="2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DCE0"/>
    <a:srgbClr val="C00000"/>
    <a:srgbClr val="2E54A1"/>
    <a:srgbClr val="DEEBF7"/>
    <a:srgbClr val="4874CB"/>
    <a:srgbClr val="FFFFFF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09" autoAdjust="0"/>
    <p:restoredTop sz="94660"/>
  </p:normalViewPr>
  <p:slideViewPr>
    <p:cSldViewPr snapToGrid="0" showGuides="1">
      <p:cViewPr varScale="1">
        <p:scale>
          <a:sx n="62" d="100"/>
          <a:sy n="62" d="100"/>
        </p:scale>
        <p:origin x="2577" y="39"/>
      </p:cViewPr>
      <p:guideLst>
        <p:guide orient="horz" pos="3336"/>
        <p:guide pos="233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37954" y="1143000"/>
            <a:ext cx="218209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743385" y="1425610"/>
            <a:ext cx="6076557" cy="4007425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96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743385" y="5550901"/>
            <a:ext cx="6076557" cy="229557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985" spc="200"/>
            </a:lvl1pPr>
            <a:lvl2pPr marL="377825" indent="0" algn="ctr">
              <a:buNone/>
              <a:defRPr sz="1650"/>
            </a:lvl2pPr>
            <a:lvl3pPr marL="755650" indent="0" algn="ctr">
              <a:buNone/>
              <a:defRPr sz="1490"/>
            </a:lvl3pPr>
            <a:lvl4pPr marL="1134110" indent="0" algn="ctr">
              <a:buNone/>
              <a:defRPr sz="1325"/>
            </a:lvl4pPr>
            <a:lvl5pPr marL="1511935" indent="0" algn="ctr">
              <a:buNone/>
              <a:defRPr sz="1325"/>
            </a:lvl5pPr>
            <a:lvl6pPr marL="1889760" indent="0" algn="ctr">
              <a:buNone/>
              <a:defRPr sz="1325"/>
            </a:lvl6pPr>
            <a:lvl7pPr marL="2268220" indent="0" algn="ctr">
              <a:buNone/>
              <a:defRPr sz="1325"/>
            </a:lvl7pPr>
            <a:lvl8pPr marL="2646045" indent="0" algn="ctr">
              <a:buNone/>
              <a:defRPr sz="1325"/>
            </a:lvl8pPr>
            <a:lvl9pPr marL="3024505" indent="0" algn="ctr">
              <a:buNone/>
              <a:defRPr sz="1325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7273" y="948536"/>
            <a:ext cx="6802083" cy="110007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377273" y="2323633"/>
            <a:ext cx="6802083" cy="741990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234510" y="5999911"/>
            <a:ext cx="4817491" cy="1195492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635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234510" y="7195404"/>
            <a:ext cx="4817491" cy="135264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49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7782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2pPr>
            <a:lvl3pPr marL="75565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3pPr>
            <a:lvl4pPr marL="113411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4pPr>
            <a:lvl5pPr marL="151193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5pPr>
            <a:lvl6pPr marL="188976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6pPr>
            <a:lvl7pPr marL="226822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7pPr>
            <a:lvl8pPr marL="264604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8pPr>
            <a:lvl9pPr marL="302450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7273" y="948536"/>
            <a:ext cx="6802083" cy="110007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377273" y="2340471"/>
            <a:ext cx="3210173" cy="7403071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3975881" y="2340471"/>
            <a:ext cx="3210173" cy="7403071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7273" y="948536"/>
            <a:ext cx="6802083" cy="110007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377273" y="2228218"/>
            <a:ext cx="3312862" cy="59494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65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7825" indent="0">
              <a:buNone/>
              <a:defRPr sz="1650" b="1"/>
            </a:lvl2pPr>
            <a:lvl3pPr marL="755650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89760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4505" indent="0">
              <a:buNone/>
              <a:defRPr sz="1325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377273" y="2890509"/>
            <a:ext cx="3312862" cy="6853033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3866835" y="2216570"/>
            <a:ext cx="3312862" cy="59494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65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7825" indent="0">
              <a:buNone/>
              <a:defRPr sz="1650" b="1"/>
            </a:lvl2pPr>
            <a:lvl3pPr marL="755650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89760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4505" indent="0">
              <a:buNone/>
              <a:defRPr sz="1325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3866835" y="2890509"/>
            <a:ext cx="3312862" cy="6853033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7273" y="948536"/>
            <a:ext cx="6802083" cy="110007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377273" y="2424660"/>
            <a:ext cx="3245070" cy="7184179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25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3937930" y="2424660"/>
            <a:ext cx="3241426" cy="7184179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25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2026/6/15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6346676" y="1425610"/>
            <a:ext cx="647392" cy="7840857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315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567026" y="1425610"/>
            <a:ext cx="5685890" cy="7840857"/>
          </a:xfrm>
        </p:spPr>
        <p:txBody>
          <a:bodyPr vert="eaVert" lIns="46800" tIns="46800" rIns="46800" bIns="46800"/>
          <a:lstStyle>
            <a:lvl1pPr marL="189230" indent="-189230">
              <a:spcAft>
                <a:spcPts val="1000"/>
              </a:spcAft>
              <a:defRPr spc="300"/>
            </a:lvl1pPr>
            <a:lvl2pPr marL="567055" indent="-189230">
              <a:defRPr spc="300"/>
            </a:lvl2pPr>
            <a:lvl3pPr marL="944880" indent="-189230">
              <a:defRPr spc="300"/>
            </a:lvl3pPr>
            <a:lvl4pPr marL="1322705" indent="-189230">
              <a:defRPr spc="300"/>
            </a:lvl4pPr>
            <a:lvl5pPr marL="1701165" indent="-18923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377273" y="1206718"/>
            <a:ext cx="6804315" cy="854805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743385" y="3872721"/>
            <a:ext cx="6076557" cy="1588377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96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743385" y="5550901"/>
            <a:ext cx="6076557" cy="735256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985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377273" y="948536"/>
            <a:ext cx="6802083" cy="1100077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377273" y="2323633"/>
            <a:ext cx="6802083" cy="7419909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379506" y="9844569"/>
            <a:ext cx="1674290" cy="493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3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2552362" y="9844569"/>
            <a:ext cx="2455626" cy="493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83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5505066" y="9844569"/>
            <a:ext cx="1674290" cy="493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3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55650" rtl="0" eaLnBrk="1" fontAlgn="auto" latinLnBrk="0" hangingPunct="1">
        <a:lnSpc>
          <a:spcPct val="100000"/>
        </a:lnSpc>
        <a:spcBef>
          <a:spcPct val="0"/>
        </a:spcBef>
        <a:buNone/>
        <a:defRPr sz="2975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189230" indent="-189230" algn="l" defTabSz="755650" rtl="0" eaLnBrk="1" fontAlgn="auto" latinLnBrk="0" hangingPunct="1">
        <a:lnSpc>
          <a:spcPct val="130000"/>
        </a:lnSpc>
        <a:spcBef>
          <a:spcPct val="0"/>
        </a:spcBef>
        <a:spcAft>
          <a:spcPts val="1000"/>
        </a:spcAft>
        <a:buFont typeface="Arial" panose="020B0604020202020204" pitchFamily="34" charset="0"/>
        <a:buChar char="●"/>
        <a:defRPr sz="149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67055" indent="-189230" algn="l" defTabSz="755650" rtl="0" eaLnBrk="1" fontAlgn="auto" latinLnBrk="0" hangingPunct="1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tabLst>
          <a:tab pos="1330960" algn="l"/>
          <a:tab pos="1330960" algn="l"/>
          <a:tab pos="1330960" algn="l"/>
          <a:tab pos="1330960" algn="l"/>
        </a:tabLst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944880" indent="-189230" algn="l" defTabSz="755650" rtl="0" eaLnBrk="1" fontAlgn="auto" latinLnBrk="0" hangingPunct="1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322705" indent="-189230" algn="l" defTabSz="755650" rtl="0" eaLnBrk="1" fontAlgn="auto" latinLnBrk="0" hangingPunct="1">
        <a:lnSpc>
          <a:spcPct val="120000"/>
        </a:lnSpc>
        <a:spcBef>
          <a:spcPct val="0"/>
        </a:spcBef>
        <a:spcAft>
          <a:spcPts val="300"/>
        </a:spcAft>
        <a:buFont typeface="Wingdings" panose="05000000000000000000" charset="0"/>
        <a:buChar char=""/>
        <a:defRPr sz="115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701165" indent="-189230" algn="l" defTabSz="755650" rtl="0" eaLnBrk="1" fontAlgn="auto" latinLnBrk="0" hangingPunct="1">
        <a:lnSpc>
          <a:spcPct val="120000"/>
        </a:lnSpc>
        <a:spcBef>
          <a:spcPct val="0"/>
        </a:spcBef>
        <a:spcAft>
          <a:spcPts val="300"/>
        </a:spcAft>
        <a:buFont typeface="Arial" panose="020B0604020202020204" pitchFamily="34" charset="0"/>
        <a:buChar char="•"/>
        <a:defRPr sz="115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07899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45745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835275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21310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1pPr>
      <a:lvl2pPr marL="37782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2pPr>
      <a:lvl3pPr marL="75565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3pPr>
      <a:lvl4pPr marL="113411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4pPr>
      <a:lvl5pPr marL="151193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5pPr>
      <a:lvl6pPr marL="188976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26822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64604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02450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jpe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jpe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C01FB13A-46B7-0EA0-66B6-1B39B11B19D3}"/>
              </a:ext>
            </a:extLst>
          </p:cNvPr>
          <p:cNvGrpSpPr/>
          <p:nvPr/>
        </p:nvGrpSpPr>
        <p:grpSpPr>
          <a:xfrm>
            <a:off x="346075" y="333375"/>
            <a:ext cx="6867525" cy="10041890"/>
            <a:chOff x="346075" y="333375"/>
            <a:chExt cx="6867525" cy="10041890"/>
          </a:xfrm>
        </p:grpSpPr>
        <p:sp>
          <p:nvSpPr>
            <p:cNvPr id="109" name="圆角矩形 108"/>
            <p:cNvSpPr/>
            <p:nvPr/>
          </p:nvSpPr>
          <p:spPr>
            <a:xfrm>
              <a:off x="1136015" y="527367"/>
              <a:ext cx="5434330" cy="334645"/>
            </a:xfrm>
            <a:prstGeom prst="roundRect">
              <a:avLst>
                <a:gd name="adj" fmla="val 50000"/>
              </a:avLst>
            </a:prstGeom>
            <a:solidFill>
              <a:srgbClr val="2E54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海杂波场景电磁频谱数据智能处理</a:t>
              </a:r>
              <a:endParaRPr lang="en-US" altLang="zh-CN" sz="1600" b="1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" name="圆角矩形 1"/>
            <p:cNvSpPr/>
            <p:nvPr/>
          </p:nvSpPr>
          <p:spPr>
            <a:xfrm>
              <a:off x="346075" y="333375"/>
              <a:ext cx="6867525" cy="10041890"/>
            </a:xfrm>
            <a:prstGeom prst="roundRect">
              <a:avLst>
                <a:gd name="adj" fmla="val 3556"/>
              </a:avLst>
            </a:prstGeom>
            <a:noFill/>
            <a:ln w="25400" cmpd="sng">
              <a:solidFill>
                <a:schemeClr val="accent1">
                  <a:shade val="50000"/>
                </a:schemeClr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/>
            </a:p>
          </p:txBody>
        </p:sp>
        <p:sp>
          <p:nvSpPr>
            <p:cNvPr id="127" name="矩形: 圆角 3"/>
            <p:cNvSpPr/>
            <p:nvPr/>
          </p:nvSpPr>
          <p:spPr>
            <a:xfrm>
              <a:off x="977900" y="4579620"/>
              <a:ext cx="5850890" cy="1647190"/>
            </a:xfrm>
            <a:prstGeom prst="roundRect">
              <a:avLst>
                <a:gd name="adj" fmla="val 10777"/>
              </a:avLst>
            </a:prstGeom>
            <a:solidFill>
              <a:srgbClr val="FBDCE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88" name="矩形: 圆角 3"/>
            <p:cNvSpPr/>
            <p:nvPr/>
          </p:nvSpPr>
          <p:spPr>
            <a:xfrm>
              <a:off x="977900" y="6593205"/>
              <a:ext cx="5850890" cy="1647190"/>
            </a:xfrm>
            <a:prstGeom prst="roundRect">
              <a:avLst>
                <a:gd name="adj" fmla="val 10777"/>
              </a:avLst>
            </a:prstGeom>
            <a:solidFill>
              <a:srgbClr val="DEEBF7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25" name="矩形: 圆角 3"/>
            <p:cNvSpPr/>
            <p:nvPr/>
          </p:nvSpPr>
          <p:spPr>
            <a:xfrm>
              <a:off x="535305" y="8538210"/>
              <a:ext cx="6489700" cy="1682750"/>
            </a:xfrm>
            <a:prstGeom prst="roundRect">
              <a:avLst>
                <a:gd name="adj" fmla="val 15777"/>
              </a:avLst>
            </a:prstGeom>
            <a:solidFill>
              <a:srgbClr val="FBDCE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" name="矩形: 圆角 1150"/>
            <p:cNvSpPr/>
            <p:nvPr/>
          </p:nvSpPr>
          <p:spPr>
            <a:xfrm>
              <a:off x="3035300" y="8932545"/>
              <a:ext cx="3793490" cy="941705"/>
            </a:xfrm>
            <a:prstGeom prst="roundRect">
              <a:avLst>
                <a:gd name="adj" fmla="val 13863"/>
              </a:avLst>
            </a:prstGeom>
            <a:solidFill>
              <a:schemeClr val="bg1"/>
            </a:solidFill>
            <a:ln w="12700" cmpd="sng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" name="矩形: 圆角 1150"/>
            <p:cNvSpPr/>
            <p:nvPr/>
          </p:nvSpPr>
          <p:spPr>
            <a:xfrm>
              <a:off x="753110" y="8932545"/>
              <a:ext cx="2169795" cy="941705"/>
            </a:xfrm>
            <a:prstGeom prst="roundRect">
              <a:avLst>
                <a:gd name="adj" fmla="val 13863"/>
              </a:avLst>
            </a:prstGeom>
            <a:solidFill>
              <a:schemeClr val="bg1"/>
            </a:solidFill>
            <a:ln w="12700" cmpd="sng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920750" y="9492615"/>
              <a:ext cx="54610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云</a:t>
              </a: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545590" y="9492615"/>
              <a:ext cx="59817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边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2214245" y="9492615"/>
              <a:ext cx="55753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端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770630" y="9492615"/>
              <a:ext cx="66548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算力</a:t>
              </a: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4309110" y="9492615"/>
              <a:ext cx="80645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网络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4906010" y="9492615"/>
              <a:ext cx="76073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平台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5634990" y="9492615"/>
              <a:ext cx="53213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模型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6046470" y="9492615"/>
              <a:ext cx="82296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存储</a:t>
              </a:r>
            </a:p>
          </p:txBody>
        </p:sp>
        <p:pic>
          <p:nvPicPr>
            <p:cNvPr id="41" name="Picture 2" descr="Manufacturing 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98065" y="9079865"/>
              <a:ext cx="408305" cy="435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8" descr="Cpu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9525" y="9077325"/>
              <a:ext cx="439420" cy="4686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10" descr="Gpu 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79850" y="9070340"/>
              <a:ext cx="446405" cy="476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12" descr="Bandwidth "/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13580" y="9091295"/>
              <a:ext cx="405130" cy="432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图片 48" descr="ai-cloud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685155" y="9093200"/>
              <a:ext cx="424815" cy="453390"/>
            </a:xfrm>
            <a:prstGeom prst="rect">
              <a:avLst/>
            </a:prstGeom>
          </p:spPr>
        </p:pic>
        <p:pic>
          <p:nvPicPr>
            <p:cNvPr id="50" name="图片 49" descr="disk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250940" y="9140190"/>
              <a:ext cx="359410" cy="383540"/>
            </a:xfrm>
            <a:prstGeom prst="rect">
              <a:avLst/>
            </a:prstGeom>
          </p:spPr>
        </p:pic>
        <p:pic>
          <p:nvPicPr>
            <p:cNvPr id="51" name="图片 5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266440" y="9093200"/>
              <a:ext cx="403225" cy="430530"/>
            </a:xfrm>
            <a:prstGeom prst="rect">
              <a:avLst/>
            </a:prstGeom>
          </p:spPr>
        </p:pic>
        <p:sp>
          <p:nvSpPr>
            <p:cNvPr id="52" name="文本框 51"/>
            <p:cNvSpPr txBox="1"/>
            <p:nvPr/>
          </p:nvSpPr>
          <p:spPr>
            <a:xfrm>
              <a:off x="3094990" y="9492615"/>
              <a:ext cx="758190" cy="2755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传感器</a:t>
              </a:r>
            </a:p>
          </p:txBody>
        </p:sp>
        <p:pic>
          <p:nvPicPr>
            <p:cNvPr id="53" name="图片 52" descr="server (1)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900" y="9056370"/>
              <a:ext cx="488950" cy="521970"/>
            </a:xfrm>
            <a:prstGeom prst="rect">
              <a:avLst/>
            </a:prstGeom>
          </p:spPr>
        </p:pic>
        <p:pic>
          <p:nvPicPr>
            <p:cNvPr id="54" name="图片 53" descr="networki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645285" y="9091295"/>
              <a:ext cx="405130" cy="432435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2911475" y="9864090"/>
              <a:ext cx="1737360" cy="3200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9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技术架构支撑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2921000" y="8578850"/>
              <a:ext cx="171767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kumimoji="0" lang="zh-CN" alt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智能处理组件概览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266825" y="6608445"/>
              <a:ext cx="5273040" cy="3213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E54A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研究方案一：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海杂波干扰下微弱电磁频谱信号传播规律与微弱信号提取</a:t>
              </a:r>
            </a:p>
          </p:txBody>
        </p:sp>
        <p:sp>
          <p:nvSpPr>
            <p:cNvPr id="65" name="矩形: 圆角 7"/>
            <p:cNvSpPr/>
            <p:nvPr/>
          </p:nvSpPr>
          <p:spPr>
            <a:xfrm>
              <a:off x="3649980" y="7008495"/>
              <a:ext cx="1431925" cy="66611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accent1">
                  <a:shade val="50000"/>
                </a:schemeClr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基于空域干扰对消的微弱目标频谱特征增强方法</a:t>
              </a:r>
            </a:p>
          </p:txBody>
        </p:sp>
        <p:sp>
          <p:nvSpPr>
            <p:cNvPr id="80" name="矩形: 圆角 7"/>
            <p:cNvSpPr/>
            <p:nvPr/>
          </p:nvSpPr>
          <p:spPr>
            <a:xfrm>
              <a:off x="2143760" y="7008495"/>
              <a:ext cx="1431925" cy="66611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accent1">
                  <a:shade val="50000"/>
                </a:schemeClr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2" name="矩形: 圆角 7"/>
            <p:cNvSpPr/>
            <p:nvPr/>
          </p:nvSpPr>
          <p:spPr>
            <a:xfrm>
              <a:off x="5156200" y="7007225"/>
              <a:ext cx="1431925" cy="66611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accent1">
                  <a:shade val="50000"/>
                </a:schemeClr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基于多维联合表征的电磁频谱信号精确提取方法</a:t>
              </a:r>
            </a:p>
          </p:txBody>
        </p:sp>
        <p:pic>
          <p:nvPicPr>
            <p:cNvPr id="93" name="Picture 2"/>
            <p:cNvPicPr>
              <a:picLocks noChangeAspect="1" noChangeArrowheads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6170" y="7014210"/>
              <a:ext cx="944245" cy="6610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5" name="文本框 94"/>
            <p:cNvSpPr txBox="1"/>
            <p:nvPr/>
          </p:nvSpPr>
          <p:spPr>
            <a:xfrm>
              <a:off x="1149985" y="7675245"/>
              <a:ext cx="833120" cy="3970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99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频谱信号传播提取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215890" y="7704455"/>
              <a:ext cx="469900" cy="548005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多谱张量表征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5661025" y="77044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定位检测分离</a:t>
              </a: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053455" y="77044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可微重构反演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2201545" y="7704455"/>
              <a:ext cx="440690" cy="548005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 algn="ctr"/>
              <a:r>
                <a:rPr lang="zh-CN" altLang="en-US" sz="850" b="1" dirty="0">
                  <a:solidFill>
                    <a:srgbClr val="2E54A1"/>
                  </a:solidFill>
                </a:rPr>
                <a:t>统计联合表征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623820" y="77044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zh-CN" altLang="en-US" sz="850" b="1" dirty="0">
                  <a:solidFill>
                    <a:srgbClr val="2E54A1"/>
                  </a:solidFill>
                </a:rPr>
                <a:t>多径折射耦合</a:t>
              </a: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3007360" y="77044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zh-CN" altLang="en-US" sz="850" b="1" dirty="0">
                  <a:solidFill>
                    <a:srgbClr val="2E54A1"/>
                  </a:solidFill>
                </a:rPr>
                <a:t>时空传播规律</a:t>
              </a: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3710454" y="7691755"/>
              <a:ext cx="439420" cy="548005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多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4158615" y="7704455"/>
              <a:ext cx="443865" cy="22313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边</a:t>
              </a: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4540885" y="7704455"/>
              <a:ext cx="443865" cy="22313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底</a:t>
              </a:r>
            </a:p>
          </p:txBody>
        </p:sp>
        <p:sp>
          <p:nvSpPr>
            <p:cNvPr id="81" name="矩形 80"/>
            <p:cNvSpPr/>
            <p:nvPr/>
          </p:nvSpPr>
          <p:spPr>
            <a:xfrm>
              <a:off x="6708140" y="6593840"/>
              <a:ext cx="316865" cy="1645920"/>
            </a:xfrm>
            <a:prstGeom prst="rect">
              <a:avLst/>
            </a:prstGeom>
            <a:solidFill>
              <a:srgbClr val="2E54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理论架构</a:t>
              </a:r>
            </a:p>
          </p:txBody>
        </p:sp>
        <p:sp>
          <p:nvSpPr>
            <p:cNvPr id="87" name="矩形 86"/>
            <p:cNvSpPr/>
            <p:nvPr/>
          </p:nvSpPr>
          <p:spPr>
            <a:xfrm>
              <a:off x="535940" y="6593840"/>
              <a:ext cx="338455" cy="1645920"/>
            </a:xfrm>
            <a:prstGeom prst="rect">
              <a:avLst/>
            </a:prstGeom>
            <a:solidFill>
              <a:srgbClr val="2E54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怎么提取</a:t>
              </a: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920750" y="6235065"/>
              <a:ext cx="2012315" cy="33591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500" b="1" dirty="0">
                  <a:solidFill>
                    <a:srgbClr val="2E54A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“</a:t>
              </a:r>
              <a:r>
                <a:rPr lang="zh-CN" altLang="en-US" sz="1500" b="1" dirty="0">
                  <a:solidFill>
                    <a:srgbClr val="2E54A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频谱信号传播提取</a:t>
              </a:r>
              <a:r>
                <a:rPr lang="en-US" altLang="zh-CN" sz="1500" b="1" dirty="0">
                  <a:solidFill>
                    <a:srgbClr val="2E54A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”</a:t>
              </a:r>
            </a:p>
          </p:txBody>
        </p:sp>
        <p:sp>
          <p:nvSpPr>
            <p:cNvPr id="23" name="箭头: 燕尾形 1202"/>
            <p:cNvSpPr/>
            <p:nvPr/>
          </p:nvSpPr>
          <p:spPr>
            <a:xfrm rot="5400000" flipH="1">
              <a:off x="3659019" y="6316980"/>
              <a:ext cx="400050" cy="317500"/>
            </a:xfrm>
            <a:prstGeom prst="notchedRightArrow">
              <a:avLst/>
            </a:prstGeom>
            <a:gradFill>
              <a:gsLst>
                <a:gs pos="100000">
                  <a:srgbClr val="2E54A1"/>
                </a:gs>
                <a:gs pos="5000">
                  <a:srgbClr val="2E54A1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17" name="箭头: 燕尾形 1202"/>
            <p:cNvSpPr/>
            <p:nvPr/>
          </p:nvSpPr>
          <p:spPr>
            <a:xfrm rot="5400000" flipH="1">
              <a:off x="3648075" y="4289835"/>
              <a:ext cx="4000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22" name="箭头: 燕尾形 1202"/>
            <p:cNvSpPr/>
            <p:nvPr/>
          </p:nvSpPr>
          <p:spPr>
            <a:xfrm rot="5400000" flipH="1">
              <a:off x="3649569" y="8255000"/>
              <a:ext cx="4000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28" name="矩形 127"/>
            <p:cNvSpPr/>
            <p:nvPr/>
          </p:nvSpPr>
          <p:spPr>
            <a:xfrm>
              <a:off x="6708140" y="4580890"/>
              <a:ext cx="316865" cy="164592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感知底座</a:t>
              </a:r>
            </a:p>
          </p:txBody>
        </p:sp>
        <p:sp>
          <p:nvSpPr>
            <p:cNvPr id="129" name="箭头: 燕尾形 1202"/>
            <p:cNvSpPr/>
            <p:nvPr/>
          </p:nvSpPr>
          <p:spPr>
            <a:xfrm rot="5400000" flipH="1">
              <a:off x="6666230" y="6316980"/>
              <a:ext cx="400050" cy="317500"/>
            </a:xfrm>
            <a:prstGeom prst="notchedRightArrow">
              <a:avLst/>
            </a:prstGeom>
            <a:gradFill>
              <a:gsLst>
                <a:gs pos="100000">
                  <a:srgbClr val="2E54A1"/>
                </a:gs>
                <a:gs pos="5000">
                  <a:srgbClr val="2E54A1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30" name="文本框 129"/>
            <p:cNvSpPr txBox="1"/>
            <p:nvPr/>
          </p:nvSpPr>
          <p:spPr>
            <a:xfrm>
              <a:off x="920750" y="4224655"/>
              <a:ext cx="2012315" cy="33591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5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“</a:t>
              </a:r>
              <a:r>
                <a:rPr lang="zh-CN" altLang="en-US" sz="15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端侧轻量存储管理</a:t>
              </a:r>
              <a:r>
                <a:rPr lang="en-US" altLang="zh-CN" sz="15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”</a:t>
              </a:r>
            </a:p>
          </p:txBody>
        </p:sp>
        <p:sp>
          <p:nvSpPr>
            <p:cNvPr id="131" name="矩形 130"/>
            <p:cNvSpPr/>
            <p:nvPr/>
          </p:nvSpPr>
          <p:spPr>
            <a:xfrm>
              <a:off x="535940" y="4589780"/>
              <a:ext cx="338455" cy="164592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怎么存储</a:t>
              </a:r>
            </a:p>
          </p:txBody>
        </p:sp>
        <p:sp>
          <p:nvSpPr>
            <p:cNvPr id="132" name="文本框 131"/>
            <p:cNvSpPr txBox="1"/>
            <p:nvPr/>
          </p:nvSpPr>
          <p:spPr>
            <a:xfrm>
              <a:off x="1266825" y="4574540"/>
              <a:ext cx="5273040" cy="3213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研究方案二：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有限算力端侧频谱数据的可信管理和分级存储方法</a:t>
              </a:r>
            </a:p>
          </p:txBody>
        </p:sp>
        <p:sp>
          <p:nvSpPr>
            <p:cNvPr id="133" name="文本框 132"/>
            <p:cNvSpPr txBox="1"/>
            <p:nvPr/>
          </p:nvSpPr>
          <p:spPr>
            <a:xfrm>
              <a:off x="1170305" y="5661660"/>
              <a:ext cx="812800" cy="3970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99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端侧轻量存储管理</a:t>
              </a:r>
            </a:p>
          </p:txBody>
        </p:sp>
        <p:pic>
          <p:nvPicPr>
            <p:cNvPr id="134" name="Picture 4"/>
            <p:cNvPicPr>
              <a:picLocks noChangeArrowheads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6170" y="4964430"/>
              <a:ext cx="944245" cy="6597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5" name="矩形: 圆角 7"/>
            <p:cNvSpPr/>
            <p:nvPr/>
          </p:nvSpPr>
          <p:spPr>
            <a:xfrm>
              <a:off x="3649980" y="4965700"/>
              <a:ext cx="1431925" cy="66611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C00000"/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基于语义压缩的频谱向量数据库存储优化方法</a:t>
              </a:r>
            </a:p>
          </p:txBody>
        </p:sp>
        <p:sp>
          <p:nvSpPr>
            <p:cNvPr id="136" name="矩形: 圆角 7"/>
            <p:cNvSpPr/>
            <p:nvPr/>
          </p:nvSpPr>
          <p:spPr>
            <a:xfrm>
              <a:off x="2143760" y="4965700"/>
              <a:ext cx="1431925" cy="66611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C00000"/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事件窗口驱动的频谱数据价值评估模型</a:t>
              </a:r>
            </a:p>
          </p:txBody>
        </p:sp>
        <p:sp>
          <p:nvSpPr>
            <p:cNvPr id="137" name="矩形: 圆角 7"/>
            <p:cNvSpPr/>
            <p:nvPr/>
          </p:nvSpPr>
          <p:spPr>
            <a:xfrm>
              <a:off x="5156200" y="4964430"/>
              <a:ext cx="1431925" cy="66611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C00000"/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链上链下协同的可追溯频谱数据可信管理方法</a:t>
              </a:r>
            </a:p>
          </p:txBody>
        </p:sp>
        <p:sp>
          <p:nvSpPr>
            <p:cNvPr id="138" name="文本框 137"/>
            <p:cNvSpPr txBox="1"/>
            <p:nvPr/>
          </p:nvSpPr>
          <p:spPr>
            <a:xfrm>
              <a:off x="5234940" y="5661660"/>
              <a:ext cx="431800" cy="548005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 algn="ctr" fontAlgn="ctr"/>
              <a:r>
                <a:rPr lang="zh-CN" altLang="en-US" sz="850" b="1" dirty="0">
                  <a:solidFill>
                    <a:srgbClr val="C00000"/>
                  </a:solidFill>
                </a:rPr>
                <a:t>分层摘要存证</a:t>
              </a:r>
            </a:p>
          </p:txBody>
        </p:sp>
        <p:sp>
          <p:nvSpPr>
            <p:cNvPr id="139" name="文本框 138"/>
            <p:cNvSpPr txBox="1"/>
            <p:nvPr/>
          </p:nvSpPr>
          <p:spPr>
            <a:xfrm>
              <a:off x="5648325" y="5661660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 fontAlgn="ctr"/>
              <a:r>
                <a:rPr lang="zh-CN" altLang="en-US" sz="850" b="1" dirty="0">
                  <a:solidFill>
                    <a:srgbClr val="C00000"/>
                  </a:solidFill>
                </a:rPr>
                <a:t>分级索引构建</a:t>
              </a:r>
            </a:p>
          </p:txBody>
        </p:sp>
        <p:sp>
          <p:nvSpPr>
            <p:cNvPr id="140" name="文本框 139"/>
            <p:cNvSpPr txBox="1"/>
            <p:nvPr/>
          </p:nvSpPr>
          <p:spPr>
            <a:xfrm>
              <a:off x="6053455" y="5661660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zh-CN" altLang="en-US" sz="850" b="1" dirty="0">
                  <a:solidFill>
                    <a:srgbClr val="C00000"/>
                  </a:solidFill>
                </a:rPr>
                <a:t>可验查询更新</a:t>
              </a:r>
            </a:p>
          </p:txBody>
        </p:sp>
        <p:sp>
          <p:nvSpPr>
            <p:cNvPr id="141" name="文本框 140"/>
            <p:cNvSpPr txBox="1"/>
            <p:nvPr/>
          </p:nvSpPr>
          <p:spPr>
            <a:xfrm>
              <a:off x="2201545" y="5661660"/>
              <a:ext cx="440690" cy="548005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 algn="ctr" fontAlgn="ctr"/>
              <a:r>
                <a:rPr lang="zh-CN" altLang="en-US" sz="850" b="1" dirty="0">
                  <a:solidFill>
                    <a:srgbClr val="C00000"/>
                  </a:solidFill>
                </a:rPr>
                <a:t>事件证据窗口</a:t>
              </a:r>
            </a:p>
          </p:txBody>
        </p:sp>
        <p:sp>
          <p:nvSpPr>
            <p:cNvPr id="142" name="文本框 141"/>
            <p:cNvSpPr txBox="1"/>
            <p:nvPr/>
          </p:nvSpPr>
          <p:spPr>
            <a:xfrm>
              <a:off x="2623820" y="5661660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 fontAlgn="ctr"/>
              <a:r>
                <a:rPr lang="zh-CN" altLang="en-US" sz="850" b="1" dirty="0">
                  <a:solidFill>
                    <a:srgbClr val="C00000"/>
                  </a:solidFill>
                </a:rPr>
                <a:t>可疑事件识别</a:t>
              </a:r>
            </a:p>
          </p:txBody>
        </p:sp>
        <p:sp>
          <p:nvSpPr>
            <p:cNvPr id="143" name="文本框 142"/>
            <p:cNvSpPr txBox="1"/>
            <p:nvPr/>
          </p:nvSpPr>
          <p:spPr>
            <a:xfrm>
              <a:off x="3007360" y="5661660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 fontAlgn="ctr"/>
              <a:r>
                <a:rPr lang="zh-CN" altLang="en-US" sz="850" b="1" dirty="0">
                  <a:solidFill>
                    <a:srgbClr val="C00000"/>
                  </a:solidFill>
                </a:rPr>
                <a:t>事件入库判别</a:t>
              </a:r>
            </a:p>
          </p:txBody>
        </p:sp>
        <p:sp>
          <p:nvSpPr>
            <p:cNvPr id="144" name="文本框 143"/>
            <p:cNvSpPr txBox="1"/>
            <p:nvPr/>
          </p:nvSpPr>
          <p:spPr>
            <a:xfrm>
              <a:off x="3718560" y="5661660"/>
              <a:ext cx="439420" cy="548005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 algn="ctr" fontAlgn="ctr"/>
              <a:r>
                <a:rPr lang="zh-CN" altLang="en-US" sz="850" b="1" dirty="0">
                  <a:solidFill>
                    <a:srgbClr val="C00000"/>
                  </a:solidFill>
                </a:rPr>
                <a:t>提取量化压缩</a:t>
              </a:r>
            </a:p>
          </p:txBody>
        </p:sp>
        <p:sp>
          <p:nvSpPr>
            <p:cNvPr id="145" name="文本框 144"/>
            <p:cNvSpPr txBox="1"/>
            <p:nvPr/>
          </p:nvSpPr>
          <p:spPr>
            <a:xfrm>
              <a:off x="4126865" y="5661660"/>
              <a:ext cx="443865" cy="483235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 fontAlgn="ctr"/>
              <a:r>
                <a:rPr lang="zh-CN" altLang="en-US" sz="850" b="1" dirty="0">
                  <a:solidFill>
                    <a:srgbClr val="C00000"/>
                  </a:solidFill>
                </a:rPr>
                <a:t>磁盘索引存储</a:t>
              </a:r>
            </a:p>
          </p:txBody>
        </p:sp>
        <p:sp>
          <p:nvSpPr>
            <p:cNvPr id="146" name="文本框 145"/>
            <p:cNvSpPr txBox="1"/>
            <p:nvPr/>
          </p:nvSpPr>
          <p:spPr>
            <a:xfrm>
              <a:off x="4540885" y="5661660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 fontAlgn="ctr"/>
              <a:r>
                <a:rPr lang="zh-CN" altLang="en-US" sz="850" b="1" dirty="0">
                  <a:solidFill>
                    <a:srgbClr val="C00000"/>
                  </a:solidFill>
                </a:rPr>
                <a:t>并发插入机制</a:t>
              </a:r>
            </a:p>
          </p:txBody>
        </p:sp>
        <p:sp>
          <p:nvSpPr>
            <p:cNvPr id="147" name="文本框 146"/>
            <p:cNvSpPr txBox="1"/>
            <p:nvPr/>
          </p:nvSpPr>
          <p:spPr>
            <a:xfrm>
              <a:off x="2081530" y="7050405"/>
              <a:ext cx="1549400" cy="5962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kumimoji="0" lang="zh-CN" altLang="en-US" sz="1000" b="1" i="0" spc="-5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复杂海洋环境下电磁频谱信号时空耦合规律建模</a:t>
              </a:r>
            </a:p>
          </p:txBody>
        </p:sp>
        <p:sp>
          <p:nvSpPr>
            <p:cNvPr id="148" name="箭头: 燕尾形 1202"/>
            <p:cNvSpPr/>
            <p:nvPr/>
          </p:nvSpPr>
          <p:spPr>
            <a:xfrm rot="5400000" flipH="1">
              <a:off x="6666230" y="4316730"/>
              <a:ext cx="4000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49" name="矩形: 圆角 3"/>
            <p:cNvSpPr/>
            <p:nvPr/>
          </p:nvSpPr>
          <p:spPr>
            <a:xfrm>
              <a:off x="977900" y="2580005"/>
              <a:ext cx="5850890" cy="1647190"/>
            </a:xfrm>
            <a:prstGeom prst="roundRect">
              <a:avLst>
                <a:gd name="adj" fmla="val 10777"/>
              </a:avLst>
            </a:prstGeom>
            <a:solidFill>
              <a:srgbClr val="DEEBF7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50" name="文本框 149"/>
            <p:cNvSpPr txBox="1"/>
            <p:nvPr/>
          </p:nvSpPr>
          <p:spPr>
            <a:xfrm>
              <a:off x="1266825" y="2595245"/>
              <a:ext cx="5273040" cy="3213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E54A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研究方案三：</a:t>
              </a:r>
              <a:r>
                <a:rPr kumimoji="0" lang="zh-CN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面向海域自主侦测任务的边缘频谱智能处理方法</a:t>
              </a:r>
            </a:p>
          </p:txBody>
        </p:sp>
        <p:sp>
          <p:nvSpPr>
            <p:cNvPr id="151" name="矩形: 圆角 7"/>
            <p:cNvSpPr/>
            <p:nvPr/>
          </p:nvSpPr>
          <p:spPr>
            <a:xfrm>
              <a:off x="3649980" y="2995295"/>
              <a:ext cx="1431925" cy="66611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accent1">
                  <a:shade val="50000"/>
                </a:schemeClr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lvl="0" algn="ctr">
                <a:defRPr/>
              </a:pPr>
              <a:r>
                <a:rPr lang="zh-CN" altLang="en-US" sz="1000" b="1" dirty="0">
                  <a:solidFill>
                    <a:prstClr val="black"/>
                  </a:solidFill>
                  <a:latin typeface="微软雅黑" panose="020B0503020204020204" charset="-122"/>
                  <a:ea typeface="微软雅黑" panose="020B0503020204020204" charset="-122"/>
                </a:rPr>
                <a:t>知识驱动的轻量化频谱信号识别与目标轨迹分析方法</a:t>
              </a:r>
              <a:endPara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2" name="矩形: 圆角 7"/>
            <p:cNvSpPr/>
            <p:nvPr/>
          </p:nvSpPr>
          <p:spPr>
            <a:xfrm>
              <a:off x="2226945" y="2982913"/>
              <a:ext cx="1431925" cy="66611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accent1">
                  <a:shade val="50000"/>
                </a:schemeClr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53" name="矩形: 圆角 7"/>
            <p:cNvSpPr/>
            <p:nvPr/>
          </p:nvSpPr>
          <p:spPr>
            <a:xfrm>
              <a:off x="5156200" y="2994025"/>
              <a:ext cx="1431925" cy="66611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accent1">
                  <a:shade val="50000"/>
                </a:schemeClr>
              </a:solidFill>
              <a:prstDash val="sysDash"/>
              <a:miter lim="800000"/>
            </a:ln>
            <a:effectLst/>
          </p:spPr>
          <p:txBody>
            <a:bodyPr rtlCol="0" anchor="ctr"/>
            <a:lstStyle/>
            <a:p>
              <a:pPr lvl="0" algn="ctr">
                <a:defRPr/>
              </a:pPr>
              <a:r>
                <a:rPr lang="zh-CN" altLang="en-US" sz="1000" b="1" dirty="0">
                  <a:solidFill>
                    <a:prstClr val="black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频谱认知协同与分布式可信决策方法</a:t>
              </a:r>
              <a:endPara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55" name="文本框 154"/>
            <p:cNvSpPr txBox="1"/>
            <p:nvPr/>
          </p:nvSpPr>
          <p:spPr>
            <a:xfrm>
              <a:off x="1149985" y="3662045"/>
              <a:ext cx="833120" cy="5493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99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自主决策可信判别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99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6" name="文本框 155"/>
            <p:cNvSpPr txBox="1"/>
            <p:nvPr/>
          </p:nvSpPr>
          <p:spPr>
            <a:xfrm>
              <a:off x="5241290" y="3691255"/>
              <a:ext cx="444500" cy="548005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共识确权结果</a:t>
              </a: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5673725" y="36912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可信协同决策</a:t>
              </a:r>
            </a:p>
          </p:txBody>
        </p:sp>
        <p:sp>
          <p:nvSpPr>
            <p:cNvPr id="158" name="文本框 157"/>
            <p:cNvSpPr txBox="1"/>
            <p:nvPr/>
          </p:nvSpPr>
          <p:spPr>
            <a:xfrm>
              <a:off x="6066155" y="36912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轻量安全传输</a:t>
              </a:r>
            </a:p>
          </p:txBody>
        </p:sp>
        <p:sp>
          <p:nvSpPr>
            <p:cNvPr id="159" name="文本框 158"/>
            <p:cNvSpPr txBox="1"/>
            <p:nvPr/>
          </p:nvSpPr>
          <p:spPr>
            <a:xfrm>
              <a:off x="2182495" y="3691255"/>
              <a:ext cx="440690" cy="548005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 algn="ctr"/>
              <a:r>
                <a:rPr lang="zh-CN" altLang="en-US" sz="850" b="1" dirty="0">
                  <a:solidFill>
                    <a:srgbClr val="2E54A1"/>
                  </a:solidFill>
                </a:rPr>
                <a:t>多源异构表征</a:t>
              </a:r>
            </a:p>
          </p:txBody>
        </p:sp>
        <p:sp>
          <p:nvSpPr>
            <p:cNvPr id="160" name="文本框 159"/>
            <p:cNvSpPr txBox="1"/>
            <p:nvPr/>
          </p:nvSpPr>
          <p:spPr>
            <a:xfrm>
              <a:off x="2623820" y="36912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zh-CN" altLang="en-US" sz="850" b="1" dirty="0">
                  <a:solidFill>
                    <a:srgbClr val="2E54A1"/>
                  </a:solidFill>
                </a:rPr>
                <a:t>信息关联聚合</a:t>
              </a:r>
            </a:p>
          </p:txBody>
        </p:sp>
        <p:sp>
          <p:nvSpPr>
            <p:cNvPr id="161" name="文本框 160"/>
            <p:cNvSpPr txBox="1"/>
            <p:nvPr/>
          </p:nvSpPr>
          <p:spPr>
            <a:xfrm>
              <a:off x="3007360" y="36912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zh-CN" altLang="en-US" sz="850" b="1" dirty="0">
                  <a:solidFill>
                    <a:srgbClr val="2E54A1"/>
                  </a:solidFill>
                </a:rPr>
                <a:t>增量更新演化</a:t>
              </a:r>
            </a:p>
          </p:txBody>
        </p:sp>
        <p:sp>
          <p:nvSpPr>
            <p:cNvPr id="162" name="文本框 161"/>
            <p:cNvSpPr txBox="1"/>
            <p:nvPr/>
          </p:nvSpPr>
          <p:spPr>
            <a:xfrm>
              <a:off x="3718560" y="3691255"/>
              <a:ext cx="439420" cy="548005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知识引导判别</a:t>
              </a:r>
            </a:p>
          </p:txBody>
        </p:sp>
        <p:sp>
          <p:nvSpPr>
            <p:cNvPr id="163" name="文本框 162"/>
            <p:cNvSpPr txBox="1"/>
            <p:nvPr/>
          </p:nvSpPr>
          <p:spPr>
            <a:xfrm>
              <a:off x="4158615" y="36912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识别未知分类</a:t>
              </a:r>
            </a:p>
          </p:txBody>
        </p:sp>
        <p:sp>
          <p:nvSpPr>
            <p:cNvPr id="164" name="文本框 163"/>
            <p:cNvSpPr txBox="1"/>
            <p:nvPr/>
          </p:nvSpPr>
          <p:spPr>
            <a:xfrm>
              <a:off x="4540885" y="3691255"/>
              <a:ext cx="443865" cy="48474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zh-CN" altLang="en-US" sz="850" b="1" dirty="0">
                  <a:solidFill>
                    <a:srgbClr val="2E54A1"/>
                  </a:solidFill>
                </a:rPr>
                <a:t>轻量轨迹预测</a:t>
              </a:r>
            </a:p>
          </p:txBody>
        </p:sp>
        <p:sp>
          <p:nvSpPr>
            <p:cNvPr id="165" name="矩形 164"/>
            <p:cNvSpPr/>
            <p:nvPr/>
          </p:nvSpPr>
          <p:spPr>
            <a:xfrm>
              <a:off x="6708140" y="2580640"/>
              <a:ext cx="316865" cy="1645920"/>
            </a:xfrm>
            <a:prstGeom prst="rect">
              <a:avLst/>
            </a:prstGeom>
            <a:solidFill>
              <a:srgbClr val="2E54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决策保障</a:t>
              </a:r>
            </a:p>
          </p:txBody>
        </p:sp>
        <p:sp>
          <p:nvSpPr>
            <p:cNvPr id="166" name="矩形 165"/>
            <p:cNvSpPr/>
            <p:nvPr/>
          </p:nvSpPr>
          <p:spPr>
            <a:xfrm>
              <a:off x="535940" y="2580640"/>
              <a:ext cx="338455" cy="1645920"/>
            </a:xfrm>
            <a:prstGeom prst="rect">
              <a:avLst/>
            </a:prstGeom>
            <a:solidFill>
              <a:srgbClr val="2E54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怎么处理</a:t>
              </a:r>
            </a:p>
          </p:txBody>
        </p:sp>
        <p:sp>
          <p:nvSpPr>
            <p:cNvPr id="167" name="文本框 166"/>
            <p:cNvSpPr txBox="1"/>
            <p:nvPr/>
          </p:nvSpPr>
          <p:spPr>
            <a:xfrm>
              <a:off x="920750" y="2221865"/>
              <a:ext cx="2012315" cy="33591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500" b="1" dirty="0">
                  <a:solidFill>
                    <a:srgbClr val="2E54A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“</a:t>
              </a:r>
              <a:r>
                <a:rPr lang="zh-CN" altLang="en-US" sz="1500" b="1" dirty="0">
                  <a:solidFill>
                    <a:srgbClr val="2E54A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自主决策可信判别</a:t>
              </a:r>
              <a:r>
                <a:rPr lang="en-US" altLang="zh-CN" sz="1500" b="1" dirty="0">
                  <a:solidFill>
                    <a:srgbClr val="2E54A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”</a:t>
              </a:r>
            </a:p>
          </p:txBody>
        </p:sp>
        <p:sp>
          <p:nvSpPr>
            <p:cNvPr id="168" name="箭头: 燕尾形 1202"/>
            <p:cNvSpPr/>
            <p:nvPr/>
          </p:nvSpPr>
          <p:spPr>
            <a:xfrm rot="5400000" flipH="1">
              <a:off x="3653155" y="2303145"/>
              <a:ext cx="400050" cy="317500"/>
            </a:xfrm>
            <a:prstGeom prst="notchedRightArrow">
              <a:avLst/>
            </a:prstGeom>
            <a:gradFill>
              <a:gsLst>
                <a:gs pos="100000">
                  <a:srgbClr val="2E54A1"/>
                </a:gs>
                <a:gs pos="5000">
                  <a:srgbClr val="2E54A1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70" name="文本框 169"/>
            <p:cNvSpPr txBox="1"/>
            <p:nvPr/>
          </p:nvSpPr>
          <p:spPr>
            <a:xfrm>
              <a:off x="2182495" y="3037205"/>
              <a:ext cx="1347470" cy="5962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000" b="1" spc="-50" dirty="0">
                  <a:solidFill>
                    <a:prstClr val="black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基于态势认知的电磁频谱知识图谱构建与动态演化方法</a:t>
              </a:r>
              <a:endParaRPr lang="en-US" altLang="zh-CN" sz="1000" b="1" spc="-5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pic>
          <p:nvPicPr>
            <p:cNvPr id="171" name="Picture 6"/>
            <p:cNvPicPr>
              <a:picLocks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6170" y="3000375"/>
              <a:ext cx="944245" cy="6597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4" name="矩形: 圆角 3"/>
            <p:cNvSpPr/>
            <p:nvPr/>
          </p:nvSpPr>
          <p:spPr>
            <a:xfrm>
              <a:off x="535306" y="1181100"/>
              <a:ext cx="6489700" cy="1040765"/>
            </a:xfrm>
            <a:prstGeom prst="roundRect">
              <a:avLst>
                <a:gd name="adj" fmla="val 10777"/>
              </a:avLst>
            </a:prstGeom>
            <a:solidFill>
              <a:srgbClr val="FBDCE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75" name="箭头: 燕尾形 1202"/>
            <p:cNvSpPr/>
            <p:nvPr/>
          </p:nvSpPr>
          <p:spPr>
            <a:xfrm rot="5400000" flipH="1">
              <a:off x="3665855" y="931227"/>
              <a:ext cx="374650" cy="317500"/>
            </a:xfrm>
            <a:prstGeom prst="notchedRightArrow">
              <a:avLst/>
            </a:prstGeom>
            <a:gradFill>
              <a:gsLst>
                <a:gs pos="100000">
                  <a:srgbClr val="C00000"/>
                </a:gs>
                <a:gs pos="5000">
                  <a:srgbClr val="C00000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76" name="文本框 175"/>
            <p:cNvSpPr txBox="1"/>
            <p:nvPr/>
          </p:nvSpPr>
          <p:spPr>
            <a:xfrm>
              <a:off x="1081950" y="1195388"/>
              <a:ext cx="5273219" cy="3213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lnSpc>
                  <a:spcPts val="2000"/>
                </a:lnSpc>
                <a:defRPr/>
              </a:pPr>
              <a:r>
                <a:rPr lang="zh-CN" altLang="en-US" sz="1200" b="1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研究方案四：</a:t>
              </a:r>
              <a:r>
                <a:rPr lang="zh-CN" altLang="en-US" sz="1200" b="1" dirty="0">
                  <a:solidFill>
                    <a:prstClr val="black"/>
                  </a:solidFill>
                  <a:latin typeface="微软雅黑" panose="020B0503020204020204" charset="-122"/>
                  <a:ea typeface="微软雅黑" panose="020B0503020204020204" charset="-122"/>
                </a:rPr>
                <a:t>海杂波场景电磁频谱数据智能处理原型系统验证</a:t>
              </a:r>
              <a:endPara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grpSp>
          <p:nvGrpSpPr>
            <p:cNvPr id="181" name="组合 180"/>
            <p:cNvGrpSpPr/>
            <p:nvPr/>
          </p:nvGrpSpPr>
          <p:grpSpPr>
            <a:xfrm>
              <a:off x="1095838" y="1569720"/>
              <a:ext cx="5504180" cy="443230"/>
              <a:chOff x="3376" y="2710"/>
              <a:chExt cx="9442" cy="984"/>
            </a:xfrm>
          </p:grpSpPr>
          <p:sp>
            <p:nvSpPr>
              <p:cNvPr id="177" name="矩形: 圆角 7"/>
              <p:cNvSpPr/>
              <p:nvPr/>
            </p:nvSpPr>
            <p:spPr>
              <a:xfrm>
                <a:off x="5772" y="2712"/>
                <a:ext cx="2255" cy="983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C00000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charset="-122"/>
                    <a:ea typeface="微软雅黑" panose="020B0503020204020204" charset="-122"/>
                    <a:cs typeface="+mn-cs"/>
                  </a:rPr>
                  <a:t>多径显著</a:t>
                </a:r>
              </a:p>
            </p:txBody>
          </p:sp>
          <p:sp>
            <p:nvSpPr>
              <p:cNvPr id="178" name="矩形: 圆角 7"/>
              <p:cNvSpPr/>
              <p:nvPr/>
            </p:nvSpPr>
            <p:spPr>
              <a:xfrm>
                <a:off x="3376" y="2712"/>
                <a:ext cx="2255" cy="983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C00000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dirty="0">
                    <a:solidFill>
                      <a:prstClr val="black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近岸远海</a:t>
                </a:r>
                <a:endParaRPr kumimoji="0" lang="zh-CN" alt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79" name="矩形: 圆角 7"/>
              <p:cNvSpPr/>
              <p:nvPr/>
            </p:nvSpPr>
            <p:spPr>
              <a:xfrm>
                <a:off x="8168" y="2710"/>
                <a:ext cx="2255" cy="983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C00000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海况高低</a:t>
                </a:r>
              </a:p>
            </p:txBody>
          </p:sp>
          <p:sp>
            <p:nvSpPr>
              <p:cNvPr id="180" name="矩形: 圆角 7"/>
              <p:cNvSpPr/>
              <p:nvPr/>
            </p:nvSpPr>
            <p:spPr>
              <a:xfrm>
                <a:off x="10564" y="2710"/>
                <a:ext cx="2255" cy="983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C00000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......</a:t>
                </a:r>
              </a:p>
            </p:txBody>
          </p:sp>
        </p:grp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CACD971-C388-1C06-DB37-3BD8643D812B}"/>
                </a:ext>
              </a:extLst>
            </p:cNvPr>
            <p:cNvSpPr/>
            <p:nvPr/>
          </p:nvSpPr>
          <p:spPr>
            <a:xfrm>
              <a:off x="6707505" y="1173891"/>
              <a:ext cx="316865" cy="10536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应用场景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261C097-C6A9-2B56-BFED-94A9E74C7602}"/>
                </a:ext>
              </a:extLst>
            </p:cNvPr>
            <p:cNvSpPr/>
            <p:nvPr/>
          </p:nvSpPr>
          <p:spPr>
            <a:xfrm>
              <a:off x="535305" y="1178010"/>
              <a:ext cx="316865" cy="10536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</a:rPr>
                <a:t>怎么验证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322</Words>
  <Application>Microsoft Office PowerPoint</Application>
  <PresentationFormat>自定义</PresentationFormat>
  <Paragraphs>70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微软雅黑</vt:lpstr>
      <vt:lpstr>Arial</vt:lpstr>
      <vt:lpstr>Calibri</vt:lpstr>
      <vt:lpstr>Wingdings</vt:lpstr>
      <vt:lpstr>WPS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yellowStar</dc:creator>
  <cp:lastModifiedBy>Xin Huang</cp:lastModifiedBy>
  <cp:revision>195</cp:revision>
  <cp:lastPrinted>2026-06-15T10:07:29Z</cp:lastPrinted>
  <dcterms:created xsi:type="dcterms:W3CDTF">2019-06-19T02:08:00Z</dcterms:created>
  <dcterms:modified xsi:type="dcterms:W3CDTF">2026-06-15T10:14:05Z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6CB6136405B14EEB9471DA5CC5350EE5_11</vt:lpwstr>
  </property>
</Properties>
</file>