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0691495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6686" y="1143000"/>
            <a:ext cx="4364627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C09DD-7C30-4FC4-9505-83126A293F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900" y="1237294"/>
            <a:ext cx="9088200" cy="2632092"/>
          </a:xfrm>
        </p:spPr>
        <p:txBody>
          <a:bodyPr anchor="b"/>
          <a:lstStyle>
            <a:lvl1pPr algn="ctr">
              <a:buNone/>
              <a:defRPr sz="661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500" y="3970890"/>
            <a:ext cx="8019000" cy="1825313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555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0"/>
            </a:lvl4pPr>
            <a:lvl5pPr marL="2016125" indent="0" algn="ctr">
              <a:buNone/>
              <a:defRPr sz="1760"/>
            </a:lvl5pPr>
            <a:lvl6pPr marL="2519680" indent="0" algn="ctr">
              <a:buNone/>
              <a:defRPr sz="1760"/>
            </a:lvl6pPr>
            <a:lvl7pPr marL="3023870" indent="0" algn="ctr">
              <a:buNone/>
              <a:defRPr sz="1760"/>
            </a:lvl7pPr>
            <a:lvl8pPr marL="3528060" indent="0" algn="ctr">
              <a:buNone/>
              <a:defRPr sz="1760"/>
            </a:lvl8pPr>
            <a:lvl9pPr marL="4032250" indent="0" algn="ctr">
              <a:buNone/>
              <a:defRPr sz="176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507" y="1884818"/>
            <a:ext cx="9221850" cy="3144860"/>
          </a:xfrm>
        </p:spPr>
        <p:txBody>
          <a:bodyPr anchor="b"/>
          <a:lstStyle>
            <a:lvl1pPr>
              <a:buNone/>
              <a:defRPr sz="661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507" y="5059430"/>
            <a:ext cx="9221850" cy="1653807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/>
                </a:solidFill>
              </a:defRPr>
            </a:lvl1pPr>
            <a:lvl2pPr marL="50355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075" y="2012571"/>
            <a:ext cx="4544100" cy="4796919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412825" y="2012571"/>
            <a:ext cx="4544100" cy="4796919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402516"/>
            <a:ext cx="9221850" cy="1461301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68" y="1853316"/>
            <a:ext cx="4523217" cy="908281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19680" indent="0">
              <a:buNone/>
              <a:defRPr sz="1760" b="1"/>
            </a:lvl6pPr>
            <a:lvl7pPr marL="3023870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736468" y="2761597"/>
            <a:ext cx="4523217" cy="406189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5412826" y="1853316"/>
            <a:ext cx="4545493" cy="908281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19680" indent="0">
              <a:buNone/>
              <a:defRPr sz="1760" b="1"/>
            </a:lvl6pPr>
            <a:lvl7pPr marL="3023870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5412826" y="2761597"/>
            <a:ext cx="4545493" cy="406189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504018"/>
            <a:ext cx="3448448" cy="1764062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93" y="1088540"/>
            <a:ext cx="5412825" cy="5372688"/>
          </a:xfrm>
        </p:spPr>
        <p:txBody>
          <a:bodyPr/>
          <a:lstStyle>
            <a:lvl1pPr>
              <a:buNone/>
              <a:defRPr sz="3530"/>
            </a:lvl1pPr>
            <a:lvl2pPr>
              <a:buNone/>
              <a:defRPr sz="3085"/>
            </a:lvl2pPr>
            <a:lvl3pPr>
              <a:buNone/>
              <a:defRPr sz="2645"/>
            </a:lvl3pPr>
            <a:lvl4pPr>
              <a:buNone/>
              <a:defRPr sz="2205"/>
            </a:lvl4pPr>
            <a:lvl5pPr>
              <a:buNone/>
              <a:defRPr sz="2205"/>
            </a:lvl5pPr>
            <a:lvl6pPr>
              <a:buNone/>
              <a:defRPr sz="2205"/>
            </a:lvl6pPr>
            <a:lvl7pPr>
              <a:buNone/>
              <a:defRPr sz="2205"/>
            </a:lvl7pPr>
            <a:lvl8pPr>
              <a:buNone/>
              <a:defRPr sz="2205"/>
            </a:lvl8pPr>
            <a:lvl9pPr>
              <a:buNone/>
              <a:defRPr sz="220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36468" y="2268080"/>
            <a:ext cx="3448448" cy="4201898"/>
          </a:xfrm>
        </p:spPr>
        <p:txBody>
          <a:bodyPr/>
          <a:lstStyle>
            <a:lvl1pPr marL="0" indent="0">
              <a:buNone/>
              <a:defRPr sz="1760"/>
            </a:lvl1pPr>
            <a:lvl2pPr marL="503555" indent="0">
              <a:buNone/>
              <a:defRPr sz="1540"/>
            </a:lvl2pPr>
            <a:lvl3pPr marL="1007745" indent="0">
              <a:buNone/>
              <a:defRPr sz="1320"/>
            </a:lvl3pPr>
            <a:lvl4pPr marL="1511935" indent="0">
              <a:buNone/>
              <a:defRPr sz="1105"/>
            </a:lvl4pPr>
            <a:lvl5pPr marL="2016125" indent="0">
              <a:buNone/>
              <a:defRPr sz="1105"/>
            </a:lvl5pPr>
            <a:lvl6pPr marL="2519680" indent="0">
              <a:buNone/>
              <a:defRPr sz="1105"/>
            </a:lvl6pPr>
            <a:lvl7pPr marL="3023870" indent="0">
              <a:buNone/>
              <a:defRPr sz="1105"/>
            </a:lvl7pPr>
            <a:lvl8pPr marL="3528060" indent="0">
              <a:buNone/>
              <a:defRPr sz="1105"/>
            </a:lvl8pPr>
            <a:lvl9pPr marL="4032250" indent="0">
              <a:buNone/>
              <a:defRPr sz="1105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68" y="504018"/>
            <a:ext cx="3448448" cy="1764062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45493" y="1088540"/>
            <a:ext cx="5412825" cy="5372688"/>
          </a:xfrm>
        </p:spPr>
        <p:txBody>
          <a:bodyPr anchor="t"/>
          <a:lstStyle>
            <a:lvl1pPr marL="0" indent="0">
              <a:buNone/>
              <a:defRPr sz="3530"/>
            </a:lvl1pPr>
            <a:lvl2pPr marL="503555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19680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36468" y="2268080"/>
            <a:ext cx="3448448" cy="4201898"/>
          </a:xfrm>
        </p:spPr>
        <p:txBody>
          <a:bodyPr/>
          <a:lstStyle>
            <a:lvl1pPr marL="0" indent="0">
              <a:buNone/>
              <a:defRPr sz="1760"/>
            </a:lvl1pPr>
            <a:lvl2pPr marL="503555" indent="0">
              <a:buNone/>
              <a:defRPr sz="1540"/>
            </a:lvl2pPr>
            <a:lvl3pPr marL="1007745" indent="0">
              <a:buNone/>
              <a:defRPr sz="1320"/>
            </a:lvl3pPr>
            <a:lvl4pPr marL="1511935" indent="0">
              <a:buNone/>
              <a:defRPr sz="1105"/>
            </a:lvl4pPr>
            <a:lvl5pPr marL="2016125" indent="0">
              <a:buNone/>
              <a:defRPr sz="1105"/>
            </a:lvl5pPr>
            <a:lvl6pPr marL="2519680" indent="0">
              <a:buNone/>
              <a:defRPr sz="1105"/>
            </a:lvl6pPr>
            <a:lvl7pPr marL="3023870" indent="0">
              <a:buNone/>
              <a:defRPr sz="1105"/>
            </a:lvl7pPr>
            <a:lvl8pPr marL="3528060" indent="0">
              <a:buNone/>
              <a:defRPr sz="1105"/>
            </a:lvl8pPr>
            <a:lvl9pPr marL="4032250" indent="0">
              <a:buNone/>
              <a:defRPr sz="1105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7651463" y="402514"/>
            <a:ext cx="2305462" cy="640697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35076" y="402514"/>
            <a:ext cx="6782737" cy="6406975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75" y="402516"/>
            <a:ext cx="9221850" cy="14613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75" y="2012571"/>
            <a:ext cx="9221850" cy="479691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735075" y="7007247"/>
            <a:ext cx="2405700" cy="40251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541725" y="7007247"/>
            <a:ext cx="3608550" cy="40251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7551225" y="7007247"/>
            <a:ext cx="2405700" cy="40251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8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2095" indent="-252095" algn="l">
        <a:lnSpc>
          <a:spcPct val="90000"/>
        </a:lnSpc>
        <a:spcBef>
          <a:spcPts val="0"/>
        </a:spcBef>
        <a:buChar char="•"/>
        <a:defRPr sz="3085">
          <a:solidFill>
            <a:schemeClr val="tx1"/>
          </a:solidFill>
          <a:latin typeface="+mn-lt"/>
          <a:ea typeface="+mn-lt"/>
          <a:cs typeface="+mn-lt"/>
        </a:defRPr>
      </a:lvl1pPr>
      <a:lvl2pPr marL="756285" indent="-252095" algn="l">
        <a:lnSpc>
          <a:spcPct val="90000"/>
        </a:lnSpc>
        <a:spcBef>
          <a:spcPts val="550"/>
        </a:spcBef>
        <a:buChar char="•"/>
        <a:defRPr sz="2645">
          <a:solidFill>
            <a:schemeClr val="tx1"/>
          </a:solidFill>
          <a:latin typeface="+mn-lt"/>
          <a:ea typeface="+mn-lt"/>
          <a:cs typeface="+mn-lt"/>
        </a:defRPr>
      </a:lvl2pPr>
      <a:lvl3pPr marL="1259840" indent="-252095" algn="l">
        <a:lnSpc>
          <a:spcPct val="90000"/>
        </a:lnSpc>
        <a:spcBef>
          <a:spcPts val="550"/>
        </a:spcBef>
        <a:buChar char="•"/>
        <a:defRPr sz="2205">
          <a:solidFill>
            <a:schemeClr val="tx1"/>
          </a:solidFill>
          <a:latin typeface="+mn-lt"/>
          <a:ea typeface="+mn-lt"/>
          <a:cs typeface="+mn-lt"/>
        </a:defRPr>
      </a:lvl3pPr>
      <a:lvl4pPr marL="176403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26822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7724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27596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78015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2837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1pPr>
      <a:lvl2pPr marL="50355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marL="100774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3pPr>
      <a:lvl4pPr marL="151193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01612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51968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02387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52806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03225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362075" y="2256790"/>
            <a:ext cx="8764270" cy="1506855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: 圆角 8"/>
          <p:cNvSpPr/>
          <p:nvPr/>
        </p:nvSpPr>
        <p:spPr>
          <a:xfrm flipH="1">
            <a:off x="1556385" y="2338705"/>
            <a:ext cx="8368030" cy="134874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93" name="圆角矩形 692"/>
          <p:cNvSpPr/>
          <p:nvPr/>
        </p:nvSpPr>
        <p:spPr>
          <a:xfrm rot="16200000">
            <a:off x="1911985" y="-1241107"/>
            <a:ext cx="6867525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8" name="圆角矩形 7"/>
          <p:cNvSpPr/>
          <p:nvPr/>
        </p:nvSpPr>
        <p:spPr>
          <a:xfrm>
            <a:off x="1362075" y="3856355"/>
            <a:ext cx="8764905" cy="242506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93"/>
          <p:cNvSpPr/>
          <p:nvPr/>
        </p:nvSpPr>
        <p:spPr>
          <a:xfrm>
            <a:off x="565150" y="2248535"/>
            <a:ext cx="796925" cy="1527175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检测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93"/>
          <p:cNvSpPr/>
          <p:nvPr/>
        </p:nvSpPr>
        <p:spPr>
          <a:xfrm>
            <a:off x="565150" y="3855085"/>
            <a:ext cx="796925" cy="242824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现状与挑战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: 圆角 93"/>
          <p:cNvSpPr/>
          <p:nvPr/>
        </p:nvSpPr>
        <p:spPr>
          <a:xfrm>
            <a:off x="565150" y="6353175"/>
            <a:ext cx="796925" cy="692150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内容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93"/>
          <p:cNvSpPr/>
          <p:nvPr/>
        </p:nvSpPr>
        <p:spPr>
          <a:xfrm>
            <a:off x="565150" y="485775"/>
            <a:ext cx="796925" cy="168910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战略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362075" y="485775"/>
            <a:ext cx="8764905" cy="16878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362075" y="6353175"/>
            <a:ext cx="8764270" cy="685165"/>
          </a:xfrm>
          <a:prstGeom prst="roundRect">
            <a:avLst>
              <a:gd name="adj" fmla="val 0"/>
            </a:avLst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: 圆角 8"/>
          <p:cNvSpPr/>
          <p:nvPr/>
        </p:nvSpPr>
        <p:spPr>
          <a:xfrm flipH="1">
            <a:off x="1556385" y="595630"/>
            <a:ext cx="3448685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2" name="矩形: 圆角 8"/>
          <p:cNvSpPr/>
          <p:nvPr/>
        </p:nvSpPr>
        <p:spPr>
          <a:xfrm flipH="1">
            <a:off x="5199380" y="595630"/>
            <a:ext cx="4724400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3" name="文本框 22"/>
          <p:cNvSpPr txBox="1"/>
          <p:nvPr/>
        </p:nvSpPr>
        <p:spPr>
          <a:xfrm>
            <a:off x="1958658" y="654050"/>
            <a:ext cx="264414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国际竞争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Picture 1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1007745"/>
            <a:ext cx="924560" cy="93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组合 28"/>
          <p:cNvGrpSpPr/>
          <p:nvPr/>
        </p:nvGrpSpPr>
        <p:grpSpPr>
          <a:xfrm>
            <a:off x="2997835" y="1070610"/>
            <a:ext cx="892810" cy="883920"/>
            <a:chOff x="4678" y="1671"/>
            <a:chExt cx="2080" cy="1795"/>
          </a:xfrm>
        </p:grpSpPr>
        <p:pic>
          <p:nvPicPr>
            <p:cNvPr id="27" name="Picture 2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1" y="1756"/>
              <a:ext cx="1711" cy="1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椭圆 27"/>
            <p:cNvSpPr/>
            <p:nvPr/>
          </p:nvSpPr>
          <p:spPr>
            <a:xfrm>
              <a:off x="4678" y="1671"/>
              <a:ext cx="2080" cy="1711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0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t="2278" r="16380" b="26414"/>
          <a:stretch>
            <a:fillRect/>
          </a:stretch>
        </p:blipFill>
        <p:spPr>
          <a:xfrm>
            <a:off x="5346065" y="967105"/>
            <a:ext cx="2736850" cy="1054100"/>
          </a:xfrm>
          <a:prstGeom prst="rect">
            <a:avLst/>
          </a:prstGeom>
        </p:spPr>
      </p:pic>
      <p:pic>
        <p:nvPicPr>
          <p:cNvPr id="33" name="Picture 34" descr="Papyrus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85" y="967105"/>
            <a:ext cx="1567180" cy="102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本框 33"/>
          <p:cNvSpPr txBox="1"/>
          <p:nvPr/>
        </p:nvSpPr>
        <p:spPr>
          <a:xfrm>
            <a:off x="5514975" y="1804035"/>
            <a:ext cx="5549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2021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250940" y="1658620"/>
            <a:ext cx="544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39280" y="1386840"/>
            <a:ext cx="5619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501255" y="1094740"/>
            <a:ext cx="506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303520" y="1374140"/>
            <a:ext cx="67945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十四五</a:t>
            </a:r>
            <a:endParaRPr lang="en-US" altLang="zh-CN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984875" y="1210310"/>
            <a:ext cx="95948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海洋科技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075805" y="1684020"/>
            <a:ext cx="90170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r>
              <a:rPr lang="en-US" altLang="zh-CN" sz="1165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729220" y="1304290"/>
            <a:ext cx="70294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十五五</a:t>
            </a:r>
            <a:endParaRPr lang="en-US" altLang="zh-CN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528050" y="1007745"/>
            <a:ext cx="1026160" cy="892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复杂海域态势感知与无人化执法需求提升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50685" y="654050"/>
            <a:ext cx="162179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国家政策演进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1739265" y="1131570"/>
            <a:ext cx="1184910" cy="776605"/>
            <a:chOff x="2739" y="1707"/>
            <a:chExt cx="1755" cy="1150"/>
          </a:xfrm>
        </p:grpSpPr>
        <p:pic>
          <p:nvPicPr>
            <p:cNvPr id="26" name="Picture 22" descr="Japan flag map contour vector ...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0" y="2043"/>
              <a:ext cx="814" cy="8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9" y="1707"/>
              <a:ext cx="1344" cy="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文本框 60"/>
          <p:cNvSpPr txBox="1"/>
          <p:nvPr/>
        </p:nvSpPr>
        <p:spPr>
          <a:xfrm>
            <a:off x="1739265" y="3361055"/>
            <a:ext cx="1443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非法作业船艇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261995" y="3361055"/>
            <a:ext cx="15836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异常无人艇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924425" y="3361055"/>
            <a:ext cx="15843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75" b="1">
                <a:solidFill>
                  <a:srgbClr val="173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水下生物</a:t>
            </a:r>
            <a:r>
              <a:rPr 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传感器</a:t>
            </a:r>
            <a:endParaRPr lang="zh-CN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587490" y="3361055"/>
            <a:ext cx="1582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潜航器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248650" y="3361055"/>
            <a:ext cx="15843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探测浮标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1556385" y="3944620"/>
            <a:ext cx="8368030" cy="2239010"/>
            <a:chOff x="2451" y="6192"/>
            <a:chExt cx="9683" cy="3526"/>
          </a:xfrm>
        </p:grpSpPr>
        <p:sp>
          <p:nvSpPr>
            <p:cNvPr id="82" name="矩形: 圆角 8"/>
            <p:cNvSpPr/>
            <p:nvPr/>
          </p:nvSpPr>
          <p:spPr>
            <a:xfrm flipH="1">
              <a:off x="2451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3" name="矩形: 圆角 8"/>
            <p:cNvSpPr/>
            <p:nvPr/>
          </p:nvSpPr>
          <p:spPr>
            <a:xfrm flipH="1">
              <a:off x="4922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4" name="矩形: 圆角 8"/>
            <p:cNvSpPr/>
            <p:nvPr/>
          </p:nvSpPr>
          <p:spPr>
            <a:xfrm flipH="1">
              <a:off x="7393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85" name="矩形: 圆角 8"/>
            <p:cNvSpPr/>
            <p:nvPr/>
          </p:nvSpPr>
          <p:spPr>
            <a:xfrm flipH="1">
              <a:off x="9864" y="6192"/>
              <a:ext cx="2270" cy="3527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2E54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1680210" y="3985260"/>
            <a:ext cx="171513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强海杂波</a:t>
            </a:r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干扰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668780" y="4793615"/>
            <a:ext cx="17119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</a:rPr>
              <a:t>微弱电磁信号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10" y="5061585"/>
            <a:ext cx="1677670" cy="1068070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2094230" y="5676900"/>
            <a:ext cx="864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看不清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提不准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740785" y="3985260"/>
            <a:ext cx="185229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端侧资源受限</a:t>
            </a:r>
            <a:endParaRPr kumimoji="1" lang="en-US" altLang="zh-CN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86810" y="5897245"/>
            <a:ext cx="19735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存不下、查不快、</a:t>
            </a:r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信不住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958590" y="4266565"/>
            <a:ext cx="13874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charset="-122"/>
                <a:ea typeface="微软雅黑" panose="020B0503020204020204" charset="-122"/>
              </a:rPr>
              <a:t>算力/存储/链路不足</a:t>
            </a:r>
            <a:endParaRPr lang="zh-CN" altLang="en-US" sz="1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727700" y="3985260"/>
            <a:ext cx="228028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频谱知识难演化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5867400" y="5903595"/>
            <a:ext cx="1924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认知不连续、决策不稳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8082915" y="3985260"/>
            <a:ext cx="172847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协同可信决策难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9" r="15294" b="4412"/>
          <a:stretch>
            <a:fillRect/>
          </a:stretch>
        </p:blipFill>
        <p:spPr>
          <a:xfrm>
            <a:off x="8371840" y="4266565"/>
            <a:ext cx="1266825" cy="1661160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7985125" y="5903595"/>
            <a:ext cx="19240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判不准、难互信</a:t>
            </a:r>
            <a:endParaRPr lang="zh-CN" altLang="en-US" sz="1000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矩形: 圆角 8"/>
          <p:cNvSpPr/>
          <p:nvPr/>
        </p:nvSpPr>
        <p:spPr>
          <a:xfrm flipH="1">
            <a:off x="1556385" y="6414770"/>
            <a:ext cx="1961515" cy="575945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海杂波干扰下微弱电磁频谱信号传播规律与微弱信号提取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7" name="矩形: 圆角 8"/>
          <p:cNvSpPr/>
          <p:nvPr/>
        </p:nvSpPr>
        <p:spPr>
          <a:xfrm flipH="1">
            <a:off x="369887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矩形: 圆角 8"/>
          <p:cNvSpPr/>
          <p:nvPr/>
        </p:nvSpPr>
        <p:spPr>
          <a:xfrm flipH="1">
            <a:off x="582739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面向海域自主侦测任务的边缘频谱智能处理方法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矩形: 圆角 8"/>
          <p:cNvSpPr/>
          <p:nvPr/>
        </p:nvSpPr>
        <p:spPr>
          <a:xfrm flipH="1">
            <a:off x="7962265" y="6453505"/>
            <a:ext cx="1961515" cy="492760"/>
          </a:xfrm>
          <a:prstGeom prst="roundRect">
            <a:avLst>
              <a:gd name="adj" fmla="val 15850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海杂波场景电磁频谱数据智能处理原型系统验证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576320" y="6478905"/>
            <a:ext cx="2151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 spc="-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有限算力端侧频谱数据的轻量存储管理方法</a:t>
            </a:r>
            <a:endParaRPr lang="zh-CN" altLang="en-US" sz="1200" b="1" spc="-50" dirty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 descr="ChatGPT Image 2026年6月15日 11_31_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8780" y="2470150"/>
            <a:ext cx="1582420" cy="890905"/>
          </a:xfrm>
          <a:prstGeom prst="rect">
            <a:avLst/>
          </a:prstGeom>
        </p:spPr>
      </p:pic>
      <p:pic>
        <p:nvPicPr>
          <p:cNvPr id="6" name="图片 5" descr="ChatGPT Image 2026年6月15日 11_34_28"/>
          <p:cNvPicPr/>
          <p:nvPr/>
        </p:nvPicPr>
        <p:blipFill>
          <a:blip r:embed="rId10"/>
          <a:stretch>
            <a:fillRect/>
          </a:stretch>
        </p:blipFill>
        <p:spPr>
          <a:xfrm>
            <a:off x="3312795" y="2470150"/>
            <a:ext cx="1583690" cy="889200"/>
          </a:xfrm>
          <a:prstGeom prst="rect">
            <a:avLst/>
          </a:prstGeom>
        </p:spPr>
      </p:pic>
      <p:pic>
        <p:nvPicPr>
          <p:cNvPr id="9" name="图片 8" descr="ChatGPT Image 2026年6月15日 11_43_46"/>
          <p:cNvPicPr/>
          <p:nvPr/>
        </p:nvPicPr>
        <p:blipFill>
          <a:blip r:embed="rId11"/>
          <a:stretch>
            <a:fillRect/>
          </a:stretch>
        </p:blipFill>
        <p:spPr>
          <a:xfrm>
            <a:off x="8248650" y="2470150"/>
            <a:ext cx="1583690" cy="889200"/>
          </a:xfrm>
          <a:prstGeom prst="rect">
            <a:avLst/>
          </a:prstGeom>
        </p:spPr>
      </p:pic>
      <p:pic>
        <p:nvPicPr>
          <p:cNvPr id="10" name="图片 9" descr="ChatGPT Image 2026年6月15日 11_37_57"/>
          <p:cNvPicPr/>
          <p:nvPr/>
        </p:nvPicPr>
        <p:blipFill>
          <a:blip r:embed="rId12"/>
          <a:stretch>
            <a:fillRect/>
          </a:stretch>
        </p:blipFill>
        <p:spPr>
          <a:xfrm>
            <a:off x="6603365" y="2470150"/>
            <a:ext cx="1583690" cy="889200"/>
          </a:xfrm>
          <a:prstGeom prst="rect">
            <a:avLst/>
          </a:prstGeom>
        </p:spPr>
      </p:pic>
      <p:pic>
        <p:nvPicPr>
          <p:cNvPr id="15" name="图片 14" descr="ChatGPT Image 2026年6月15日 11_52_56"/>
          <p:cNvPicPr/>
          <p:nvPr/>
        </p:nvPicPr>
        <p:blipFill>
          <a:blip r:embed="rId13"/>
          <a:stretch>
            <a:fillRect/>
          </a:stretch>
        </p:blipFill>
        <p:spPr>
          <a:xfrm>
            <a:off x="4958080" y="2470150"/>
            <a:ext cx="1583690" cy="889200"/>
          </a:xfrm>
          <a:prstGeom prst="rect">
            <a:avLst/>
          </a:prstGeom>
        </p:spPr>
      </p:pic>
      <p:pic>
        <p:nvPicPr>
          <p:cNvPr id="30" name="图片 29" descr="ChatGPT Image 2026年6月15日 14_22_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7225" y="4196080"/>
            <a:ext cx="1195070" cy="597535"/>
          </a:xfrm>
          <a:prstGeom prst="rect">
            <a:avLst/>
          </a:prstGeom>
        </p:spPr>
      </p:pic>
      <p:pic>
        <p:nvPicPr>
          <p:cNvPr id="37" name="图片 36" descr="ChatGPT Image 2026年6月15日 14_27_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58285" y="4383405"/>
            <a:ext cx="1287780" cy="1609725"/>
          </a:xfrm>
          <a:prstGeom prst="rect">
            <a:avLst/>
          </a:prstGeom>
        </p:spPr>
      </p:pic>
      <p:pic>
        <p:nvPicPr>
          <p:cNvPr id="38" name="图片 37" descr="ChatGPT Image 2026年6月15日 14_38_0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4875" y="3985260"/>
            <a:ext cx="1678940" cy="2098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WPS 演示</Application>
  <PresentationFormat>Converted Presentation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等线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HongShilong</cp:lastModifiedBy>
  <cp:revision>15</cp:revision>
  <dcterms:created xsi:type="dcterms:W3CDTF">2026-06-15T03:25:40Z</dcterms:created>
  <dcterms:modified xsi:type="dcterms:W3CDTF">2026-06-15T06:38:58Z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2BB0BFC738B94753AADBFD5470520EBB_13</vt:lpwstr>
  </property>
</Properties>
</file>