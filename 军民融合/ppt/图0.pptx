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</p:sldIdLst>
  <p:sldSz cx="10691495" cy="7559675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246686" y="1143000"/>
            <a:ext cx="4364627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C09DD-7C30-4FC4-9505-83126A293F1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900" y="1237294"/>
            <a:ext cx="9088200" cy="2632092"/>
          </a:xfrm>
        </p:spPr>
        <p:txBody>
          <a:bodyPr anchor="b"/>
          <a:lstStyle>
            <a:lvl1pPr algn="ctr">
              <a:buNone/>
              <a:defRPr sz="661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500" y="3970890"/>
            <a:ext cx="8019000" cy="1825313"/>
          </a:xfrm>
        </p:spPr>
        <p:txBody>
          <a:bodyPr/>
          <a:lstStyle>
            <a:lvl1pPr marL="0" indent="0" algn="ctr">
              <a:buNone/>
              <a:defRPr sz="2645"/>
            </a:lvl1pPr>
            <a:lvl2pPr marL="503555" indent="0" algn="ctr">
              <a:buNone/>
              <a:defRPr sz="2205"/>
            </a:lvl2pPr>
            <a:lvl3pPr marL="1007745" indent="0" algn="ctr">
              <a:buNone/>
              <a:defRPr sz="1985"/>
            </a:lvl3pPr>
            <a:lvl4pPr marL="1511935" indent="0" algn="ctr">
              <a:buNone/>
              <a:defRPr sz="1760"/>
            </a:lvl4pPr>
            <a:lvl5pPr marL="2016125" indent="0" algn="ctr">
              <a:buNone/>
              <a:defRPr sz="1760"/>
            </a:lvl5pPr>
            <a:lvl6pPr marL="2519680" indent="0" algn="ctr">
              <a:buNone/>
              <a:defRPr sz="1760"/>
            </a:lvl6pPr>
            <a:lvl7pPr marL="3023870" indent="0" algn="ctr">
              <a:buNone/>
              <a:defRPr sz="1760"/>
            </a:lvl7pPr>
            <a:lvl8pPr marL="3528060" indent="0" algn="ctr">
              <a:buNone/>
              <a:defRPr sz="1760"/>
            </a:lvl8pPr>
            <a:lvl9pPr marL="4032250" indent="0" algn="ctr">
              <a:buNone/>
              <a:defRPr sz="1760"/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507" y="1884818"/>
            <a:ext cx="9221850" cy="3144860"/>
          </a:xfrm>
        </p:spPr>
        <p:txBody>
          <a:bodyPr anchor="b"/>
          <a:lstStyle>
            <a:lvl1pPr>
              <a:buNone/>
              <a:defRPr sz="661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507" y="5059430"/>
            <a:ext cx="9221850" cy="1653807"/>
          </a:xfrm>
        </p:spPr>
        <p:txBody>
          <a:bodyPr/>
          <a:lstStyle>
            <a:lvl1pPr marL="0" indent="0">
              <a:buNone/>
              <a:defRPr sz="2645">
                <a:solidFill>
                  <a:schemeClr val="tx1"/>
                </a:solidFill>
              </a:defRPr>
            </a:lvl1pPr>
            <a:lvl2pPr marL="503555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745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193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612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9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2387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80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3225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5075" y="2012571"/>
            <a:ext cx="4544100" cy="4796919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>
          <a:xfrm>
            <a:off x="5412825" y="2012571"/>
            <a:ext cx="4544100" cy="4796919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68" y="402516"/>
            <a:ext cx="9221850" cy="1461301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68" y="1853316"/>
            <a:ext cx="4523217" cy="908281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3555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0" b="1"/>
            </a:lvl4pPr>
            <a:lvl5pPr marL="2016125" indent="0">
              <a:buNone/>
              <a:defRPr sz="1760" b="1"/>
            </a:lvl5pPr>
            <a:lvl6pPr marL="2519680" indent="0">
              <a:buNone/>
              <a:defRPr sz="1760" b="1"/>
            </a:lvl6pPr>
            <a:lvl7pPr marL="3023870" indent="0">
              <a:buNone/>
              <a:defRPr sz="1760" b="1"/>
            </a:lvl7pPr>
            <a:lvl8pPr marL="3528060" indent="0">
              <a:buNone/>
              <a:defRPr sz="1760" b="1"/>
            </a:lvl8pPr>
            <a:lvl9pPr marL="4032250" indent="0">
              <a:buNone/>
              <a:defRPr sz="176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>
          <a:xfrm>
            <a:off x="736468" y="2761597"/>
            <a:ext cx="4523217" cy="4061893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>
          <a:xfrm>
            <a:off x="5412826" y="1853316"/>
            <a:ext cx="4545493" cy="908281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3555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0" b="1"/>
            </a:lvl4pPr>
            <a:lvl5pPr marL="2016125" indent="0">
              <a:buNone/>
              <a:defRPr sz="1760" b="1"/>
            </a:lvl5pPr>
            <a:lvl6pPr marL="2519680" indent="0">
              <a:buNone/>
              <a:defRPr sz="1760" b="1"/>
            </a:lvl6pPr>
            <a:lvl7pPr marL="3023870" indent="0">
              <a:buNone/>
              <a:defRPr sz="1760" b="1"/>
            </a:lvl7pPr>
            <a:lvl8pPr marL="3528060" indent="0">
              <a:buNone/>
              <a:defRPr sz="1760" b="1"/>
            </a:lvl8pPr>
            <a:lvl9pPr marL="4032250" indent="0">
              <a:buNone/>
              <a:defRPr sz="176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/>
          </p:nvPr>
        </p:nvSpPr>
        <p:spPr>
          <a:xfrm>
            <a:off x="5412826" y="2761597"/>
            <a:ext cx="4545493" cy="4061893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Footer Placeholder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Footer 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Footer 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68" y="504018"/>
            <a:ext cx="3448448" cy="1764062"/>
          </a:xfrm>
        </p:spPr>
        <p:txBody>
          <a:bodyPr anchor="b"/>
          <a:lstStyle>
            <a:lvl1pPr>
              <a:buNone/>
              <a:defRPr sz="353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93" y="1088540"/>
            <a:ext cx="5412825" cy="5372688"/>
          </a:xfrm>
        </p:spPr>
        <p:txBody>
          <a:bodyPr/>
          <a:lstStyle>
            <a:lvl1pPr>
              <a:buNone/>
              <a:defRPr sz="3530"/>
            </a:lvl1pPr>
            <a:lvl2pPr>
              <a:buNone/>
              <a:defRPr sz="3085"/>
            </a:lvl2pPr>
            <a:lvl3pPr>
              <a:buNone/>
              <a:defRPr sz="2645"/>
            </a:lvl3pPr>
            <a:lvl4pPr>
              <a:buNone/>
              <a:defRPr sz="2205"/>
            </a:lvl4pPr>
            <a:lvl5pPr>
              <a:buNone/>
              <a:defRPr sz="2205"/>
            </a:lvl5pPr>
            <a:lvl6pPr>
              <a:buNone/>
              <a:defRPr sz="2205"/>
            </a:lvl6pPr>
            <a:lvl7pPr>
              <a:buNone/>
              <a:defRPr sz="2205"/>
            </a:lvl7pPr>
            <a:lvl8pPr>
              <a:buNone/>
              <a:defRPr sz="2205"/>
            </a:lvl8pPr>
            <a:lvl9pPr>
              <a:buNone/>
              <a:defRPr sz="2205"/>
            </a:lvl9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736468" y="2268080"/>
            <a:ext cx="3448448" cy="4201898"/>
          </a:xfrm>
        </p:spPr>
        <p:txBody>
          <a:bodyPr/>
          <a:lstStyle>
            <a:lvl1pPr marL="0" indent="0">
              <a:buNone/>
              <a:defRPr sz="1760"/>
            </a:lvl1pPr>
            <a:lvl2pPr marL="503555" indent="0">
              <a:buNone/>
              <a:defRPr sz="1540"/>
            </a:lvl2pPr>
            <a:lvl3pPr marL="1007745" indent="0">
              <a:buNone/>
              <a:defRPr sz="1320"/>
            </a:lvl3pPr>
            <a:lvl4pPr marL="1511935" indent="0">
              <a:buNone/>
              <a:defRPr sz="1105"/>
            </a:lvl4pPr>
            <a:lvl5pPr marL="2016125" indent="0">
              <a:buNone/>
              <a:defRPr sz="1105"/>
            </a:lvl5pPr>
            <a:lvl6pPr marL="2519680" indent="0">
              <a:buNone/>
              <a:defRPr sz="1105"/>
            </a:lvl6pPr>
            <a:lvl7pPr marL="3023870" indent="0">
              <a:buNone/>
              <a:defRPr sz="1105"/>
            </a:lvl7pPr>
            <a:lvl8pPr marL="3528060" indent="0">
              <a:buNone/>
              <a:defRPr sz="1105"/>
            </a:lvl8pPr>
            <a:lvl9pPr marL="4032250" indent="0">
              <a:buNone/>
              <a:defRPr sz="1105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68" y="504018"/>
            <a:ext cx="3448448" cy="1764062"/>
          </a:xfrm>
        </p:spPr>
        <p:txBody>
          <a:bodyPr anchor="b"/>
          <a:lstStyle>
            <a:lvl1pPr>
              <a:buNone/>
              <a:defRPr sz="353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45493" y="1088540"/>
            <a:ext cx="5412825" cy="5372688"/>
          </a:xfrm>
        </p:spPr>
        <p:txBody>
          <a:bodyPr anchor="t"/>
          <a:lstStyle>
            <a:lvl1pPr marL="0" indent="0">
              <a:buNone/>
              <a:defRPr sz="3530"/>
            </a:lvl1pPr>
            <a:lvl2pPr marL="503555" indent="0">
              <a:buNone/>
              <a:defRPr sz="3085"/>
            </a:lvl2pPr>
            <a:lvl3pPr marL="1007745" indent="0">
              <a:buNone/>
              <a:defRPr sz="2645"/>
            </a:lvl3pPr>
            <a:lvl4pPr marL="1511935" indent="0">
              <a:buNone/>
              <a:defRPr sz="2205"/>
            </a:lvl4pPr>
            <a:lvl5pPr marL="2016125" indent="0">
              <a:buNone/>
              <a:defRPr sz="2205"/>
            </a:lvl5pPr>
            <a:lvl6pPr marL="2519680" indent="0">
              <a:buNone/>
              <a:defRPr sz="2205"/>
            </a:lvl6pPr>
            <a:lvl7pPr marL="3023870" indent="0">
              <a:buNone/>
              <a:defRPr sz="2205"/>
            </a:lvl7pPr>
            <a:lvl8pPr marL="3528060" indent="0">
              <a:buNone/>
              <a:defRPr sz="2205"/>
            </a:lvl8pPr>
            <a:lvl9pPr marL="4032250" indent="0">
              <a:buNone/>
              <a:defRPr sz="2205"/>
            </a:lvl9pPr>
          </a:lstStyle>
          <a:p>
            <a:r>
              <a:t>单击图标添加图片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736468" y="2268080"/>
            <a:ext cx="3448448" cy="4201898"/>
          </a:xfrm>
        </p:spPr>
        <p:txBody>
          <a:bodyPr/>
          <a:lstStyle>
            <a:lvl1pPr marL="0" indent="0">
              <a:buNone/>
              <a:defRPr sz="1760"/>
            </a:lvl1pPr>
            <a:lvl2pPr marL="503555" indent="0">
              <a:buNone/>
              <a:defRPr sz="1540"/>
            </a:lvl2pPr>
            <a:lvl3pPr marL="1007745" indent="0">
              <a:buNone/>
              <a:defRPr sz="1320"/>
            </a:lvl3pPr>
            <a:lvl4pPr marL="1511935" indent="0">
              <a:buNone/>
              <a:defRPr sz="1105"/>
            </a:lvl4pPr>
            <a:lvl5pPr marL="2016125" indent="0">
              <a:buNone/>
              <a:defRPr sz="1105"/>
            </a:lvl5pPr>
            <a:lvl6pPr marL="2519680" indent="0">
              <a:buNone/>
              <a:defRPr sz="1105"/>
            </a:lvl6pPr>
            <a:lvl7pPr marL="3023870" indent="0">
              <a:buNone/>
              <a:defRPr sz="1105"/>
            </a:lvl7pPr>
            <a:lvl8pPr marL="3528060" indent="0">
              <a:buNone/>
              <a:defRPr sz="1105"/>
            </a:lvl8pPr>
            <a:lvl9pPr marL="4032250" indent="0">
              <a:buNone/>
              <a:defRPr sz="1105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/>
          </p:nvPr>
        </p:nvSpPr>
        <p:spPr>
          <a:xfrm>
            <a:off x="7651463" y="402514"/>
            <a:ext cx="2305462" cy="6406975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>
          <a:xfrm>
            <a:off x="735076" y="402514"/>
            <a:ext cx="6782737" cy="6406975"/>
          </a:xfrm>
        </p:spPr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75" y="402516"/>
            <a:ext cx="9221850" cy="1461301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75" y="2012571"/>
            <a:ext cx="9221850" cy="4796919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2"/>
          </p:nvPr>
        </p:nvSpPr>
        <p:spPr>
          <a:xfrm>
            <a:off x="735075" y="7007247"/>
            <a:ext cx="2405700" cy="402514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Footer Placeholder 4"/>
          <p:cNvSpPr>
            <a:spLocks noGrp="1"/>
          </p:cNvSpPr>
          <p:nvPr>
            <p:ph type="ftr" idx="3"/>
          </p:nvPr>
        </p:nvSpPr>
        <p:spPr>
          <a:xfrm>
            <a:off x="3541725" y="7007247"/>
            <a:ext cx="3608550" cy="402514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Slide Number Placeholder 5"/>
          <p:cNvSpPr>
            <a:spLocks noGrp="1"/>
          </p:cNvSpPr>
          <p:nvPr>
            <p:ph type="sldNum" idx="4"/>
          </p:nvPr>
        </p:nvSpPr>
        <p:spPr>
          <a:xfrm>
            <a:off x="7551225" y="7007247"/>
            <a:ext cx="2405700" cy="402514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85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52095" indent="-252095" algn="l">
        <a:lnSpc>
          <a:spcPct val="90000"/>
        </a:lnSpc>
        <a:spcBef>
          <a:spcPts val="0"/>
        </a:spcBef>
        <a:buChar char="•"/>
        <a:defRPr sz="3085">
          <a:solidFill>
            <a:schemeClr val="tx1"/>
          </a:solidFill>
          <a:latin typeface="+mn-lt"/>
          <a:ea typeface="+mn-lt"/>
          <a:cs typeface="+mn-lt"/>
        </a:defRPr>
      </a:lvl1pPr>
      <a:lvl2pPr marL="756285" indent="-252095" algn="l">
        <a:lnSpc>
          <a:spcPct val="90000"/>
        </a:lnSpc>
        <a:spcBef>
          <a:spcPts val="550"/>
        </a:spcBef>
        <a:buChar char="•"/>
        <a:defRPr sz="2645">
          <a:solidFill>
            <a:schemeClr val="tx1"/>
          </a:solidFill>
          <a:latin typeface="+mn-lt"/>
          <a:ea typeface="+mn-lt"/>
          <a:cs typeface="+mn-lt"/>
        </a:defRPr>
      </a:lvl2pPr>
      <a:lvl3pPr marL="1259840" indent="-252095" algn="l">
        <a:lnSpc>
          <a:spcPct val="90000"/>
        </a:lnSpc>
        <a:spcBef>
          <a:spcPts val="550"/>
        </a:spcBef>
        <a:buChar char="•"/>
        <a:defRPr sz="2205">
          <a:solidFill>
            <a:schemeClr val="tx1"/>
          </a:solidFill>
          <a:latin typeface="+mn-lt"/>
          <a:ea typeface="+mn-lt"/>
          <a:cs typeface="+mn-lt"/>
        </a:defRPr>
      </a:lvl3pPr>
      <a:lvl4pPr marL="176403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4pPr>
      <a:lvl5pPr marL="226822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5pPr>
      <a:lvl6pPr marL="277241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6pPr>
      <a:lvl7pPr marL="327596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7pPr>
      <a:lvl8pPr marL="378015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8pPr>
      <a:lvl9pPr marL="428371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1pPr>
      <a:lvl2pPr marL="50355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2pPr>
      <a:lvl3pPr marL="100774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3pPr>
      <a:lvl4pPr marL="151193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4pPr>
      <a:lvl5pPr marL="201612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5pPr>
      <a:lvl6pPr marL="251968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6pPr>
      <a:lvl7pPr marL="302387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7pPr>
      <a:lvl8pPr marL="352806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8pPr>
      <a:lvl9pPr marL="403225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jpe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8" Type="http://schemas.openxmlformats.org/officeDocument/2006/relationships/notesSlide" Target="../notesSlides/notesSlide1.xml"/><Relationship Id="rId17" Type="http://schemas.openxmlformats.org/officeDocument/2006/relationships/slideLayout" Target="../slideLayouts/slideLayout2.xml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1362075" y="2256790"/>
            <a:ext cx="8764270" cy="1506855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8" name="矩形: 圆角 8"/>
          <p:cNvSpPr/>
          <p:nvPr/>
        </p:nvSpPr>
        <p:spPr>
          <a:xfrm flipH="1">
            <a:off x="1556385" y="2338705"/>
            <a:ext cx="8368030" cy="1348740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693" name="圆角矩形 692"/>
          <p:cNvSpPr/>
          <p:nvPr/>
        </p:nvSpPr>
        <p:spPr>
          <a:xfrm rot="16200000">
            <a:off x="1911985" y="-1241107"/>
            <a:ext cx="6867525" cy="10041890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235"/>
          </a:p>
        </p:txBody>
      </p:sp>
      <p:sp>
        <p:nvSpPr>
          <p:cNvPr id="8" name="圆角矩形 7"/>
          <p:cNvSpPr/>
          <p:nvPr/>
        </p:nvSpPr>
        <p:spPr>
          <a:xfrm>
            <a:off x="1362075" y="3856355"/>
            <a:ext cx="8764905" cy="2425065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矩形: 圆角 93"/>
          <p:cNvSpPr/>
          <p:nvPr/>
        </p:nvSpPr>
        <p:spPr>
          <a:xfrm>
            <a:off x="565150" y="2248535"/>
            <a:ext cx="796925" cy="1527175"/>
          </a:xfrm>
          <a:prstGeom prst="roundRect">
            <a:avLst>
              <a:gd name="adj" fmla="val 0"/>
            </a:avLst>
          </a:prstGeom>
          <a:solidFill>
            <a:srgbClr val="C00000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检测</a:t>
            </a:r>
            <a:endParaRPr lang="en-US" altLang="zh-CN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场景</a:t>
            </a:r>
            <a:endParaRPr lang="zh-CN" altLang="en-US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矩形: 圆角 93"/>
          <p:cNvSpPr/>
          <p:nvPr/>
        </p:nvSpPr>
        <p:spPr>
          <a:xfrm>
            <a:off x="565150" y="3855085"/>
            <a:ext cx="796925" cy="2428240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现状与挑战</a:t>
            </a:r>
            <a:endParaRPr lang="zh-CN" altLang="en-US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矩形: 圆角 93"/>
          <p:cNvSpPr/>
          <p:nvPr/>
        </p:nvSpPr>
        <p:spPr>
          <a:xfrm>
            <a:off x="565150" y="6353175"/>
            <a:ext cx="796925" cy="692150"/>
          </a:xfrm>
          <a:prstGeom prst="roundRect">
            <a:avLst>
              <a:gd name="adj" fmla="val 0"/>
            </a:avLst>
          </a:prstGeom>
          <a:solidFill>
            <a:srgbClr val="C00000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研究</a:t>
            </a:r>
            <a:endParaRPr lang="en-US" altLang="zh-CN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内容</a:t>
            </a:r>
            <a:endParaRPr lang="zh-CN" altLang="en-US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矩形: 圆角 93"/>
          <p:cNvSpPr/>
          <p:nvPr/>
        </p:nvSpPr>
        <p:spPr>
          <a:xfrm>
            <a:off x="565150" y="485775"/>
            <a:ext cx="796925" cy="1689100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战略</a:t>
            </a:r>
            <a:endParaRPr lang="en-US" altLang="zh-CN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覆盖</a:t>
            </a:r>
            <a:endParaRPr lang="zh-CN" altLang="en-US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1362075" y="485775"/>
            <a:ext cx="8764905" cy="1687830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1362075" y="6353175"/>
            <a:ext cx="8764270" cy="685165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矩形: 圆角 8"/>
          <p:cNvSpPr/>
          <p:nvPr/>
        </p:nvSpPr>
        <p:spPr>
          <a:xfrm flipH="1">
            <a:off x="1556385" y="595630"/>
            <a:ext cx="3448685" cy="1480820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22" name="矩形: 圆角 8"/>
          <p:cNvSpPr/>
          <p:nvPr/>
        </p:nvSpPr>
        <p:spPr>
          <a:xfrm flipH="1">
            <a:off x="5199380" y="595630"/>
            <a:ext cx="4724400" cy="1480820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23" name="文本框 22"/>
          <p:cNvSpPr txBox="1"/>
          <p:nvPr/>
        </p:nvSpPr>
        <p:spPr>
          <a:xfrm>
            <a:off x="1958658" y="654050"/>
            <a:ext cx="2644140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国际竞争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5" name="Picture 14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0975" y="1007745"/>
            <a:ext cx="924560" cy="937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9" name="组合 28"/>
          <p:cNvGrpSpPr/>
          <p:nvPr/>
        </p:nvGrpSpPr>
        <p:grpSpPr>
          <a:xfrm>
            <a:off x="2997835" y="1070610"/>
            <a:ext cx="892810" cy="883920"/>
            <a:chOff x="4678" y="1671"/>
            <a:chExt cx="2080" cy="1795"/>
          </a:xfrm>
        </p:grpSpPr>
        <p:pic>
          <p:nvPicPr>
            <p:cNvPr id="27" name="Picture 28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11" y="1756"/>
              <a:ext cx="1711" cy="17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8" name="椭圆 27"/>
            <p:cNvSpPr/>
            <p:nvPr/>
          </p:nvSpPr>
          <p:spPr>
            <a:xfrm>
              <a:off x="4678" y="1671"/>
              <a:ext cx="2080" cy="171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00"/>
            </a:p>
          </p:txBody>
        </p:sp>
      </p:grpSp>
      <p:pic>
        <p:nvPicPr>
          <p:cNvPr id="32" name="图片 3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1" t="2278" r="16380" b="26414"/>
          <a:stretch>
            <a:fillRect/>
          </a:stretch>
        </p:blipFill>
        <p:spPr>
          <a:xfrm>
            <a:off x="5346065" y="967105"/>
            <a:ext cx="2736850" cy="1054100"/>
          </a:xfrm>
          <a:prstGeom prst="rect">
            <a:avLst/>
          </a:prstGeom>
        </p:spPr>
      </p:pic>
      <p:pic>
        <p:nvPicPr>
          <p:cNvPr id="33" name="Picture 34" descr="Papyrus 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9285" y="967105"/>
            <a:ext cx="1567180" cy="1022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文本框 33"/>
          <p:cNvSpPr txBox="1"/>
          <p:nvPr/>
        </p:nvSpPr>
        <p:spPr>
          <a:xfrm>
            <a:off x="5514975" y="1804035"/>
            <a:ext cx="55499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2021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6250940" y="1658620"/>
            <a:ext cx="544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2023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6939280" y="1386840"/>
            <a:ext cx="56197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2025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7501255" y="1094740"/>
            <a:ext cx="50673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2026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5303520" y="1374140"/>
            <a:ext cx="679450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十四五</a:t>
            </a:r>
            <a:endParaRPr lang="en-US" altLang="zh-CN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5984875" y="1210310"/>
            <a:ext cx="959485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海洋科技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创新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7075805" y="1684020"/>
            <a:ext cx="901700" cy="2705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人工智能</a:t>
            </a:r>
            <a:r>
              <a:rPr lang="en-US" altLang="zh-CN" sz="1165" b="1" dirty="0">
                <a:latin typeface="微软雅黑" panose="020B0503020204020204" charset="-122"/>
                <a:ea typeface="微软雅黑" panose="020B0503020204020204" charset="-122"/>
              </a:rPr>
              <a:t>+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7729220" y="1304290"/>
            <a:ext cx="702945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十五五</a:t>
            </a:r>
            <a:endParaRPr lang="en-US" altLang="zh-CN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528050" y="1007745"/>
            <a:ext cx="1026160" cy="8921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</a:rPr>
              <a:t>复杂海域态势感知与无人化执法需求提升</a:t>
            </a:r>
            <a:endParaRPr lang="zh-CN" altLang="en-US" sz="120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6750685" y="654050"/>
            <a:ext cx="1621790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国家政策演进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57" name="组合 56"/>
          <p:cNvGrpSpPr/>
          <p:nvPr/>
        </p:nvGrpSpPr>
        <p:grpSpPr>
          <a:xfrm>
            <a:off x="1739265" y="1131570"/>
            <a:ext cx="1184910" cy="776605"/>
            <a:chOff x="2739" y="1707"/>
            <a:chExt cx="1755" cy="1150"/>
          </a:xfrm>
        </p:grpSpPr>
        <p:pic>
          <p:nvPicPr>
            <p:cNvPr id="26" name="Picture 22" descr="Japan flag map contour vector ...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0" y="2043"/>
              <a:ext cx="814" cy="8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Picture 8"/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39" y="1707"/>
              <a:ext cx="1344" cy="7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61" name="文本框 60"/>
          <p:cNvSpPr txBox="1"/>
          <p:nvPr/>
        </p:nvSpPr>
        <p:spPr>
          <a:xfrm>
            <a:off x="1739265" y="3361055"/>
            <a:ext cx="14439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波浪</a:t>
            </a:r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滑翔机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文本框 61"/>
          <p:cNvSpPr txBox="1"/>
          <p:nvPr/>
        </p:nvSpPr>
        <p:spPr>
          <a:xfrm>
            <a:off x="3261995" y="3361055"/>
            <a:ext cx="163512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无人艇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4924425" y="3361055"/>
            <a:ext cx="158432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275" b="1">
                <a:solidFill>
                  <a:srgbClr val="173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水下生物</a:t>
            </a:r>
            <a:r>
              <a:rPr lang="zh-CN"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传感器</a:t>
            </a:r>
            <a:endParaRPr lang="zh-CN" sz="12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65" name="文本框 64"/>
          <p:cNvSpPr txBox="1"/>
          <p:nvPr/>
        </p:nvSpPr>
        <p:spPr>
          <a:xfrm>
            <a:off x="6587490" y="3361055"/>
            <a:ext cx="15824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无人潜航器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8248650" y="3361055"/>
            <a:ext cx="158432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无人探测浮标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86" name="组合 85"/>
          <p:cNvGrpSpPr/>
          <p:nvPr/>
        </p:nvGrpSpPr>
        <p:grpSpPr>
          <a:xfrm>
            <a:off x="1556385" y="3944620"/>
            <a:ext cx="8368030" cy="2239010"/>
            <a:chOff x="2451" y="6192"/>
            <a:chExt cx="9683" cy="3526"/>
          </a:xfrm>
        </p:grpSpPr>
        <p:sp>
          <p:nvSpPr>
            <p:cNvPr id="82" name="矩形: 圆角 8"/>
            <p:cNvSpPr/>
            <p:nvPr/>
          </p:nvSpPr>
          <p:spPr>
            <a:xfrm flipH="1">
              <a:off x="2451" y="6192"/>
              <a:ext cx="2270" cy="3527"/>
            </a:xfrm>
            <a:prstGeom prst="roundRect">
              <a:avLst>
                <a:gd name="adj" fmla="val 6238"/>
              </a:avLst>
            </a:prstGeom>
            <a:solidFill>
              <a:schemeClr val="bg1"/>
            </a:solidFill>
            <a:ln w="19050">
              <a:solidFill>
                <a:srgbClr val="2E54A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35" dirty="0"/>
            </a:p>
          </p:txBody>
        </p:sp>
        <p:sp>
          <p:nvSpPr>
            <p:cNvPr id="83" name="矩形: 圆角 8"/>
            <p:cNvSpPr/>
            <p:nvPr/>
          </p:nvSpPr>
          <p:spPr>
            <a:xfrm flipH="1">
              <a:off x="4922" y="6192"/>
              <a:ext cx="2270" cy="3527"/>
            </a:xfrm>
            <a:prstGeom prst="roundRect">
              <a:avLst>
                <a:gd name="adj" fmla="val 6238"/>
              </a:avLst>
            </a:prstGeom>
            <a:solidFill>
              <a:schemeClr val="bg1"/>
            </a:solidFill>
            <a:ln w="19050">
              <a:solidFill>
                <a:srgbClr val="2E54A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35" dirty="0"/>
            </a:p>
          </p:txBody>
        </p:sp>
        <p:sp>
          <p:nvSpPr>
            <p:cNvPr id="84" name="矩形: 圆角 8"/>
            <p:cNvSpPr/>
            <p:nvPr/>
          </p:nvSpPr>
          <p:spPr>
            <a:xfrm flipH="1">
              <a:off x="7393" y="6192"/>
              <a:ext cx="2270" cy="3527"/>
            </a:xfrm>
            <a:prstGeom prst="roundRect">
              <a:avLst>
                <a:gd name="adj" fmla="val 6238"/>
              </a:avLst>
            </a:prstGeom>
            <a:solidFill>
              <a:schemeClr val="bg1"/>
            </a:solidFill>
            <a:ln w="19050">
              <a:solidFill>
                <a:srgbClr val="2E54A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35" dirty="0"/>
            </a:p>
          </p:txBody>
        </p:sp>
        <p:sp>
          <p:nvSpPr>
            <p:cNvPr id="85" name="矩形: 圆角 8"/>
            <p:cNvSpPr/>
            <p:nvPr/>
          </p:nvSpPr>
          <p:spPr>
            <a:xfrm flipH="1">
              <a:off x="9864" y="6192"/>
              <a:ext cx="2270" cy="3527"/>
            </a:xfrm>
            <a:prstGeom prst="roundRect">
              <a:avLst>
                <a:gd name="adj" fmla="val 6238"/>
              </a:avLst>
            </a:prstGeom>
            <a:solidFill>
              <a:schemeClr val="bg1"/>
            </a:solidFill>
            <a:ln w="19050">
              <a:solidFill>
                <a:srgbClr val="2E54A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35" dirty="0"/>
            </a:p>
          </p:txBody>
        </p:sp>
      </p:grpSp>
      <p:sp>
        <p:nvSpPr>
          <p:cNvPr id="87" name="文本框 86"/>
          <p:cNvSpPr txBox="1"/>
          <p:nvPr/>
        </p:nvSpPr>
        <p:spPr>
          <a:xfrm>
            <a:off x="1680210" y="3985260"/>
            <a:ext cx="1715135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强海杂波</a:t>
            </a:r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干扰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1668780" y="4793615"/>
            <a:ext cx="171196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微软雅黑" panose="020B0503020204020204" charset="-122"/>
                <a:ea typeface="微软雅黑" panose="020B0503020204020204" charset="-122"/>
              </a:rPr>
              <a:t>微弱电磁信号</a:t>
            </a:r>
            <a:endParaRPr lang="zh-CN" altLang="en-US" sz="100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310" y="5061585"/>
            <a:ext cx="1677670" cy="1068070"/>
          </a:xfrm>
          <a:prstGeom prst="rect">
            <a:avLst/>
          </a:prstGeom>
        </p:spPr>
      </p:pic>
      <p:sp>
        <p:nvSpPr>
          <p:cNvPr id="91" name="文本框 90"/>
          <p:cNvSpPr txBox="1"/>
          <p:nvPr/>
        </p:nvSpPr>
        <p:spPr>
          <a:xfrm>
            <a:off x="2094230" y="5676900"/>
            <a:ext cx="86487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看不清</a:t>
            </a:r>
            <a:endParaRPr lang="zh-CN" altLang="en-US" sz="1000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000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提不准</a:t>
            </a:r>
            <a:endParaRPr lang="zh-CN" altLang="en-US" sz="1000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3740785" y="3985260"/>
            <a:ext cx="1852295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端侧资源受限</a:t>
            </a:r>
            <a:endParaRPr kumimoji="1" lang="en-US" altLang="zh-CN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3686810" y="5897245"/>
            <a:ext cx="197358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存不下、查不快、</a:t>
            </a:r>
            <a:r>
              <a:rPr lang="zh-CN" altLang="en-US" sz="1000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信不住</a:t>
            </a:r>
            <a:endParaRPr lang="zh-CN" altLang="en-US" sz="1000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" name="文本框 96"/>
          <p:cNvSpPr txBox="1"/>
          <p:nvPr/>
        </p:nvSpPr>
        <p:spPr>
          <a:xfrm>
            <a:off x="3958590" y="4266565"/>
            <a:ext cx="138747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微软雅黑" panose="020B0503020204020204" charset="-122"/>
                <a:ea typeface="微软雅黑" panose="020B0503020204020204" charset="-122"/>
              </a:rPr>
              <a:t>算力/存储/链路不足</a:t>
            </a:r>
            <a:endParaRPr lang="zh-CN" altLang="en-US" sz="100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5727700" y="3985260"/>
            <a:ext cx="2280285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频谱知识难演化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9" name="文本框 108"/>
          <p:cNvSpPr txBox="1"/>
          <p:nvPr/>
        </p:nvSpPr>
        <p:spPr>
          <a:xfrm>
            <a:off x="5867400" y="5903595"/>
            <a:ext cx="19240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认知不连续、决策不稳</a:t>
            </a:r>
            <a:endParaRPr lang="zh-CN" altLang="en-US" sz="1000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4" name="文本框 113"/>
          <p:cNvSpPr txBox="1"/>
          <p:nvPr/>
        </p:nvSpPr>
        <p:spPr>
          <a:xfrm>
            <a:off x="8082915" y="3985260"/>
            <a:ext cx="1728470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协同可信决策难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35" name="图片 134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79" r="15294" b="4412"/>
          <a:stretch>
            <a:fillRect/>
          </a:stretch>
        </p:blipFill>
        <p:spPr>
          <a:xfrm>
            <a:off x="8371840" y="4266565"/>
            <a:ext cx="1266825" cy="1661160"/>
          </a:xfrm>
          <a:prstGeom prst="rect">
            <a:avLst/>
          </a:prstGeom>
        </p:spPr>
      </p:pic>
      <p:sp>
        <p:nvSpPr>
          <p:cNvPr id="137" name="文本框 136"/>
          <p:cNvSpPr txBox="1"/>
          <p:nvPr/>
        </p:nvSpPr>
        <p:spPr>
          <a:xfrm>
            <a:off x="7985125" y="5903595"/>
            <a:ext cx="19240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判不准、难互信</a:t>
            </a:r>
            <a:endParaRPr lang="zh-CN" altLang="en-US" sz="1000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8" name="矩形: 圆角 8"/>
          <p:cNvSpPr/>
          <p:nvPr/>
        </p:nvSpPr>
        <p:spPr>
          <a:xfrm flipH="1">
            <a:off x="1556385" y="6414770"/>
            <a:ext cx="1961515" cy="575945"/>
          </a:xfrm>
          <a:prstGeom prst="roundRect">
            <a:avLst>
              <a:gd name="adj" fmla="val 15850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海杂波干扰下微弱电磁频谱信号传播规律与微弱信号提取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157" name="矩形: 圆角 8"/>
          <p:cNvSpPr/>
          <p:nvPr/>
        </p:nvSpPr>
        <p:spPr>
          <a:xfrm flipH="1">
            <a:off x="3698875" y="6453505"/>
            <a:ext cx="1961515" cy="492760"/>
          </a:xfrm>
          <a:prstGeom prst="roundRect">
            <a:avLst>
              <a:gd name="adj" fmla="val 15850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158" name="矩形: 圆角 8"/>
          <p:cNvSpPr/>
          <p:nvPr/>
        </p:nvSpPr>
        <p:spPr>
          <a:xfrm flipH="1">
            <a:off x="5827395" y="6453505"/>
            <a:ext cx="1961515" cy="492760"/>
          </a:xfrm>
          <a:prstGeom prst="roundRect">
            <a:avLst>
              <a:gd name="adj" fmla="val 15850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面向海域自主侦测任务的边缘频谱智能处理方法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159" name="矩形: 圆角 8"/>
          <p:cNvSpPr/>
          <p:nvPr/>
        </p:nvSpPr>
        <p:spPr>
          <a:xfrm flipH="1">
            <a:off x="7962265" y="6453505"/>
            <a:ext cx="1961515" cy="492760"/>
          </a:xfrm>
          <a:prstGeom prst="roundRect">
            <a:avLst>
              <a:gd name="adj" fmla="val 15850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海杂波场景电磁频谱数据智能处理原型系统验证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160" name="文本框 159"/>
          <p:cNvSpPr txBox="1"/>
          <p:nvPr/>
        </p:nvSpPr>
        <p:spPr>
          <a:xfrm>
            <a:off x="3576320" y="6478905"/>
            <a:ext cx="21513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 spc="-50" dirty="0">
                <a:solidFill>
                  <a:schemeClr val="tx1"/>
                </a:solidFill>
                <a:uFillTx/>
                <a:latin typeface="微软雅黑" panose="020B0503020204020204" charset="-122"/>
                <a:ea typeface="微软雅黑" panose="020B0503020204020204" charset="-122"/>
                <a:sym typeface="+mn-ea"/>
              </a:rPr>
              <a:t>有限算力端侧频谱数据的轻量存储管理方法</a:t>
            </a:r>
            <a:endParaRPr lang="zh-CN" altLang="en-US" sz="1200" b="1" spc="-50" dirty="0">
              <a:solidFill>
                <a:schemeClr val="tx1"/>
              </a:solidFill>
              <a:uFillTx/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pic>
        <p:nvPicPr>
          <p:cNvPr id="6" name="图片 5" descr="ChatGPT Image 2026年6月15日 11_34_28"/>
          <p:cNvPicPr/>
          <p:nvPr/>
        </p:nvPicPr>
        <p:blipFill>
          <a:blip r:embed="rId9"/>
          <a:stretch>
            <a:fillRect/>
          </a:stretch>
        </p:blipFill>
        <p:spPr>
          <a:xfrm>
            <a:off x="3312795" y="2470150"/>
            <a:ext cx="1583690" cy="889200"/>
          </a:xfrm>
          <a:prstGeom prst="rect">
            <a:avLst/>
          </a:prstGeom>
        </p:spPr>
      </p:pic>
      <p:pic>
        <p:nvPicPr>
          <p:cNvPr id="9" name="图片 8" descr="ChatGPT Image 2026年6月15日 11_43_46"/>
          <p:cNvPicPr/>
          <p:nvPr/>
        </p:nvPicPr>
        <p:blipFill>
          <a:blip r:embed="rId10"/>
          <a:stretch>
            <a:fillRect/>
          </a:stretch>
        </p:blipFill>
        <p:spPr>
          <a:xfrm>
            <a:off x="8248650" y="2470150"/>
            <a:ext cx="1583690" cy="889200"/>
          </a:xfrm>
          <a:prstGeom prst="rect">
            <a:avLst/>
          </a:prstGeom>
        </p:spPr>
      </p:pic>
      <p:pic>
        <p:nvPicPr>
          <p:cNvPr id="10" name="图片 9" descr="ChatGPT Image 2026年6月15日 11_37_57"/>
          <p:cNvPicPr/>
          <p:nvPr/>
        </p:nvPicPr>
        <p:blipFill>
          <a:blip r:embed="rId11"/>
          <a:stretch>
            <a:fillRect/>
          </a:stretch>
        </p:blipFill>
        <p:spPr>
          <a:xfrm>
            <a:off x="6603365" y="2470150"/>
            <a:ext cx="1583690" cy="889200"/>
          </a:xfrm>
          <a:prstGeom prst="rect">
            <a:avLst/>
          </a:prstGeom>
        </p:spPr>
      </p:pic>
      <p:pic>
        <p:nvPicPr>
          <p:cNvPr id="15" name="图片 14" descr="ChatGPT Image 2026年6月15日 11_52_56"/>
          <p:cNvPicPr/>
          <p:nvPr/>
        </p:nvPicPr>
        <p:blipFill>
          <a:blip r:embed="rId12"/>
          <a:stretch>
            <a:fillRect/>
          </a:stretch>
        </p:blipFill>
        <p:spPr>
          <a:xfrm>
            <a:off x="4958080" y="2470150"/>
            <a:ext cx="1583690" cy="889200"/>
          </a:xfrm>
          <a:prstGeom prst="rect">
            <a:avLst/>
          </a:prstGeom>
        </p:spPr>
      </p:pic>
      <p:pic>
        <p:nvPicPr>
          <p:cNvPr id="30" name="图片 29" descr="ChatGPT Image 2026年6月15日 14_22_1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27225" y="4196080"/>
            <a:ext cx="1195070" cy="597535"/>
          </a:xfrm>
          <a:prstGeom prst="rect">
            <a:avLst/>
          </a:prstGeom>
        </p:spPr>
      </p:pic>
      <p:pic>
        <p:nvPicPr>
          <p:cNvPr id="37" name="图片 36" descr="ChatGPT Image 2026年6月15日 14_27_28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58285" y="4383405"/>
            <a:ext cx="1287780" cy="1609725"/>
          </a:xfrm>
          <a:prstGeom prst="rect">
            <a:avLst/>
          </a:prstGeom>
        </p:spPr>
      </p:pic>
      <p:pic>
        <p:nvPicPr>
          <p:cNvPr id="38" name="图片 37" descr="ChatGPT Image 2026年6月15日 14_38_02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984875" y="3985260"/>
            <a:ext cx="1678940" cy="2098675"/>
          </a:xfrm>
          <a:prstGeom prst="rect">
            <a:avLst/>
          </a:prstGeom>
        </p:spPr>
      </p:pic>
      <p:pic>
        <p:nvPicPr>
          <p:cNvPr id="2" name="图片 1" descr="ChatGPT Image 2026年6月15日 15_09_23"/>
          <p:cNvPicPr/>
          <p:nvPr/>
        </p:nvPicPr>
        <p:blipFill>
          <a:blip r:embed="rId16"/>
          <a:stretch>
            <a:fillRect/>
          </a:stretch>
        </p:blipFill>
        <p:spPr>
          <a:xfrm>
            <a:off x="1668780" y="2472055"/>
            <a:ext cx="1584000" cy="88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270</Words>
  <Application>WPS 演示</Application>
  <PresentationFormat>Converted Presentation</PresentationFormat>
  <Paragraphs>75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宋体</vt:lpstr>
      <vt:lpstr>Wingdings</vt:lpstr>
      <vt:lpstr>微软雅黑</vt:lpstr>
      <vt:lpstr>Calibri</vt:lpstr>
      <vt:lpstr>Arial Unicode MS</vt:lpstr>
      <vt:lpstr>Calibri Light</vt:lpstr>
      <vt:lpstr>等线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HongShilong</cp:lastModifiedBy>
  <cp:revision>22</cp:revision>
  <dcterms:created xsi:type="dcterms:W3CDTF">2026-06-15T03:25:00Z</dcterms:created>
  <dcterms:modified xsi:type="dcterms:W3CDTF">2026-06-15T07:11:18Z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2BB0BFC738B94753AADBFD5470520EBB_13</vt:lpwstr>
  </property>
</Properties>
</file>