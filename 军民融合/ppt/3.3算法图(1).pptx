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403985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1F7"/>
    <a:srgbClr val="9051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" y="800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0EE2-AE14-4122-BDFB-A765410101A4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331788" y="1143000"/>
            <a:ext cx="75215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C808C-E880-4ECB-800E-5F44E4A29A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114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EC808C-E880-4ECB-800E-5F44E4A29A1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342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4981" y="942577"/>
            <a:ext cx="10529888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4981" y="3025045"/>
            <a:ext cx="10529888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44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253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927" y="1435864"/>
            <a:ext cx="12109371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927" y="3854300"/>
            <a:ext cx="12109371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8453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5240" y="1533187"/>
            <a:ext cx="5966936" cy="36543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07674" y="1533187"/>
            <a:ext cx="5966936" cy="365431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783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8" y="306638"/>
            <a:ext cx="12109371" cy="111322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069" y="1411865"/>
            <a:ext cx="5939514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7069" y="2103799"/>
            <a:ext cx="5939514" cy="3094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07674" y="1411865"/>
            <a:ext cx="5968765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07674" y="2103799"/>
            <a:ext cx="5968765" cy="30943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45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29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314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9" y="383963"/>
            <a:ext cx="452821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8765" y="829255"/>
            <a:ext cx="7107674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069" y="1727835"/>
            <a:ext cx="452821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59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069" y="383963"/>
            <a:ext cx="452821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68765" y="829255"/>
            <a:ext cx="7107674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7069" y="1727835"/>
            <a:ext cx="452821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485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26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47267" y="306637"/>
            <a:ext cx="3027343" cy="488086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5240" y="306637"/>
            <a:ext cx="8906530" cy="488086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69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5240" y="306638"/>
            <a:ext cx="12109371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5240" y="1533187"/>
            <a:ext cx="12109371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5240" y="5338158"/>
            <a:ext cx="315896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F8555-3037-41F7-A18D-2627AC18CF91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0701" y="5338158"/>
            <a:ext cx="473844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5644" y="5338158"/>
            <a:ext cx="3158966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2C19C-521C-49BE-A965-D7ED65B984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49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75E3B9FA-C8A8-2370-2368-4273CF4B6F7C}"/>
              </a:ext>
            </a:extLst>
          </p:cNvPr>
          <p:cNvSpPr/>
          <p:nvPr/>
        </p:nvSpPr>
        <p:spPr>
          <a:xfrm>
            <a:off x="455443" y="4379585"/>
            <a:ext cx="12640855" cy="125637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73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88048C2-F5F7-A8B4-66B7-1F8B4530722F}"/>
              </a:ext>
            </a:extLst>
          </p:cNvPr>
          <p:cNvGrpSpPr/>
          <p:nvPr/>
        </p:nvGrpSpPr>
        <p:grpSpPr>
          <a:xfrm>
            <a:off x="455443" y="811030"/>
            <a:ext cx="4335866" cy="3316281"/>
            <a:chOff x="1608418" y="1190956"/>
            <a:chExt cx="3765202" cy="3012815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2E65303-3625-F4FC-9443-36897F05F128}"/>
                </a:ext>
              </a:extLst>
            </p:cNvPr>
            <p:cNvSpPr/>
            <p:nvPr/>
          </p:nvSpPr>
          <p:spPr>
            <a:xfrm>
              <a:off x="1608418" y="1190956"/>
              <a:ext cx="3765202" cy="3012815"/>
            </a:xfrm>
            <a:prstGeom prst="roundRect">
              <a:avLst>
                <a:gd name="adj" fmla="val 4743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73"/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963FCBB8-0AE6-6C07-A192-0C922085F7A0}"/>
                </a:ext>
              </a:extLst>
            </p:cNvPr>
            <p:cNvGrpSpPr/>
            <p:nvPr/>
          </p:nvGrpSpPr>
          <p:grpSpPr>
            <a:xfrm>
              <a:off x="1726120" y="2350363"/>
              <a:ext cx="1701053" cy="764693"/>
              <a:chOff x="1921102" y="880998"/>
              <a:chExt cx="1701053" cy="764693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12B4A3AE-C0B0-785F-03C2-C87200C5CFC5}"/>
                  </a:ext>
                </a:extLst>
              </p:cNvPr>
              <p:cNvSpPr/>
              <p:nvPr/>
            </p:nvSpPr>
            <p:spPr>
              <a:xfrm>
                <a:off x="1921102" y="880998"/>
                <a:ext cx="1701053" cy="764693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73" dirty="0"/>
              </a:p>
            </p:txBody>
          </p:sp>
          <p:pic>
            <p:nvPicPr>
              <p:cNvPr id="14" name="图形 13">
                <a:extLst>
                  <a:ext uri="{FF2B5EF4-FFF2-40B4-BE49-F238E27FC236}">
                    <a16:creationId xmlns:a16="http://schemas.microsoft.com/office/drawing/2014/main" id="{A03FF8D4-018F-CA9F-E53A-A78C4767C0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68460" y="940718"/>
                <a:ext cx="605120" cy="605120"/>
              </a:xfrm>
              <a:prstGeom prst="rect">
                <a:avLst/>
              </a:prstGeom>
            </p:spPr>
          </p:pic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18C0D6A-1287-79C6-E801-3072234CE8D8}"/>
                  </a:ext>
                </a:extLst>
              </p:cNvPr>
              <p:cNvSpPr txBox="1"/>
              <p:nvPr/>
            </p:nvSpPr>
            <p:spPr>
              <a:xfrm>
                <a:off x="2468044" y="946241"/>
                <a:ext cx="1109382" cy="634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节点可信评估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A5D0CD90-5F5C-0FD3-A768-620097D35BAE}"/>
                </a:ext>
              </a:extLst>
            </p:cNvPr>
            <p:cNvGrpSpPr/>
            <p:nvPr/>
          </p:nvGrpSpPr>
          <p:grpSpPr>
            <a:xfrm>
              <a:off x="3577807" y="2359207"/>
              <a:ext cx="1701053" cy="764694"/>
              <a:chOff x="1717634" y="2232162"/>
              <a:chExt cx="1701053" cy="764694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61E9137-F8F5-424E-DE30-2EDAA8DB33F6}"/>
                  </a:ext>
                </a:extLst>
              </p:cNvPr>
              <p:cNvSpPr/>
              <p:nvPr/>
            </p:nvSpPr>
            <p:spPr>
              <a:xfrm>
                <a:off x="1717634" y="2232162"/>
                <a:ext cx="1701053" cy="76469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73"/>
              </a:p>
            </p:txBody>
          </p:sp>
          <p:pic>
            <p:nvPicPr>
              <p:cNvPr id="12" name="图形 11">
                <a:extLst>
                  <a:ext uri="{FF2B5EF4-FFF2-40B4-BE49-F238E27FC236}">
                    <a16:creationId xmlns:a16="http://schemas.microsoft.com/office/drawing/2014/main" id="{61DEAFCA-B580-FEEC-CB12-0FDE06DA70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805179" y="2364889"/>
                <a:ext cx="516031" cy="516031"/>
              </a:xfrm>
              <a:prstGeom prst="rect">
                <a:avLst/>
              </a:prstGeom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2BC3170-1B68-9894-0792-1C16C3B3D00B}"/>
                  </a:ext>
                </a:extLst>
              </p:cNvPr>
              <p:cNvSpPr txBox="1"/>
              <p:nvPr/>
            </p:nvSpPr>
            <p:spPr>
              <a:xfrm>
                <a:off x="2220498" y="2290916"/>
                <a:ext cx="1126751" cy="634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生成节点</a:t>
                </a:r>
                <a:endParaRPr lang="en-US" altLang="zh-CN" sz="2073" b="1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endParaRPr>
              </a:p>
              <a:p>
                <a:pPr algn="ctr"/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可信权重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C2FD343D-E548-7946-33DC-B7C9B629224D}"/>
                </a:ext>
              </a:extLst>
            </p:cNvPr>
            <p:cNvGrpSpPr/>
            <p:nvPr/>
          </p:nvGrpSpPr>
          <p:grpSpPr>
            <a:xfrm>
              <a:off x="1741114" y="3182623"/>
              <a:ext cx="3503237" cy="778658"/>
              <a:chOff x="1680880" y="3387688"/>
              <a:chExt cx="3096744" cy="778658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1328B1FA-29AC-1316-D453-8E718F82EA02}"/>
                  </a:ext>
                </a:extLst>
              </p:cNvPr>
              <p:cNvSpPr/>
              <p:nvPr/>
            </p:nvSpPr>
            <p:spPr>
              <a:xfrm>
                <a:off x="1680880" y="3387688"/>
                <a:ext cx="3096744" cy="77865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73" dirty="0"/>
              </a:p>
            </p:txBody>
          </p:sp>
          <p:pic>
            <p:nvPicPr>
              <p:cNvPr id="8" name="图形 7">
                <a:extLst>
                  <a:ext uri="{FF2B5EF4-FFF2-40B4-BE49-F238E27FC236}">
                    <a16:creationId xmlns:a16="http://schemas.microsoft.com/office/drawing/2014/main" id="{2091D44E-9942-1E72-64FE-0131B1548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805268" y="3490632"/>
                <a:ext cx="675714" cy="675714"/>
              </a:xfrm>
              <a:prstGeom prst="rect">
                <a:avLst/>
              </a:prstGeom>
            </p:spPr>
          </p:pic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C27556C-BC62-8661-C019-DC27AF9E5C9B}"/>
                  </a:ext>
                </a:extLst>
              </p:cNvPr>
              <p:cNvSpPr txBox="1"/>
              <p:nvPr/>
            </p:nvSpPr>
            <p:spPr>
              <a:xfrm>
                <a:off x="2325221" y="3490632"/>
                <a:ext cx="2365243" cy="634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低延时加权共识与</a:t>
                </a:r>
              </a:p>
              <a:p>
                <a:pPr algn="ctr"/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一致性确权</a:t>
                </a:r>
              </a:p>
            </p:txBody>
          </p:sp>
        </p:grp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2F15A4F-3D65-363E-800E-CAAE052D110C}"/>
                </a:ext>
              </a:extLst>
            </p:cNvPr>
            <p:cNvSpPr txBox="1"/>
            <p:nvPr/>
          </p:nvSpPr>
          <p:spPr>
            <a:xfrm>
              <a:off x="1808488" y="1274392"/>
              <a:ext cx="3368489" cy="94913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defRPr sz="1463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03" b="1" dirty="0">
                  <a:solidFill>
                    <a:schemeClr val="bg1"/>
                  </a:solidFill>
                  <a:latin typeface="Microsoft YaHei"/>
                  <a:ea typeface="Microsoft YaHei"/>
                  <a:cs typeface="Microsoft YaHei"/>
                </a:rPr>
                <a:t>基于低延时共识的决策结果一致性确权方法</a:t>
              </a:r>
              <a:endParaRPr lang="zh-CN" altLang="en-US" sz="2303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AC7B9541-C5D0-C800-86F1-233B62B43CAE}"/>
              </a:ext>
            </a:extLst>
          </p:cNvPr>
          <p:cNvGrpSpPr/>
          <p:nvPr/>
        </p:nvGrpSpPr>
        <p:grpSpPr>
          <a:xfrm>
            <a:off x="6426821" y="282634"/>
            <a:ext cx="3555399" cy="3844673"/>
            <a:chOff x="6212296" y="860613"/>
            <a:chExt cx="3087456" cy="3489512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0C737A80-222F-13C2-6E46-5CF93E153E43}"/>
                </a:ext>
              </a:extLst>
            </p:cNvPr>
            <p:cNvSpPr/>
            <p:nvPr/>
          </p:nvSpPr>
          <p:spPr>
            <a:xfrm>
              <a:off x="6212296" y="860613"/>
              <a:ext cx="3087456" cy="3489512"/>
            </a:xfrm>
            <a:prstGeom prst="roundRect">
              <a:avLst>
                <a:gd name="adj" fmla="val 4743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73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38AD9A9-4D47-FF7F-3B9C-B70B874C64DB}"/>
                </a:ext>
              </a:extLst>
            </p:cNvPr>
            <p:cNvSpPr txBox="1"/>
            <p:nvPr/>
          </p:nvSpPr>
          <p:spPr>
            <a:xfrm>
              <a:off x="6234405" y="980558"/>
              <a:ext cx="3043236" cy="69567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defRPr sz="14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03" b="1" dirty="0">
                  <a:solidFill>
                    <a:schemeClr val="bg1"/>
                  </a:solidFill>
                  <a:latin typeface="Microsoft YaHei"/>
                  <a:ea typeface="Microsoft YaHei"/>
                  <a:cs typeface="Microsoft YaHei"/>
                </a:rPr>
                <a:t>频谱知识驱动的</a:t>
              </a:r>
            </a:p>
            <a:p>
              <a:pPr algn="ctr">
                <a:defRPr sz="14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lang="zh-CN" altLang="en-US" sz="2303" b="1" dirty="0">
                  <a:solidFill>
                    <a:schemeClr val="bg1"/>
                  </a:solidFill>
                  <a:latin typeface="Microsoft YaHei"/>
                  <a:ea typeface="Microsoft YaHei"/>
                  <a:cs typeface="Microsoft YaHei"/>
                </a:rPr>
                <a:t>分布式可信协同决策方法</a:t>
              </a: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5CD6DE6-DA71-080B-E4F8-2D9A1403F03E}"/>
                </a:ext>
              </a:extLst>
            </p:cNvPr>
            <p:cNvGrpSpPr/>
            <p:nvPr/>
          </p:nvGrpSpPr>
          <p:grpSpPr>
            <a:xfrm>
              <a:off x="6600116" y="1735652"/>
              <a:ext cx="2277201" cy="772534"/>
              <a:chOff x="8479770" y="1025224"/>
              <a:chExt cx="2277201" cy="772534"/>
            </a:xfrm>
          </p:grpSpPr>
          <p:sp>
            <p:nvSpPr>
              <p:cNvPr id="15" name="矩形: 圆角 14">
                <a:extLst>
                  <a:ext uri="{FF2B5EF4-FFF2-40B4-BE49-F238E27FC236}">
                    <a16:creationId xmlns:a16="http://schemas.microsoft.com/office/drawing/2014/main" id="{80B603FC-1D6B-D90B-9D84-6AF78D7F598A}"/>
                  </a:ext>
                </a:extLst>
              </p:cNvPr>
              <p:cNvSpPr/>
              <p:nvPr/>
            </p:nvSpPr>
            <p:spPr>
              <a:xfrm>
                <a:off x="8479770" y="1025224"/>
                <a:ext cx="2277201" cy="772534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73"/>
              </a:p>
            </p:txBody>
          </p:sp>
          <p:pic>
            <p:nvPicPr>
              <p:cNvPr id="19" name="图形 18">
                <a:extLst>
                  <a:ext uri="{FF2B5EF4-FFF2-40B4-BE49-F238E27FC236}">
                    <a16:creationId xmlns:a16="http://schemas.microsoft.com/office/drawing/2014/main" id="{9174A412-0D2C-3C7C-4483-9F568713E4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562055" y="1116202"/>
                <a:ext cx="656886" cy="656886"/>
              </a:xfrm>
              <a:prstGeom prst="rect">
                <a:avLst/>
              </a:prstGeom>
            </p:spPr>
          </p:pic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FD37114F-5C2B-201D-A9FB-2C989D181901}"/>
                  </a:ext>
                </a:extLst>
              </p:cNvPr>
              <p:cNvSpPr txBox="1"/>
              <p:nvPr/>
            </p:nvSpPr>
            <p:spPr>
              <a:xfrm>
                <a:off x="9078048" y="1098813"/>
                <a:ext cx="1678923" cy="634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1388" b="1" i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语义对齐与</a:t>
                </a:r>
                <a:endParaRPr lang="en-US" altLang="zh-CN" sz="2073" b="1" dirty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endParaRPr>
              </a:p>
              <a:p>
                <a:pPr algn="ctr">
                  <a:defRPr sz="1388" b="1" i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归一化</a:t>
                </a:r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71C85020-B967-64B1-9AF6-2870B1898476}"/>
                </a:ext>
              </a:extLst>
            </p:cNvPr>
            <p:cNvGrpSpPr/>
            <p:nvPr/>
          </p:nvGrpSpPr>
          <p:grpSpPr>
            <a:xfrm>
              <a:off x="6587422" y="2638983"/>
              <a:ext cx="2310176" cy="719280"/>
              <a:chOff x="6603910" y="2413043"/>
              <a:chExt cx="2310176" cy="719280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E9629EF1-5C40-479F-6020-B2DB382C162D}"/>
                  </a:ext>
                </a:extLst>
              </p:cNvPr>
              <p:cNvSpPr/>
              <p:nvPr/>
            </p:nvSpPr>
            <p:spPr>
              <a:xfrm>
                <a:off x="6603910" y="2413043"/>
                <a:ext cx="2310176" cy="71928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73"/>
              </a:p>
            </p:txBody>
          </p:sp>
          <p:pic>
            <p:nvPicPr>
              <p:cNvPr id="21" name="图形 20">
                <a:extLst>
                  <a:ext uri="{FF2B5EF4-FFF2-40B4-BE49-F238E27FC236}">
                    <a16:creationId xmlns:a16="http://schemas.microsoft.com/office/drawing/2014/main" id="{5901AD96-8FC7-629F-8C25-899039E2BE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741385" y="2526736"/>
                <a:ext cx="474790" cy="474790"/>
              </a:xfrm>
              <a:prstGeom prst="rect">
                <a:avLst/>
              </a:prstGeom>
            </p:spPr>
          </p:pic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6B73697F-DEF7-3880-1560-297FB8779C3F}"/>
                  </a:ext>
                </a:extLst>
              </p:cNvPr>
              <p:cNvSpPr txBox="1"/>
              <p:nvPr/>
            </p:nvSpPr>
            <p:spPr>
              <a:xfrm>
                <a:off x="7255505" y="2616072"/>
                <a:ext cx="1617902" cy="357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1388" b="1" i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可信门控融合</a:t>
                </a: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9BDC4F69-A69F-D5E2-2754-99957D69277F}"/>
                </a:ext>
              </a:extLst>
            </p:cNvPr>
            <p:cNvGrpSpPr/>
            <p:nvPr/>
          </p:nvGrpSpPr>
          <p:grpSpPr>
            <a:xfrm>
              <a:off x="6603910" y="3499737"/>
              <a:ext cx="2243301" cy="719280"/>
              <a:chOff x="8554349" y="3572258"/>
              <a:chExt cx="2243301" cy="719280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2AE615F7-E9DA-82EC-C4F9-63AF002DA553}"/>
                  </a:ext>
                </a:extLst>
              </p:cNvPr>
              <p:cNvSpPr/>
              <p:nvPr/>
            </p:nvSpPr>
            <p:spPr>
              <a:xfrm>
                <a:off x="8554349" y="3572258"/>
                <a:ext cx="2243301" cy="71928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73" dirty="0"/>
              </a:p>
            </p:txBody>
          </p:sp>
          <p:pic>
            <p:nvPicPr>
              <p:cNvPr id="26" name="图形 25">
                <a:extLst>
                  <a:ext uri="{FF2B5EF4-FFF2-40B4-BE49-F238E27FC236}">
                    <a16:creationId xmlns:a16="http://schemas.microsoft.com/office/drawing/2014/main" id="{6076B7AA-0B8A-A507-0B94-08CE50E18B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8641928" y="3692278"/>
                <a:ext cx="497141" cy="497141"/>
              </a:xfrm>
              <a:prstGeom prst="rect">
                <a:avLst/>
              </a:prstGeom>
            </p:spPr>
          </p:pic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CDD24082-BF2C-AFE8-CB27-FAE6681FD23D}"/>
                  </a:ext>
                </a:extLst>
              </p:cNvPr>
              <p:cNvSpPr txBox="1"/>
              <p:nvPr/>
            </p:nvSpPr>
            <p:spPr>
              <a:xfrm>
                <a:off x="9139069" y="3747232"/>
                <a:ext cx="1617902" cy="357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1388" b="1" i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r>
                  <a:rPr lang="zh-CN" altLang="en-US" sz="2073" b="1" dirty="0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rPr>
                  <a:t>分层协同决策</a:t>
                </a:r>
              </a:p>
            </p:txBody>
          </p:sp>
        </p:grpSp>
      </p:grp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24D0341A-5669-4E2D-CA1F-AB13724238FB}"/>
              </a:ext>
            </a:extLst>
          </p:cNvPr>
          <p:cNvSpPr/>
          <p:nvPr/>
        </p:nvSpPr>
        <p:spPr>
          <a:xfrm>
            <a:off x="4945315" y="719435"/>
            <a:ext cx="1293536" cy="6688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1B69B2"/>
                </a:solidFill>
                <a:latin typeface="Microsoft YaHei"/>
                <a:ea typeface="Microsoft YaHei"/>
                <a:cs typeface="Microsoft YaHei"/>
              </a:rPr>
              <a:t>融合事件</a:t>
            </a:r>
            <a:endParaRPr lang="en-US" altLang="zh-CN" b="1" dirty="0">
              <a:solidFill>
                <a:srgbClr val="1B69B2"/>
              </a:solidFill>
              <a:latin typeface="Microsoft YaHei"/>
              <a:ea typeface="Microsoft YaHei"/>
              <a:cs typeface="Microsoft YaHei"/>
            </a:endParaRPr>
          </a:p>
          <a:p>
            <a:pPr algn="ctr"/>
            <a:r>
              <a:rPr lang="zh-CN" altLang="en-US" b="1" dirty="0">
                <a:solidFill>
                  <a:srgbClr val="1B69B2"/>
                </a:solidFill>
                <a:latin typeface="Microsoft YaHei"/>
                <a:ea typeface="Microsoft YaHei"/>
                <a:cs typeface="Microsoft YaHei"/>
              </a:rPr>
              <a:t>确权凭证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AFDBD815-99A3-5E65-C6AB-E110286C7269}"/>
              </a:ext>
            </a:extLst>
          </p:cNvPr>
          <p:cNvSpPr/>
          <p:nvPr/>
        </p:nvSpPr>
        <p:spPr>
          <a:xfrm>
            <a:off x="4943294" y="1749452"/>
            <a:ext cx="1354081" cy="67121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1B69B2"/>
                </a:solidFill>
                <a:latin typeface="Microsoft YaHei"/>
                <a:ea typeface="Microsoft YaHei"/>
                <a:cs typeface="Microsoft YaHei"/>
              </a:rPr>
              <a:t>节点可信权重约束</a:t>
            </a:r>
          </a:p>
        </p:txBody>
      </p:sp>
      <p:sp>
        <p:nvSpPr>
          <p:cNvPr id="80" name="箭头: 右 79">
            <a:extLst>
              <a:ext uri="{FF2B5EF4-FFF2-40B4-BE49-F238E27FC236}">
                <a16:creationId xmlns:a16="http://schemas.microsoft.com/office/drawing/2014/main" id="{19C8FD7D-694A-9E17-C0E3-9E3A2F5A4898}"/>
              </a:ext>
            </a:extLst>
          </p:cNvPr>
          <p:cNvSpPr/>
          <p:nvPr/>
        </p:nvSpPr>
        <p:spPr>
          <a:xfrm>
            <a:off x="4792315" y="1485188"/>
            <a:ext cx="1631228" cy="21077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箭头: 右 80">
            <a:extLst>
              <a:ext uri="{FF2B5EF4-FFF2-40B4-BE49-F238E27FC236}">
                <a16:creationId xmlns:a16="http://schemas.microsoft.com/office/drawing/2014/main" id="{DAF16C6D-BC72-D5F0-52B3-593C04D992A8}"/>
              </a:ext>
            </a:extLst>
          </p:cNvPr>
          <p:cNvSpPr/>
          <p:nvPr/>
        </p:nvSpPr>
        <p:spPr>
          <a:xfrm rot="10800000">
            <a:off x="4787776" y="2762426"/>
            <a:ext cx="1631228" cy="210776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75D987F3-68C5-5680-9DE4-944D4640FFF0}"/>
              </a:ext>
            </a:extLst>
          </p:cNvPr>
          <p:cNvSpPr txBox="1"/>
          <p:nvPr/>
        </p:nvSpPr>
        <p:spPr>
          <a:xfrm>
            <a:off x="4829227" y="3041245"/>
            <a:ext cx="1607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275" b="1" i="0">
                <a:solidFill>
                  <a:srgbClr val="2B66A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chemeClr val="accent6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协同决策结果</a:t>
            </a:r>
          </a:p>
          <a:p>
            <a:pPr algn="ctr">
              <a:defRPr sz="1275" b="1" i="0">
                <a:solidFill>
                  <a:srgbClr val="2B66A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chemeClr val="accent6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回送确权，</a:t>
            </a:r>
          </a:p>
          <a:p>
            <a:pPr algn="ctr">
              <a:defRPr sz="1275" b="1" i="0">
                <a:solidFill>
                  <a:srgbClr val="2B66A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chemeClr val="accent6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生成决策确权凭证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106C4C3-1326-A81F-03C8-A02AA17B7990}"/>
              </a:ext>
            </a:extLst>
          </p:cNvPr>
          <p:cNvSpPr txBox="1"/>
          <p:nvPr/>
        </p:nvSpPr>
        <p:spPr>
          <a:xfrm>
            <a:off x="1367064" y="170073"/>
            <a:ext cx="251262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i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边缘节点局部认知结果</a:t>
            </a: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B5E9C9D3-9009-F849-A145-C9AC09CC4F46}"/>
              </a:ext>
            </a:extLst>
          </p:cNvPr>
          <p:cNvCxnSpPr>
            <a:cxnSpLocks/>
            <a:stCxn id="83" idx="2"/>
            <a:endCxn id="43" idx="0"/>
          </p:cNvCxnSpPr>
          <p:nvPr/>
        </p:nvCxnSpPr>
        <p:spPr>
          <a:xfrm>
            <a:off x="2623376" y="539405"/>
            <a:ext cx="0" cy="27162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7A428C35-9656-0551-C628-7A4C359B79FF}"/>
              </a:ext>
            </a:extLst>
          </p:cNvPr>
          <p:cNvGrpSpPr/>
          <p:nvPr/>
        </p:nvGrpSpPr>
        <p:grpSpPr>
          <a:xfrm>
            <a:off x="10536356" y="258454"/>
            <a:ext cx="2857974" cy="2022321"/>
            <a:chOff x="10504967" y="526395"/>
            <a:chExt cx="2857974" cy="2022321"/>
          </a:xfrm>
        </p:grpSpPr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A3BE9B08-BC70-6802-6365-88CE8936AD3E}"/>
                </a:ext>
              </a:extLst>
            </p:cNvPr>
            <p:cNvSpPr/>
            <p:nvPr/>
          </p:nvSpPr>
          <p:spPr>
            <a:xfrm>
              <a:off x="10504967" y="526395"/>
              <a:ext cx="2857974" cy="2022321"/>
            </a:xfrm>
            <a:prstGeom prst="roundRect">
              <a:avLst>
                <a:gd name="adj" fmla="val 4743"/>
              </a:avLst>
            </a:prstGeom>
            <a:solidFill>
              <a:srgbClr val="D9D1F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73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604AFEC8-AD86-3A37-B853-3ADB146D7220}"/>
                </a:ext>
              </a:extLst>
            </p:cNvPr>
            <p:cNvSpPr/>
            <p:nvPr/>
          </p:nvSpPr>
          <p:spPr>
            <a:xfrm>
              <a:off x="10636243" y="665427"/>
              <a:ext cx="2526863" cy="53629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b="1" i="0" dirty="0">
                  <a:solidFill>
                    <a:schemeClr val="bg1"/>
                  </a:solidFill>
                  <a:latin typeface="Microsoft YaHei"/>
                  <a:ea typeface="Microsoft YaHei"/>
                  <a:cs typeface="Microsoft YaHei"/>
                </a:rPr>
                <a:t>确权结果与存证输出</a:t>
              </a: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E91FA6AE-B261-13F9-04E7-69FBDF507528}"/>
                </a:ext>
              </a:extLst>
            </p:cNvPr>
            <p:cNvSpPr/>
            <p:nvPr/>
          </p:nvSpPr>
          <p:spPr>
            <a:xfrm>
              <a:off x="10636242" y="1347963"/>
              <a:ext cx="2526864" cy="43981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融合事件确权</a:t>
              </a:r>
            </a:p>
          </p:txBody>
        </p:sp>
        <p:sp>
          <p:nvSpPr>
            <p:cNvPr id="91" name="矩形: 圆角 90">
              <a:extLst>
                <a:ext uri="{FF2B5EF4-FFF2-40B4-BE49-F238E27FC236}">
                  <a16:creationId xmlns:a16="http://schemas.microsoft.com/office/drawing/2014/main" id="{074AB227-8DC2-1AFF-BC5F-F7CD1EEB8B3A}"/>
                </a:ext>
              </a:extLst>
            </p:cNvPr>
            <p:cNvSpPr/>
            <p:nvPr/>
          </p:nvSpPr>
          <p:spPr>
            <a:xfrm>
              <a:off x="10636242" y="1940939"/>
              <a:ext cx="2526865" cy="43981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rgbClr val="7030A0"/>
                  </a:solidFill>
                  <a:latin typeface="Microsoft YaHei"/>
                  <a:ea typeface="Microsoft YaHei"/>
                  <a:cs typeface="Microsoft YaHei"/>
                </a:rPr>
                <a:t>协同确权与凭证</a:t>
              </a:r>
            </a:p>
          </p:txBody>
        </p:sp>
      </p:grpSp>
      <p:sp>
        <p:nvSpPr>
          <p:cNvPr id="98" name="文本框 97">
            <a:extLst>
              <a:ext uri="{FF2B5EF4-FFF2-40B4-BE49-F238E27FC236}">
                <a16:creationId xmlns:a16="http://schemas.microsoft.com/office/drawing/2014/main" id="{892978C2-837F-4E60-3C93-2871F04C75F2}"/>
              </a:ext>
            </a:extLst>
          </p:cNvPr>
          <p:cNvSpPr txBox="1"/>
          <p:nvPr/>
        </p:nvSpPr>
        <p:spPr>
          <a:xfrm>
            <a:off x="10697023" y="2813787"/>
            <a:ext cx="2536639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1500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i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可信协同决策输出</a:t>
            </a: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F6C5EF22-6010-B8A0-2A4E-C0132F1D305A}"/>
              </a:ext>
            </a:extLst>
          </p:cNvPr>
          <p:cNvSpPr txBox="1"/>
          <p:nvPr/>
        </p:nvSpPr>
        <p:spPr>
          <a:xfrm>
            <a:off x="11077367" y="3737147"/>
            <a:ext cx="97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可验证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97A31F84-F09E-E2AB-138E-D2479A5FCD05}"/>
              </a:ext>
            </a:extLst>
          </p:cNvPr>
          <p:cNvSpPr txBox="1"/>
          <p:nvPr/>
        </p:nvSpPr>
        <p:spPr>
          <a:xfrm>
            <a:off x="12411294" y="3737147"/>
            <a:ext cx="97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可追溯</a:t>
            </a:r>
          </a:p>
        </p:txBody>
      </p:sp>
      <p:pic>
        <p:nvPicPr>
          <p:cNvPr id="102" name="图形 101">
            <a:extLst>
              <a:ext uri="{FF2B5EF4-FFF2-40B4-BE49-F238E27FC236}">
                <a16:creationId xmlns:a16="http://schemas.microsoft.com/office/drawing/2014/main" id="{EAF95BC1-CE87-69E6-337D-5BD79068E3F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676558" y="3716796"/>
            <a:ext cx="382193" cy="38219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D24B322-1951-977F-456E-7F564316CE70}"/>
              </a:ext>
            </a:extLst>
          </p:cNvPr>
          <p:cNvSpPr txBox="1"/>
          <p:nvPr/>
        </p:nvSpPr>
        <p:spPr>
          <a:xfrm>
            <a:off x="3193163" y="4402341"/>
            <a:ext cx="6772966" cy="3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 sz="1463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303" dirty="0">
              <a:solidFill>
                <a:schemeClr val="bg1"/>
              </a:solidFill>
            </a:endParaRPr>
          </a:p>
        </p:txBody>
      </p:sp>
      <p:pic>
        <p:nvPicPr>
          <p:cNvPr id="103" name="图形 102">
            <a:extLst>
              <a:ext uri="{FF2B5EF4-FFF2-40B4-BE49-F238E27FC236}">
                <a16:creationId xmlns:a16="http://schemas.microsoft.com/office/drawing/2014/main" id="{E555D83B-2DA9-806E-A132-BBF492B525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052182" y="3723506"/>
            <a:ext cx="382193" cy="382193"/>
          </a:xfrm>
          <a:prstGeom prst="rect">
            <a:avLst/>
          </a:prstGeom>
        </p:spPr>
      </p:pic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D3D4EC83-4A86-B66A-FD06-4F0A9DE29C22}"/>
              </a:ext>
            </a:extLst>
          </p:cNvPr>
          <p:cNvCxnSpPr>
            <a:cxnSpLocks/>
            <a:endCxn id="95" idx="1"/>
          </p:cNvCxnSpPr>
          <p:nvPr/>
        </p:nvCxnSpPr>
        <p:spPr>
          <a:xfrm>
            <a:off x="9985650" y="1269614"/>
            <a:ext cx="550706" cy="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D8581FC2-5A6D-798C-CF1D-4D5A37F300A2}"/>
              </a:ext>
            </a:extLst>
          </p:cNvPr>
          <p:cNvCxnSpPr>
            <a:cxnSpLocks/>
          </p:cNvCxnSpPr>
          <p:nvPr/>
        </p:nvCxnSpPr>
        <p:spPr>
          <a:xfrm>
            <a:off x="12029831" y="2280775"/>
            <a:ext cx="0" cy="48165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E9BEB9A5-7321-58BB-3FBB-6393A6E228E9}"/>
              </a:ext>
            </a:extLst>
          </p:cNvPr>
          <p:cNvSpPr txBox="1"/>
          <p:nvPr/>
        </p:nvSpPr>
        <p:spPr>
          <a:xfrm>
            <a:off x="10908429" y="3292575"/>
            <a:ext cx="2113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7030A0"/>
                </a:solidFill>
              </a:rPr>
              <a:t>确权可信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797BA831-BDB8-35A2-7758-7A67548F1E8F}"/>
              </a:ext>
            </a:extLst>
          </p:cNvPr>
          <p:cNvSpPr txBox="1"/>
          <p:nvPr/>
        </p:nvSpPr>
        <p:spPr>
          <a:xfrm>
            <a:off x="3798997" y="4395011"/>
            <a:ext cx="5953745" cy="411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73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有限链路的频谱感知结果轻量级安全传输方法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FFBC6AE-54C8-8B3B-04C9-9C5547E8221F}"/>
              </a:ext>
            </a:extLst>
          </p:cNvPr>
          <p:cNvSpPr/>
          <p:nvPr/>
        </p:nvSpPr>
        <p:spPr>
          <a:xfrm>
            <a:off x="789010" y="4893451"/>
            <a:ext cx="2695863" cy="6539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73" b="1" dirty="0">
                <a:solidFill>
                  <a:srgbClr val="111111"/>
                </a:solidFill>
                <a:latin typeface="Microsoft YaHei"/>
                <a:ea typeface="Microsoft YaHei"/>
              </a:rPr>
              <a:t>       事件级</a:t>
            </a:r>
            <a:r>
              <a:rPr lang="zh-CN" altLang="zh-CN" sz="2073" b="1" dirty="0">
                <a:solidFill>
                  <a:srgbClr val="111111"/>
                </a:solidFill>
                <a:latin typeface="Microsoft YaHei"/>
                <a:ea typeface="Microsoft YaHei"/>
              </a:rPr>
              <a:t>轻量消息</a:t>
            </a:r>
            <a:endParaRPr lang="zh-CN" altLang="en-US" sz="2073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8448D6-DD8A-28E1-DBA7-89A676693A6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9623" y="4941538"/>
            <a:ext cx="656518" cy="555023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4C61941-9D6B-FF03-20B3-FF751463BAB6}"/>
              </a:ext>
            </a:extLst>
          </p:cNvPr>
          <p:cNvSpPr/>
          <p:nvPr/>
        </p:nvSpPr>
        <p:spPr>
          <a:xfrm>
            <a:off x="4185012" y="4891520"/>
            <a:ext cx="2415912" cy="6539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73" b="1" dirty="0">
                <a:solidFill>
                  <a:srgbClr val="111111"/>
                </a:solidFill>
                <a:latin typeface="Microsoft YaHei"/>
                <a:ea typeface="Microsoft YaHei"/>
              </a:rPr>
              <a:t>       优先级调度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C3D4390-5095-F078-5AC0-0F84B8008BE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61920" y="4935119"/>
            <a:ext cx="548959" cy="541117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E788308-7398-0A30-7C3A-6EE6A178194C}"/>
              </a:ext>
            </a:extLst>
          </p:cNvPr>
          <p:cNvSpPr/>
          <p:nvPr/>
        </p:nvSpPr>
        <p:spPr>
          <a:xfrm>
            <a:off x="7290488" y="4878678"/>
            <a:ext cx="2415912" cy="6539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73" b="1" dirty="0">
                <a:solidFill>
                  <a:srgbClr val="111111"/>
                </a:solidFill>
                <a:latin typeface="Microsoft YaHei"/>
                <a:ea typeface="Microsoft YaHei"/>
              </a:rPr>
              <a:t>       聚合签名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0BC1A53-BFB0-309C-374E-A2CC0960D8C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83526" y="4912785"/>
            <a:ext cx="533248" cy="524783"/>
          </a:xfrm>
          <a:prstGeom prst="rect">
            <a:avLst/>
          </a:prstGeom>
        </p:spPr>
      </p:pic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3994581-FEB9-089C-8FD9-BF925C53657D}"/>
              </a:ext>
            </a:extLst>
          </p:cNvPr>
          <p:cNvSpPr/>
          <p:nvPr/>
        </p:nvSpPr>
        <p:spPr>
          <a:xfrm>
            <a:off x="10406539" y="4878678"/>
            <a:ext cx="2415912" cy="6539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73" b="1" dirty="0">
                <a:solidFill>
                  <a:srgbClr val="111111"/>
                </a:solidFill>
                <a:latin typeface="Microsoft YaHei"/>
                <a:ea typeface="Microsoft YaHei"/>
              </a:rPr>
              <a:t>       链下存储与</a:t>
            </a:r>
            <a:endParaRPr lang="en-US" altLang="zh-CN" sz="2073" b="1" dirty="0">
              <a:solidFill>
                <a:srgbClr val="111111"/>
              </a:solidFill>
              <a:latin typeface="Microsoft YaHei"/>
              <a:ea typeface="Microsoft YaHei"/>
            </a:endParaRPr>
          </a:p>
          <a:p>
            <a:pPr algn="ctr"/>
            <a:r>
              <a:rPr lang="en-US" altLang="zh-CN" sz="2073" b="1" dirty="0">
                <a:solidFill>
                  <a:srgbClr val="111111"/>
                </a:solidFill>
                <a:latin typeface="Microsoft YaHei"/>
                <a:ea typeface="Microsoft YaHei"/>
              </a:rPr>
              <a:t>      </a:t>
            </a:r>
            <a:r>
              <a:rPr lang="zh-CN" altLang="en-US" sz="2073" b="1" dirty="0">
                <a:solidFill>
                  <a:srgbClr val="111111"/>
                </a:solidFill>
                <a:latin typeface="Microsoft YaHei"/>
                <a:ea typeface="Microsoft YaHei"/>
              </a:rPr>
              <a:t>链下锚定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6014F0EB-038D-4E57-727E-E72A1EA4FBA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94490" y="4981892"/>
            <a:ext cx="550706" cy="447568"/>
          </a:xfrm>
          <a:prstGeom prst="rect">
            <a:avLst/>
          </a:prstGeom>
        </p:spPr>
      </p:pic>
      <p:sp>
        <p:nvSpPr>
          <p:cNvPr id="30" name="箭头: 右 29">
            <a:extLst>
              <a:ext uri="{FF2B5EF4-FFF2-40B4-BE49-F238E27FC236}">
                <a16:creationId xmlns:a16="http://schemas.microsoft.com/office/drawing/2014/main" id="{C16085FE-E7F9-DE0A-6510-74A5FF241C1B}"/>
              </a:ext>
            </a:extLst>
          </p:cNvPr>
          <p:cNvSpPr/>
          <p:nvPr/>
        </p:nvSpPr>
        <p:spPr>
          <a:xfrm rot="16200000">
            <a:off x="2740166" y="4137638"/>
            <a:ext cx="231431" cy="21077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A13E069E-40E7-843C-BD7F-C6A053AA22D1}"/>
              </a:ext>
            </a:extLst>
          </p:cNvPr>
          <p:cNvSpPr/>
          <p:nvPr/>
        </p:nvSpPr>
        <p:spPr>
          <a:xfrm rot="16200000">
            <a:off x="8423766" y="4148052"/>
            <a:ext cx="210603" cy="21077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E4C476F-5B8D-4E6D-0F6C-D1D24E54C50D}"/>
              </a:ext>
            </a:extLst>
          </p:cNvPr>
          <p:cNvSpPr txBox="1"/>
          <p:nvPr/>
        </p:nvSpPr>
        <p:spPr>
          <a:xfrm>
            <a:off x="2969087" y="4073129"/>
            <a:ext cx="749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保障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BA6B788-5707-A7EF-CB17-8660DC8FF189}"/>
              </a:ext>
            </a:extLst>
          </p:cNvPr>
          <p:cNvSpPr txBox="1"/>
          <p:nvPr/>
        </p:nvSpPr>
        <p:spPr>
          <a:xfrm>
            <a:off x="8616663" y="4071544"/>
            <a:ext cx="773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accent2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保障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516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118</TotalTime>
  <Words>134</Words>
  <Application>Microsoft Office PowerPoint</Application>
  <PresentationFormat>自定义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Microsoft YaHei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牛牛 牛</dc:creator>
  <cp:lastModifiedBy>牛牛 牛</cp:lastModifiedBy>
  <cp:revision>13</cp:revision>
  <dcterms:created xsi:type="dcterms:W3CDTF">2026-06-15T03:18:46Z</dcterms:created>
  <dcterms:modified xsi:type="dcterms:W3CDTF">2026-06-15T08:12:18Z</dcterms:modified>
</cp:coreProperties>
</file>