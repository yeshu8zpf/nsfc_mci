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9" r:id="rId2"/>
    <p:sldId id="270" r:id="rId3"/>
    <p:sldId id="271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9" autoAdjust="0"/>
    <p:restoredTop sz="94660"/>
  </p:normalViewPr>
  <p:slideViewPr>
    <p:cSldViewPr snapToGrid="0">
      <p:cViewPr>
        <p:scale>
          <a:sx n="83" d="100"/>
          <a:sy n="83" d="100"/>
        </p:scale>
        <p:origin x="-129" y="2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4DB9AA-118E-4B72-A2FA-789A5CD0C03A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C5962F-3058-49E3-8BBC-2FE33025A3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166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063456-C582-79EB-59C7-B3792C61C5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78C7F5A-0312-AF50-DB91-C134E4E6FF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306893-7CD5-E662-4180-901DE3D00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AD5E02-0366-21F5-8C08-A8DF7D67B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DB8C44-BE80-351E-0A3B-B616770CC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030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D13C11-8584-5BDF-BACE-D98298E1A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83CA7A-F3A0-D676-51BE-16D394C3F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E0E8C9-C04B-3BD1-185C-9B00E56D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A3D755-BC9A-6A4B-AF39-672C3DE38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B0BF75-30BE-CA36-2F61-4F97564D1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807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02E615-65CB-1597-2DE8-D86323206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FD414E-D88B-A131-9490-99F97BB12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A12B6D-D9C1-6EF2-CDEC-3FDD067C5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1F34E3-2DCB-AEFE-E7AA-EC0CD62E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7ADFD9-2B7C-BD19-AE24-EC4D72E5B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93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499FB3-D913-295C-2BD6-AF18C2ACF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D1A080-F533-0186-DD7E-EEF3B05284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E941981-9180-D5DC-634D-125CA64D9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956286-3442-0366-7A53-D33FCC2D4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93DE182-395F-C8E6-314D-1391B67DE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E05BE2-6BB6-DF67-D154-82440EE46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59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A56A0-2CFE-5BBE-48AF-5B6A6D718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969FA7-43D7-CF02-C4E2-0D363CA41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325768E-EF54-6C8C-D9A8-DD21E7630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24D52F3-5D7B-B908-B95C-2F2E0BE537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792B6B8-EB09-2300-BE16-0C4D02E927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CEA62B4-D38A-3D12-CE1E-335B6A91B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2168685-8E22-944A-609D-D0BB85EA4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B859C9D-9472-2C81-8814-46B4A877F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403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0551B5-E938-59C3-BC4F-3EB985AF0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F62DF09-DC33-9B01-5553-3B91CC15F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06615C2-69B9-039F-6E24-53ED2D9E8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5E9B6C-AEE1-6DAF-6712-62861F227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4059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0C19FDC-AB4F-6873-B2AC-414B4DB76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CA69B9-B335-4E29-4D31-967B30E69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0434A3-9075-CD73-1E45-AA4D8EBD9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5540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38A42D-5CED-B3FD-FCA4-6685981B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4CE6CA-C6B5-79D8-9186-3753385CA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30F9A9-BD92-1A5F-ECCC-9EB6118B2F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949592-F27B-32F6-5F68-1604EE1B8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874A7A-E0A2-F602-EA7E-F838C93C7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2B9435-F75A-D7DC-7E3E-4F1C1B8B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9684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D4AAA5-C714-86DC-E5AD-90529B3EF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B53AE4A-49ED-F032-C493-D261D00AF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1D5EC3-79B9-D392-ABA5-DF8D2BAA8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D7B11D4-FC13-A09B-D4F6-5A2544B85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A2250D-AC36-6F03-BFE4-C3852651A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EC8A01-9A54-C8D1-A2D9-1838B1422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699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D5AF8-A66F-0BD1-89A8-4D982DD9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8D26D58-DE27-3E23-BA56-E3DEF04FEB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45FD62-E4CF-A137-35D2-1D57964A2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2091FC-00EF-5268-7758-777FA4B5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283785-3B8E-F8D7-B41D-63E0E28DC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714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02E5C97-DCB7-7F1A-428C-C4F0815181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360747-D74A-F7DE-1D45-B862F7DF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747659-0DF6-7F4C-9743-847B80744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840166-08D9-8D3C-A5A6-7392944C9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F2303D-FCE7-968E-D050-FAABEB303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768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1E2687B-5482-E28A-0B54-F9FA13CCF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CBD062-1AF7-AA4A-8263-F360DF425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42A039-FCA5-292D-8EED-367FE824E7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40FC04-A88A-4BD5-84A0-C23ADC67066C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5CD49F-7238-A865-280D-4C3218763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18F3CF-06DC-9244-9B09-9C99486B05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955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sv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8.sv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: 圆角 1"/>
          <p:cNvSpPr/>
          <p:nvPr/>
        </p:nvSpPr>
        <p:spPr>
          <a:xfrm>
            <a:off x="8148937" y="817431"/>
            <a:ext cx="2314035" cy="5654034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5" name="矩形: 圆角 1064"/>
          <p:cNvSpPr/>
          <p:nvPr/>
        </p:nvSpPr>
        <p:spPr>
          <a:xfrm>
            <a:off x="8221232" y="1672304"/>
            <a:ext cx="2171172" cy="167057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829544">
              <a:defRPr/>
            </a:pPr>
            <a:endParaRPr lang="zh-CN" altLang="en-US" sz="1633" dirty="0">
              <a:solidFill>
                <a:prstClr val="black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1066" name="矩形: 圆角 1065"/>
          <p:cNvSpPr/>
          <p:nvPr/>
        </p:nvSpPr>
        <p:spPr>
          <a:xfrm>
            <a:off x="8221232" y="3577912"/>
            <a:ext cx="2171172" cy="6728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829544">
              <a:defRPr/>
            </a:pPr>
            <a:endParaRPr lang="zh-CN" altLang="en-US" sz="1633" dirty="0">
              <a:solidFill>
                <a:prstClr val="black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1067" name="矩形: 圆角 1066"/>
          <p:cNvSpPr/>
          <p:nvPr/>
        </p:nvSpPr>
        <p:spPr>
          <a:xfrm>
            <a:off x="8221232" y="4485784"/>
            <a:ext cx="2171172" cy="115039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829544">
              <a:defRPr/>
            </a:pPr>
            <a:endParaRPr lang="zh-CN" altLang="en-US" sz="1633" dirty="0">
              <a:solidFill>
                <a:prstClr val="black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152" name="矩形: 圆角 1066"/>
          <p:cNvSpPr/>
          <p:nvPr/>
        </p:nvSpPr>
        <p:spPr>
          <a:xfrm>
            <a:off x="8221232" y="5794017"/>
            <a:ext cx="2171172" cy="5029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829544">
              <a:defRPr/>
            </a:pPr>
            <a:endParaRPr lang="zh-CN" altLang="en-US" sz="1633" dirty="0">
              <a:solidFill>
                <a:prstClr val="black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95" name="矩形: 圆角 1"/>
          <p:cNvSpPr/>
          <p:nvPr/>
        </p:nvSpPr>
        <p:spPr>
          <a:xfrm>
            <a:off x="2902178" y="833560"/>
            <a:ext cx="2314035" cy="5654034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矩形: 圆角 43"/>
          <p:cNvSpPr/>
          <p:nvPr/>
        </p:nvSpPr>
        <p:spPr>
          <a:xfrm>
            <a:off x="2979657" y="1672304"/>
            <a:ext cx="2171172" cy="67226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829544">
              <a:defRPr/>
            </a:pPr>
            <a:endParaRPr lang="zh-CN" altLang="en-US" sz="1633" dirty="0">
              <a:solidFill>
                <a:prstClr val="black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2899585" y="833560"/>
            <a:ext cx="2313459" cy="65382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81" name="圆角矩形 80"/>
          <p:cNvSpPr/>
          <p:nvPr/>
        </p:nvSpPr>
        <p:spPr>
          <a:xfrm>
            <a:off x="1556788" y="398634"/>
            <a:ext cx="9068344" cy="6232974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96" name="矩形: 圆角 1"/>
          <p:cNvSpPr/>
          <p:nvPr/>
        </p:nvSpPr>
        <p:spPr>
          <a:xfrm>
            <a:off x="5525557" y="817431"/>
            <a:ext cx="2314035" cy="5654034"/>
          </a:xfrm>
          <a:prstGeom prst="roundRect">
            <a:avLst>
              <a:gd name="adj" fmla="val 0"/>
            </a:avLst>
          </a:prstGeom>
          <a:solidFill>
            <a:srgbClr val="DAE3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矩形: 圆角 1"/>
          <p:cNvSpPr/>
          <p:nvPr/>
        </p:nvSpPr>
        <p:spPr>
          <a:xfrm>
            <a:off x="1721830" y="817431"/>
            <a:ext cx="871003" cy="5654034"/>
          </a:xfrm>
          <a:prstGeom prst="roundRect">
            <a:avLst>
              <a:gd name="adj" fmla="val 0"/>
            </a:avLst>
          </a:prstGeom>
          <a:solidFill>
            <a:srgbClr val="DAE3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矩形: 圆角 3"/>
          <p:cNvSpPr/>
          <p:nvPr/>
        </p:nvSpPr>
        <p:spPr>
          <a:xfrm>
            <a:off x="3038704" y="204502"/>
            <a:ext cx="6104513" cy="433197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29544">
              <a:defRPr/>
            </a:pPr>
            <a:r>
              <a:rPr lang="zh-CN" altLang="en-US" sz="1633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  <a:sym typeface="+mn-ea"/>
              </a:rPr>
              <a:t>链上链下协同的可追溯频谱数据可信管理办法</a:t>
            </a:r>
            <a:endParaRPr lang="zh-CN" altLang="en-US" sz="1633" b="1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3574152" y="1883431"/>
            <a:ext cx="1634284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频谱数据体量庞大</a:t>
            </a:r>
            <a:endParaRPr lang="en-US" altLang="zh-CN" sz="1089" b="1" dirty="0">
              <a:solidFill>
                <a:prstClr val="black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buClrTx/>
              <a:buSzTx/>
              <a:buFontTx/>
              <a:defRPr/>
            </a:pPr>
            <a:r>
              <a:rPr lang="zh-CN" altLang="en-US" sz="1089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全量上链开销大</a:t>
            </a:r>
            <a:endParaRPr lang="en-US" altLang="zh-CN" sz="1089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5" name="Picture 4" descr="Learning 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2667" y="3359009"/>
            <a:ext cx="463153" cy="463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文本框 75"/>
          <p:cNvSpPr txBox="1"/>
          <p:nvPr/>
        </p:nvSpPr>
        <p:spPr>
          <a:xfrm>
            <a:off x="5440012" y="3880344"/>
            <a:ext cx="809365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语义价值评估模型</a:t>
            </a:r>
          </a:p>
        </p:txBody>
      </p:sp>
      <p:pic>
        <p:nvPicPr>
          <p:cNvPr id="2054" name="Picture 6" descr="Balance 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2401" y="3371683"/>
            <a:ext cx="463153" cy="463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文本框 83"/>
          <p:cNvSpPr txBox="1"/>
          <p:nvPr/>
        </p:nvSpPr>
        <p:spPr>
          <a:xfrm>
            <a:off x="6249376" y="3868247"/>
            <a:ext cx="907871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代价感知增量缓存策略</a:t>
            </a:r>
          </a:p>
        </p:txBody>
      </p:sp>
      <p:pic>
        <p:nvPicPr>
          <p:cNvPr id="1034" name="Picture 10" descr="Data server 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1928" y="3359009"/>
            <a:ext cx="463153" cy="463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5" name="文本框 84"/>
          <p:cNvSpPr txBox="1"/>
          <p:nvPr/>
        </p:nvSpPr>
        <p:spPr>
          <a:xfrm>
            <a:off x="7081208" y="3865943"/>
            <a:ext cx="789203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动态语</a:t>
            </a:r>
            <a:br>
              <a:rPr lang="en-US" altLang="zh-CN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义缓存池</a:t>
            </a:r>
          </a:p>
        </p:txBody>
      </p:sp>
      <p:pic>
        <p:nvPicPr>
          <p:cNvPr id="1036" name="Picture 12" descr="Gallery 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7671" y="1655023"/>
            <a:ext cx="666502" cy="666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箭头: 直角上 53"/>
          <p:cNvSpPr/>
          <p:nvPr/>
        </p:nvSpPr>
        <p:spPr>
          <a:xfrm rot="16200000" flipV="1">
            <a:off x="5957890" y="2414846"/>
            <a:ext cx="1535201" cy="428589"/>
          </a:xfrm>
          <a:prstGeom prst="bentUpArrow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88" name="文本框 87"/>
          <p:cNvSpPr txBox="1"/>
          <p:nvPr/>
        </p:nvSpPr>
        <p:spPr>
          <a:xfrm>
            <a:off x="6945546" y="2265647"/>
            <a:ext cx="910752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高保真存储模式</a:t>
            </a:r>
          </a:p>
        </p:txBody>
      </p:sp>
      <p:sp>
        <p:nvSpPr>
          <p:cNvPr id="89" name="文本框 88"/>
          <p:cNvSpPr txBox="1"/>
          <p:nvPr/>
        </p:nvSpPr>
        <p:spPr>
          <a:xfrm>
            <a:off x="5954376" y="2039831"/>
            <a:ext cx="575542" cy="89865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lvl="0" algn="ctr">
              <a:defRPr/>
            </a:pPr>
            <a:r>
              <a:rPr lang="zh-CN" altLang="en-US" sz="127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关键交互点</a:t>
            </a:r>
          </a:p>
        </p:txBody>
      </p:sp>
      <p:pic>
        <p:nvPicPr>
          <p:cNvPr id="1038" name="Picture 14" descr="Zip folde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7995" y="5386742"/>
            <a:ext cx="585854" cy="585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箭头: 直角上 56"/>
          <p:cNvSpPr/>
          <p:nvPr/>
        </p:nvSpPr>
        <p:spPr>
          <a:xfrm rot="16200000" flipH="1" flipV="1">
            <a:off x="6149718" y="4822203"/>
            <a:ext cx="1434967" cy="343332"/>
          </a:xfrm>
          <a:prstGeom prst="bentUpArrow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91" name="文本框 90"/>
          <p:cNvSpPr txBox="1"/>
          <p:nvPr/>
        </p:nvSpPr>
        <p:spPr>
          <a:xfrm>
            <a:off x="8149800" y="3082500"/>
            <a:ext cx="2314035" cy="259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多维资源联合弹性配置博弈</a:t>
            </a:r>
          </a:p>
        </p:txBody>
      </p:sp>
      <p:sp>
        <p:nvSpPr>
          <p:cNvPr id="92" name="文本框 91"/>
          <p:cNvSpPr txBox="1"/>
          <p:nvPr/>
        </p:nvSpPr>
        <p:spPr>
          <a:xfrm>
            <a:off x="6751221" y="4450068"/>
            <a:ext cx="380104" cy="89865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lvl="0" algn="ctr">
              <a:defRPr/>
            </a:pPr>
            <a:r>
              <a:rPr lang="zh-CN" altLang="en-US" sz="127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常规阶段</a:t>
            </a:r>
          </a:p>
        </p:txBody>
      </p:sp>
      <p:pic>
        <p:nvPicPr>
          <p:cNvPr id="1040" name="Picture 16" descr="Knowledge representation 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031" y="5034769"/>
            <a:ext cx="408427" cy="40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base 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625" y="5034769"/>
            <a:ext cx="408427" cy="40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3" name="左大括号 92"/>
          <p:cNvSpPr/>
          <p:nvPr/>
        </p:nvSpPr>
        <p:spPr>
          <a:xfrm rot="5400000">
            <a:off x="5923326" y="4332551"/>
            <a:ext cx="369831" cy="677447"/>
          </a:xfrm>
          <a:prstGeom prst="leftBrace">
            <a:avLst>
              <a:gd name="adj1" fmla="val 32977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cxnSp>
        <p:nvCxnSpPr>
          <p:cNvPr id="1024" name="连接符: 肘形 1023"/>
          <p:cNvCxnSpPr/>
          <p:nvPr/>
        </p:nvCxnSpPr>
        <p:spPr>
          <a:xfrm rot="5400000" flipH="1" flipV="1">
            <a:off x="6295461" y="4086574"/>
            <a:ext cx="159569" cy="538617"/>
          </a:xfrm>
          <a:prstGeom prst="bentConnector5">
            <a:avLst>
              <a:gd name="adj1" fmla="val 43699"/>
              <a:gd name="adj2" fmla="val 98029"/>
              <a:gd name="adj3" fmla="val 43741"/>
            </a:avLst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7" name="文本框 1036"/>
          <p:cNvSpPr txBox="1"/>
          <p:nvPr/>
        </p:nvSpPr>
        <p:spPr>
          <a:xfrm>
            <a:off x="5467662" y="5525862"/>
            <a:ext cx="713163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语义价值评分</a:t>
            </a:r>
          </a:p>
        </p:txBody>
      </p:sp>
      <p:sp>
        <p:nvSpPr>
          <p:cNvPr id="1039" name="文本框 1038"/>
          <p:cNvSpPr txBox="1"/>
          <p:nvPr/>
        </p:nvSpPr>
        <p:spPr>
          <a:xfrm>
            <a:off x="6021256" y="5525862"/>
            <a:ext cx="713163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存储压力状态</a:t>
            </a:r>
          </a:p>
        </p:txBody>
      </p:sp>
      <p:sp>
        <p:nvSpPr>
          <p:cNvPr id="1041" name="箭头: 下 1040"/>
          <p:cNvSpPr/>
          <p:nvPr/>
        </p:nvSpPr>
        <p:spPr>
          <a:xfrm rot="16200000">
            <a:off x="6070798" y="3493231"/>
            <a:ext cx="266140" cy="245402"/>
          </a:xfrm>
          <a:prstGeom prst="downArrow">
            <a:avLst>
              <a:gd name="adj1" fmla="val 34128"/>
              <a:gd name="adj2" fmla="val 4673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43" name="箭头: 下 1042"/>
          <p:cNvSpPr/>
          <p:nvPr/>
        </p:nvSpPr>
        <p:spPr>
          <a:xfrm rot="16200000">
            <a:off x="6952170" y="3503024"/>
            <a:ext cx="266140" cy="245402"/>
          </a:xfrm>
          <a:prstGeom prst="downArrow">
            <a:avLst>
              <a:gd name="adj1" fmla="val 34128"/>
              <a:gd name="adj2" fmla="val 4673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pic>
        <p:nvPicPr>
          <p:cNvPr id="1044" name="Picture 20" descr="Cycle 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393" y="2046167"/>
            <a:ext cx="922849" cy="922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Wifi 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6236" y="1672304"/>
            <a:ext cx="396330" cy="396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矩形: 圆角 107"/>
          <p:cNvSpPr/>
          <p:nvPr/>
        </p:nvSpPr>
        <p:spPr>
          <a:xfrm>
            <a:off x="8789227" y="1738552"/>
            <a:ext cx="1494877" cy="233304"/>
          </a:xfrm>
          <a:prstGeom prst="roundRect">
            <a:avLst/>
          </a:prstGeom>
          <a:noFill/>
          <a:ln w="158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829544">
              <a:defRPr/>
            </a:pPr>
            <a:r>
              <a:rPr lang="zh-CN" altLang="en-US" sz="127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弱网</a:t>
            </a:r>
            <a:r>
              <a:rPr lang="en-US" altLang="zh-CN" sz="127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7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动态环境</a:t>
            </a:r>
          </a:p>
        </p:txBody>
      </p:sp>
      <p:sp>
        <p:nvSpPr>
          <p:cNvPr id="1047" name="文本框 1046"/>
          <p:cNvSpPr txBox="1"/>
          <p:nvPr/>
        </p:nvSpPr>
        <p:spPr>
          <a:xfrm>
            <a:off x="9420109" y="2028886"/>
            <a:ext cx="380104" cy="31510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lvl="0" algn="ctr">
              <a:defRPr/>
            </a:pPr>
            <a:r>
              <a:rPr lang="zh-CN" altLang="en-US" sz="127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云</a:t>
            </a:r>
          </a:p>
        </p:txBody>
      </p:sp>
      <p:sp>
        <p:nvSpPr>
          <p:cNvPr id="1048" name="文本框 1047"/>
          <p:cNvSpPr txBox="1"/>
          <p:nvPr/>
        </p:nvSpPr>
        <p:spPr>
          <a:xfrm>
            <a:off x="9315266" y="2827882"/>
            <a:ext cx="380104" cy="31510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lvl="0" algn="ctr">
              <a:defRPr/>
            </a:pPr>
            <a:r>
              <a:rPr lang="zh-CN" altLang="en-US" sz="127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边</a:t>
            </a:r>
          </a:p>
        </p:txBody>
      </p:sp>
      <p:sp>
        <p:nvSpPr>
          <p:cNvPr id="1049" name="文本框 1048"/>
          <p:cNvSpPr txBox="1"/>
          <p:nvPr/>
        </p:nvSpPr>
        <p:spPr>
          <a:xfrm>
            <a:off x="8652220" y="2321525"/>
            <a:ext cx="380104" cy="31510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lvl="0" algn="ctr">
              <a:defRPr/>
            </a:pPr>
            <a:r>
              <a:rPr lang="zh-CN" altLang="en-US" sz="127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端</a:t>
            </a:r>
          </a:p>
        </p:txBody>
      </p:sp>
      <p:sp>
        <p:nvSpPr>
          <p:cNvPr id="1050" name="文本框 1049"/>
          <p:cNvSpPr txBox="1"/>
          <p:nvPr/>
        </p:nvSpPr>
        <p:spPr>
          <a:xfrm>
            <a:off x="6985006" y="5907501"/>
            <a:ext cx="831831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特征级</a:t>
            </a:r>
          </a:p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压缩存储</a:t>
            </a:r>
          </a:p>
        </p:txBody>
      </p:sp>
      <p:pic>
        <p:nvPicPr>
          <p:cNvPr id="1051" name="Picture 24" descr="Testing 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2601" y="3642431"/>
            <a:ext cx="543801" cy="543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2" name="文本框 1051"/>
          <p:cNvSpPr txBox="1"/>
          <p:nvPr/>
        </p:nvSpPr>
        <p:spPr>
          <a:xfrm>
            <a:off x="9114125" y="3705511"/>
            <a:ext cx="1126774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协同效能评估函数</a:t>
            </a:r>
          </a:p>
        </p:txBody>
      </p:sp>
      <p:pic>
        <p:nvPicPr>
          <p:cNvPr id="1053" name="Picture 26" descr="Adaptation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2277" y="4632103"/>
            <a:ext cx="459120" cy="459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28" descr="Road 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9347430" y="4365387"/>
            <a:ext cx="658437" cy="1383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5" name="文本框 1054"/>
          <p:cNvSpPr txBox="1"/>
          <p:nvPr/>
        </p:nvSpPr>
        <p:spPr>
          <a:xfrm>
            <a:off x="8846833" y="5162079"/>
            <a:ext cx="1178620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常规</a:t>
            </a:r>
          </a:p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任务通道</a:t>
            </a:r>
          </a:p>
        </p:txBody>
      </p:sp>
      <p:sp>
        <p:nvSpPr>
          <p:cNvPr id="1056" name="文本框 1055"/>
          <p:cNvSpPr txBox="1"/>
          <p:nvPr/>
        </p:nvSpPr>
        <p:spPr>
          <a:xfrm>
            <a:off x="8847409" y="4533597"/>
            <a:ext cx="1178620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高动态</a:t>
            </a:r>
          </a:p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任务通道</a:t>
            </a:r>
          </a:p>
        </p:txBody>
      </p:sp>
      <p:sp>
        <p:nvSpPr>
          <p:cNvPr id="1058" name="箭头: 下 1057"/>
          <p:cNvSpPr/>
          <p:nvPr/>
        </p:nvSpPr>
        <p:spPr>
          <a:xfrm>
            <a:off x="9242011" y="3396453"/>
            <a:ext cx="180883" cy="132494"/>
          </a:xfrm>
          <a:prstGeom prst="downArrow">
            <a:avLst>
              <a:gd name="adj1" fmla="val 34037"/>
              <a:gd name="adj2" fmla="val 5281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C00000"/>
              </a:gs>
              <a:gs pos="100000">
                <a:srgbClr val="C000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59" name="箭头: 下 1058"/>
          <p:cNvSpPr/>
          <p:nvPr/>
        </p:nvSpPr>
        <p:spPr>
          <a:xfrm>
            <a:off x="9242011" y="4283586"/>
            <a:ext cx="180883" cy="132494"/>
          </a:xfrm>
          <a:prstGeom prst="downArrow">
            <a:avLst>
              <a:gd name="adj1" fmla="val 34037"/>
              <a:gd name="adj2" fmla="val 5281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C00000"/>
              </a:gs>
              <a:gs pos="100000">
                <a:srgbClr val="C000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60" name="文本框 1059"/>
          <p:cNvSpPr txBox="1"/>
          <p:nvPr/>
        </p:nvSpPr>
        <p:spPr>
          <a:xfrm>
            <a:off x="8149800" y="5162079"/>
            <a:ext cx="964325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自适应</a:t>
            </a:r>
            <a:br>
              <a:rPr lang="en-US" altLang="zh-CN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业务流调度</a:t>
            </a:r>
          </a:p>
        </p:txBody>
      </p:sp>
      <p:pic>
        <p:nvPicPr>
          <p:cNvPr id="1057" name="Picture 30" descr="Robots 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9810" y="5814179"/>
            <a:ext cx="491956" cy="45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1" name="文本框 1060"/>
          <p:cNvSpPr txBox="1"/>
          <p:nvPr/>
        </p:nvSpPr>
        <p:spPr>
          <a:xfrm>
            <a:off x="8966654" y="5842406"/>
            <a:ext cx="1248323" cy="42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提升集群协同</a:t>
            </a:r>
            <a:br>
              <a:rPr lang="en-US" altLang="zh-CN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稳定性与效率</a:t>
            </a:r>
          </a:p>
        </p:txBody>
      </p:sp>
      <p:sp>
        <p:nvSpPr>
          <p:cNvPr id="1068" name="箭头: 下 1067"/>
          <p:cNvSpPr/>
          <p:nvPr/>
        </p:nvSpPr>
        <p:spPr>
          <a:xfrm>
            <a:off x="9242011" y="5661523"/>
            <a:ext cx="180883" cy="132494"/>
          </a:xfrm>
          <a:prstGeom prst="downArrow">
            <a:avLst>
              <a:gd name="adj1" fmla="val 34037"/>
              <a:gd name="adj2" fmla="val 5281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C00000"/>
              </a:gs>
              <a:gs pos="100000">
                <a:srgbClr val="C000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74" name="箭头: 下 1073"/>
          <p:cNvSpPr/>
          <p:nvPr/>
        </p:nvSpPr>
        <p:spPr>
          <a:xfrm>
            <a:off x="7358869" y="2713246"/>
            <a:ext cx="202773" cy="59622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75" name="箭头: 下 1074"/>
          <p:cNvSpPr/>
          <p:nvPr/>
        </p:nvSpPr>
        <p:spPr>
          <a:xfrm rot="10800000">
            <a:off x="7366358" y="4329672"/>
            <a:ext cx="202773" cy="1031724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99" name="箭头: 燕尾形 1071"/>
          <p:cNvSpPr/>
          <p:nvPr/>
        </p:nvSpPr>
        <p:spPr>
          <a:xfrm>
            <a:off x="5248759" y="3466445"/>
            <a:ext cx="251162" cy="356005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0" name="箭头: 燕尾形 1071"/>
          <p:cNvSpPr/>
          <p:nvPr/>
        </p:nvSpPr>
        <p:spPr>
          <a:xfrm>
            <a:off x="7863498" y="3466445"/>
            <a:ext cx="251162" cy="356005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01" name="矩形 100"/>
          <p:cNvSpPr/>
          <p:nvPr/>
        </p:nvSpPr>
        <p:spPr>
          <a:xfrm>
            <a:off x="5525269" y="809655"/>
            <a:ext cx="2314035" cy="653829"/>
          </a:xfrm>
          <a:prstGeom prst="rect">
            <a:avLst/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116" name="矩形 115"/>
          <p:cNvSpPr/>
          <p:nvPr/>
        </p:nvSpPr>
        <p:spPr>
          <a:xfrm>
            <a:off x="8150376" y="817431"/>
            <a:ext cx="2313459" cy="65382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sp>
        <p:nvSpPr>
          <p:cNvPr id="21" name="文本框 20"/>
          <p:cNvSpPr txBox="1"/>
          <p:nvPr/>
        </p:nvSpPr>
        <p:spPr>
          <a:xfrm>
            <a:off x="5547159" y="894965"/>
            <a:ext cx="2292145" cy="48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544">
              <a:defRPr/>
            </a:pPr>
            <a:r>
              <a:rPr lang="zh-CN" altLang="en-US" sz="127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结合频谱特征的可验证分级</a:t>
            </a:r>
            <a:endParaRPr lang="en-US" altLang="zh-CN" sz="127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 defTabSz="829544">
              <a:defRPr/>
            </a:pPr>
            <a:r>
              <a:rPr lang="zh-CN" altLang="en-US" sz="127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索引构建方法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8149800" y="915937"/>
            <a:ext cx="2314035" cy="678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544">
              <a:defRPr/>
            </a:pPr>
            <a:r>
              <a:rPr lang="zh-CN" altLang="en-US" sz="127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基于学习索引的高效可验证查询与索引</a:t>
            </a:r>
            <a:r>
              <a:rPr lang="en-US" altLang="zh-CN" sz="127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127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摘要协同更新优化机制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2899009" y="915937"/>
            <a:ext cx="2310579" cy="48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544">
              <a:defRPr/>
            </a:pPr>
            <a:r>
              <a:rPr lang="zh-CN" altLang="en-US" sz="127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事件驱动的链上链下分层存证与动态摘要机制</a:t>
            </a:r>
          </a:p>
        </p:txBody>
      </p:sp>
      <p:sp>
        <p:nvSpPr>
          <p:cNvPr id="145" name="箭头: 下 1067"/>
          <p:cNvSpPr/>
          <p:nvPr/>
        </p:nvSpPr>
        <p:spPr>
          <a:xfrm>
            <a:off x="3973877" y="2360119"/>
            <a:ext cx="170637" cy="254199"/>
          </a:xfrm>
          <a:prstGeom prst="downArrow">
            <a:avLst>
              <a:gd name="adj1" fmla="val 34037"/>
              <a:gd name="adj2" fmla="val 5281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C00000"/>
              </a:gs>
              <a:gs pos="100000">
                <a:srgbClr val="C000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pic>
        <p:nvPicPr>
          <p:cNvPr id="3" name="图形 2" descr="数据库 纯色填充">
            <a:extLst>
              <a:ext uri="{FF2B5EF4-FFF2-40B4-BE49-F238E27FC236}">
                <a16:creationId xmlns:a16="http://schemas.microsoft.com/office/drawing/2014/main" id="{7C7F3871-282D-223B-EDC8-1A90B78B19C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091952" y="1661215"/>
            <a:ext cx="640080" cy="640080"/>
          </a:xfrm>
          <a:prstGeom prst="rect">
            <a:avLst/>
          </a:prstGeom>
        </p:spPr>
      </p:pic>
      <p:grpSp>
        <p:nvGrpSpPr>
          <p:cNvPr id="20" name="组合 19">
            <a:extLst>
              <a:ext uri="{FF2B5EF4-FFF2-40B4-BE49-F238E27FC236}">
                <a16:creationId xmlns:a16="http://schemas.microsoft.com/office/drawing/2014/main" id="{72E5C1C8-DA60-8B8F-7508-DA0FFF738C25}"/>
              </a:ext>
            </a:extLst>
          </p:cNvPr>
          <p:cNvGrpSpPr/>
          <p:nvPr/>
        </p:nvGrpSpPr>
        <p:grpSpPr>
          <a:xfrm>
            <a:off x="257555" y="2439700"/>
            <a:ext cx="3808676" cy="2405837"/>
            <a:chOff x="269667" y="2403364"/>
            <a:chExt cx="3808676" cy="2405837"/>
          </a:xfrm>
        </p:grpSpPr>
        <p:pic>
          <p:nvPicPr>
            <p:cNvPr id="16" name="图片 15" descr="游戏机里面的人物&#10;&#10;中度可信度描述已自动生成">
              <a:extLst>
                <a:ext uri="{FF2B5EF4-FFF2-40B4-BE49-F238E27FC236}">
                  <a16:creationId xmlns:a16="http://schemas.microsoft.com/office/drawing/2014/main" id="{BD342551-752E-F0CF-0C32-F89168C77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22" b="4845"/>
            <a:stretch/>
          </p:blipFill>
          <p:spPr>
            <a:xfrm>
              <a:off x="269667" y="2403364"/>
              <a:ext cx="3808676" cy="720000"/>
            </a:xfrm>
            <a:prstGeom prst="rect">
              <a:avLst/>
            </a:prstGeom>
            <a:scene3d>
              <a:camera prst="orthographicFront">
                <a:rot lat="0" lon="0" rev="16200000"/>
              </a:camera>
              <a:lightRig rig="threePt" dir="t"/>
            </a:scene3d>
          </p:spPr>
        </p:pic>
        <p:pic>
          <p:nvPicPr>
            <p:cNvPr id="17" name="图片 16" descr="游戏机里面的人物&#10;&#10;中度可信度描述已自动生成">
              <a:extLst>
                <a:ext uri="{FF2B5EF4-FFF2-40B4-BE49-F238E27FC236}">
                  <a16:creationId xmlns:a16="http://schemas.microsoft.com/office/drawing/2014/main" id="{BE5D9F77-96F2-E6A0-A3E1-F29FCC7C1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" t="1722" b="4845"/>
            <a:stretch/>
          </p:blipFill>
          <p:spPr>
            <a:xfrm>
              <a:off x="348166" y="4089201"/>
              <a:ext cx="3646026" cy="720000"/>
            </a:xfrm>
            <a:prstGeom prst="rect">
              <a:avLst/>
            </a:prstGeom>
            <a:scene3d>
              <a:camera prst="orthographicFront">
                <a:rot lat="0" lon="0" rev="16200000"/>
              </a:camera>
              <a:lightRig rig="threePt" dir="t"/>
            </a:scene3d>
          </p:spPr>
        </p:pic>
      </p:grpSp>
      <p:sp>
        <p:nvSpPr>
          <p:cNvPr id="23" name="箭头: 燕尾形 1071">
            <a:extLst>
              <a:ext uri="{FF2B5EF4-FFF2-40B4-BE49-F238E27FC236}">
                <a16:creationId xmlns:a16="http://schemas.microsoft.com/office/drawing/2014/main" id="{08E57F9C-821D-A677-5EFE-1EBD088E746F}"/>
              </a:ext>
            </a:extLst>
          </p:cNvPr>
          <p:cNvSpPr/>
          <p:nvPr/>
        </p:nvSpPr>
        <p:spPr>
          <a:xfrm>
            <a:off x="2634310" y="3474699"/>
            <a:ext cx="251162" cy="356005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3"/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66D43749-61F5-A753-79A7-360C2C3BD167}"/>
              </a:ext>
            </a:extLst>
          </p:cNvPr>
          <p:cNvGrpSpPr/>
          <p:nvPr/>
        </p:nvGrpSpPr>
        <p:grpSpPr>
          <a:xfrm>
            <a:off x="2984842" y="2709452"/>
            <a:ext cx="2171172" cy="3673470"/>
            <a:chOff x="2984842" y="2709452"/>
            <a:chExt cx="2171172" cy="3673470"/>
          </a:xfrm>
        </p:grpSpPr>
        <p:sp>
          <p:nvSpPr>
            <p:cNvPr id="69" name="矩形: 圆角 44"/>
            <p:cNvSpPr/>
            <p:nvPr/>
          </p:nvSpPr>
          <p:spPr>
            <a:xfrm>
              <a:off x="2984842" y="2709452"/>
              <a:ext cx="2171172" cy="367347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 cmpd="sng">
              <a:solidFill>
                <a:srgbClr val="C00000"/>
              </a:solidFill>
              <a:prstDash val="soli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829544">
                <a:defRPr/>
              </a:pPr>
              <a:endParaRPr lang="zh-CN" altLang="en-US" sz="1633" dirty="0">
                <a:solidFill>
                  <a:prstClr val="black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26" name="矩形: 圆角 107"/>
            <p:cNvSpPr/>
            <p:nvPr/>
          </p:nvSpPr>
          <p:spPr>
            <a:xfrm>
              <a:off x="3115608" y="2764179"/>
              <a:ext cx="1892359" cy="233304"/>
            </a:xfrm>
            <a:prstGeom prst="roundRect">
              <a:avLst/>
            </a:prstGeom>
            <a:noFill/>
            <a:ln w="15875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829544">
                <a:defRPr/>
              </a:pPr>
              <a:r>
                <a:rPr lang="zh-CN" altLang="en-US" sz="127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数据分层差异化存储</a:t>
              </a:r>
            </a:p>
          </p:txBody>
        </p:sp>
        <p:pic>
          <p:nvPicPr>
            <p:cNvPr id="55" name="图形 54">
              <a:extLst>
                <a:ext uri="{FF2B5EF4-FFF2-40B4-BE49-F238E27FC236}">
                  <a16:creationId xmlns:a16="http://schemas.microsoft.com/office/drawing/2014/main" id="{4554D2FD-C9E4-624F-B264-1B95F1946E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3095973" y="3035521"/>
              <a:ext cx="2020824" cy="326602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C6E089EB-0634-2B42-2D1C-FD4BDD584D3F}"/>
              </a:ext>
            </a:extLst>
          </p:cNvPr>
          <p:cNvGrpSpPr/>
          <p:nvPr/>
        </p:nvGrpSpPr>
        <p:grpSpPr>
          <a:xfrm>
            <a:off x="2729039" y="646443"/>
            <a:ext cx="2981897" cy="5499952"/>
            <a:chOff x="2729039" y="646443"/>
            <a:chExt cx="2981897" cy="5499952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7A84D86-83FA-7C4D-2E29-7E90C0E53EB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872543" y="1104025"/>
              <a:ext cx="1305506" cy="1542472"/>
              <a:chOff x="2289028" y="2731089"/>
              <a:chExt cx="2107361" cy="2489875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171ABA96-6451-FBC7-0A6D-3C69524D4CDF}"/>
                  </a:ext>
                </a:extLst>
              </p:cNvPr>
              <p:cNvCxnSpPr/>
              <p:nvPr/>
            </p:nvCxnSpPr>
            <p:spPr>
              <a:xfrm flipV="1">
                <a:off x="3495108" y="2901658"/>
                <a:ext cx="0" cy="231930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  <a:scene3d>
                <a:camera prst="orthographicFront">
                  <a:rot lat="0" lon="0" rev="16200000"/>
                </a:camera>
                <a:lightRig rig="threePt" dir="t"/>
              </a:scene3d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E85BD894-6D09-6240-2D5E-32A34753BD0B}"/>
                  </a:ext>
                </a:extLst>
              </p:cNvPr>
              <p:cNvGrpSpPr/>
              <p:nvPr/>
            </p:nvGrpSpPr>
            <p:grpSpPr>
              <a:xfrm>
                <a:off x="2289028" y="2731089"/>
                <a:ext cx="2107361" cy="1289849"/>
                <a:chOff x="2289028" y="2731089"/>
                <a:chExt cx="2107361" cy="1289849"/>
              </a:xfrm>
            </p:grpSpPr>
            <p:cxnSp>
              <p:nvCxnSpPr>
                <p:cNvPr id="20" name="直接箭头连接符 19">
                  <a:extLst>
                    <a:ext uri="{FF2B5EF4-FFF2-40B4-BE49-F238E27FC236}">
                      <a16:creationId xmlns:a16="http://schemas.microsoft.com/office/drawing/2014/main" id="{ECD89688-564C-8E50-BEAE-EB4EF1C15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89028" y="2731089"/>
                  <a:ext cx="0" cy="1289849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8922874E-47E0-A55A-0094-285952517F29}"/>
                    </a:ext>
                  </a:extLst>
                </p:cNvPr>
                <p:cNvSpPr/>
                <p:nvPr/>
              </p:nvSpPr>
              <p:spPr>
                <a:xfrm>
                  <a:off x="2289028" y="2803756"/>
                  <a:ext cx="1913579" cy="1180848"/>
                </a:xfrm>
                <a:custGeom>
                  <a:avLst/>
                  <a:gdLst>
                    <a:gd name="connsiteX0" fmla="*/ 0 w 1913579"/>
                    <a:gd name="connsiteY0" fmla="*/ 1180848 h 1180848"/>
                    <a:gd name="connsiteX1" fmla="*/ 454172 w 1913579"/>
                    <a:gd name="connsiteY1" fmla="*/ 460228 h 1180848"/>
                    <a:gd name="connsiteX2" fmla="*/ 654008 w 1913579"/>
                    <a:gd name="connsiteY2" fmla="*/ 859900 h 1180848"/>
                    <a:gd name="connsiteX3" fmla="*/ 1223237 w 1913579"/>
                    <a:gd name="connsiteY3" fmla="*/ 0 h 1180848"/>
                    <a:gd name="connsiteX4" fmla="*/ 1417017 w 1913579"/>
                    <a:gd name="connsiteY4" fmla="*/ 865955 h 1180848"/>
                    <a:gd name="connsiteX5" fmla="*/ 1913579 w 1913579"/>
                    <a:gd name="connsiteY5" fmla="*/ 950734 h 11808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13579" h="1180848">
                      <a:moveTo>
                        <a:pt x="0" y="1180848"/>
                      </a:moveTo>
                      <a:lnTo>
                        <a:pt x="454172" y="460228"/>
                      </a:lnTo>
                      <a:lnTo>
                        <a:pt x="654008" y="859900"/>
                      </a:lnTo>
                      <a:lnTo>
                        <a:pt x="1223237" y="0"/>
                      </a:lnTo>
                      <a:lnTo>
                        <a:pt x="1417017" y="865955"/>
                      </a:lnTo>
                      <a:lnTo>
                        <a:pt x="1913579" y="950734"/>
                      </a:lnTo>
                    </a:path>
                  </a:pathLst>
                </a:custGeom>
                <a:noFill/>
                <a:ln w="3810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/>
                </a:p>
              </p:txBody>
            </p:sp>
            <p:sp>
              <p:nvSpPr>
                <p:cNvPr id="22" name="任意多边形: 形状 21">
                  <a:extLst>
                    <a:ext uri="{FF2B5EF4-FFF2-40B4-BE49-F238E27FC236}">
                      <a16:creationId xmlns:a16="http://schemas.microsoft.com/office/drawing/2014/main" id="{AE45387D-8143-BDA7-1217-198D0F0CCFAD}"/>
                    </a:ext>
                  </a:extLst>
                </p:cNvPr>
                <p:cNvSpPr/>
                <p:nvPr/>
              </p:nvSpPr>
              <p:spPr>
                <a:xfrm>
                  <a:off x="2410142" y="2840093"/>
                  <a:ext cx="1986247" cy="1077902"/>
                </a:xfrm>
                <a:custGeom>
                  <a:avLst/>
                  <a:gdLst>
                    <a:gd name="connsiteX0" fmla="*/ 0 w 1986247"/>
                    <a:gd name="connsiteY0" fmla="*/ 308837 h 1077902"/>
                    <a:gd name="connsiteX1" fmla="*/ 593452 w 1986247"/>
                    <a:gd name="connsiteY1" fmla="*/ 1077902 h 1077902"/>
                    <a:gd name="connsiteX2" fmla="*/ 1096069 w 1986247"/>
                    <a:gd name="connsiteY2" fmla="*/ 629785 h 1077902"/>
                    <a:gd name="connsiteX3" fmla="*/ 1326183 w 1986247"/>
                    <a:gd name="connsiteY3" fmla="*/ 0 h 1077902"/>
                    <a:gd name="connsiteX4" fmla="*/ 1574464 w 1986247"/>
                    <a:gd name="connsiteY4" fmla="*/ 1041568 h 1077902"/>
                    <a:gd name="connsiteX5" fmla="*/ 1986247 w 1986247"/>
                    <a:gd name="connsiteY5" fmla="*/ 266448 h 1077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6247" h="1077902">
                      <a:moveTo>
                        <a:pt x="0" y="308837"/>
                      </a:moveTo>
                      <a:lnTo>
                        <a:pt x="593452" y="1077902"/>
                      </a:lnTo>
                      <a:lnTo>
                        <a:pt x="1096069" y="629785"/>
                      </a:lnTo>
                      <a:lnTo>
                        <a:pt x="1326183" y="0"/>
                      </a:lnTo>
                      <a:lnTo>
                        <a:pt x="1574464" y="1041568"/>
                      </a:lnTo>
                      <a:lnTo>
                        <a:pt x="1986247" y="266448"/>
                      </a:lnTo>
                    </a:path>
                  </a:pathLst>
                </a:custGeom>
                <a:noFill/>
                <a:ln w="3810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>
                    <a:solidFill>
                      <a:srgbClr val="C00000"/>
                    </a:solidFill>
                  </a:endParaRPr>
                </a:p>
              </p:txBody>
            </p:sp>
          </p:grpSp>
        </p:grpSp>
        <p:pic>
          <p:nvPicPr>
            <p:cNvPr id="23" name="Picture 10" descr="Data server ">
              <a:extLst>
                <a:ext uri="{FF2B5EF4-FFF2-40B4-BE49-F238E27FC236}">
                  <a16:creationId xmlns:a16="http://schemas.microsoft.com/office/drawing/2014/main" id="{AC697B12-EB6E-BB09-60EB-A6785A03D0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5045" y="646443"/>
              <a:ext cx="463153" cy="4637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33C7DAD1-3049-566A-78D8-308389573EDF}"/>
                </a:ext>
              </a:extLst>
            </p:cNvPr>
            <p:cNvCxnSpPr>
              <a:cxnSpLocks/>
              <a:endCxn id="23" idx="1"/>
            </p:cNvCxnSpPr>
            <p:nvPr/>
          </p:nvCxnSpPr>
          <p:spPr>
            <a:xfrm flipV="1">
              <a:off x="4155764" y="878308"/>
              <a:ext cx="469281" cy="372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7" name="图形 26" descr="机器人 纯色填充">
              <a:extLst>
                <a:ext uri="{FF2B5EF4-FFF2-40B4-BE49-F238E27FC236}">
                  <a16:creationId xmlns:a16="http://schemas.microsoft.com/office/drawing/2014/main" id="{E67C14DA-7F11-B7CF-0AE6-1E90C708B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536867" y="2219905"/>
              <a:ext cx="662144" cy="662144"/>
            </a:xfrm>
            <a:prstGeom prst="rect">
              <a:avLst/>
            </a:prstGeom>
          </p:spPr>
        </p:pic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4507BE41-FC0E-CCEB-99EC-8F29F29A464F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3590194" y="1955230"/>
              <a:ext cx="277745" cy="2646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左大括号 33">
              <a:extLst>
                <a:ext uri="{FF2B5EF4-FFF2-40B4-BE49-F238E27FC236}">
                  <a16:creationId xmlns:a16="http://schemas.microsoft.com/office/drawing/2014/main" id="{9C15CCCD-F224-6B1E-191B-6EA8E4400657}"/>
                </a:ext>
              </a:extLst>
            </p:cNvPr>
            <p:cNvSpPr/>
            <p:nvPr/>
          </p:nvSpPr>
          <p:spPr>
            <a:xfrm rot="5400000">
              <a:off x="3700449" y="2263998"/>
              <a:ext cx="365703" cy="1751116"/>
            </a:xfrm>
            <a:prstGeom prst="leftBrace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7FBF607B-3493-5488-33E5-F56179C68B80}"/>
                </a:ext>
              </a:extLst>
            </p:cNvPr>
            <p:cNvSpPr txBox="1"/>
            <p:nvPr/>
          </p:nvSpPr>
          <p:spPr>
            <a:xfrm>
              <a:off x="2729039" y="3336226"/>
              <a:ext cx="461665" cy="1246495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海杂波背景</a:t>
              </a: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D59AD122-9B36-E711-BA48-B04D5A1C9BA9}"/>
                </a:ext>
              </a:extLst>
            </p:cNvPr>
            <p:cNvSpPr/>
            <p:nvPr/>
          </p:nvSpPr>
          <p:spPr>
            <a:xfrm>
              <a:off x="4360353" y="3322407"/>
              <a:ext cx="797012" cy="30767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HASH</a:t>
              </a:r>
              <a:endParaRPr lang="zh-CN" alt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ADB38037-844F-F1ED-6673-82F03C17673F}"/>
                </a:ext>
              </a:extLst>
            </p:cNvPr>
            <p:cNvSpPr/>
            <p:nvPr/>
          </p:nvSpPr>
          <p:spPr>
            <a:xfrm>
              <a:off x="5118662" y="1001117"/>
              <a:ext cx="503648" cy="2464725"/>
            </a:xfrm>
            <a:custGeom>
              <a:avLst/>
              <a:gdLst>
                <a:gd name="connsiteX0" fmla="*/ 0 w 1284493"/>
                <a:gd name="connsiteY0" fmla="*/ 1602647 h 3205293"/>
                <a:gd name="connsiteX1" fmla="*/ 642247 w 1284493"/>
                <a:gd name="connsiteY1" fmla="*/ 0 h 3205293"/>
                <a:gd name="connsiteX2" fmla="*/ 1284494 w 1284493"/>
                <a:gd name="connsiteY2" fmla="*/ 1602647 h 3205293"/>
                <a:gd name="connsiteX3" fmla="*/ 642247 w 1284493"/>
                <a:gd name="connsiteY3" fmla="*/ 3205294 h 3205293"/>
                <a:gd name="connsiteX4" fmla="*/ 0 w 1284493"/>
                <a:gd name="connsiteY4" fmla="*/ 1602647 h 3205293"/>
                <a:gd name="connsiteX0" fmla="*/ 642247 w 1284494"/>
                <a:gd name="connsiteY0" fmla="*/ 0 h 3205294"/>
                <a:gd name="connsiteX1" fmla="*/ 1284494 w 1284494"/>
                <a:gd name="connsiteY1" fmla="*/ 1602647 h 3205294"/>
                <a:gd name="connsiteX2" fmla="*/ 642247 w 1284494"/>
                <a:gd name="connsiteY2" fmla="*/ 3205294 h 3205294"/>
                <a:gd name="connsiteX3" fmla="*/ 0 w 1284494"/>
                <a:gd name="connsiteY3" fmla="*/ 1602647 h 3205294"/>
                <a:gd name="connsiteX4" fmla="*/ 733687 w 1284494"/>
                <a:gd name="connsiteY4" fmla="*/ 91440 h 3205294"/>
                <a:gd name="connsiteX0" fmla="*/ 2216057 w 2858304"/>
                <a:gd name="connsiteY0" fmla="*/ 0 h 3205294"/>
                <a:gd name="connsiteX1" fmla="*/ 2858304 w 2858304"/>
                <a:gd name="connsiteY1" fmla="*/ 1602647 h 3205294"/>
                <a:gd name="connsiteX2" fmla="*/ 2216057 w 2858304"/>
                <a:gd name="connsiteY2" fmla="*/ 3205294 h 3205294"/>
                <a:gd name="connsiteX3" fmla="*/ 1573810 w 2858304"/>
                <a:gd name="connsiteY3" fmla="*/ 1602647 h 3205294"/>
                <a:gd name="connsiteX4" fmla="*/ 78505 w 2858304"/>
                <a:gd name="connsiteY4" fmla="*/ 1445216 h 3205294"/>
                <a:gd name="connsiteX0" fmla="*/ 2137552 w 2779799"/>
                <a:gd name="connsiteY0" fmla="*/ 0 h 3205967"/>
                <a:gd name="connsiteX1" fmla="*/ 2779799 w 2779799"/>
                <a:gd name="connsiteY1" fmla="*/ 1602647 h 3205967"/>
                <a:gd name="connsiteX2" fmla="*/ 2137552 w 2779799"/>
                <a:gd name="connsiteY2" fmla="*/ 3205294 h 3205967"/>
                <a:gd name="connsiteX3" fmla="*/ 0 w 2779799"/>
                <a:gd name="connsiteY3" fmla="*/ 1445216 h 3205967"/>
                <a:gd name="connsiteX0" fmla="*/ 0 w 642247"/>
                <a:gd name="connsiteY0" fmla="*/ 0 h 3205967"/>
                <a:gd name="connsiteX1" fmla="*/ 642247 w 642247"/>
                <a:gd name="connsiteY1" fmla="*/ 1602647 h 3205967"/>
                <a:gd name="connsiteX2" fmla="*/ 0 w 642247"/>
                <a:gd name="connsiteY2" fmla="*/ 3205294 h 3205967"/>
                <a:gd name="connsiteX0" fmla="*/ 125144 w 642247"/>
                <a:gd name="connsiteY0" fmla="*/ 0 h 3255139"/>
                <a:gd name="connsiteX1" fmla="*/ 642247 w 642247"/>
                <a:gd name="connsiteY1" fmla="*/ 1651819 h 3255139"/>
                <a:gd name="connsiteX2" fmla="*/ 0 w 642247"/>
                <a:gd name="connsiteY2" fmla="*/ 3254466 h 3255139"/>
                <a:gd name="connsiteX0" fmla="*/ 0 w 517103"/>
                <a:gd name="connsiteY0" fmla="*/ 0 h 3217884"/>
                <a:gd name="connsiteX1" fmla="*/ 517103 w 517103"/>
                <a:gd name="connsiteY1" fmla="*/ 1651819 h 3217884"/>
                <a:gd name="connsiteX2" fmla="*/ 21957 w 517103"/>
                <a:gd name="connsiteY2" fmla="*/ 3217177 h 3217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17103" h="3217884">
                  <a:moveTo>
                    <a:pt x="0" y="0"/>
                  </a:moveTo>
                  <a:cubicBezTo>
                    <a:pt x="354703" y="0"/>
                    <a:pt x="517103" y="766702"/>
                    <a:pt x="517103" y="1651819"/>
                  </a:cubicBezTo>
                  <a:cubicBezTo>
                    <a:pt x="517103" y="2536936"/>
                    <a:pt x="485257" y="3243416"/>
                    <a:pt x="21957" y="3217177"/>
                  </a:cubicBezTo>
                </a:path>
              </a:pathLst>
            </a:custGeom>
            <a:noFill/>
            <a:ln w="381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5F0D5B2-0783-A122-4B42-3646D73CAE26}"/>
                </a:ext>
              </a:extLst>
            </p:cNvPr>
            <p:cNvSpPr txBox="1"/>
            <p:nvPr/>
          </p:nvSpPr>
          <p:spPr>
            <a:xfrm>
              <a:off x="4527965" y="1493182"/>
              <a:ext cx="11533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存储指针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9605A6D-3A94-2E8A-A84F-85B756359A2E}"/>
                </a:ext>
              </a:extLst>
            </p:cNvPr>
            <p:cNvSpPr txBox="1"/>
            <p:nvPr/>
          </p:nvSpPr>
          <p:spPr>
            <a:xfrm>
              <a:off x="3465272" y="3630083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高价值</a:t>
              </a: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31821F50-2670-7F63-87E4-97F8E9A699EC}"/>
                </a:ext>
              </a:extLst>
            </p:cNvPr>
            <p:cNvSpPr txBox="1"/>
            <p:nvPr/>
          </p:nvSpPr>
          <p:spPr>
            <a:xfrm>
              <a:off x="3437917" y="4142486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低价值</a:t>
              </a:r>
            </a:p>
          </p:txBody>
        </p: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F56E37B9-CB99-A0BD-C838-49709E9AB9DE}"/>
                </a:ext>
              </a:extLst>
            </p:cNvPr>
            <p:cNvGrpSpPr/>
            <p:nvPr/>
          </p:nvGrpSpPr>
          <p:grpSpPr>
            <a:xfrm>
              <a:off x="3619707" y="4939616"/>
              <a:ext cx="945990" cy="746831"/>
              <a:chOff x="7663681" y="2193956"/>
              <a:chExt cx="945990" cy="746831"/>
            </a:xfrm>
          </p:grpSpPr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4E3F49A2-C665-83C7-1038-F01C85430B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63681" y="2319061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D882AF4A-38DE-D159-69A5-A1DBA61B46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82491" y="2193956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C40CBE71-3323-197D-4712-03E6B269376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905325" y="2763750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0" name="椭圆 49">
                <a:extLst>
                  <a:ext uri="{FF2B5EF4-FFF2-40B4-BE49-F238E27FC236}">
                    <a16:creationId xmlns:a16="http://schemas.microsoft.com/office/drawing/2014/main" id="{3517A8A2-C76E-7903-E9BA-B9F727B8EF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32505" y="2363785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1" name="椭圆 50">
                <a:extLst>
                  <a:ext uri="{FF2B5EF4-FFF2-40B4-BE49-F238E27FC236}">
                    <a16:creationId xmlns:a16="http://schemas.microsoft.com/office/drawing/2014/main" id="{5627629A-84C6-6B67-1AD7-6CE88EC5E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32505" y="2763750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9C2F96BA-220F-087D-6764-FCE4BEA694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870927" y="2496097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E77AE952-A4F2-A196-123A-52641EB92B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84467" y="2452303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993FD3C3-9A24-45B9-2285-0EBBA67B456C}"/>
                  </a:ext>
                </a:extLst>
              </p:cNvPr>
              <p:cNvCxnSpPr>
                <a:stCxn id="47" idx="5"/>
                <a:endCxn id="52" idx="1"/>
              </p:cNvCxnSpPr>
              <p:nvPr/>
            </p:nvCxnSpPr>
            <p:spPr>
              <a:xfrm>
                <a:off x="7814902" y="2470171"/>
                <a:ext cx="81971" cy="5185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F66B3E01-D0B3-AE85-87C9-B4C5DADD2D46}"/>
                  </a:ext>
                </a:extLst>
              </p:cNvPr>
              <p:cNvCxnSpPr>
                <a:cxnSpLocks/>
                <a:stCxn id="47" idx="4"/>
                <a:endCxn id="49" idx="1"/>
              </p:cNvCxnSpPr>
              <p:nvPr/>
            </p:nvCxnSpPr>
            <p:spPr>
              <a:xfrm>
                <a:off x="7752264" y="2496097"/>
                <a:ext cx="179007" cy="29358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F6020E53-2DCC-FFA8-1FA8-ACDC174534EA}"/>
                  </a:ext>
                </a:extLst>
              </p:cNvPr>
              <p:cNvCxnSpPr>
                <a:cxnSpLocks/>
                <a:stCxn id="52" idx="4"/>
                <a:endCxn id="49" idx="0"/>
              </p:cNvCxnSpPr>
              <p:nvPr/>
            </p:nvCxnSpPr>
            <p:spPr>
              <a:xfrm>
                <a:off x="7959510" y="2673134"/>
                <a:ext cx="34398" cy="90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A6CFCD01-0EA1-BA05-206F-3BFEFCE36D42}"/>
                  </a:ext>
                </a:extLst>
              </p:cNvPr>
              <p:cNvCxnSpPr>
                <a:cxnSpLocks/>
                <a:stCxn id="49" idx="6"/>
                <a:endCxn id="51" idx="2"/>
              </p:cNvCxnSpPr>
              <p:nvPr/>
            </p:nvCxnSpPr>
            <p:spPr>
              <a:xfrm flipV="1">
                <a:off x="8082491" y="2852268"/>
                <a:ext cx="350014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>
                <a:extLst>
                  <a:ext uri="{FF2B5EF4-FFF2-40B4-BE49-F238E27FC236}">
                    <a16:creationId xmlns:a16="http://schemas.microsoft.com/office/drawing/2014/main" id="{E2266C36-8478-504D-067C-E807F1BD3E47}"/>
                  </a:ext>
                </a:extLst>
              </p:cNvPr>
              <p:cNvCxnSpPr>
                <a:cxnSpLocks/>
                <a:stCxn id="53" idx="5"/>
                <a:endCxn id="51" idx="1"/>
              </p:cNvCxnSpPr>
              <p:nvPr/>
            </p:nvCxnSpPr>
            <p:spPr>
              <a:xfrm>
                <a:off x="8335687" y="2603413"/>
                <a:ext cx="122764" cy="1862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4789947C-B3CF-06D5-A9CF-AB4C72194190}"/>
                  </a:ext>
                </a:extLst>
              </p:cNvPr>
              <p:cNvCxnSpPr>
                <a:cxnSpLocks/>
                <a:stCxn id="50" idx="4"/>
                <a:endCxn id="51" idx="0"/>
              </p:cNvCxnSpPr>
              <p:nvPr/>
            </p:nvCxnSpPr>
            <p:spPr>
              <a:xfrm>
                <a:off x="8521088" y="2540822"/>
                <a:ext cx="0" cy="2229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40093C4A-D6A3-0866-EA82-7E50109EB298}"/>
                  </a:ext>
                </a:extLst>
              </p:cNvPr>
              <p:cNvCxnSpPr>
                <a:cxnSpLocks/>
                <a:stCxn id="48" idx="6"/>
                <a:endCxn id="50" idx="1"/>
              </p:cNvCxnSpPr>
              <p:nvPr/>
            </p:nvCxnSpPr>
            <p:spPr>
              <a:xfrm>
                <a:off x="8259657" y="2282475"/>
                <a:ext cx="198794" cy="1072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F6D057C2-4C2A-42DC-714D-B7FD0F836BD9}"/>
                  </a:ext>
                </a:extLst>
              </p:cNvPr>
              <p:cNvCxnSpPr>
                <a:cxnSpLocks/>
                <a:stCxn id="48" idx="5"/>
                <a:endCxn id="53" idx="0"/>
              </p:cNvCxnSpPr>
              <p:nvPr/>
            </p:nvCxnSpPr>
            <p:spPr>
              <a:xfrm>
                <a:off x="8233712" y="2345066"/>
                <a:ext cx="39338" cy="1072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C8A3787E-4151-CEC4-5942-8887C76DFFB1}"/>
                  </a:ext>
                </a:extLst>
              </p:cNvPr>
              <p:cNvCxnSpPr>
                <a:cxnSpLocks/>
                <a:stCxn id="48" idx="3"/>
                <a:endCxn id="52" idx="7"/>
              </p:cNvCxnSpPr>
              <p:nvPr/>
            </p:nvCxnSpPr>
            <p:spPr>
              <a:xfrm flipH="1">
                <a:off x="8022148" y="2345066"/>
                <a:ext cx="86289" cy="17695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D2749824-5FED-E4F3-F89B-79A495A4AAAB}"/>
                  </a:ext>
                </a:extLst>
              </p:cNvPr>
              <p:cNvCxnSpPr>
                <a:cxnSpLocks/>
                <a:stCxn id="48" idx="2"/>
                <a:endCxn id="47" idx="6"/>
              </p:cNvCxnSpPr>
              <p:nvPr/>
            </p:nvCxnSpPr>
            <p:spPr>
              <a:xfrm flipH="1">
                <a:off x="7840847" y="2282475"/>
                <a:ext cx="241644" cy="1251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515FE162-D188-DC6C-1239-CB4F8FC38DA4}"/>
                  </a:ext>
                </a:extLst>
              </p:cNvPr>
              <p:cNvCxnSpPr>
                <a:cxnSpLocks/>
                <a:stCxn id="53" idx="2"/>
                <a:endCxn id="52" idx="6"/>
              </p:cNvCxnSpPr>
              <p:nvPr/>
            </p:nvCxnSpPr>
            <p:spPr>
              <a:xfrm flipH="1">
                <a:off x="8048093" y="2540822"/>
                <a:ext cx="136374" cy="437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6B54E3C7-8FCC-1821-C548-DFA0A9F86A17}"/>
                  </a:ext>
                </a:extLst>
              </p:cNvPr>
              <p:cNvCxnSpPr>
                <a:cxnSpLocks/>
                <a:stCxn id="53" idx="3"/>
                <a:endCxn id="49" idx="7"/>
              </p:cNvCxnSpPr>
              <p:nvPr/>
            </p:nvCxnSpPr>
            <p:spPr>
              <a:xfrm flipH="1">
                <a:off x="8056546" y="2603413"/>
                <a:ext cx="153867" cy="1862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BBBBBEB6-5004-A1A6-EA09-8957C22BD45F}"/>
                  </a:ext>
                </a:extLst>
              </p:cNvPr>
              <p:cNvCxnSpPr>
                <a:cxnSpLocks/>
                <a:stCxn id="50" idx="3"/>
                <a:endCxn id="53" idx="6"/>
              </p:cNvCxnSpPr>
              <p:nvPr/>
            </p:nvCxnSpPr>
            <p:spPr>
              <a:xfrm flipH="1">
                <a:off x="8361633" y="2514895"/>
                <a:ext cx="96818" cy="25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4FE64CA3-482D-31A6-7F2E-0A56BAC4CFA9}"/>
                </a:ext>
              </a:extLst>
            </p:cNvPr>
            <p:cNvSpPr txBox="1"/>
            <p:nvPr/>
          </p:nvSpPr>
          <p:spPr>
            <a:xfrm>
              <a:off x="3577604" y="5777063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打包上链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06FDBAF3-A6F4-EEF7-D1D8-1FE76BDB2AEB}"/>
                </a:ext>
              </a:extLst>
            </p:cNvPr>
            <p:cNvSpPr txBox="1"/>
            <p:nvPr/>
          </p:nvSpPr>
          <p:spPr>
            <a:xfrm>
              <a:off x="3999476" y="2260661"/>
              <a:ext cx="11533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自监督</a:t>
              </a:r>
              <a:endPara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价值评估</a:t>
              </a:r>
            </a:p>
          </p:txBody>
        </p:sp>
        <p:sp>
          <p:nvSpPr>
            <p:cNvPr id="79" name="矩形 42">
              <a:extLst>
                <a:ext uri="{FF2B5EF4-FFF2-40B4-BE49-F238E27FC236}">
                  <a16:creationId xmlns:a16="http://schemas.microsoft.com/office/drawing/2014/main" id="{0F3DC057-61ED-34E0-1524-75D46F4696AD}"/>
                </a:ext>
              </a:extLst>
            </p:cNvPr>
            <p:cNvSpPr/>
            <p:nvPr/>
          </p:nvSpPr>
          <p:spPr>
            <a:xfrm>
              <a:off x="4389528" y="3861109"/>
              <a:ext cx="1090013" cy="278553"/>
            </a:xfrm>
            <a:custGeom>
              <a:avLst/>
              <a:gdLst>
                <a:gd name="connsiteX0" fmla="*/ 0 w 1090013"/>
                <a:gd name="connsiteY0" fmla="*/ 0 h 278553"/>
                <a:gd name="connsiteX1" fmla="*/ 1090013 w 1090013"/>
                <a:gd name="connsiteY1" fmla="*/ 0 h 278553"/>
                <a:gd name="connsiteX2" fmla="*/ 1090013 w 1090013"/>
                <a:gd name="connsiteY2" fmla="*/ 278553 h 278553"/>
                <a:gd name="connsiteX3" fmla="*/ 0 w 1090013"/>
                <a:gd name="connsiteY3" fmla="*/ 278553 h 278553"/>
                <a:gd name="connsiteX4" fmla="*/ 0 w 1090013"/>
                <a:gd name="connsiteY4" fmla="*/ 0 h 278553"/>
                <a:gd name="connsiteX0" fmla="*/ 1090013 w 1181453"/>
                <a:gd name="connsiteY0" fmla="*/ 278553 h 369993"/>
                <a:gd name="connsiteX1" fmla="*/ 0 w 1181453"/>
                <a:gd name="connsiteY1" fmla="*/ 278553 h 369993"/>
                <a:gd name="connsiteX2" fmla="*/ 0 w 1181453"/>
                <a:gd name="connsiteY2" fmla="*/ 0 h 369993"/>
                <a:gd name="connsiteX3" fmla="*/ 1090013 w 1181453"/>
                <a:gd name="connsiteY3" fmla="*/ 0 h 369993"/>
                <a:gd name="connsiteX4" fmla="*/ 1181453 w 1181453"/>
                <a:gd name="connsiteY4" fmla="*/ 369993 h 369993"/>
                <a:gd name="connsiteX0" fmla="*/ 1090013 w 1090013"/>
                <a:gd name="connsiteY0" fmla="*/ 278553 h 278553"/>
                <a:gd name="connsiteX1" fmla="*/ 0 w 1090013"/>
                <a:gd name="connsiteY1" fmla="*/ 278553 h 278553"/>
                <a:gd name="connsiteX2" fmla="*/ 0 w 1090013"/>
                <a:gd name="connsiteY2" fmla="*/ 0 h 278553"/>
                <a:gd name="connsiteX3" fmla="*/ 1090013 w 1090013"/>
                <a:gd name="connsiteY3" fmla="*/ 0 h 27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0013" h="278553">
                  <a:moveTo>
                    <a:pt x="1090013" y="278553"/>
                  </a:moveTo>
                  <a:lnTo>
                    <a:pt x="0" y="278553"/>
                  </a:lnTo>
                  <a:lnTo>
                    <a:pt x="0" y="0"/>
                  </a:lnTo>
                  <a:lnTo>
                    <a:pt x="1090013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60386E25-BF3F-42B7-04EE-06B93F7A4A4F}"/>
                </a:ext>
              </a:extLst>
            </p:cNvPr>
            <p:cNvSpPr/>
            <p:nvPr/>
          </p:nvSpPr>
          <p:spPr>
            <a:xfrm>
              <a:off x="4432724" y="3916968"/>
              <a:ext cx="217198" cy="148163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cxnSp>
          <p:nvCxnSpPr>
            <p:cNvPr id="83" name="连接符: 肘形 82">
              <a:extLst>
                <a:ext uri="{FF2B5EF4-FFF2-40B4-BE49-F238E27FC236}">
                  <a16:creationId xmlns:a16="http://schemas.microsoft.com/office/drawing/2014/main" id="{6F9212CF-0CAC-2A91-F64B-B2B05FCB573B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rot="10800000" flipH="1" flipV="1">
              <a:off x="4360353" y="3476244"/>
              <a:ext cx="17768" cy="1047857"/>
            </a:xfrm>
            <a:prstGeom prst="bentConnector3">
              <a:avLst>
                <a:gd name="adj1" fmla="val -5267712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5E13F45C-8989-83A2-00D5-C4EAABCDE74D}"/>
                </a:ext>
              </a:extLst>
            </p:cNvPr>
            <p:cNvGrpSpPr/>
            <p:nvPr/>
          </p:nvGrpSpPr>
          <p:grpSpPr>
            <a:xfrm>
              <a:off x="4386204" y="4406845"/>
              <a:ext cx="1090013" cy="278553"/>
              <a:chOff x="4386204" y="4406845"/>
              <a:chExt cx="1090013" cy="278553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A9061DCE-E0FB-8C73-0D04-EF13CEFC81CA}"/>
                  </a:ext>
                </a:extLst>
              </p:cNvPr>
              <p:cNvSpPr/>
              <p:nvPr/>
            </p:nvSpPr>
            <p:spPr>
              <a:xfrm>
                <a:off x="4386204" y="4406845"/>
                <a:ext cx="1090013" cy="278553"/>
              </a:xfrm>
              <a:custGeom>
                <a:avLst/>
                <a:gdLst>
                  <a:gd name="connsiteX0" fmla="*/ 0 w 1090013"/>
                  <a:gd name="connsiteY0" fmla="*/ 0 h 278553"/>
                  <a:gd name="connsiteX1" fmla="*/ 1090013 w 1090013"/>
                  <a:gd name="connsiteY1" fmla="*/ 0 h 278553"/>
                  <a:gd name="connsiteX2" fmla="*/ 1090013 w 1090013"/>
                  <a:gd name="connsiteY2" fmla="*/ 278553 h 278553"/>
                  <a:gd name="connsiteX3" fmla="*/ 0 w 1090013"/>
                  <a:gd name="connsiteY3" fmla="*/ 278553 h 278553"/>
                  <a:gd name="connsiteX4" fmla="*/ 0 w 1090013"/>
                  <a:gd name="connsiteY4" fmla="*/ 0 h 278553"/>
                  <a:gd name="connsiteX0" fmla="*/ 1090013 w 1181453"/>
                  <a:gd name="connsiteY0" fmla="*/ 278553 h 369993"/>
                  <a:gd name="connsiteX1" fmla="*/ 0 w 1181453"/>
                  <a:gd name="connsiteY1" fmla="*/ 278553 h 369993"/>
                  <a:gd name="connsiteX2" fmla="*/ 0 w 1181453"/>
                  <a:gd name="connsiteY2" fmla="*/ 0 h 369993"/>
                  <a:gd name="connsiteX3" fmla="*/ 1090013 w 1181453"/>
                  <a:gd name="connsiteY3" fmla="*/ 0 h 369993"/>
                  <a:gd name="connsiteX4" fmla="*/ 1181453 w 1181453"/>
                  <a:gd name="connsiteY4" fmla="*/ 369993 h 369993"/>
                  <a:gd name="connsiteX0" fmla="*/ 1090013 w 1090013"/>
                  <a:gd name="connsiteY0" fmla="*/ 278553 h 278553"/>
                  <a:gd name="connsiteX1" fmla="*/ 0 w 1090013"/>
                  <a:gd name="connsiteY1" fmla="*/ 278553 h 278553"/>
                  <a:gd name="connsiteX2" fmla="*/ 0 w 1090013"/>
                  <a:gd name="connsiteY2" fmla="*/ 0 h 278553"/>
                  <a:gd name="connsiteX3" fmla="*/ 1090013 w 1090013"/>
                  <a:gd name="connsiteY3" fmla="*/ 0 h 2785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0013" h="278553">
                    <a:moveTo>
                      <a:pt x="1090013" y="278553"/>
                    </a:moveTo>
                    <a:lnTo>
                      <a:pt x="0" y="278553"/>
                    </a:lnTo>
                    <a:lnTo>
                      <a:pt x="0" y="0"/>
                    </a:lnTo>
                    <a:lnTo>
                      <a:pt x="1090013" y="0"/>
                    </a:ln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3C951437-806B-75B6-B296-ACA9F9E9C8F0}"/>
                  </a:ext>
                </a:extLst>
              </p:cNvPr>
              <p:cNvSpPr/>
              <p:nvPr/>
            </p:nvSpPr>
            <p:spPr>
              <a:xfrm>
                <a:off x="4429400" y="4462704"/>
                <a:ext cx="217198" cy="148163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92BE5A46-35F2-053D-CE46-BD11595A241C}"/>
                  </a:ext>
                </a:extLst>
              </p:cNvPr>
              <p:cNvSpPr/>
              <p:nvPr/>
            </p:nvSpPr>
            <p:spPr>
              <a:xfrm>
                <a:off x="4708972" y="4462704"/>
                <a:ext cx="217198" cy="148163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9FE1B21F-85DC-DAA8-BE76-243760DF4DFA}"/>
                  </a:ext>
                </a:extLst>
              </p:cNvPr>
              <p:cNvSpPr/>
              <p:nvPr/>
            </p:nvSpPr>
            <p:spPr>
              <a:xfrm>
                <a:off x="4996046" y="4462704"/>
                <a:ext cx="217198" cy="148163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</p:grpSp>
        <p:cxnSp>
          <p:nvCxnSpPr>
            <p:cNvPr id="95" name="连接符: 肘形 94">
              <a:extLst>
                <a:ext uri="{FF2B5EF4-FFF2-40B4-BE49-F238E27FC236}">
                  <a16:creationId xmlns:a16="http://schemas.microsoft.com/office/drawing/2014/main" id="{3165B235-28F7-EAE9-2F59-2E1CA298371E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rot="10800000" flipH="1" flipV="1">
              <a:off x="4360352" y="3476244"/>
              <a:ext cx="21335" cy="516661"/>
            </a:xfrm>
            <a:prstGeom prst="bentConnector3">
              <a:avLst>
                <a:gd name="adj1" fmla="val -4360047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C1486C12-1CC6-DB09-4532-4162E4D63BD5}"/>
                </a:ext>
              </a:extLst>
            </p:cNvPr>
            <p:cNvSpPr/>
            <p:nvPr/>
          </p:nvSpPr>
          <p:spPr>
            <a:xfrm rot="2226915">
              <a:off x="4983801" y="3995205"/>
              <a:ext cx="727135" cy="1797408"/>
            </a:xfrm>
            <a:custGeom>
              <a:avLst/>
              <a:gdLst>
                <a:gd name="connsiteX0" fmla="*/ 0 w 1189777"/>
                <a:gd name="connsiteY0" fmla="*/ 813866 h 1627731"/>
                <a:gd name="connsiteX1" fmla="*/ 594889 w 1189777"/>
                <a:gd name="connsiteY1" fmla="*/ 0 h 1627731"/>
                <a:gd name="connsiteX2" fmla="*/ 1189778 w 1189777"/>
                <a:gd name="connsiteY2" fmla="*/ 813866 h 1627731"/>
                <a:gd name="connsiteX3" fmla="*/ 594889 w 1189777"/>
                <a:gd name="connsiteY3" fmla="*/ 1627732 h 1627731"/>
                <a:gd name="connsiteX4" fmla="*/ 0 w 1189777"/>
                <a:gd name="connsiteY4" fmla="*/ 813866 h 1627731"/>
                <a:gd name="connsiteX0" fmla="*/ 0 w 1189778"/>
                <a:gd name="connsiteY0" fmla="*/ 813866 h 1627732"/>
                <a:gd name="connsiteX1" fmla="*/ 594889 w 1189778"/>
                <a:gd name="connsiteY1" fmla="*/ 0 h 1627732"/>
                <a:gd name="connsiteX2" fmla="*/ 1189778 w 1189778"/>
                <a:gd name="connsiteY2" fmla="*/ 813866 h 1627732"/>
                <a:gd name="connsiteX3" fmla="*/ 594889 w 1189778"/>
                <a:gd name="connsiteY3" fmla="*/ 1627732 h 1627732"/>
                <a:gd name="connsiteX4" fmla="*/ 91440 w 1189778"/>
                <a:gd name="connsiteY4" fmla="*/ 905306 h 1627732"/>
                <a:gd name="connsiteX0" fmla="*/ 0 w 1189778"/>
                <a:gd name="connsiteY0" fmla="*/ 813866 h 1627732"/>
                <a:gd name="connsiteX1" fmla="*/ 594889 w 1189778"/>
                <a:gd name="connsiteY1" fmla="*/ 0 h 1627732"/>
                <a:gd name="connsiteX2" fmla="*/ 1189778 w 1189778"/>
                <a:gd name="connsiteY2" fmla="*/ 813866 h 1627732"/>
                <a:gd name="connsiteX3" fmla="*/ 594889 w 1189778"/>
                <a:gd name="connsiteY3" fmla="*/ 1627732 h 1627732"/>
                <a:gd name="connsiteX0" fmla="*/ 0 w 1189778"/>
                <a:gd name="connsiteY0" fmla="*/ 813866 h 1761217"/>
                <a:gd name="connsiteX1" fmla="*/ 594889 w 1189778"/>
                <a:gd name="connsiteY1" fmla="*/ 0 h 1761217"/>
                <a:gd name="connsiteX2" fmla="*/ 1189778 w 1189778"/>
                <a:gd name="connsiteY2" fmla="*/ 813866 h 1761217"/>
                <a:gd name="connsiteX3" fmla="*/ 580508 w 1189778"/>
                <a:gd name="connsiteY3" fmla="*/ 1761217 h 1761217"/>
                <a:gd name="connsiteX0" fmla="*/ 0 w 1189778"/>
                <a:gd name="connsiteY0" fmla="*/ 813866 h 1761217"/>
                <a:gd name="connsiteX1" fmla="*/ 594889 w 1189778"/>
                <a:gd name="connsiteY1" fmla="*/ 0 h 1761217"/>
                <a:gd name="connsiteX2" fmla="*/ 1189778 w 1189778"/>
                <a:gd name="connsiteY2" fmla="*/ 813866 h 1761217"/>
                <a:gd name="connsiteX3" fmla="*/ 580508 w 1189778"/>
                <a:gd name="connsiteY3" fmla="*/ 1761217 h 1761217"/>
                <a:gd name="connsiteX0" fmla="*/ 14381 w 609270"/>
                <a:gd name="connsiteY0" fmla="*/ 0 h 1761217"/>
                <a:gd name="connsiteX1" fmla="*/ 609270 w 609270"/>
                <a:gd name="connsiteY1" fmla="*/ 813866 h 1761217"/>
                <a:gd name="connsiteX2" fmla="*/ 0 w 609270"/>
                <a:gd name="connsiteY2" fmla="*/ 1761217 h 1761217"/>
                <a:gd name="connsiteX0" fmla="*/ 0 w 727135"/>
                <a:gd name="connsiteY0" fmla="*/ 0 h 1754899"/>
                <a:gd name="connsiteX1" fmla="*/ 727135 w 727135"/>
                <a:gd name="connsiteY1" fmla="*/ 807548 h 1754899"/>
                <a:gd name="connsiteX2" fmla="*/ 117865 w 727135"/>
                <a:gd name="connsiteY2" fmla="*/ 1754899 h 1754899"/>
                <a:gd name="connsiteX0" fmla="*/ 0 w 727135"/>
                <a:gd name="connsiteY0" fmla="*/ 17739 h 1772638"/>
                <a:gd name="connsiteX1" fmla="*/ 727135 w 727135"/>
                <a:gd name="connsiteY1" fmla="*/ 825287 h 1772638"/>
                <a:gd name="connsiteX2" fmla="*/ 117865 w 727135"/>
                <a:gd name="connsiteY2" fmla="*/ 1772638 h 1772638"/>
                <a:gd name="connsiteX0" fmla="*/ 0 w 727135"/>
                <a:gd name="connsiteY0" fmla="*/ 42509 h 1797408"/>
                <a:gd name="connsiteX1" fmla="*/ 727135 w 727135"/>
                <a:gd name="connsiteY1" fmla="*/ 850057 h 1797408"/>
                <a:gd name="connsiteX2" fmla="*/ 117865 w 727135"/>
                <a:gd name="connsiteY2" fmla="*/ 1797408 h 1797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27135" h="1797408">
                  <a:moveTo>
                    <a:pt x="0" y="42509"/>
                  </a:moveTo>
                  <a:cubicBezTo>
                    <a:pt x="528968" y="-159635"/>
                    <a:pt x="727135" y="400571"/>
                    <a:pt x="727135" y="850057"/>
                  </a:cubicBezTo>
                  <a:cubicBezTo>
                    <a:pt x="727135" y="1299543"/>
                    <a:pt x="334250" y="1658715"/>
                    <a:pt x="117865" y="179740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D77F4ED0-31AC-97C7-48FD-7344F064E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7493" y="4174168"/>
              <a:ext cx="0" cy="18749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3768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2F14AE2-3F1D-5452-27F5-5AD113628877}"/>
              </a:ext>
            </a:extLst>
          </p:cNvPr>
          <p:cNvSpPr txBox="1"/>
          <p:nvPr/>
        </p:nvSpPr>
        <p:spPr>
          <a:xfrm>
            <a:off x="5457356" y="182368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时段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E4A545-6607-EE07-3F42-DF4BB5585F31}"/>
              </a:ext>
            </a:extLst>
          </p:cNvPr>
          <p:cNvSpPr txBox="1"/>
          <p:nvPr/>
        </p:nvSpPr>
        <p:spPr>
          <a:xfrm>
            <a:off x="5013743" y="182368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频段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9A45D5-C551-DA20-0BAC-E38D30EFBC76}"/>
              </a:ext>
            </a:extLst>
          </p:cNvPr>
          <p:cNvSpPr txBox="1"/>
          <p:nvPr/>
        </p:nvSpPr>
        <p:spPr>
          <a:xfrm>
            <a:off x="3926016" y="1374475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观测节点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0CA2988-A8EA-1130-1A93-EFE0B29C8807}"/>
              </a:ext>
            </a:extLst>
          </p:cNvPr>
          <p:cNvSpPr txBox="1"/>
          <p:nvPr/>
        </p:nvSpPr>
        <p:spPr>
          <a:xfrm>
            <a:off x="3926016" y="182368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调制样式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65EB20-C962-58CA-4115-E6E9BC3B5327}"/>
              </a:ext>
            </a:extLst>
          </p:cNvPr>
          <p:cNvSpPr txBox="1"/>
          <p:nvPr/>
        </p:nvSpPr>
        <p:spPr>
          <a:xfrm>
            <a:off x="5028261" y="1374475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事件类型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D44A14-7837-49A5-1D7A-D17ADB489A30}"/>
              </a:ext>
            </a:extLst>
          </p:cNvPr>
          <p:cNvSpPr/>
          <p:nvPr/>
        </p:nvSpPr>
        <p:spPr>
          <a:xfrm>
            <a:off x="3807125" y="943155"/>
            <a:ext cx="2329132" cy="1267114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EB4C484-184A-4F70-62F8-323D1E9DAAC6}"/>
              </a:ext>
            </a:extLst>
          </p:cNvPr>
          <p:cNvCxnSpPr>
            <a:cxnSpLocks/>
          </p:cNvCxnSpPr>
          <p:nvPr/>
        </p:nvCxnSpPr>
        <p:spPr>
          <a:xfrm>
            <a:off x="3807125" y="1322717"/>
            <a:ext cx="2329132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2DC88AE-7B7F-7625-FCCE-3AA7A3A352CB}"/>
                  </a:ext>
                </a:extLst>
              </p:cNvPr>
              <p:cNvSpPr txBox="1"/>
              <p:nvPr/>
            </p:nvSpPr>
            <p:spPr>
              <a:xfrm>
                <a:off x="4305772" y="908013"/>
                <a:ext cx="133183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关联特征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𝒇</m:t>
                        </m:r>
                      </m:e>
                      <m:sub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𝒊</m:t>
                        </m:r>
                      </m:sub>
                    </m:sSub>
                  </m:oMath>
                </a14:m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2DC88AE-7B7F-7625-FCCE-3AA7A3A35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5772" y="908013"/>
                <a:ext cx="1331839" cy="677108"/>
              </a:xfrm>
              <a:prstGeom prst="rect">
                <a:avLst/>
              </a:prstGeom>
              <a:blipFill>
                <a:blip r:embed="rId2"/>
                <a:stretch>
                  <a:fillRect l="-3653" t="-18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4473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20254702,50043182,50032347,50046448],&quot;65&quot;:[20205081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159</Words>
  <Application>Microsoft Office PowerPoint</Application>
  <PresentationFormat>宽屏</PresentationFormat>
  <Paragraphs>44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等线</vt:lpstr>
      <vt:lpstr>等线 Light</vt:lpstr>
      <vt:lpstr>微软雅黑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 Huang</dc:creator>
  <cp:lastModifiedBy>Xin Huang</cp:lastModifiedBy>
  <cp:revision>2</cp:revision>
  <dcterms:created xsi:type="dcterms:W3CDTF">2026-06-15T05:56:50Z</dcterms:created>
  <dcterms:modified xsi:type="dcterms:W3CDTF">2026-06-15T10:17:58Z</dcterms:modified>
</cp:coreProperties>
</file>