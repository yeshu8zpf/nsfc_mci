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</p:sldIdLst>
  <p:sldSz cx="7559675" cy="106914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A1"/>
    <a:srgbClr val="F6FBFF"/>
    <a:srgbClr val="C00000"/>
    <a:srgbClr val="FAD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5045" y="1749902"/>
            <a:ext cx="5670268" cy="3722560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45045" y="5616018"/>
            <a:ext cx="5670268" cy="258153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460" indent="0" algn="ctr">
              <a:buNone/>
              <a:defRPr sz="1655"/>
            </a:lvl2pPr>
            <a:lvl3pPr marL="755650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5837" y="2665691"/>
            <a:ext cx="6520808" cy="4447765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5837" y="7155534"/>
            <a:ext cx="6520808" cy="2338974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8460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5650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9775" y="2846372"/>
            <a:ext cx="3213152" cy="67842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827431" y="2846372"/>
            <a:ext cx="3213152" cy="67842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60" y="569274"/>
            <a:ext cx="6520808" cy="206671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0760" y="2621139"/>
            <a:ext cx="3198385" cy="1284579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460" indent="0">
              <a:buNone/>
              <a:defRPr sz="1655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760" y="3905718"/>
            <a:ext cx="3198385" cy="57447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27431" y="2621139"/>
            <a:ext cx="3214137" cy="1284579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460" indent="0">
              <a:buNone/>
              <a:defRPr sz="1655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827431" y="3905718"/>
            <a:ext cx="3214137" cy="57447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60" y="712831"/>
            <a:ext cx="2438412" cy="2494907"/>
          </a:xfrm>
        </p:spPr>
        <p:txBody>
          <a:bodyPr anchor="b"/>
          <a:lstStyle>
            <a:lvl1pPr>
              <a:defRPr sz="265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14137" y="1539516"/>
            <a:ext cx="3827431" cy="7598576"/>
          </a:xfrm>
        </p:spPr>
        <p:txBody>
          <a:bodyPr/>
          <a:lstStyle>
            <a:lvl1pPr>
              <a:defRPr sz="2650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760" y="3207738"/>
            <a:ext cx="2438412" cy="5942732"/>
          </a:xfrm>
        </p:spPr>
        <p:txBody>
          <a:bodyPr/>
          <a:lstStyle>
            <a:lvl1pPr marL="0" indent="0">
              <a:buNone/>
              <a:defRPr sz="1325"/>
            </a:lvl1pPr>
            <a:lvl2pPr marL="378460" indent="0">
              <a:buNone/>
              <a:defRPr sz="1160"/>
            </a:lvl2pPr>
            <a:lvl3pPr marL="755650" indent="0">
              <a:buNone/>
              <a:defRPr sz="995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60" y="712831"/>
            <a:ext cx="2438412" cy="2494907"/>
          </a:xfrm>
        </p:spPr>
        <p:txBody>
          <a:bodyPr anchor="b"/>
          <a:lstStyle>
            <a:lvl1pPr>
              <a:defRPr sz="265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214137" y="1539516"/>
            <a:ext cx="3827431" cy="7598576"/>
          </a:xfrm>
        </p:spPr>
        <p:txBody>
          <a:bodyPr/>
          <a:lstStyle>
            <a:lvl1pPr marL="0" indent="0">
              <a:buNone/>
              <a:defRPr sz="2650"/>
            </a:lvl1pPr>
            <a:lvl2pPr marL="378460" indent="0">
              <a:buNone/>
              <a:defRPr sz="2315"/>
            </a:lvl2pPr>
            <a:lvl3pPr marL="755650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760" y="3207738"/>
            <a:ext cx="2438412" cy="5942732"/>
          </a:xfrm>
        </p:spPr>
        <p:txBody>
          <a:bodyPr/>
          <a:lstStyle>
            <a:lvl1pPr marL="0" indent="0">
              <a:buNone/>
              <a:defRPr sz="1325"/>
            </a:lvl1pPr>
            <a:lvl2pPr marL="378460" indent="0">
              <a:buNone/>
              <a:defRPr sz="1160"/>
            </a:lvl2pPr>
            <a:lvl3pPr marL="755650" indent="0">
              <a:buNone/>
              <a:defRPr sz="995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410380" y="569274"/>
            <a:ext cx="1630202" cy="906136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9775" y="569274"/>
            <a:ext cx="4796101" cy="906136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5045" y="1749902"/>
            <a:ext cx="5670268" cy="3722560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45045" y="5616018"/>
            <a:ext cx="5670268" cy="258153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460" indent="0" algn="ctr">
              <a:buNone/>
              <a:defRPr sz="1655"/>
            </a:lvl2pPr>
            <a:lvl3pPr marL="755650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5837" y="2665691"/>
            <a:ext cx="6520808" cy="4447765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5837" y="7155534"/>
            <a:ext cx="6520808" cy="2338974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8460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5650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9775" y="2846372"/>
            <a:ext cx="3213152" cy="67842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827431" y="2846372"/>
            <a:ext cx="3213152" cy="67842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60" y="569274"/>
            <a:ext cx="6520808" cy="206671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0760" y="2621139"/>
            <a:ext cx="3198385" cy="1284579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460" indent="0">
              <a:buNone/>
              <a:defRPr sz="1655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760" y="3905718"/>
            <a:ext cx="3198385" cy="57447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27431" y="2621139"/>
            <a:ext cx="3214137" cy="1284579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460" indent="0">
              <a:buNone/>
              <a:defRPr sz="1655" b="1"/>
            </a:lvl2pPr>
            <a:lvl3pPr marL="755650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827431" y="3905718"/>
            <a:ext cx="3214137" cy="57447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60" y="712831"/>
            <a:ext cx="2438412" cy="2494907"/>
          </a:xfrm>
        </p:spPr>
        <p:txBody>
          <a:bodyPr anchor="b"/>
          <a:lstStyle>
            <a:lvl1pPr>
              <a:defRPr sz="265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14137" y="1539516"/>
            <a:ext cx="3827431" cy="7598576"/>
          </a:xfrm>
        </p:spPr>
        <p:txBody>
          <a:bodyPr/>
          <a:lstStyle>
            <a:lvl1pPr>
              <a:defRPr sz="2650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760" y="3207738"/>
            <a:ext cx="2438412" cy="5942732"/>
          </a:xfrm>
        </p:spPr>
        <p:txBody>
          <a:bodyPr/>
          <a:lstStyle>
            <a:lvl1pPr marL="0" indent="0">
              <a:buNone/>
              <a:defRPr sz="1325"/>
            </a:lvl1pPr>
            <a:lvl2pPr marL="378460" indent="0">
              <a:buNone/>
              <a:defRPr sz="1160"/>
            </a:lvl2pPr>
            <a:lvl3pPr marL="755650" indent="0">
              <a:buNone/>
              <a:defRPr sz="995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760" y="712831"/>
            <a:ext cx="2438412" cy="2494907"/>
          </a:xfrm>
        </p:spPr>
        <p:txBody>
          <a:bodyPr anchor="b"/>
          <a:lstStyle>
            <a:lvl1pPr>
              <a:defRPr sz="265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214137" y="1539516"/>
            <a:ext cx="3827431" cy="7598576"/>
          </a:xfrm>
        </p:spPr>
        <p:txBody>
          <a:bodyPr/>
          <a:lstStyle>
            <a:lvl1pPr marL="0" indent="0">
              <a:buNone/>
              <a:defRPr sz="2650"/>
            </a:lvl1pPr>
            <a:lvl2pPr marL="378460" indent="0">
              <a:buNone/>
              <a:defRPr sz="2315"/>
            </a:lvl2pPr>
            <a:lvl3pPr marL="755650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760" y="3207738"/>
            <a:ext cx="2438412" cy="5942732"/>
          </a:xfrm>
        </p:spPr>
        <p:txBody>
          <a:bodyPr/>
          <a:lstStyle>
            <a:lvl1pPr marL="0" indent="0">
              <a:buNone/>
              <a:defRPr sz="1325"/>
            </a:lvl1pPr>
            <a:lvl2pPr marL="378460" indent="0">
              <a:buNone/>
              <a:defRPr sz="1160"/>
            </a:lvl2pPr>
            <a:lvl3pPr marL="755650" indent="0">
              <a:buNone/>
              <a:defRPr sz="995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410380" y="569274"/>
            <a:ext cx="1630202" cy="906136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9775" y="569274"/>
            <a:ext cx="4796101" cy="906136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9775" y="569274"/>
            <a:ext cx="6520808" cy="2066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9775" y="2846372"/>
            <a:ext cx="6520808" cy="6784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9775" y="9910326"/>
            <a:ext cx="1701080" cy="56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504368" y="9910326"/>
            <a:ext cx="2551620" cy="56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339502" y="9910326"/>
            <a:ext cx="1701080" cy="56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55650" rtl="0" eaLnBrk="1" latinLnBrk="0" hangingPunct="1">
        <a:lnSpc>
          <a:spcPct val="90000"/>
        </a:lnSpc>
        <a:spcBef>
          <a:spcPct val="0"/>
        </a:spcBef>
        <a:buNone/>
        <a:defRPr sz="3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565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3pPr>
      <a:lvl4pPr marL="132334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70116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207899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681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846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565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039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9775" y="569274"/>
            <a:ext cx="6520808" cy="2066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9775" y="2846372"/>
            <a:ext cx="6520808" cy="6784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9775" y="9910326"/>
            <a:ext cx="1701080" cy="56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B27EF-0196-4C0A-8796-E2E36BABCE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504368" y="9910326"/>
            <a:ext cx="2551620" cy="56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339502" y="9910326"/>
            <a:ext cx="1701080" cy="569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38185-F415-41A6-8CB1-AC07685CB1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650" rtl="0" eaLnBrk="1" latinLnBrk="0" hangingPunct="1">
        <a:lnSpc>
          <a:spcPct val="90000"/>
        </a:lnSpc>
        <a:spcBef>
          <a:spcPct val="0"/>
        </a:spcBef>
        <a:buNone/>
        <a:defRPr sz="3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565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3pPr>
      <a:lvl4pPr marL="132334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70116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207899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681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5650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846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565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039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5650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5.jpeg"/><Relationship Id="rId14" Type="http://schemas.openxmlformats.org/officeDocument/2006/relationships/image" Target="../media/image14.jpe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.png"/><Relationship Id="rId7" Type="http://schemas.openxmlformats.org/officeDocument/2006/relationships/image" Target="../media/image1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8.jpeg"/><Relationship Id="rId14" Type="http://schemas.openxmlformats.org/officeDocument/2006/relationships/image" Target="../media/image7.jpeg"/><Relationship Id="rId13" Type="http://schemas.openxmlformats.org/officeDocument/2006/relationships/image" Target="../media/image6.jpeg"/><Relationship Id="rId12" Type="http://schemas.openxmlformats.org/officeDocument/2006/relationships/image" Target="../media/image15.jpeg"/><Relationship Id="rId11" Type="http://schemas.openxmlformats.org/officeDocument/2006/relationships/image" Target="../media/image14.jpeg"/><Relationship Id="rId10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594995" y="4629150"/>
            <a:ext cx="6371590" cy="5563870"/>
          </a:xfrm>
          <a:prstGeom prst="roundRect">
            <a:avLst>
              <a:gd name="adj" fmla="val 5871"/>
            </a:avLst>
          </a:prstGeom>
          <a:solidFill>
            <a:schemeClr val="accent5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2" name="矩形: 圆角 8"/>
          <p:cNvSpPr/>
          <p:nvPr/>
        </p:nvSpPr>
        <p:spPr>
          <a:xfrm flipH="1">
            <a:off x="832485" y="4879340"/>
            <a:ext cx="1886585" cy="27451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38" name="矩形: 圆角 8"/>
          <p:cNvSpPr/>
          <p:nvPr/>
        </p:nvSpPr>
        <p:spPr>
          <a:xfrm flipH="1">
            <a:off x="2838450" y="4879340"/>
            <a:ext cx="1886585" cy="27451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41" name="矩形: 圆角 8"/>
          <p:cNvSpPr/>
          <p:nvPr/>
        </p:nvSpPr>
        <p:spPr>
          <a:xfrm flipH="1">
            <a:off x="4860290" y="4879340"/>
            <a:ext cx="1886585" cy="27451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6" name="矩形: 圆角 5"/>
          <p:cNvSpPr/>
          <p:nvPr/>
        </p:nvSpPr>
        <p:spPr>
          <a:xfrm>
            <a:off x="594995" y="532130"/>
            <a:ext cx="6370955" cy="3716655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11" name="矩形: 圆角 1150"/>
          <p:cNvSpPr/>
          <p:nvPr/>
        </p:nvSpPr>
        <p:spPr>
          <a:xfrm>
            <a:off x="1318895" y="2665095"/>
            <a:ext cx="1704340" cy="1478915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: 圆角 1150"/>
          <p:cNvSpPr/>
          <p:nvPr/>
        </p:nvSpPr>
        <p:spPr>
          <a:xfrm>
            <a:off x="1318895" y="702310"/>
            <a:ext cx="2169795" cy="1840230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" name="矩形: 圆角 1150"/>
          <p:cNvSpPr/>
          <p:nvPr/>
        </p:nvSpPr>
        <p:spPr>
          <a:xfrm>
            <a:off x="3615055" y="702310"/>
            <a:ext cx="3131185" cy="1840230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85628" y="1343093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机械臂</a:t>
            </a:r>
            <a:endParaRPr lang="zh-CN" altLang="en-US" sz="148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429828" y="2177941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</a:t>
            </a:r>
            <a:endParaRPr lang="zh-CN" altLang="en-US" sz="148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017395" y="2969260"/>
            <a:ext cx="1075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317172" y="1343093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无人车</a:t>
            </a:r>
            <a:endParaRPr lang="zh-CN" altLang="en-US" sz="148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3615261" y="1343093"/>
            <a:ext cx="971295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传感器</a:t>
            </a:r>
            <a:endParaRPr lang="zh-CN" altLang="en-US" sz="148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4821605" y="1350353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算力</a:t>
            </a:r>
            <a:endParaRPr lang="zh-CN" altLang="en-US" sz="148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5886192" y="1350574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endParaRPr lang="zh-CN" altLang="en-US" sz="148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4821740" y="2177941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148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757120" y="2178269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endParaRPr lang="zh-CN" altLang="en-US" sz="148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522140" y="3619091"/>
            <a:ext cx="140654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2" name="Picture 2" descr="Manufacturing 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130" y="811530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icture 32" descr="Driverless c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510" y="819150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Picture 6" descr="Robot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130" y="1670685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Picture 4" descr="Mo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510" y="1861185"/>
            <a:ext cx="52387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6" r="6204" b="14629"/>
          <a:stretch>
            <a:fillRect/>
          </a:stretch>
        </p:blipFill>
        <p:spPr>
          <a:xfrm>
            <a:off x="1509395" y="2883535"/>
            <a:ext cx="688340" cy="688340"/>
          </a:xfrm>
          <a:prstGeom prst="rect">
            <a:avLst/>
          </a:prstGeom>
        </p:spPr>
      </p:pic>
      <p:sp>
        <p:nvSpPr>
          <p:cNvPr id="693" name="圆角矩形 692"/>
          <p:cNvSpPr/>
          <p:nvPr/>
        </p:nvSpPr>
        <p:spPr>
          <a:xfrm>
            <a:off x="346075" y="333375"/>
            <a:ext cx="6867525" cy="1004189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235"/>
          </a:p>
        </p:txBody>
      </p:sp>
      <p:sp>
        <p:nvSpPr>
          <p:cNvPr id="147" name="箭头: 燕尾形 1202"/>
          <p:cNvSpPr/>
          <p:nvPr/>
        </p:nvSpPr>
        <p:spPr>
          <a:xfrm rot="16200000" flipH="1">
            <a:off x="1410970" y="4252595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7" name="矩形: 圆角 8"/>
          <p:cNvSpPr/>
          <p:nvPr/>
        </p:nvSpPr>
        <p:spPr>
          <a:xfrm>
            <a:off x="832485" y="8140065"/>
            <a:ext cx="5913755" cy="181927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58" name="文本框 157"/>
          <p:cNvSpPr txBox="1"/>
          <p:nvPr/>
        </p:nvSpPr>
        <p:spPr>
          <a:xfrm>
            <a:off x="938530" y="4928870"/>
            <a:ext cx="16179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研究内容一：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结合云智算和物联网技术的“远程大脑”理论体系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3" name="直接箭头连接符 162"/>
          <p:cNvCxnSpPr/>
          <p:nvPr/>
        </p:nvCxnSpPr>
        <p:spPr>
          <a:xfrm flipH="1">
            <a:off x="118554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1332548" y="6124575"/>
            <a:ext cx="887095" cy="259080"/>
            <a:chOff x="15328" y="12018"/>
            <a:chExt cx="1397" cy="408"/>
          </a:xfrm>
        </p:grpSpPr>
        <p:cxnSp>
          <p:nvCxnSpPr>
            <p:cNvPr id="180" name="直接连接符 179"/>
            <p:cNvCxnSpPr/>
            <p:nvPr/>
          </p:nvCxnSpPr>
          <p:spPr>
            <a:xfrm rot="5400000" flipH="1">
              <a:off x="16500" y="12222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 rot="5400000" flipH="1">
              <a:off x="15135" y="12222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 rot="5400000">
              <a:off x="16026" y="11320"/>
              <a:ext cx="0" cy="1397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>
            <a:xfrm rot="5400000" flipH="1">
              <a:off x="15821" y="12222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47" name="箭头: 燕尾形 1202"/>
          <p:cNvSpPr/>
          <p:nvPr/>
        </p:nvSpPr>
        <p:spPr>
          <a:xfrm rot="16200000" flipH="1">
            <a:off x="1571625" y="7684135"/>
            <a:ext cx="408305" cy="324485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1052830" y="8237220"/>
            <a:ext cx="5578475" cy="39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研究内容四：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智慧管廊巡检场景下的原型系统应用验证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1399540" y="9612630"/>
            <a:ext cx="1178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气体超标</a:t>
            </a:r>
            <a:endParaRPr lang="zh-CN" altLang="en-US" sz="12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3155315" y="9612630"/>
            <a:ext cx="1178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热源异常</a:t>
            </a:r>
            <a:endParaRPr lang="zh-CN" altLang="en-US" sz="12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4" name="文本框 253"/>
          <p:cNvSpPr txBox="1"/>
          <p:nvPr/>
        </p:nvSpPr>
        <p:spPr>
          <a:xfrm>
            <a:off x="5158105" y="9612630"/>
            <a:ext cx="8623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水位上涨</a:t>
            </a:r>
            <a:endParaRPr lang="zh-CN" altLang="en-US" sz="12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5" name="图片 25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4"/>
          <a:stretch>
            <a:fillRect/>
          </a:stretch>
        </p:blipFill>
        <p:spPr>
          <a:xfrm>
            <a:off x="1190625" y="8609330"/>
            <a:ext cx="1596390" cy="1008380"/>
          </a:xfrm>
          <a:prstGeom prst="rect">
            <a:avLst/>
          </a:prstGeom>
        </p:spPr>
      </p:pic>
      <p:pic>
        <p:nvPicPr>
          <p:cNvPr id="256" name="图片 25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55" b="604"/>
          <a:stretch>
            <a:fillRect/>
          </a:stretch>
        </p:blipFill>
        <p:spPr>
          <a:xfrm flipH="1">
            <a:off x="3018790" y="8609330"/>
            <a:ext cx="1539875" cy="1024890"/>
          </a:xfrm>
          <a:prstGeom prst="rect">
            <a:avLst/>
          </a:prstGeom>
        </p:spPr>
      </p:pic>
      <p:pic>
        <p:nvPicPr>
          <p:cNvPr id="257" name="图片 25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8" b="2860"/>
          <a:stretch>
            <a:fillRect/>
          </a:stretch>
        </p:blipFill>
        <p:spPr>
          <a:xfrm>
            <a:off x="4791075" y="8609330"/>
            <a:ext cx="1598295" cy="1031240"/>
          </a:xfrm>
          <a:prstGeom prst="rect">
            <a:avLst/>
          </a:prstGeom>
        </p:spPr>
      </p:pic>
      <p:sp>
        <p:nvSpPr>
          <p:cNvPr id="258" name="文本框 257"/>
          <p:cNvSpPr txBox="1"/>
          <p:nvPr/>
        </p:nvSpPr>
        <p:spPr>
          <a:xfrm>
            <a:off x="979363" y="7692017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1832050" y="7691990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50"/>
          <p:cNvSpPr/>
          <p:nvPr/>
        </p:nvSpPr>
        <p:spPr>
          <a:xfrm>
            <a:off x="3185795" y="2665095"/>
            <a:ext cx="1704340" cy="1478915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: 圆角 1150"/>
          <p:cNvSpPr/>
          <p:nvPr/>
        </p:nvSpPr>
        <p:spPr>
          <a:xfrm>
            <a:off x="5041900" y="2665095"/>
            <a:ext cx="1704340" cy="1478915"/>
          </a:xfrm>
          <a:prstGeom prst="roundRect">
            <a:avLst>
              <a:gd name="adj" fmla="val 4026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8" name="Picture 4" descr="Mo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1809115"/>
            <a:ext cx="53276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图片 1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4290" y="855980"/>
            <a:ext cx="532765" cy="533400"/>
          </a:xfrm>
          <a:prstGeom prst="rect">
            <a:avLst/>
          </a:prstGeom>
        </p:spPr>
      </p:pic>
      <p:pic>
        <p:nvPicPr>
          <p:cNvPr id="137" name="Picture 10" descr="Gpu 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135" y="845820"/>
            <a:ext cx="53276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Picture 12" descr="Bandwidth 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450" y="809625"/>
            <a:ext cx="53276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图片 138" descr="ai-clou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0135" y="1675765"/>
            <a:ext cx="532765" cy="533400"/>
          </a:xfrm>
          <a:prstGeom prst="rect">
            <a:avLst/>
          </a:prstGeom>
        </p:spPr>
      </p:pic>
      <p:pic>
        <p:nvPicPr>
          <p:cNvPr id="141" name="图片 140" descr="disk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87470" y="1711325"/>
            <a:ext cx="466725" cy="466725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705" y="2821305"/>
            <a:ext cx="745490" cy="74549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682365" y="2969260"/>
            <a:ext cx="1405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多维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464605" y="3619091"/>
            <a:ext cx="140654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箭头: 燕尾形 1202"/>
          <p:cNvSpPr/>
          <p:nvPr/>
        </p:nvSpPr>
        <p:spPr>
          <a:xfrm rot="16200000" flipH="1">
            <a:off x="3850640" y="244729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35" name="图片 13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255" y="2849880"/>
            <a:ext cx="795655" cy="79565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5728970" y="2969260"/>
            <a:ext cx="889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367020" y="3606165"/>
            <a:ext cx="1221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迁移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箭头: 燕尾形 1202"/>
          <p:cNvSpPr/>
          <p:nvPr/>
        </p:nvSpPr>
        <p:spPr>
          <a:xfrm rot="16200000" flipH="1">
            <a:off x="5706745" y="244729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矩形: 圆角 1197"/>
          <p:cNvSpPr/>
          <p:nvPr/>
        </p:nvSpPr>
        <p:spPr>
          <a:xfrm>
            <a:off x="791210" y="689610"/>
            <a:ext cx="396240" cy="1868805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700" b="1" spc="-20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异构具身智能体</a:t>
            </a:r>
            <a:endParaRPr kumimoji="0" lang="zh-CN" altLang="en-US" sz="1700" b="1" i="0" u="none" strike="noStrike" kern="1200" cap="none" spc="-2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2" name="矩形: 圆角 1197"/>
          <p:cNvSpPr/>
          <p:nvPr/>
        </p:nvSpPr>
        <p:spPr>
          <a:xfrm>
            <a:off x="791210" y="2665730"/>
            <a:ext cx="396240" cy="1478280"/>
          </a:xfrm>
          <a:prstGeom prst="roundRect">
            <a:avLst>
              <a:gd name="adj" fmla="val 2756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三大研究挑战</a:t>
            </a:r>
            <a:endParaRPr kumimoji="0" lang="zh-CN" altLang="en-US" sz="1700" b="1" i="0" u="none" strike="noStrike" kern="1200" cap="none" spc="-2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45615" y="4273550"/>
            <a:ext cx="14097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怎么协同？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箭头: 燕尾形 1202"/>
          <p:cNvSpPr/>
          <p:nvPr/>
        </p:nvSpPr>
        <p:spPr>
          <a:xfrm rot="16200000" flipH="1">
            <a:off x="3318510" y="4252595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653155" y="4274185"/>
            <a:ext cx="1409700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怎么感知？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6" name="箭头: 燕尾形 1202"/>
          <p:cNvSpPr/>
          <p:nvPr/>
        </p:nvSpPr>
        <p:spPr>
          <a:xfrm rot="16200000" flipH="1">
            <a:off x="5164455" y="4252595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499100" y="4274185"/>
            <a:ext cx="1409700" cy="336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怎么迁移？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2" name="箭头: 燕尾形 1202"/>
          <p:cNvSpPr/>
          <p:nvPr/>
        </p:nvSpPr>
        <p:spPr>
          <a:xfrm rot="16200000" flipH="1">
            <a:off x="1982470" y="2447290"/>
            <a:ext cx="374650" cy="317500"/>
          </a:xfrm>
          <a:prstGeom prst="notchedRightArrow">
            <a:avLst/>
          </a:prstGeom>
          <a:gradFill>
            <a:gsLst>
              <a:gs pos="100000">
                <a:srgbClr val="C00000"/>
              </a:gs>
              <a:gs pos="5000">
                <a:srgbClr val="C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951230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1525905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2100580" y="645160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96583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分层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442085" y="5814695"/>
            <a:ext cx="68580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协同</a:t>
            </a:r>
            <a:endParaRPr lang="zh-CN" altLang="en-US" sz="14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 flipH="1">
            <a:off x="177609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H="1">
            <a:off x="235013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154749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弱网集群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123440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异构资源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951230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1525905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2100580" y="711454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96583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如何设计？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54749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如何对齐？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123440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如何分配？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 rot="0">
            <a:off x="3911600" y="6125845"/>
            <a:ext cx="474980" cy="273050"/>
            <a:chOff x="6160" y="10097"/>
            <a:chExt cx="748" cy="430"/>
          </a:xfrm>
        </p:grpSpPr>
        <p:cxnSp>
          <p:nvCxnSpPr>
            <p:cNvPr id="210" name="直接箭头连接符 209"/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68" name="文本框 67"/>
          <p:cNvSpPr txBox="1"/>
          <p:nvPr/>
        </p:nvSpPr>
        <p:spPr>
          <a:xfrm>
            <a:off x="2994025" y="4928870"/>
            <a:ext cx="15671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研究内容二：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非结构化动态开放场景中的多维感知机理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9" name="直接箭头连接符 68"/>
          <p:cNvCxnSpPr/>
          <p:nvPr/>
        </p:nvCxnSpPr>
        <p:spPr>
          <a:xfrm flipH="1">
            <a:off x="3215640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圆角矩形 74"/>
          <p:cNvSpPr/>
          <p:nvPr/>
        </p:nvSpPr>
        <p:spPr>
          <a:xfrm>
            <a:off x="2981325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3556000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圆角矩形 76"/>
          <p:cNvSpPr/>
          <p:nvPr/>
        </p:nvSpPr>
        <p:spPr>
          <a:xfrm>
            <a:off x="4130675" y="645160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2995930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主动感知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3143250" y="5814695"/>
            <a:ext cx="61341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支撑</a:t>
            </a:r>
            <a:endParaRPr lang="zh-CN" altLang="en-US" sz="14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 flipH="1">
            <a:off x="3806190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 flipH="1">
            <a:off x="4380230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3577590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场景重建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15353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连续演化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2981325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3556000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圆角矩形 86"/>
          <p:cNvSpPr/>
          <p:nvPr/>
        </p:nvSpPr>
        <p:spPr>
          <a:xfrm>
            <a:off x="4130675" y="711454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2995930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如何决策？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577590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如何构建？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15353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如何迭代？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 rot="0" flipH="1">
            <a:off x="3209925" y="6125845"/>
            <a:ext cx="474980" cy="273050"/>
            <a:chOff x="6160" y="10097"/>
            <a:chExt cx="748" cy="430"/>
          </a:xfrm>
        </p:grpSpPr>
        <p:cxnSp>
          <p:nvCxnSpPr>
            <p:cNvPr id="94" name="直接箭头连接符 93"/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9" name="文本框 98"/>
          <p:cNvSpPr txBox="1"/>
          <p:nvPr/>
        </p:nvSpPr>
        <p:spPr>
          <a:xfrm>
            <a:off x="3874770" y="5814695"/>
            <a:ext cx="5524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支撑</a:t>
            </a:r>
            <a:endParaRPr lang="zh-CN" altLang="en-US" sz="14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10" name="组合 109"/>
          <p:cNvGrpSpPr/>
          <p:nvPr/>
        </p:nvGrpSpPr>
        <p:grpSpPr>
          <a:xfrm rot="0">
            <a:off x="5926455" y="6125845"/>
            <a:ext cx="474980" cy="273050"/>
            <a:chOff x="6160" y="10097"/>
            <a:chExt cx="748" cy="430"/>
          </a:xfrm>
        </p:grpSpPr>
        <p:cxnSp>
          <p:nvCxnSpPr>
            <p:cNvPr id="111" name="直接箭头连接符 110"/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16" name="文本框 115"/>
          <p:cNvSpPr txBox="1"/>
          <p:nvPr/>
        </p:nvSpPr>
        <p:spPr>
          <a:xfrm>
            <a:off x="5029200" y="4928870"/>
            <a:ext cx="15265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研究内容三：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集成云边端协同的知识蒸馏与推理框架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7" name="直接箭头连接符 116"/>
          <p:cNvCxnSpPr/>
          <p:nvPr/>
        </p:nvCxnSpPr>
        <p:spPr>
          <a:xfrm flipH="1">
            <a:off x="523049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圆角矩形 117"/>
          <p:cNvSpPr/>
          <p:nvPr/>
        </p:nvSpPr>
        <p:spPr>
          <a:xfrm>
            <a:off x="4996180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圆角矩形 120"/>
          <p:cNvSpPr/>
          <p:nvPr/>
        </p:nvSpPr>
        <p:spPr>
          <a:xfrm>
            <a:off x="5570855" y="645160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圆角矩形 121"/>
          <p:cNvSpPr/>
          <p:nvPr/>
        </p:nvSpPr>
        <p:spPr>
          <a:xfrm>
            <a:off x="6145530" y="645160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501078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知识迁移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5158105" y="5814695"/>
            <a:ext cx="61341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支撑</a:t>
            </a:r>
            <a:endParaRPr lang="zh-CN" altLang="en-US" sz="14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25" name="直接箭头连接符 124"/>
          <p:cNvCxnSpPr/>
          <p:nvPr/>
        </p:nvCxnSpPr>
        <p:spPr>
          <a:xfrm flipH="1">
            <a:off x="582104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/>
          <p:nvPr/>
        </p:nvCxnSpPr>
        <p:spPr>
          <a:xfrm flipH="1">
            <a:off x="6395085" y="6872605"/>
            <a:ext cx="1905" cy="177800"/>
          </a:xfrm>
          <a:prstGeom prst="straightConnector1">
            <a:avLst/>
          </a:prstGeom>
          <a:ln w="15875">
            <a:solidFill>
              <a:srgbClr val="2E54A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文本框 126"/>
          <p:cNvSpPr txBox="1"/>
          <p:nvPr/>
        </p:nvSpPr>
        <p:spPr>
          <a:xfrm>
            <a:off x="5592445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精度时延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6168390" y="642302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分布演化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>
            <a:off x="4996180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5570855" y="7114540"/>
            <a:ext cx="500380" cy="374650"/>
          </a:xfrm>
          <a:prstGeom prst="roundRect">
            <a:avLst>
              <a:gd name="adj" fmla="val 10677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圆角矩形 131"/>
          <p:cNvSpPr/>
          <p:nvPr/>
        </p:nvSpPr>
        <p:spPr>
          <a:xfrm>
            <a:off x="6145530" y="7114540"/>
            <a:ext cx="500380" cy="374650"/>
          </a:xfrm>
          <a:prstGeom prst="roundRect">
            <a:avLst>
              <a:gd name="adj" fmla="val 9830"/>
            </a:avLst>
          </a:prstGeom>
          <a:solidFill>
            <a:srgbClr val="F6FBFF"/>
          </a:solidFill>
          <a:ln w="19050" cmpd="sng">
            <a:solidFill>
              <a:srgbClr val="2E54A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文本框 132"/>
          <p:cNvSpPr txBox="1"/>
          <p:nvPr/>
        </p:nvSpPr>
        <p:spPr>
          <a:xfrm>
            <a:off x="501078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如何保真？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5592445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如何兼顾？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6168390" y="7085965"/>
            <a:ext cx="4635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如何适应？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6" name="组合 145"/>
          <p:cNvGrpSpPr/>
          <p:nvPr/>
        </p:nvGrpSpPr>
        <p:grpSpPr>
          <a:xfrm rot="0" flipH="1">
            <a:off x="5224780" y="6125845"/>
            <a:ext cx="474980" cy="273050"/>
            <a:chOff x="6160" y="10097"/>
            <a:chExt cx="748" cy="430"/>
          </a:xfrm>
        </p:grpSpPr>
        <p:cxnSp>
          <p:nvCxnSpPr>
            <p:cNvPr id="148" name="直接箭头连接符 147"/>
            <p:cNvCxnSpPr/>
            <p:nvPr/>
          </p:nvCxnSpPr>
          <p:spPr>
            <a:xfrm rot="5400000">
              <a:off x="5952" y="10310"/>
              <a:ext cx="430" cy="5"/>
            </a:xfrm>
            <a:prstGeom prst="straightConnector1">
              <a:avLst/>
            </a:prstGeom>
            <a:ln w="15875">
              <a:solidFill>
                <a:srgbClr val="2E54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 rot="5400000" flipH="1">
              <a:off x="6691" y="10301"/>
              <a:ext cx="408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 flipH="1">
              <a:off x="6160" y="10098"/>
              <a:ext cx="749" cy="0"/>
            </a:xfrm>
            <a:prstGeom prst="line">
              <a:avLst/>
            </a:prstGeom>
            <a:ln w="190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51" name="文本框 150"/>
          <p:cNvSpPr txBox="1"/>
          <p:nvPr/>
        </p:nvSpPr>
        <p:spPr>
          <a:xfrm>
            <a:off x="5889625" y="5814695"/>
            <a:ext cx="55245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保障</a:t>
            </a:r>
            <a:endParaRPr lang="zh-CN" altLang="en-US" sz="14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3" name="箭头: 燕尾形 1202"/>
          <p:cNvSpPr/>
          <p:nvPr/>
        </p:nvSpPr>
        <p:spPr>
          <a:xfrm rot="16200000" flipH="1">
            <a:off x="3548380" y="7684135"/>
            <a:ext cx="408305" cy="324485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2956118" y="7692017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感知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3808805" y="7691990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底座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箭头: 燕尾形 1202"/>
          <p:cNvSpPr/>
          <p:nvPr/>
        </p:nvSpPr>
        <p:spPr>
          <a:xfrm rot="16200000" flipH="1">
            <a:off x="5577840" y="7684135"/>
            <a:ext cx="408305" cy="324485"/>
          </a:xfrm>
          <a:prstGeom prst="notchedRightArrow">
            <a:avLst/>
          </a:prstGeom>
          <a:gradFill>
            <a:gsLst>
              <a:gs pos="100000">
                <a:srgbClr val="2E54A1"/>
              </a:gs>
              <a:gs pos="5000">
                <a:srgbClr val="2E54A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3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4985578" y="7692017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决策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5838265" y="7691990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保障</a:t>
            </a:r>
            <a:endParaRPr lang="zh-CN" altLang="en-US" sz="174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-1993571" y="1406998"/>
            <a:ext cx="3687464" cy="7718048"/>
          </a:xfrm>
          <a:prstGeom prst="roundRect">
            <a:avLst>
              <a:gd name="adj" fmla="val 4846"/>
            </a:avLst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chemeClr val="tx1"/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859079" y="1412440"/>
            <a:ext cx="6695202" cy="7712614"/>
          </a:xfrm>
          <a:prstGeom prst="roundRect">
            <a:avLst>
              <a:gd name="adj" fmla="val 3328"/>
            </a:avLst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-1988492" y="1471785"/>
            <a:ext cx="2453941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异构具身智能体</a:t>
            </a:r>
            <a:endParaRPr lang="zh-CN" altLang="en-US" sz="1740" b="1" dirty="0">
              <a:solidFill>
                <a:srgbClr val="3D50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3000079" y="1551165"/>
            <a:ext cx="3125651" cy="2321911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0" name="文本框 9"/>
          <p:cNvSpPr txBox="1"/>
          <p:nvPr/>
        </p:nvSpPr>
        <p:spPr>
          <a:xfrm>
            <a:off x="2960808" y="1585697"/>
            <a:ext cx="3176583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1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研究内容一：</a:t>
            </a:r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结合云智算和物联网技术的“远程大脑”理论体系</a:t>
            </a:r>
            <a:endParaRPr lang="zh-CN" altLang="en-US" sz="16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3011745" y="4100554"/>
            <a:ext cx="3125651" cy="2321911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2" name="矩形: 圆角 11"/>
          <p:cNvSpPr/>
          <p:nvPr/>
        </p:nvSpPr>
        <p:spPr>
          <a:xfrm>
            <a:off x="3011745" y="6646870"/>
            <a:ext cx="3125651" cy="2321911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3" name="文本框 12"/>
          <p:cNvSpPr txBox="1"/>
          <p:nvPr/>
        </p:nvSpPr>
        <p:spPr>
          <a:xfrm>
            <a:off x="3007905" y="4135775"/>
            <a:ext cx="312948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1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研究内容二：</a:t>
            </a:r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非结构化动态开放场景中的多维感知机理</a:t>
            </a:r>
            <a:endParaRPr lang="zh-CN" altLang="en-US" sz="16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7906" y="6678633"/>
            <a:ext cx="3117824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1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研究内容三：</a:t>
            </a:r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集成云边端协同的知识蒸馏与推理框架</a:t>
            </a:r>
            <a:endParaRPr lang="zh-CN" altLang="en-US" sz="16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803821" y="1551165"/>
            <a:ext cx="2569498" cy="7417612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6" name="文本框 15"/>
          <p:cNvSpPr txBox="1"/>
          <p:nvPr/>
        </p:nvSpPr>
        <p:spPr>
          <a:xfrm>
            <a:off x="6803821" y="1585696"/>
            <a:ext cx="2569409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zh-CN" altLang="en-US" sz="161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研究内容四：</a:t>
            </a:r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智慧管廊巡检场景下的原型系统应用验证</a:t>
            </a:r>
            <a:endParaRPr lang="zh-CN" altLang="en-US" sz="16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/>
          <p:cNvCxnSpPr>
            <a:stCxn id="9" idx="3"/>
          </p:cNvCxnSpPr>
          <p:nvPr/>
        </p:nvCxnSpPr>
        <p:spPr>
          <a:xfrm>
            <a:off x="6125730" y="2712120"/>
            <a:ext cx="66347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1" idx="3"/>
            <a:endCxn id="15" idx="1"/>
          </p:cNvCxnSpPr>
          <p:nvPr/>
        </p:nvCxnSpPr>
        <p:spPr>
          <a:xfrm flipV="1">
            <a:off x="6137395" y="5259972"/>
            <a:ext cx="666426" cy="153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2" idx="3"/>
          </p:cNvCxnSpPr>
          <p:nvPr/>
        </p:nvCxnSpPr>
        <p:spPr>
          <a:xfrm>
            <a:off x="6137395" y="7807825"/>
            <a:ext cx="66642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87244" y="5779387"/>
            <a:ext cx="1585792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非结构化多维</a:t>
            </a:r>
            <a:endParaRPr lang="en-US" altLang="zh-CN" sz="161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8643" y="4871944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</a:t>
            </a:r>
            <a:endParaRPr lang="en-US" alt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465447" y="4492294"/>
            <a:ext cx="1228448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438343" y="1418394"/>
            <a:ext cx="22028" cy="771804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1693895" y="5342582"/>
            <a:ext cx="1165184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-1851052" y="3013558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机械臂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-1851052" y="4443346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5132" y="3391852"/>
            <a:ext cx="1591413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云边端协同</a:t>
            </a:r>
            <a:endParaRPr lang="en-US" altLang="zh-CN" sz="16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77232" y="8085539"/>
            <a:ext cx="1585792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云边端知识</a:t>
            </a:r>
            <a:endParaRPr lang="en-US" altLang="zh-CN" sz="161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58865" y="1480118"/>
            <a:ext cx="1246482" cy="626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三大研</a:t>
            </a:r>
            <a:endParaRPr lang="en-US" altLang="zh-CN" sz="1740" b="1" dirty="0">
              <a:solidFill>
                <a:srgbClr val="3D50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740" b="1" dirty="0">
                <a:solidFill>
                  <a:srgbClr val="3D50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究挑战</a:t>
            </a:r>
            <a:endParaRPr lang="en-US" altLang="zh-CN" sz="1740" b="1" dirty="0">
              <a:solidFill>
                <a:srgbClr val="3D50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456431" y="6832219"/>
            <a:ext cx="1228448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1693895" y="2638213"/>
            <a:ext cx="1145409" cy="4380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1677167" y="7563909"/>
            <a:ext cx="1177451" cy="4499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箭头: 右 32"/>
          <p:cNvSpPr/>
          <p:nvPr/>
        </p:nvSpPr>
        <p:spPr>
          <a:xfrm>
            <a:off x="363491" y="5262701"/>
            <a:ext cx="227503" cy="300163"/>
          </a:xfrm>
          <a:prstGeom prst="rightArrow">
            <a:avLst>
              <a:gd name="adj1" fmla="val 35327"/>
              <a:gd name="adj2" fmla="val 3165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/>
          </a:p>
        </p:txBody>
      </p:sp>
      <p:sp>
        <p:nvSpPr>
          <p:cNvPr id="34" name="文本框 33"/>
          <p:cNvSpPr txBox="1"/>
          <p:nvPr/>
        </p:nvSpPr>
        <p:spPr>
          <a:xfrm>
            <a:off x="1269083" y="4959132"/>
            <a:ext cx="2168277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怎么感知？</a:t>
            </a:r>
            <a:r>
              <a:rPr lang="en-US" altLang="zh-CN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16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-781387" y="3009605"/>
            <a:ext cx="102699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无人车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094474" y="2324412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en-US" alt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090013" y="7426079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endParaRPr lang="en-US" alt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 rot="1267914">
            <a:off x="1200848" y="7394121"/>
            <a:ext cx="2177053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“怎么迁移？</a:t>
            </a:r>
            <a:r>
              <a:rPr lang="en-US" altLang="zh-CN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16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 rot="20363149">
            <a:off x="1267154" y="2429052"/>
            <a:ext cx="2064447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“怎么协同？”</a:t>
            </a:r>
            <a:endParaRPr lang="en-US" altLang="zh-CN" sz="161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096512" y="2714014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en-US" alt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088643" y="5268950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底座</a:t>
            </a:r>
            <a:endParaRPr lang="en-US" alt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092176" y="7823083"/>
            <a:ext cx="752267" cy="35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保障</a:t>
            </a:r>
            <a:endParaRPr lang="en-US" alt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箭头: 右 43"/>
          <p:cNvSpPr/>
          <p:nvPr/>
        </p:nvSpPr>
        <p:spPr>
          <a:xfrm>
            <a:off x="357254" y="3150970"/>
            <a:ext cx="227503" cy="300163"/>
          </a:xfrm>
          <a:prstGeom prst="rightArrow">
            <a:avLst>
              <a:gd name="adj1" fmla="val 35327"/>
              <a:gd name="adj2" fmla="val 3165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/>
          </a:p>
        </p:txBody>
      </p:sp>
      <p:sp>
        <p:nvSpPr>
          <p:cNvPr id="45" name="箭头: 右 44"/>
          <p:cNvSpPr/>
          <p:nvPr/>
        </p:nvSpPr>
        <p:spPr>
          <a:xfrm>
            <a:off x="357814" y="7805058"/>
            <a:ext cx="227503" cy="300163"/>
          </a:xfrm>
          <a:prstGeom prst="rightArrow">
            <a:avLst>
              <a:gd name="adj1" fmla="val 35327"/>
              <a:gd name="adj2" fmla="val 3165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/>
          </a:p>
        </p:txBody>
      </p:sp>
      <p:sp>
        <p:nvSpPr>
          <p:cNvPr id="50" name="文本框 49"/>
          <p:cNvSpPr txBox="1"/>
          <p:nvPr/>
        </p:nvSpPr>
        <p:spPr>
          <a:xfrm>
            <a:off x="440044" y="6156151"/>
            <a:ext cx="1406542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3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感知难！</a:t>
            </a:r>
            <a:endParaRPr lang="en-US" altLang="zh-CN" sz="248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47411" y="8465978"/>
            <a:ext cx="1406542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迁移</a:t>
            </a:r>
            <a:r>
              <a:rPr lang="zh-CN" altLang="en-US" sz="223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  <a:endParaRPr lang="en-US" altLang="zh-CN" sz="248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3368624" y="2318344"/>
            <a:ext cx="2634290" cy="1401166"/>
            <a:chOff x="4539271" y="1109358"/>
            <a:chExt cx="2123849" cy="1129665"/>
          </a:xfrm>
        </p:grpSpPr>
        <p:sp>
          <p:nvSpPr>
            <p:cNvPr id="55" name="矩形: 圆角 70"/>
            <p:cNvSpPr/>
            <p:nvPr/>
          </p:nvSpPr>
          <p:spPr>
            <a:xfrm>
              <a:off x="4763835" y="1128408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矩形: 圆角 107"/>
            <p:cNvSpPr/>
            <p:nvPr/>
          </p:nvSpPr>
          <p:spPr>
            <a:xfrm>
              <a:off x="4763835" y="1554493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: 圆角 111"/>
            <p:cNvSpPr/>
            <p:nvPr/>
          </p:nvSpPr>
          <p:spPr>
            <a:xfrm>
              <a:off x="5791900" y="1131583"/>
              <a:ext cx="864235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8" name="直接箭头连接符 57"/>
            <p:cNvCxnSpPr>
              <a:stCxn id="55" idx="3"/>
              <a:endCxn id="57" idx="1"/>
            </p:cNvCxnSpPr>
            <p:nvPr/>
          </p:nvCxnSpPr>
          <p:spPr>
            <a:xfrm>
              <a:off x="5502975" y="1254773"/>
              <a:ext cx="288925" cy="3175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矩形: 圆角 129"/>
            <p:cNvSpPr/>
            <p:nvPr/>
          </p:nvSpPr>
          <p:spPr>
            <a:xfrm>
              <a:off x="4763200" y="1979943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: 圆角 131"/>
            <p:cNvSpPr/>
            <p:nvPr/>
          </p:nvSpPr>
          <p:spPr>
            <a:xfrm>
              <a:off x="5798885" y="1551318"/>
              <a:ext cx="864235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矩形: 圆角 133"/>
            <p:cNvSpPr/>
            <p:nvPr/>
          </p:nvSpPr>
          <p:spPr>
            <a:xfrm>
              <a:off x="5798885" y="1986928"/>
              <a:ext cx="864235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2" name="直接箭头连接符 61"/>
            <p:cNvCxnSpPr>
              <a:stCxn id="56" idx="3"/>
              <a:endCxn id="60" idx="1"/>
            </p:cNvCxnSpPr>
            <p:nvPr/>
          </p:nvCxnSpPr>
          <p:spPr>
            <a:xfrm flipV="1">
              <a:off x="5502975" y="1677683"/>
              <a:ext cx="295910" cy="2540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>
              <a:stCxn id="59" idx="3"/>
              <a:endCxn id="61" idx="1"/>
            </p:cNvCxnSpPr>
            <p:nvPr/>
          </p:nvCxnSpPr>
          <p:spPr>
            <a:xfrm>
              <a:off x="5502975" y="2106308"/>
              <a:ext cx="295910" cy="6985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连接符: 肘形 88"/>
            <p:cNvCxnSpPr>
              <a:stCxn id="55" idx="1"/>
            </p:cNvCxnSpPr>
            <p:nvPr/>
          </p:nvCxnSpPr>
          <p:spPr>
            <a:xfrm rot="10800000" flipV="1">
              <a:off x="4539271" y="1254456"/>
              <a:ext cx="224565" cy="430462"/>
            </a:xfrm>
            <a:prstGeom prst="bentConnector2">
              <a:avLst/>
            </a:prstGeom>
            <a:ln w="15875">
              <a:solidFill>
                <a:srgbClr val="4372C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连接符: 肘形 165"/>
            <p:cNvCxnSpPr>
              <a:stCxn id="56" idx="1"/>
              <a:endCxn id="59" idx="1"/>
            </p:cNvCxnSpPr>
            <p:nvPr/>
          </p:nvCxnSpPr>
          <p:spPr>
            <a:xfrm rot="10800000" flipV="1">
              <a:off x="4763201" y="1680541"/>
              <a:ext cx="635" cy="425450"/>
            </a:xfrm>
            <a:prstGeom prst="bentConnector3">
              <a:avLst>
                <a:gd name="adj1" fmla="val 35349921"/>
              </a:avLst>
            </a:prstGeom>
            <a:ln w="15875">
              <a:solidFill>
                <a:srgbClr val="4372C1"/>
              </a:solidFill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文本框 65"/>
            <p:cNvSpPr txBox="1"/>
            <p:nvPr/>
          </p:nvSpPr>
          <p:spPr>
            <a:xfrm>
              <a:off x="4728910" y="1116343"/>
              <a:ext cx="809625" cy="258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分层架构</a:t>
              </a:r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5798885" y="1109358"/>
              <a:ext cx="850265" cy="258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如何设计？</a:t>
              </a:r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4728910" y="1541793"/>
              <a:ext cx="809625" cy="258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弱网集群</a:t>
              </a:r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5805870" y="1529093"/>
              <a:ext cx="850265" cy="258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如何对齐？</a:t>
              </a:r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805870" y="1964703"/>
              <a:ext cx="850265" cy="258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如何分配？</a:t>
              </a:r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3055117" y="7468747"/>
            <a:ext cx="2934891" cy="1401165"/>
            <a:chOff x="3135475" y="1482642"/>
            <a:chExt cx="2366204" cy="1129665"/>
          </a:xfrm>
        </p:grpSpPr>
        <p:sp>
          <p:nvSpPr>
            <p:cNvPr id="72" name="矩形: 圆角 71"/>
            <p:cNvSpPr/>
            <p:nvPr/>
          </p:nvSpPr>
          <p:spPr>
            <a:xfrm>
              <a:off x="3602394" y="1501692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矩形: 圆角 72"/>
            <p:cNvSpPr/>
            <p:nvPr/>
          </p:nvSpPr>
          <p:spPr>
            <a:xfrm>
              <a:off x="3602394" y="1927777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矩形: 圆角 73"/>
            <p:cNvSpPr/>
            <p:nvPr/>
          </p:nvSpPr>
          <p:spPr>
            <a:xfrm>
              <a:off x="4630459" y="1504867"/>
              <a:ext cx="864235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5" name="直接箭头连接符 74"/>
            <p:cNvCxnSpPr>
              <a:stCxn id="72" idx="3"/>
              <a:endCxn id="74" idx="1"/>
            </p:cNvCxnSpPr>
            <p:nvPr/>
          </p:nvCxnSpPr>
          <p:spPr>
            <a:xfrm>
              <a:off x="4341534" y="1628057"/>
              <a:ext cx="288925" cy="3175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矩形: 圆角 75"/>
            <p:cNvSpPr/>
            <p:nvPr/>
          </p:nvSpPr>
          <p:spPr>
            <a:xfrm>
              <a:off x="3601759" y="2353227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矩形: 圆角 76"/>
            <p:cNvSpPr/>
            <p:nvPr/>
          </p:nvSpPr>
          <p:spPr>
            <a:xfrm>
              <a:off x="4637444" y="1924602"/>
              <a:ext cx="864235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矩形: 圆角 77"/>
            <p:cNvSpPr/>
            <p:nvPr/>
          </p:nvSpPr>
          <p:spPr>
            <a:xfrm>
              <a:off x="4637444" y="2360212"/>
              <a:ext cx="864235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9" name="直接箭头连接符 78"/>
            <p:cNvCxnSpPr>
              <a:stCxn id="73" idx="3"/>
              <a:endCxn id="77" idx="1"/>
            </p:cNvCxnSpPr>
            <p:nvPr/>
          </p:nvCxnSpPr>
          <p:spPr>
            <a:xfrm flipV="1">
              <a:off x="4341534" y="2050967"/>
              <a:ext cx="295910" cy="2540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>
              <a:stCxn id="76" idx="3"/>
              <a:endCxn id="78" idx="1"/>
            </p:cNvCxnSpPr>
            <p:nvPr/>
          </p:nvCxnSpPr>
          <p:spPr>
            <a:xfrm>
              <a:off x="4341534" y="2479592"/>
              <a:ext cx="295910" cy="6985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2"/>
            <p:cNvSpPr txBox="1"/>
            <p:nvPr/>
          </p:nvSpPr>
          <p:spPr>
            <a:xfrm>
              <a:off x="3135475" y="1618713"/>
              <a:ext cx="213995" cy="3803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4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支撑</a:t>
              </a:r>
              <a:endParaRPr lang="zh-CN" altLang="en-US" sz="124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4" name="连接符: 肘形 83"/>
            <p:cNvCxnSpPr/>
            <p:nvPr/>
          </p:nvCxnSpPr>
          <p:spPr>
            <a:xfrm rot="10800000" flipH="1">
              <a:off x="3569586" y="1585295"/>
              <a:ext cx="4900" cy="425943"/>
            </a:xfrm>
            <a:prstGeom prst="bentConnector3">
              <a:avLst>
                <a:gd name="adj1" fmla="val -4665306"/>
              </a:avLst>
            </a:prstGeom>
            <a:ln w="15875">
              <a:solidFill>
                <a:srgbClr val="4372C1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文本框 84"/>
            <p:cNvSpPr txBox="1"/>
            <p:nvPr/>
          </p:nvSpPr>
          <p:spPr>
            <a:xfrm>
              <a:off x="4637444" y="1482642"/>
              <a:ext cx="85026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如何保真？</a:t>
              </a:r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4644429" y="1902377"/>
              <a:ext cx="85026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如何兼顾？</a:t>
              </a:r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4644429" y="2337987"/>
              <a:ext cx="85026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如何适应？</a:t>
              </a:r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3566834" y="2341162"/>
              <a:ext cx="80962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分布演化</a:t>
              </a:r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3567469" y="1915077"/>
              <a:ext cx="80962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精度时延</a:t>
              </a:r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3" name="文本框 92"/>
          <p:cNvSpPr txBox="1"/>
          <p:nvPr/>
        </p:nvSpPr>
        <p:spPr>
          <a:xfrm>
            <a:off x="7015224" y="4218447"/>
            <a:ext cx="2152234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气体超标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7007648" y="6352206"/>
            <a:ext cx="2152234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热源异常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7301260" y="8489230"/>
            <a:ext cx="157453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水位上涨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-1853139" y="6115057"/>
            <a:ext cx="971295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传感器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-540115" y="6115057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算力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-1621193" y="7345708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-553198" y="7342748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-1631271" y="8612251"/>
            <a:ext cx="669782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endParaRPr lang="en-US" altLang="zh-CN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-1892420" y="1913078"/>
            <a:ext cx="2207553" cy="2967999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107" name="矩形: 圆角 106"/>
          <p:cNvSpPr/>
          <p:nvPr/>
        </p:nvSpPr>
        <p:spPr>
          <a:xfrm>
            <a:off x="-1889310" y="5055945"/>
            <a:ext cx="2206529" cy="3912832"/>
          </a:xfrm>
          <a:prstGeom prst="roundRect">
            <a:avLst>
              <a:gd name="adj" fmla="val 6238"/>
            </a:avLst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pic>
        <p:nvPicPr>
          <p:cNvPr id="108" name="Picture 4" descr="Mor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6672" y="7718628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文本框 108"/>
          <p:cNvSpPr txBox="1"/>
          <p:nvPr/>
        </p:nvSpPr>
        <p:spPr>
          <a:xfrm>
            <a:off x="435191" y="3764968"/>
            <a:ext cx="1406542" cy="43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4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</a:t>
            </a:r>
            <a:r>
              <a:rPr lang="zh-CN" altLang="en-US" sz="2235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难！</a:t>
            </a:r>
            <a:endParaRPr lang="en-US" altLang="zh-CN" sz="248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3603052" y="3383199"/>
            <a:ext cx="100420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异构资源</a:t>
            </a:r>
            <a:endParaRPr lang="zh-CN" altLang="en-US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3069754" y="2772921"/>
            <a:ext cx="265426" cy="471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</a:t>
            </a:r>
            <a:endParaRPr lang="zh-CN" altLang="en-US" sz="12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3058960" y="4894646"/>
            <a:ext cx="2937800" cy="1413391"/>
            <a:chOff x="5514386" y="3064918"/>
            <a:chExt cx="2368549" cy="1139522"/>
          </a:xfrm>
        </p:grpSpPr>
        <p:sp>
          <p:nvSpPr>
            <p:cNvPr id="115" name="矩形: 圆角 114"/>
            <p:cNvSpPr/>
            <p:nvPr/>
          </p:nvSpPr>
          <p:spPr>
            <a:xfrm>
              <a:off x="7013192" y="3069069"/>
              <a:ext cx="857250" cy="257492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矩形: 圆角 115"/>
            <p:cNvSpPr/>
            <p:nvPr/>
          </p:nvSpPr>
          <p:spPr>
            <a:xfrm>
              <a:off x="5987760" y="3088034"/>
              <a:ext cx="739140" cy="252095"/>
            </a:xfrm>
            <a:prstGeom prst="roundRect">
              <a:avLst/>
            </a:prstGeom>
            <a:solidFill>
              <a:srgbClr val="F6FBFF"/>
            </a:solidFill>
            <a:ln w="15875" cap="flat" cmpd="sng" algn="ctr">
              <a:solidFill>
                <a:srgbClr val="4372C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7" name="组合 116"/>
            <p:cNvGrpSpPr/>
            <p:nvPr/>
          </p:nvGrpSpPr>
          <p:grpSpPr>
            <a:xfrm>
              <a:off x="5514386" y="3507210"/>
              <a:ext cx="2368549" cy="697230"/>
              <a:chOff x="3727451" y="2046204"/>
              <a:chExt cx="2368549" cy="697230"/>
            </a:xfrm>
          </p:grpSpPr>
          <p:sp>
            <p:nvSpPr>
              <p:cNvPr id="123" name="矩形: 圆角 122"/>
              <p:cNvSpPr/>
              <p:nvPr/>
            </p:nvSpPr>
            <p:spPr>
              <a:xfrm>
                <a:off x="4196715" y="2065254"/>
                <a:ext cx="739140" cy="252095"/>
              </a:xfrm>
              <a:prstGeom prst="roundRect">
                <a:avLst/>
              </a:prstGeom>
              <a:solidFill>
                <a:srgbClr val="F6FBFF"/>
              </a:solidFill>
              <a:ln w="15875" cap="flat" cmpd="sng" algn="ctr">
                <a:solidFill>
                  <a:srgbClr val="4372C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矩形: 圆角 123"/>
              <p:cNvSpPr/>
              <p:nvPr/>
            </p:nvSpPr>
            <p:spPr>
              <a:xfrm>
                <a:off x="4196715" y="2491339"/>
                <a:ext cx="739140" cy="252095"/>
              </a:xfrm>
              <a:prstGeom prst="roundRect">
                <a:avLst/>
              </a:prstGeom>
              <a:solidFill>
                <a:srgbClr val="F6FBFF"/>
              </a:solidFill>
              <a:ln w="15875" cap="flat" cmpd="sng" algn="ctr">
                <a:solidFill>
                  <a:srgbClr val="4372C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矩形: 圆角 124"/>
              <p:cNvSpPr/>
              <p:nvPr/>
            </p:nvSpPr>
            <p:spPr>
              <a:xfrm>
                <a:off x="5224780" y="2068429"/>
                <a:ext cx="864235" cy="252095"/>
              </a:xfrm>
              <a:prstGeom prst="roundRect">
                <a:avLst/>
              </a:prstGeom>
              <a:solidFill>
                <a:srgbClr val="F6FBFF"/>
              </a:solidFill>
              <a:ln w="15875" cap="flat" cmpd="sng" algn="ctr">
                <a:solidFill>
                  <a:srgbClr val="4372C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6" name="直接箭头连接符 125"/>
              <p:cNvCxnSpPr>
                <a:stCxn id="123" idx="3"/>
                <a:endCxn id="125" idx="1"/>
              </p:cNvCxnSpPr>
              <p:nvPr/>
            </p:nvCxnSpPr>
            <p:spPr>
              <a:xfrm>
                <a:off x="4935855" y="2191619"/>
                <a:ext cx="288925" cy="3175"/>
              </a:xfrm>
              <a:prstGeom prst="straightConnector1">
                <a:avLst/>
              </a:prstGeom>
              <a:ln w="15875">
                <a:solidFill>
                  <a:srgbClr val="4372C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7" name="矩形: 圆角 126"/>
              <p:cNvSpPr/>
              <p:nvPr/>
            </p:nvSpPr>
            <p:spPr>
              <a:xfrm>
                <a:off x="5231765" y="2488164"/>
                <a:ext cx="864235" cy="252095"/>
              </a:xfrm>
              <a:prstGeom prst="roundRect">
                <a:avLst/>
              </a:prstGeom>
              <a:solidFill>
                <a:srgbClr val="F6FBFF"/>
              </a:solidFill>
              <a:ln w="15875" cap="flat" cmpd="sng" algn="ctr">
                <a:solidFill>
                  <a:srgbClr val="4372C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8" name="直接箭头连接符 127"/>
              <p:cNvCxnSpPr>
                <a:stCxn id="124" idx="3"/>
                <a:endCxn id="127" idx="1"/>
              </p:cNvCxnSpPr>
              <p:nvPr/>
            </p:nvCxnSpPr>
            <p:spPr>
              <a:xfrm flipV="1">
                <a:off x="4935855" y="2614529"/>
                <a:ext cx="295910" cy="2540"/>
              </a:xfrm>
              <a:prstGeom prst="straightConnector1">
                <a:avLst/>
              </a:prstGeom>
              <a:ln w="15875">
                <a:solidFill>
                  <a:srgbClr val="4372C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文本框 129"/>
              <p:cNvSpPr txBox="1"/>
              <p:nvPr/>
            </p:nvSpPr>
            <p:spPr>
              <a:xfrm>
                <a:off x="3727451" y="2189079"/>
                <a:ext cx="213995" cy="380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4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支撑</a:t>
                </a:r>
                <a:endParaRPr lang="zh-CN" altLang="en-US" sz="124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文本框 130"/>
              <p:cNvSpPr txBox="1"/>
              <p:nvPr/>
            </p:nvSpPr>
            <p:spPr>
              <a:xfrm>
                <a:off x="5231765" y="2046204"/>
                <a:ext cx="850265" cy="258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8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如何构建？</a:t>
                </a:r>
                <a:endPara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文本框 131"/>
              <p:cNvSpPr txBox="1"/>
              <p:nvPr/>
            </p:nvSpPr>
            <p:spPr>
              <a:xfrm>
                <a:off x="5238750" y="2465939"/>
                <a:ext cx="850265" cy="258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8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如何迭代？</a:t>
                </a:r>
                <a:endPara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文本框 132"/>
              <p:cNvSpPr txBox="1"/>
              <p:nvPr/>
            </p:nvSpPr>
            <p:spPr>
              <a:xfrm>
                <a:off x="4161790" y="2053189"/>
                <a:ext cx="809625" cy="258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8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场景重建</a:t>
                </a:r>
                <a:endPara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文本框 133"/>
              <p:cNvSpPr txBox="1"/>
              <p:nvPr/>
            </p:nvSpPr>
            <p:spPr>
              <a:xfrm>
                <a:off x="4161790" y="2478639"/>
                <a:ext cx="809625" cy="258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8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连续演化</a:t>
                </a:r>
                <a:endPara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18" name="直接箭头连接符 117"/>
            <p:cNvCxnSpPr/>
            <p:nvPr/>
          </p:nvCxnSpPr>
          <p:spPr>
            <a:xfrm>
              <a:off x="6717282" y="3210333"/>
              <a:ext cx="288925" cy="3175"/>
            </a:xfrm>
            <a:prstGeom prst="straightConnector1">
              <a:avLst/>
            </a:prstGeom>
            <a:ln w="15875">
              <a:solidFill>
                <a:srgbClr val="4372C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文本框 120"/>
            <p:cNvSpPr txBox="1"/>
            <p:nvPr/>
          </p:nvSpPr>
          <p:spPr>
            <a:xfrm>
              <a:off x="7013192" y="3064918"/>
              <a:ext cx="85026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如何决策？</a:t>
              </a:r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5959780" y="3065165"/>
              <a:ext cx="809625" cy="258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85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主动感知</a:t>
              </a:r>
              <a:endPara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36" name="图片 1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4886" y="5197199"/>
            <a:ext cx="893042" cy="893042"/>
          </a:xfrm>
          <a:prstGeom prst="rect">
            <a:avLst/>
          </a:prstGeom>
        </p:spPr>
      </p:pic>
      <p:pic>
        <p:nvPicPr>
          <p:cNvPr id="137" name="Picture 10" descr="Gpu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8249" y="5157992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Picture 12" descr="Bandwidth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05300" y="6410916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图片 138" descr="ai-clou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28249" y="6438309"/>
            <a:ext cx="893042" cy="893042"/>
          </a:xfrm>
          <a:prstGeom prst="rect">
            <a:avLst/>
          </a:prstGeom>
        </p:spPr>
      </p:pic>
      <p:pic>
        <p:nvPicPr>
          <p:cNvPr id="141" name="图片 140" descr="dis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641956" y="7747040"/>
            <a:ext cx="781571" cy="781571"/>
          </a:xfrm>
          <a:prstGeom prst="rect">
            <a:avLst/>
          </a:prstGeom>
        </p:spPr>
      </p:pic>
      <p:pic>
        <p:nvPicPr>
          <p:cNvPr id="142" name="Picture 2" descr="Manufacturing 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58094" y="2059386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icture 32" descr="Driverless ca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7359" y="2055729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Picture 6" descr="Robot 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58094" y="3441396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Picture 4" descr="Mor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1220" y="3531610"/>
            <a:ext cx="893042" cy="89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文本框 46"/>
          <p:cNvSpPr txBox="1"/>
          <p:nvPr/>
        </p:nvSpPr>
        <p:spPr>
          <a:xfrm>
            <a:off x="3597013" y="7476800"/>
            <a:ext cx="1004209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8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知识迁移</a:t>
            </a:r>
            <a:endParaRPr lang="zh-CN" altLang="en-US" sz="148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连接符: 肘形 51"/>
          <p:cNvCxnSpPr/>
          <p:nvPr/>
        </p:nvCxnSpPr>
        <p:spPr>
          <a:xfrm rot="10800000" flipH="1">
            <a:off x="3590935" y="8223436"/>
            <a:ext cx="6077" cy="528314"/>
          </a:xfrm>
          <a:prstGeom prst="bentConnector3">
            <a:avLst>
              <a:gd name="adj1" fmla="val -4665306"/>
            </a:avLst>
          </a:prstGeom>
          <a:ln w="15875">
            <a:solidFill>
              <a:srgbClr val="4372C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3050361" y="8223436"/>
            <a:ext cx="265426" cy="471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保障</a:t>
            </a:r>
            <a:endParaRPr lang="zh-CN" altLang="en-US" sz="12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6" r="6204" b="14629"/>
          <a:stretch>
            <a:fillRect/>
          </a:stretch>
        </p:blipFill>
        <p:spPr>
          <a:xfrm>
            <a:off x="624028" y="2264348"/>
            <a:ext cx="962180" cy="962180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49" y="4710266"/>
            <a:ext cx="964487" cy="964487"/>
          </a:xfrm>
          <a:prstGeom prst="rect">
            <a:avLst/>
          </a:prstGeom>
        </p:spPr>
      </p:pic>
      <p:pic>
        <p:nvPicPr>
          <p:cNvPr id="135" name="图片 13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32" y="7104844"/>
            <a:ext cx="964487" cy="964487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092" y="2662554"/>
            <a:ext cx="2194909" cy="1549282"/>
          </a:xfrm>
          <a:prstGeom prst="rect">
            <a:avLst/>
          </a:prstGeom>
        </p:spPr>
      </p:pic>
      <p:pic>
        <p:nvPicPr>
          <p:cNvPr id="148" name="图片 14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17402" y="4697616"/>
            <a:ext cx="2196886" cy="1647664"/>
          </a:xfrm>
          <a:prstGeom prst="rect">
            <a:avLst/>
          </a:prstGeom>
        </p:spPr>
      </p:pic>
      <p:pic>
        <p:nvPicPr>
          <p:cNvPr id="150" name="图片 14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199" y="6831062"/>
            <a:ext cx="2196886" cy="1647664"/>
          </a:xfrm>
          <a:prstGeom prst="rect">
            <a:avLst/>
          </a:prstGeom>
        </p:spPr>
      </p:pic>
      <p:cxnSp>
        <p:nvCxnSpPr>
          <p:cNvPr id="2" name="连接符: 肘形 1"/>
          <p:cNvCxnSpPr/>
          <p:nvPr/>
        </p:nvCxnSpPr>
        <p:spPr>
          <a:xfrm rot="10800000" flipH="1">
            <a:off x="3613975" y="5038353"/>
            <a:ext cx="6077" cy="528314"/>
          </a:xfrm>
          <a:prstGeom prst="bentConnector3">
            <a:avLst>
              <a:gd name="adj1" fmla="val -4665306"/>
            </a:avLst>
          </a:prstGeom>
          <a:ln w="15875">
            <a:solidFill>
              <a:srgbClr val="4372C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连接符: 肘形 2"/>
          <p:cNvCxnSpPr/>
          <p:nvPr/>
        </p:nvCxnSpPr>
        <p:spPr>
          <a:xfrm rot="10800000" flipH="1">
            <a:off x="3607889" y="5670125"/>
            <a:ext cx="6077" cy="528314"/>
          </a:xfrm>
          <a:prstGeom prst="bentConnector3">
            <a:avLst>
              <a:gd name="adj1" fmla="val -4665306"/>
            </a:avLst>
          </a:prstGeom>
          <a:ln w="15875">
            <a:solidFill>
              <a:srgbClr val="4372C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3050359" y="5029282"/>
            <a:ext cx="265426" cy="471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支撑</a:t>
            </a:r>
            <a:endParaRPr lang="zh-CN" altLang="en-US" sz="12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</Words>
  <Application>WPS 演示</Application>
  <PresentationFormat>宽屏</PresentationFormat>
  <Paragraphs>239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1_Office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Z、</cp:lastModifiedBy>
  <cp:revision>48</cp:revision>
  <dcterms:created xsi:type="dcterms:W3CDTF">2026-03-04T09:30:00Z</dcterms:created>
  <dcterms:modified xsi:type="dcterms:W3CDTF">2026-03-17T01:56:41Z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A88543D61BD84E62A9C2BC67F0AA663B_12</vt:lpwstr>
  </property>
</Properties>
</file>