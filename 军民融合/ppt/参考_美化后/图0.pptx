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3"/>
    <p:sldId id="275" r:id="rId5"/>
  </p:sldIdLst>
  <p:sldSz cx="10691495" cy="7559675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0" userDrawn="1">
          <p15:clr>
            <a:srgbClr val="A4A3A4"/>
          </p15:clr>
        </p15:guide>
        <p15:guide id="2" pos="33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E54A1"/>
    <a:srgbClr val="FA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2" autoAdjust="0"/>
    <p:restoredTop sz="94609"/>
  </p:normalViewPr>
  <p:slideViewPr>
    <p:cSldViewPr snapToGrid="0" showGuides="1">
      <p:cViewPr varScale="1">
        <p:scale>
          <a:sx n="78" d="100"/>
          <a:sy n="78" d="100"/>
        </p:scale>
        <p:origin x="1704" y="108"/>
      </p:cViewPr>
      <p:guideLst>
        <p:guide orient="horz" pos="2420"/>
        <p:guide pos="33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7B2D9-4354-4B03-87B1-854CB0BD9A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86" y="1143000"/>
            <a:ext cx="436462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C09DD-7C30-4FC4-9505-83126A293F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6686" y="1143000"/>
            <a:ext cx="4364627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C09DD-7C30-4FC4-9505-83126A293F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6686" y="1143000"/>
            <a:ext cx="4364627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C09DD-7C30-4FC4-9505-83126A293F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900" y="1237294"/>
            <a:ext cx="9088200" cy="2632092"/>
          </a:xfrm>
        </p:spPr>
        <p:txBody>
          <a:bodyPr anchor="b"/>
          <a:lstStyle>
            <a:lvl1pPr algn="ctr">
              <a:defRPr sz="66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500" y="3970890"/>
            <a:ext cx="8019000" cy="1825313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555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0"/>
            </a:lvl4pPr>
            <a:lvl5pPr marL="2016125" indent="0" algn="ctr">
              <a:buNone/>
              <a:defRPr sz="1760"/>
            </a:lvl5pPr>
            <a:lvl6pPr marL="2519680" indent="0" algn="ctr">
              <a:buNone/>
              <a:defRPr sz="1760"/>
            </a:lvl6pPr>
            <a:lvl7pPr marL="3023870" indent="0" algn="ctr">
              <a:buNone/>
              <a:defRPr sz="1760"/>
            </a:lvl7pPr>
            <a:lvl8pPr marL="3528060" indent="0" algn="ctr">
              <a:buNone/>
              <a:defRPr sz="1760"/>
            </a:lvl8pPr>
            <a:lvl9pPr marL="4032250" indent="0" algn="ctr">
              <a:buNone/>
              <a:defRPr sz="17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507" y="1884818"/>
            <a:ext cx="9221850" cy="3144860"/>
          </a:xfrm>
        </p:spPr>
        <p:txBody>
          <a:bodyPr anchor="b"/>
          <a:lstStyle>
            <a:lvl1pPr>
              <a:defRPr sz="66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507" y="5059430"/>
            <a:ext cx="9221850" cy="1653807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/>
                </a:solidFill>
              </a:defRPr>
            </a:lvl1pPr>
            <a:lvl2pPr marL="50355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75" y="2012571"/>
            <a:ext cx="4544100" cy="479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825" y="2012571"/>
            <a:ext cx="4544100" cy="479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68" y="402516"/>
            <a:ext cx="9221850" cy="14613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68" y="1853316"/>
            <a:ext cx="4523217" cy="908281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0" b="1"/>
            </a:lvl4pPr>
            <a:lvl5pPr marL="2016125" indent="0">
              <a:buNone/>
              <a:defRPr sz="1760" b="1"/>
            </a:lvl5pPr>
            <a:lvl6pPr marL="2519680" indent="0">
              <a:buNone/>
              <a:defRPr sz="1760" b="1"/>
            </a:lvl6pPr>
            <a:lvl7pPr marL="3023870" indent="0">
              <a:buNone/>
              <a:defRPr sz="1760" b="1"/>
            </a:lvl7pPr>
            <a:lvl8pPr marL="3528060" indent="0">
              <a:buNone/>
              <a:defRPr sz="1760" b="1"/>
            </a:lvl8pPr>
            <a:lvl9pPr marL="4032250" indent="0">
              <a:buNone/>
              <a:defRPr sz="17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68" y="2761597"/>
            <a:ext cx="4523217" cy="40618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826" y="1853316"/>
            <a:ext cx="4545493" cy="908281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0" b="1"/>
            </a:lvl4pPr>
            <a:lvl5pPr marL="2016125" indent="0">
              <a:buNone/>
              <a:defRPr sz="1760" b="1"/>
            </a:lvl5pPr>
            <a:lvl6pPr marL="2519680" indent="0">
              <a:buNone/>
              <a:defRPr sz="1760" b="1"/>
            </a:lvl6pPr>
            <a:lvl7pPr marL="3023870" indent="0">
              <a:buNone/>
              <a:defRPr sz="1760" b="1"/>
            </a:lvl7pPr>
            <a:lvl8pPr marL="3528060" indent="0">
              <a:buNone/>
              <a:defRPr sz="1760" b="1"/>
            </a:lvl8pPr>
            <a:lvl9pPr marL="4032250" indent="0">
              <a:buNone/>
              <a:defRPr sz="17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826" y="2761597"/>
            <a:ext cx="4545493" cy="40618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68" y="504018"/>
            <a:ext cx="3448448" cy="1764062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93" y="1088540"/>
            <a:ext cx="5412825" cy="5372688"/>
          </a:xfrm>
        </p:spPr>
        <p:txBody>
          <a:bodyPr/>
          <a:lstStyle>
            <a:lvl1pPr>
              <a:defRPr sz="3530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68" y="2268080"/>
            <a:ext cx="3448448" cy="4201898"/>
          </a:xfrm>
        </p:spPr>
        <p:txBody>
          <a:bodyPr/>
          <a:lstStyle>
            <a:lvl1pPr marL="0" indent="0">
              <a:buNone/>
              <a:defRPr sz="1760"/>
            </a:lvl1pPr>
            <a:lvl2pPr marL="503555" indent="0">
              <a:buNone/>
              <a:defRPr sz="1540"/>
            </a:lvl2pPr>
            <a:lvl3pPr marL="1007745" indent="0">
              <a:buNone/>
              <a:defRPr sz="1320"/>
            </a:lvl3pPr>
            <a:lvl4pPr marL="1511935" indent="0">
              <a:buNone/>
              <a:defRPr sz="1105"/>
            </a:lvl4pPr>
            <a:lvl5pPr marL="2016125" indent="0">
              <a:buNone/>
              <a:defRPr sz="1105"/>
            </a:lvl5pPr>
            <a:lvl6pPr marL="2519680" indent="0">
              <a:buNone/>
              <a:defRPr sz="1105"/>
            </a:lvl6pPr>
            <a:lvl7pPr marL="3023870" indent="0">
              <a:buNone/>
              <a:defRPr sz="1105"/>
            </a:lvl7pPr>
            <a:lvl8pPr marL="3528060" indent="0">
              <a:buNone/>
              <a:defRPr sz="1105"/>
            </a:lvl8pPr>
            <a:lvl9pPr marL="4032250" indent="0">
              <a:buNone/>
              <a:defRPr sz="11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68" y="504018"/>
            <a:ext cx="3448448" cy="1764062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93" y="1088540"/>
            <a:ext cx="5412825" cy="5372688"/>
          </a:xfrm>
        </p:spPr>
        <p:txBody>
          <a:bodyPr anchor="t"/>
          <a:lstStyle>
            <a:lvl1pPr marL="0" indent="0">
              <a:buNone/>
              <a:defRPr sz="3530"/>
            </a:lvl1pPr>
            <a:lvl2pPr marL="503555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19680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68" y="2268080"/>
            <a:ext cx="3448448" cy="4201898"/>
          </a:xfrm>
        </p:spPr>
        <p:txBody>
          <a:bodyPr/>
          <a:lstStyle>
            <a:lvl1pPr marL="0" indent="0">
              <a:buNone/>
              <a:defRPr sz="1760"/>
            </a:lvl1pPr>
            <a:lvl2pPr marL="503555" indent="0">
              <a:buNone/>
              <a:defRPr sz="1540"/>
            </a:lvl2pPr>
            <a:lvl3pPr marL="1007745" indent="0">
              <a:buNone/>
              <a:defRPr sz="1320"/>
            </a:lvl3pPr>
            <a:lvl4pPr marL="1511935" indent="0">
              <a:buNone/>
              <a:defRPr sz="1105"/>
            </a:lvl4pPr>
            <a:lvl5pPr marL="2016125" indent="0">
              <a:buNone/>
              <a:defRPr sz="1105"/>
            </a:lvl5pPr>
            <a:lvl6pPr marL="2519680" indent="0">
              <a:buNone/>
              <a:defRPr sz="1105"/>
            </a:lvl6pPr>
            <a:lvl7pPr marL="3023870" indent="0">
              <a:buNone/>
              <a:defRPr sz="1105"/>
            </a:lvl7pPr>
            <a:lvl8pPr marL="3528060" indent="0">
              <a:buNone/>
              <a:defRPr sz="1105"/>
            </a:lvl8pPr>
            <a:lvl9pPr marL="4032250" indent="0">
              <a:buNone/>
              <a:defRPr sz="11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463" y="402514"/>
            <a:ext cx="2305462" cy="6406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76" y="402514"/>
            <a:ext cx="6782737" cy="6406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75" y="402516"/>
            <a:ext cx="9221850" cy="1461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75" y="2012571"/>
            <a:ext cx="9221850" cy="479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75" y="7007247"/>
            <a:ext cx="2405700" cy="402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8A4E-1AD5-4525-8412-8CB756C9DD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725" y="7007247"/>
            <a:ext cx="3608550" cy="402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225" y="7007247"/>
            <a:ext cx="2405700" cy="402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7D57-5647-403E-A6BA-90867ADD4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4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6.jpeg"/><Relationship Id="rId15" Type="http://schemas.openxmlformats.org/officeDocument/2006/relationships/image" Target="../media/image15.jpe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image" Target="../media/image2.jpeg"/><Relationship Id="rId7" Type="http://schemas.openxmlformats.org/officeDocument/2006/relationships/image" Target="../media/image5.png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15.jpe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1.jpeg"/><Relationship Id="rId15" Type="http://schemas.openxmlformats.org/officeDocument/2006/relationships/image" Target="../media/image10.jpeg"/><Relationship Id="rId14" Type="http://schemas.openxmlformats.org/officeDocument/2006/relationships/image" Target="../media/image16.jpeg"/><Relationship Id="rId13" Type="http://schemas.openxmlformats.org/officeDocument/2006/relationships/image" Target="../media/image9.jpeg"/><Relationship Id="rId12" Type="http://schemas.openxmlformats.org/officeDocument/2006/relationships/image" Target="../media/image8.jpeg"/><Relationship Id="rId11" Type="http://schemas.openxmlformats.org/officeDocument/2006/relationships/image" Target="../media/image7.jpeg"/><Relationship Id="rId10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362075" y="2256790"/>
            <a:ext cx="8764270" cy="1506855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: 圆角 8"/>
          <p:cNvSpPr/>
          <p:nvPr/>
        </p:nvSpPr>
        <p:spPr>
          <a:xfrm flipH="1">
            <a:off x="1556385" y="2338705"/>
            <a:ext cx="8368030" cy="134874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693" name="圆角矩形 692"/>
          <p:cNvSpPr/>
          <p:nvPr/>
        </p:nvSpPr>
        <p:spPr>
          <a:xfrm rot="16200000">
            <a:off x="1911985" y="-1241107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235"/>
          </a:p>
        </p:txBody>
      </p:sp>
      <p:sp>
        <p:nvSpPr>
          <p:cNvPr id="8" name="圆角矩形 7"/>
          <p:cNvSpPr/>
          <p:nvPr/>
        </p:nvSpPr>
        <p:spPr>
          <a:xfrm>
            <a:off x="1362075" y="3856355"/>
            <a:ext cx="8764905" cy="242506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93"/>
          <p:cNvSpPr/>
          <p:nvPr/>
        </p:nvSpPr>
        <p:spPr>
          <a:xfrm>
            <a:off x="565150" y="2248535"/>
            <a:ext cx="796925" cy="1527175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93"/>
          <p:cNvSpPr/>
          <p:nvPr/>
        </p:nvSpPr>
        <p:spPr>
          <a:xfrm>
            <a:off x="565150" y="3855085"/>
            <a:ext cx="796925" cy="242824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现状与挑战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93"/>
          <p:cNvSpPr/>
          <p:nvPr/>
        </p:nvSpPr>
        <p:spPr>
          <a:xfrm>
            <a:off x="565150" y="6353175"/>
            <a:ext cx="796925" cy="69215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93"/>
          <p:cNvSpPr/>
          <p:nvPr/>
        </p:nvSpPr>
        <p:spPr>
          <a:xfrm>
            <a:off x="565150" y="485775"/>
            <a:ext cx="796925" cy="168910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战略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覆盖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362075" y="485775"/>
            <a:ext cx="8764905" cy="16878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362075" y="6353175"/>
            <a:ext cx="8764270" cy="685165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8"/>
          <p:cNvSpPr/>
          <p:nvPr/>
        </p:nvSpPr>
        <p:spPr>
          <a:xfrm flipH="1">
            <a:off x="1556385" y="595630"/>
            <a:ext cx="3448685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2" name="矩形: 圆角 8"/>
          <p:cNvSpPr/>
          <p:nvPr/>
        </p:nvSpPr>
        <p:spPr>
          <a:xfrm flipH="1">
            <a:off x="5199380" y="595630"/>
            <a:ext cx="4724400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3" name="文本框 22"/>
          <p:cNvSpPr txBox="1"/>
          <p:nvPr/>
        </p:nvSpPr>
        <p:spPr>
          <a:xfrm>
            <a:off x="1958658" y="654050"/>
            <a:ext cx="264414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国际科技竞争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1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007745"/>
            <a:ext cx="924560" cy="93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组合 28"/>
          <p:cNvGrpSpPr/>
          <p:nvPr/>
        </p:nvGrpSpPr>
        <p:grpSpPr>
          <a:xfrm>
            <a:off x="2997835" y="1070610"/>
            <a:ext cx="892810" cy="883920"/>
            <a:chOff x="4678" y="1671"/>
            <a:chExt cx="2080" cy="1795"/>
          </a:xfrm>
        </p:grpSpPr>
        <p:pic>
          <p:nvPicPr>
            <p:cNvPr id="27" name="Picture 2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1" y="1756"/>
              <a:ext cx="1711" cy="1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椭圆 27"/>
            <p:cNvSpPr/>
            <p:nvPr/>
          </p:nvSpPr>
          <p:spPr>
            <a:xfrm>
              <a:off x="4678" y="1671"/>
              <a:ext cx="2080" cy="171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" t="2278" r="16380" b="26414"/>
          <a:stretch>
            <a:fillRect/>
          </a:stretch>
        </p:blipFill>
        <p:spPr>
          <a:xfrm>
            <a:off x="5346065" y="967105"/>
            <a:ext cx="2736850" cy="1054100"/>
          </a:xfrm>
          <a:prstGeom prst="rect">
            <a:avLst/>
          </a:prstGeom>
        </p:spPr>
      </p:pic>
      <p:pic>
        <p:nvPicPr>
          <p:cNvPr id="33" name="Picture 34" descr="Papyrus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285" y="967105"/>
            <a:ext cx="1567180" cy="102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/>
          <p:cNvSpPr txBox="1"/>
          <p:nvPr/>
        </p:nvSpPr>
        <p:spPr>
          <a:xfrm>
            <a:off x="5514975" y="1804035"/>
            <a:ext cx="5549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50940" y="1658620"/>
            <a:ext cx="544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39280" y="1386840"/>
            <a:ext cx="5619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501255" y="1094740"/>
            <a:ext cx="506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03520" y="1374140"/>
            <a:ext cx="67945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十四五</a:t>
            </a:r>
            <a:endParaRPr lang="en-US" altLang="zh-CN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42635" y="1210310"/>
            <a:ext cx="95948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机器人发展</a:t>
            </a:r>
            <a:endParaRPr lang="en-US" altLang="zh-CN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指导意见</a:t>
            </a:r>
            <a:endParaRPr lang="zh-CN" altLang="en-US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075805" y="1684020"/>
            <a:ext cx="90170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lang="en-US" altLang="zh-CN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729220" y="1304290"/>
            <a:ext cx="70294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十五五</a:t>
            </a:r>
            <a:endParaRPr lang="en-US" altLang="zh-CN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11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578215" y="1015365"/>
            <a:ext cx="880745" cy="892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政府工作报告：首次列入未来产业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50685" y="654050"/>
            <a:ext cx="162179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国家政策演进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739265" y="1131570"/>
            <a:ext cx="1184910" cy="776605"/>
            <a:chOff x="2739" y="1707"/>
            <a:chExt cx="1755" cy="1150"/>
          </a:xfrm>
        </p:grpSpPr>
        <p:pic>
          <p:nvPicPr>
            <p:cNvPr id="26" name="Picture 22" descr="Japan flag map contour vector ...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0" y="2043"/>
              <a:ext cx="814" cy="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9" y="1707"/>
              <a:ext cx="1344" cy="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文本框 60"/>
          <p:cNvSpPr txBox="1"/>
          <p:nvPr/>
        </p:nvSpPr>
        <p:spPr>
          <a:xfrm>
            <a:off x="1989455" y="3386455"/>
            <a:ext cx="943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智慧管廊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503295" y="3386455"/>
            <a:ext cx="1192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183505" y="3386455"/>
            <a:ext cx="1093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885940" y="3386455"/>
            <a:ext cx="9588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100" y="2470150"/>
            <a:ext cx="1446530" cy="90043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76295" y="2477135"/>
            <a:ext cx="1446530" cy="90043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975" y="2473325"/>
            <a:ext cx="1446530" cy="894715"/>
          </a:xfrm>
          <a:prstGeom prst="rect">
            <a:avLst/>
          </a:prstGeom>
        </p:spPr>
      </p:pic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265" y="2469515"/>
            <a:ext cx="1443990" cy="90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860" y="2477135"/>
            <a:ext cx="1446530" cy="890905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8444230" y="3386455"/>
            <a:ext cx="1113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电流过载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556385" y="3944620"/>
            <a:ext cx="8368030" cy="2239010"/>
            <a:chOff x="2451" y="6192"/>
            <a:chExt cx="9683" cy="3526"/>
          </a:xfrm>
        </p:grpSpPr>
        <p:sp>
          <p:nvSpPr>
            <p:cNvPr id="82" name="矩形: 圆角 8"/>
            <p:cNvSpPr/>
            <p:nvPr/>
          </p:nvSpPr>
          <p:spPr>
            <a:xfrm flipH="1">
              <a:off x="2451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83" name="矩形: 圆角 8"/>
            <p:cNvSpPr/>
            <p:nvPr/>
          </p:nvSpPr>
          <p:spPr>
            <a:xfrm flipH="1">
              <a:off x="4922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84" name="矩形: 圆角 8"/>
            <p:cNvSpPr/>
            <p:nvPr/>
          </p:nvSpPr>
          <p:spPr>
            <a:xfrm flipH="1">
              <a:off x="7393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85" name="矩形: 圆角 8"/>
            <p:cNvSpPr/>
            <p:nvPr/>
          </p:nvSpPr>
          <p:spPr>
            <a:xfrm flipH="1">
              <a:off x="9864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1680210" y="3985260"/>
            <a:ext cx="171513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现状：脑体割裂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040" y="4284345"/>
            <a:ext cx="837565" cy="499745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1668780" y="4793615"/>
            <a:ext cx="17119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云侧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VLA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10" y="5061585"/>
            <a:ext cx="1677670" cy="1068070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2094230" y="5676900"/>
            <a:ext cx="864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端侧受限</a:t>
            </a:r>
            <a:endParaRPr lang="en-US" altLang="zh-CN" sz="10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740785" y="3985260"/>
            <a:ext cx="185229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云边端协同一致难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05" y="4284345"/>
            <a:ext cx="1677670" cy="1649730"/>
          </a:xfrm>
          <a:prstGeom prst="rect">
            <a:avLst/>
          </a:prstGeom>
        </p:spPr>
      </p:pic>
      <p:sp>
        <p:nvSpPr>
          <p:cNvPr id="95" name="文本框 94"/>
          <p:cNvSpPr txBox="1"/>
          <p:nvPr/>
        </p:nvSpPr>
        <p:spPr>
          <a:xfrm>
            <a:off x="3686810" y="5897245"/>
            <a:ext cx="19735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群体认知不一致，资源受限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783330" y="4397375"/>
            <a:ext cx="801370" cy="238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远程大脑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411345" y="4316730"/>
            <a:ext cx="12420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网络波动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962650" y="3985260"/>
            <a:ext cx="172847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非结构化多维感知难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875" y="4442460"/>
            <a:ext cx="1706245" cy="1491615"/>
          </a:xfrm>
          <a:prstGeom prst="rect">
            <a:avLst/>
          </a:prstGeom>
        </p:spPr>
      </p:pic>
      <p:sp>
        <p:nvSpPr>
          <p:cNvPr id="107" name="文本框 106"/>
          <p:cNvSpPr txBox="1"/>
          <p:nvPr/>
        </p:nvSpPr>
        <p:spPr>
          <a:xfrm>
            <a:off x="5879201" y="4266655"/>
            <a:ext cx="1065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动态开放环境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5867400" y="5903595"/>
            <a:ext cx="1924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缺乏主动探索与连续物理理解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634784" y="5671212"/>
            <a:ext cx="1137926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未知目标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8082915" y="3985260"/>
            <a:ext cx="172847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云边端知识迁移难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r="15294" b="4412"/>
          <a:stretch>
            <a:fillRect/>
          </a:stretch>
        </p:blipFill>
        <p:spPr>
          <a:xfrm>
            <a:off x="8371840" y="4266565"/>
            <a:ext cx="1266825" cy="1661160"/>
          </a:xfrm>
          <a:prstGeom prst="rect">
            <a:avLst/>
          </a:prstGeom>
        </p:spPr>
      </p:pic>
      <p:sp>
        <p:nvSpPr>
          <p:cNvPr id="136" name="文本框 135"/>
          <p:cNvSpPr txBox="1"/>
          <p:nvPr/>
        </p:nvSpPr>
        <p:spPr>
          <a:xfrm>
            <a:off x="8098790" y="4784725"/>
            <a:ext cx="741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蒸馏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7985125" y="5903595"/>
            <a:ext cx="1924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持续学习能力缺失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: 圆角 8"/>
          <p:cNvSpPr/>
          <p:nvPr/>
        </p:nvSpPr>
        <p:spPr>
          <a:xfrm flipH="1">
            <a:off x="155638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智慧管廊巡检场景下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的原型系统应用验证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7" name="矩形: 圆角 8"/>
          <p:cNvSpPr/>
          <p:nvPr/>
        </p:nvSpPr>
        <p:spPr>
          <a:xfrm flipH="1">
            <a:off x="369887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8" name="矩形: 圆角 8"/>
          <p:cNvSpPr/>
          <p:nvPr/>
        </p:nvSpPr>
        <p:spPr>
          <a:xfrm flipH="1">
            <a:off x="582739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非结构化动态开放场景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的连续多维感知机理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9" name="矩形: 圆角 8"/>
          <p:cNvSpPr/>
          <p:nvPr/>
        </p:nvSpPr>
        <p:spPr>
          <a:xfrm flipH="1">
            <a:off x="796226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云边端协同环境中的知识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蒸馏体系与推理框架构建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3576320" y="6478905"/>
            <a:ext cx="2151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 spc="-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结合云智算和物联网技术的</a:t>
            </a:r>
            <a:endParaRPr lang="zh-CN" altLang="en-US" sz="1200" b="1" spc="-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1200" b="1" spc="-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b="1" spc="-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远程大脑</a:t>
            </a:r>
            <a:r>
              <a:rPr lang="en-US" altLang="zh-CN" sz="1200" b="1" spc="-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b="1" spc="-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理论框架与体系</a:t>
            </a:r>
            <a:endParaRPr lang="zh-CN" altLang="en-US" sz="1200" b="1" spc="-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200" b="1" spc="-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/>
          <p:cNvSpPr/>
          <p:nvPr/>
        </p:nvSpPr>
        <p:spPr>
          <a:xfrm>
            <a:off x="368762" y="95219"/>
            <a:ext cx="9946621" cy="7377290"/>
          </a:xfrm>
          <a:prstGeom prst="roundRect">
            <a:avLst>
              <a:gd name="adj" fmla="val 0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9" name="矩形: 圆角 93"/>
          <p:cNvSpPr/>
          <p:nvPr/>
        </p:nvSpPr>
        <p:spPr>
          <a:xfrm>
            <a:off x="510052" y="1944370"/>
            <a:ext cx="796819" cy="166391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93"/>
          <p:cNvSpPr/>
          <p:nvPr/>
        </p:nvSpPr>
        <p:spPr>
          <a:xfrm>
            <a:off x="510051" y="1944368"/>
            <a:ext cx="9679198" cy="1663913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8" name="矩形: 圆角 93"/>
          <p:cNvSpPr/>
          <p:nvPr/>
        </p:nvSpPr>
        <p:spPr>
          <a:xfrm>
            <a:off x="510052" y="3680306"/>
            <a:ext cx="796819" cy="285865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现状与挑战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: 圆角 93"/>
          <p:cNvSpPr/>
          <p:nvPr/>
        </p:nvSpPr>
        <p:spPr>
          <a:xfrm>
            <a:off x="510051" y="3680306"/>
            <a:ext cx="9679198" cy="285865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6" name="矩形: 圆角 107"/>
          <p:cNvSpPr/>
          <p:nvPr/>
        </p:nvSpPr>
        <p:spPr>
          <a:xfrm>
            <a:off x="5843723" y="6703242"/>
            <a:ext cx="2041853" cy="569985"/>
          </a:xfrm>
          <a:prstGeom prst="roundRect">
            <a:avLst/>
          </a:prstGeom>
          <a:solidFill>
            <a:srgbClr val="F6FBF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  <a:defRPr/>
            </a:pPr>
            <a:endParaRPr lang="zh-CN" altLang="en-US" sz="116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: 圆角 107"/>
          <p:cNvSpPr/>
          <p:nvPr/>
        </p:nvSpPr>
        <p:spPr>
          <a:xfrm>
            <a:off x="8062748" y="6703242"/>
            <a:ext cx="2041853" cy="569985"/>
          </a:xfrm>
          <a:prstGeom prst="roundRect">
            <a:avLst/>
          </a:prstGeom>
          <a:solidFill>
            <a:srgbClr val="F6FBF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  <a:defRPr/>
            </a:pPr>
            <a:endParaRPr lang="zh-CN" altLang="en-US" sz="116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: 圆角 107"/>
          <p:cNvSpPr/>
          <p:nvPr/>
        </p:nvSpPr>
        <p:spPr>
          <a:xfrm>
            <a:off x="3626610" y="6704719"/>
            <a:ext cx="2039944" cy="569985"/>
          </a:xfrm>
          <a:prstGeom prst="roundRect">
            <a:avLst/>
          </a:prstGeom>
          <a:solidFill>
            <a:srgbClr val="F6FBF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  <a:defRPr/>
            </a:pPr>
            <a:endParaRPr lang="zh-CN" altLang="en-US" sz="116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: 圆角 93"/>
          <p:cNvSpPr/>
          <p:nvPr/>
        </p:nvSpPr>
        <p:spPr>
          <a:xfrm>
            <a:off x="510052" y="6601464"/>
            <a:ext cx="796819" cy="75459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93"/>
          <p:cNvSpPr/>
          <p:nvPr/>
        </p:nvSpPr>
        <p:spPr>
          <a:xfrm>
            <a:off x="510051" y="6601463"/>
            <a:ext cx="9679198" cy="754596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409491" y="3744376"/>
            <a:ext cx="2039945" cy="2699927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09491" y="3786824"/>
            <a:ext cx="2038992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现状：脑体割裂</a:t>
            </a:r>
            <a:endParaRPr kumimoji="1" lang="zh-CN" altLang="en-US" sz="13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3627562" y="3744380"/>
            <a:ext cx="2039945" cy="2713224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845633" y="3744376"/>
            <a:ext cx="2039945" cy="2713223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064658" y="3744380"/>
            <a:ext cx="2039945" cy="2699213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626611" y="3787535"/>
            <a:ext cx="2039944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云边端协同一致难</a:t>
            </a:r>
            <a:endParaRPr kumimoji="1" lang="zh-CN" altLang="en-US" sz="13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843726" y="3783288"/>
            <a:ext cx="2041854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非结构化多维感知难</a:t>
            </a:r>
            <a:endParaRPr kumimoji="1" lang="zh-CN" altLang="en-US" sz="13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064661" y="3781977"/>
            <a:ext cx="2039944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云边端知识迁移难</a:t>
            </a:r>
            <a:endParaRPr kumimoji="1" lang="zh-CN" altLang="en-US" sz="13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89304" y="6776192"/>
            <a:ext cx="211455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结合云智算和物联网技术的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“远程大脑”理论框架与体系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53957" y="6761964"/>
            <a:ext cx="166878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非结构化动态开放场景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的连续多维感知机理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183879" y="6770231"/>
            <a:ext cx="181737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云边端协同环境中的知识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蒸馏体系与推理框架构建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107"/>
          <p:cNvSpPr/>
          <p:nvPr/>
        </p:nvSpPr>
        <p:spPr>
          <a:xfrm>
            <a:off x="1409495" y="6704719"/>
            <a:ext cx="2035473" cy="569985"/>
          </a:xfrm>
          <a:prstGeom prst="roundRect">
            <a:avLst/>
          </a:prstGeom>
          <a:solidFill>
            <a:srgbClr val="F6FBF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  <a:defRPr/>
            </a:pPr>
            <a:endParaRPr lang="zh-CN" altLang="en-US" sz="116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668245" y="6770231"/>
            <a:ext cx="152019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智慧管廊巡检场景下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的原型系统应用验证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86" y="4131450"/>
            <a:ext cx="995678" cy="59401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09493" y="4782248"/>
            <a:ext cx="2035473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云侧</a:t>
            </a:r>
            <a:r>
              <a:rPr lang="en-US" altLang="zh-CN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VLA</a:t>
            </a:r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640" y="5100991"/>
            <a:ext cx="1741933" cy="1269648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1913073" y="5968266"/>
            <a:ext cx="1028304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端侧受限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023" y="4091873"/>
            <a:ext cx="1904711" cy="2084401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3626322" y="6165467"/>
            <a:ext cx="2039945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群体认知不一致，资源受限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626326" y="5163041"/>
            <a:ext cx="2039944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边缘节点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763394" y="4253063"/>
            <a:ext cx="71619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远程大脑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415341" y="4183941"/>
            <a:ext cx="1133612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网络波动</a:t>
            </a:r>
            <a:r>
              <a:rPr lang="en-US" altLang="zh-CN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225" y="4405307"/>
            <a:ext cx="1952328" cy="1758531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5879201" y="4147275"/>
            <a:ext cx="106512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动态开放环境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758766" y="6165466"/>
            <a:ext cx="2247114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缺乏主动探索与连续物理理解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770674" y="5869967"/>
            <a:ext cx="1137926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未知目标</a:t>
            </a:r>
            <a:r>
              <a:rPr lang="en-US" altLang="zh-CN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 rot="561784">
            <a:off x="7277436" y="4276387"/>
            <a:ext cx="197447" cy="2821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99" name="矩形: 圆角 98"/>
          <p:cNvSpPr/>
          <p:nvPr/>
        </p:nvSpPr>
        <p:spPr>
          <a:xfrm>
            <a:off x="1409495" y="269672"/>
            <a:ext cx="3529115" cy="1529959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0" name="矩形: 圆角 93"/>
          <p:cNvSpPr/>
          <p:nvPr/>
        </p:nvSpPr>
        <p:spPr>
          <a:xfrm>
            <a:off x="510052" y="207473"/>
            <a:ext cx="796819" cy="166391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战略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覆盖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: 圆角 93"/>
          <p:cNvSpPr/>
          <p:nvPr/>
        </p:nvSpPr>
        <p:spPr>
          <a:xfrm>
            <a:off x="510051" y="207469"/>
            <a:ext cx="9679198" cy="1663913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5110897" y="269672"/>
            <a:ext cx="4993707" cy="1529959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50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409491" y="308552"/>
            <a:ext cx="352911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国际科技竞争</a:t>
            </a:r>
            <a:endParaRPr kumimoji="1" lang="zh-CN" altLang="en-US" sz="13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226" y="665641"/>
            <a:ext cx="853503" cy="49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1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584" y="708673"/>
            <a:ext cx="643307" cy="65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2" descr="Japan flag map contour vector ...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20" y="1222278"/>
            <a:ext cx="517141" cy="51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636" y="652873"/>
            <a:ext cx="1086546" cy="1086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椭圆 111"/>
          <p:cNvSpPr/>
          <p:nvPr/>
        </p:nvSpPr>
        <p:spPr>
          <a:xfrm>
            <a:off x="2695994" y="598652"/>
            <a:ext cx="1320903" cy="1086546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5" name="文本框 114"/>
          <p:cNvSpPr txBox="1"/>
          <p:nvPr/>
        </p:nvSpPr>
        <p:spPr>
          <a:xfrm>
            <a:off x="5110895" y="308552"/>
            <a:ext cx="499370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国家政策演进</a:t>
            </a:r>
            <a:endParaRPr kumimoji="1" lang="zh-CN" altLang="en-US" sz="13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" t="2278" r="16380" b="26414"/>
          <a:stretch>
            <a:fillRect/>
          </a:stretch>
        </p:blipFill>
        <p:spPr>
          <a:xfrm>
            <a:off x="5349650" y="590675"/>
            <a:ext cx="2790279" cy="1148748"/>
          </a:xfrm>
          <a:prstGeom prst="rect">
            <a:avLst/>
          </a:prstGeom>
        </p:spPr>
      </p:pic>
      <p:pic>
        <p:nvPicPr>
          <p:cNvPr id="119" name="Picture 34" descr="Papyrus 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025" y="629550"/>
            <a:ext cx="1464979" cy="107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文本框 119"/>
          <p:cNvSpPr txBox="1"/>
          <p:nvPr/>
        </p:nvSpPr>
        <p:spPr>
          <a:xfrm>
            <a:off x="5539150" y="1516532"/>
            <a:ext cx="4800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6301294" y="1352697"/>
            <a:ext cx="4800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6968027" y="1090992"/>
            <a:ext cx="4800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7537087" y="740858"/>
            <a:ext cx="4800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333921" y="1028985"/>
            <a:ext cx="62865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十四五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5977012" y="805022"/>
            <a:ext cx="92583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机器人发展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指导意见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6927455" y="1455287"/>
            <a:ext cx="887730" cy="270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lang="en-US" altLang="zh-CN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7687187" y="1096220"/>
            <a:ext cx="628650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十五五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8748316" y="729224"/>
            <a:ext cx="888900" cy="808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政府工作报告：首次列入未来产业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9" name="图片 13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299" y="2075075"/>
            <a:ext cx="1572524" cy="1109970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84013" y="2083527"/>
            <a:ext cx="1572525" cy="1109970"/>
          </a:xfrm>
          <a:prstGeom prst="rect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11" y="2078919"/>
            <a:ext cx="1572524" cy="1102860"/>
          </a:xfrm>
          <a:prstGeom prst="rect">
            <a:avLst/>
          </a:prstGeom>
        </p:spPr>
      </p:pic>
      <p:sp>
        <p:nvSpPr>
          <p:cNvPr id="145" name="文本框 144"/>
          <p:cNvSpPr txBox="1"/>
          <p:nvPr/>
        </p:nvSpPr>
        <p:spPr>
          <a:xfrm>
            <a:off x="1409491" y="3253719"/>
            <a:ext cx="1572524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智慧管廊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3174049" y="3256001"/>
            <a:ext cx="157252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4956511" y="3248773"/>
            <a:ext cx="157252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r="15294" b="4412"/>
          <a:stretch>
            <a:fillRect/>
          </a:stretch>
        </p:blipFill>
        <p:spPr>
          <a:xfrm>
            <a:off x="8306823" y="4121507"/>
            <a:ext cx="1533441" cy="2009946"/>
          </a:xfrm>
          <a:prstGeom prst="rect">
            <a:avLst/>
          </a:prstGeom>
        </p:spPr>
      </p:pic>
      <p:sp>
        <p:nvSpPr>
          <p:cNvPr id="149" name="文本框 148"/>
          <p:cNvSpPr txBox="1"/>
          <p:nvPr/>
        </p:nvSpPr>
        <p:spPr>
          <a:xfrm>
            <a:off x="8041636" y="6168564"/>
            <a:ext cx="2039944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持续学习能力缺失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8127743" y="4820596"/>
            <a:ext cx="751397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en-US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蒸馏</a:t>
            </a:r>
            <a:endParaRPr lang="zh-CN" altLang="en-US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1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846" y="2074291"/>
            <a:ext cx="1569498" cy="11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文本框 151"/>
          <p:cNvSpPr txBox="1"/>
          <p:nvPr/>
        </p:nvSpPr>
        <p:spPr>
          <a:xfrm>
            <a:off x="6730258" y="3253719"/>
            <a:ext cx="157252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87" y="2083527"/>
            <a:ext cx="1572524" cy="1098252"/>
          </a:xfrm>
          <a:prstGeom prst="rect">
            <a:avLst/>
          </a:prstGeom>
        </p:spPr>
      </p:pic>
      <p:sp>
        <p:nvSpPr>
          <p:cNvPr id="154" name="文本框 153"/>
          <p:cNvSpPr txBox="1"/>
          <p:nvPr/>
        </p:nvSpPr>
        <p:spPr>
          <a:xfrm>
            <a:off x="8512087" y="3256234"/>
            <a:ext cx="157252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电流过载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FkNDdhMzM4M2YxNTVhODZlNDIyNWUwYzUyOTcyNWEifQ==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604</Words>
  <Application>WPS 演示</Application>
  <PresentationFormat>自定义</PresentationFormat>
  <Paragraphs>179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微软雅黑</vt:lpstr>
      <vt:lpstr>Calibri</vt:lpstr>
      <vt:lpstr>Arial Unicode MS</vt:lpstr>
      <vt:lpstr>等线 Light</vt:lpstr>
      <vt:lpstr>Calibri Light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hust</dc:creator>
  <cp:lastModifiedBy>Z、</cp:lastModifiedBy>
  <cp:revision>231</cp:revision>
  <dcterms:created xsi:type="dcterms:W3CDTF">2024-03-08T02:27:00Z</dcterms:created>
  <dcterms:modified xsi:type="dcterms:W3CDTF">2026-03-17T03:49:51Z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9AB3EDD0AC144A1C8F79D9832B75DD0E_13</vt:lpwstr>
  </property>
  <property fmtid="{D5CDD505-2E9C-101B-9397-08002B2CF9AE}" pid="3" name="KSOProductBuildVer">
    <vt:lpwstr>2052-12.1.0.25225</vt:lpwstr>
  </property>
</Properties>
</file>