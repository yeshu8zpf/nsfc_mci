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3.xml" ContentType="application/vnd.openxmlformats-officedocument.theme+xml"/>
  <Override PartName="/ppt/tags/tag125.xml" ContentType="application/vnd.openxmlformats-officedocument.presentationml.tags+xml"/>
  <Override PartName="/ppt/notesSlides/notesSlide1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"/>
  </p:notesMasterIdLst>
  <p:sldIdLst>
    <p:sldId id="259" r:id="rId3"/>
    <p:sldId id="261" r:id="rId4"/>
  </p:sldIdLst>
  <p:sldSz cx="7559675" cy="106918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6" userDrawn="1">
          <p15:clr>
            <a:srgbClr val="A4A3A4"/>
          </p15:clr>
        </p15:guide>
        <p15:guide id="2" pos="2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CE0"/>
    <a:srgbClr val="C00000"/>
    <a:srgbClr val="2E54A1"/>
    <a:srgbClr val="DEEBF7"/>
    <a:srgbClr val="4874CB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 showGuides="1">
      <p:cViewPr>
        <p:scale>
          <a:sx n="103" d="100"/>
          <a:sy n="103" d="100"/>
        </p:scale>
        <p:origin x="2600" y="144"/>
      </p:cViewPr>
      <p:guideLst>
        <p:guide orient="horz" pos="3336"/>
        <p:guide pos="23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954" y="1143000"/>
            <a:ext cx="218209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19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4.xml"/><Relationship Id="rId4" Type="http://schemas.openxmlformats.org/officeDocument/2006/relationships/tags" Target="../tags/tag1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43385" y="1425610"/>
            <a:ext cx="6076557" cy="400742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43385" y="5550901"/>
            <a:ext cx="6076557" cy="22955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0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7273" y="2323633"/>
            <a:ext cx="6802083" cy="741990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34510" y="5999911"/>
            <a:ext cx="4817491" cy="119549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3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234510" y="7195404"/>
            <a:ext cx="4817491" cy="135264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77273" y="2340471"/>
            <a:ext cx="3210173" cy="740307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975881" y="2340471"/>
            <a:ext cx="3210173" cy="740307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77273" y="2228218"/>
            <a:ext cx="3312862" cy="59494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0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77273" y="2890509"/>
            <a:ext cx="3312862" cy="685303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3866835" y="2216570"/>
            <a:ext cx="3312862" cy="59494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0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866835" y="2890509"/>
            <a:ext cx="3312862" cy="685303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77273" y="2424660"/>
            <a:ext cx="3245070" cy="71841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937930" y="2424660"/>
            <a:ext cx="3241426" cy="71841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6346676" y="1425610"/>
            <a:ext cx="647392" cy="784085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567026" y="1425610"/>
            <a:ext cx="5685890" cy="7840857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2705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77273" y="1206718"/>
            <a:ext cx="6804315" cy="85480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43385" y="3872721"/>
            <a:ext cx="6076557" cy="158837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43385" y="5550901"/>
            <a:ext cx="6076557" cy="73525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43385" y="1425610"/>
            <a:ext cx="6076557" cy="400742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43385" y="5550901"/>
            <a:ext cx="6076557" cy="22955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0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7273" y="2323633"/>
            <a:ext cx="6802083" cy="741990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234510" y="5999911"/>
            <a:ext cx="4817491" cy="119549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3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234510" y="7195404"/>
            <a:ext cx="4817491" cy="135264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77273" y="2340471"/>
            <a:ext cx="3210173" cy="740307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975881" y="2340471"/>
            <a:ext cx="3210173" cy="740307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77273" y="2228218"/>
            <a:ext cx="3312862" cy="59494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0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77273" y="2890509"/>
            <a:ext cx="3312862" cy="685303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3866835" y="2216570"/>
            <a:ext cx="3312862" cy="59494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0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3866835" y="2890509"/>
            <a:ext cx="3312862" cy="685303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7273" y="948536"/>
            <a:ext cx="6802083" cy="110007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77273" y="2424660"/>
            <a:ext cx="3245070" cy="71841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937930" y="2424660"/>
            <a:ext cx="3241426" cy="718417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6346676" y="1425610"/>
            <a:ext cx="647392" cy="784085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567026" y="1425610"/>
            <a:ext cx="5685890" cy="7840857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2705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77273" y="1206718"/>
            <a:ext cx="6804315" cy="85480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43385" y="3872721"/>
            <a:ext cx="6076557" cy="158837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43385" y="5550901"/>
            <a:ext cx="6076557" cy="73525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67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66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65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77273" y="948536"/>
            <a:ext cx="6802083" cy="110007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77273" y="2323633"/>
            <a:ext cx="6802083" cy="741990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379506" y="9844569"/>
            <a:ext cx="1674290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2552362" y="9844569"/>
            <a:ext cx="2455626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5505066" y="9844569"/>
            <a:ext cx="1674290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5650" rtl="0" eaLnBrk="1" fontAlgn="auto" latinLnBrk="0" hangingPunct="1">
        <a:lnSpc>
          <a:spcPct val="100000"/>
        </a:lnSpc>
        <a:spcBef>
          <a:spcPct val="0"/>
        </a:spcBef>
        <a:buNone/>
        <a:defRPr sz="29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270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77273" y="948536"/>
            <a:ext cx="6802083" cy="110007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77273" y="2323633"/>
            <a:ext cx="6802083" cy="741990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379506" y="9844569"/>
            <a:ext cx="1674290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2552362" y="9844569"/>
            <a:ext cx="2455626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5505066" y="9844569"/>
            <a:ext cx="1674290" cy="49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650" rtl="0" eaLnBrk="1" fontAlgn="auto" latinLnBrk="0" hangingPunct="1">
        <a:lnSpc>
          <a:spcPct val="100000"/>
        </a:lnSpc>
        <a:spcBef>
          <a:spcPct val="0"/>
        </a:spcBef>
        <a:buNone/>
        <a:defRPr sz="29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270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565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1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jpe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5.png"/><Relationship Id="rId18" Type="http://schemas.openxmlformats.org/officeDocument/2006/relationships/image" Target="../media/image10.jpeg"/><Relationship Id="rId3" Type="http://schemas.openxmlformats.org/officeDocument/2006/relationships/tags" Target="../tags/tag128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tags" Target="../tags/tag127.xml"/><Relationship Id="rId16" Type="http://schemas.openxmlformats.org/officeDocument/2006/relationships/image" Target="../media/image8.png"/><Relationship Id="rId20" Type="http://schemas.openxmlformats.org/officeDocument/2006/relationships/image" Target="../media/image12.jpeg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image" Target="../media/image3.png"/><Relationship Id="rId5" Type="http://schemas.openxmlformats.org/officeDocument/2006/relationships/tags" Target="../tags/tag130.xml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19" Type="http://schemas.openxmlformats.org/officeDocument/2006/relationships/image" Target="../media/image11.jpeg"/><Relationship Id="rId4" Type="http://schemas.openxmlformats.org/officeDocument/2006/relationships/tags" Target="../tags/tag129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圆角矩形 108"/>
          <p:cNvSpPr/>
          <p:nvPr/>
        </p:nvSpPr>
        <p:spPr>
          <a:xfrm>
            <a:off x="1136015" y="527367"/>
            <a:ext cx="5434330" cy="334645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云边智慧管廊巡检：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智慧大脑与多模态感知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346075" y="333375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127" name="矩形: 圆角 3"/>
          <p:cNvSpPr/>
          <p:nvPr/>
        </p:nvSpPr>
        <p:spPr>
          <a:xfrm>
            <a:off x="977900" y="4579620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FBDCE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8" name="矩形: 圆角 3"/>
          <p:cNvSpPr/>
          <p:nvPr/>
        </p:nvSpPr>
        <p:spPr>
          <a:xfrm>
            <a:off x="977900" y="6593205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: 圆角 3"/>
          <p:cNvSpPr/>
          <p:nvPr/>
        </p:nvSpPr>
        <p:spPr>
          <a:xfrm>
            <a:off x="535305" y="8538210"/>
            <a:ext cx="6489700" cy="1682750"/>
          </a:xfrm>
          <a:prstGeom prst="roundRect">
            <a:avLst>
              <a:gd name="adj" fmla="val 15777"/>
            </a:avLst>
          </a:prstGeom>
          <a:solidFill>
            <a:srgbClr val="FBDCE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矩形: 圆角 1150"/>
          <p:cNvSpPr/>
          <p:nvPr/>
        </p:nvSpPr>
        <p:spPr>
          <a:xfrm>
            <a:off x="3035300" y="8932545"/>
            <a:ext cx="3793490" cy="941705"/>
          </a:xfrm>
          <a:prstGeom prst="roundRect">
            <a:avLst>
              <a:gd name="adj" fmla="val 13863"/>
            </a:avLst>
          </a:prstGeom>
          <a:solidFill>
            <a:schemeClr val="bg1"/>
          </a:solidFill>
          <a:ln w="12700" cmpd="sng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: 圆角 1150"/>
          <p:cNvSpPr/>
          <p:nvPr/>
        </p:nvSpPr>
        <p:spPr>
          <a:xfrm>
            <a:off x="753110" y="8932545"/>
            <a:ext cx="2169795" cy="941705"/>
          </a:xfrm>
          <a:prstGeom prst="roundRect">
            <a:avLst>
              <a:gd name="adj" fmla="val 13863"/>
            </a:avLst>
          </a:prstGeom>
          <a:solidFill>
            <a:schemeClr val="bg1"/>
          </a:solidFill>
          <a:ln w="12700" cmpd="sng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0750" y="9492615"/>
            <a:ext cx="5461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云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545590" y="9492615"/>
            <a:ext cx="5981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边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214245" y="9492615"/>
            <a:ext cx="557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端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770630" y="9492615"/>
            <a:ext cx="665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算力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309110" y="9492615"/>
            <a:ext cx="8064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网络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906010" y="9492615"/>
            <a:ext cx="7607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平台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634990" y="9492615"/>
            <a:ext cx="53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046470" y="9492615"/>
            <a:ext cx="822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存储</a:t>
            </a:r>
          </a:p>
        </p:txBody>
      </p:sp>
      <p:pic>
        <p:nvPicPr>
          <p:cNvPr id="41" name="Picture 2" descr="Manufacturing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065" y="9079865"/>
            <a:ext cx="408305" cy="43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Cpu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25" y="9077325"/>
            <a:ext cx="439420" cy="46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0" descr="Gpu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850" y="9070340"/>
            <a:ext cx="44640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2" descr="Bandwidth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580" y="9091295"/>
            <a:ext cx="405130" cy="43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 descr="ai-clou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155" y="9093200"/>
            <a:ext cx="424815" cy="453390"/>
          </a:xfrm>
          <a:prstGeom prst="rect">
            <a:avLst/>
          </a:prstGeom>
        </p:spPr>
      </p:pic>
      <p:pic>
        <p:nvPicPr>
          <p:cNvPr id="50" name="图片 49" descr="dis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0940" y="9140190"/>
            <a:ext cx="359410" cy="38354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6440" y="9093200"/>
            <a:ext cx="403225" cy="43053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3094990" y="9492615"/>
            <a:ext cx="7581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传感器</a:t>
            </a:r>
          </a:p>
        </p:txBody>
      </p:sp>
      <p:pic>
        <p:nvPicPr>
          <p:cNvPr id="53" name="图片 52" descr="server 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00" y="9056370"/>
            <a:ext cx="488950" cy="521970"/>
          </a:xfrm>
          <a:prstGeom prst="rect">
            <a:avLst/>
          </a:prstGeom>
        </p:spPr>
      </p:pic>
      <p:pic>
        <p:nvPicPr>
          <p:cNvPr id="54" name="图片 53" descr="networki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5285" y="9091295"/>
            <a:ext cx="405130" cy="43243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911475" y="9864090"/>
            <a:ext cx="173736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9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技术架构支撑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2921000" y="8578850"/>
            <a:ext cx="171767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管廊巡检组件概览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266825" y="6608445"/>
            <a:ext cx="5273040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研究方案一：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结合云智算与物联网的跨层协同控制与资源调度方法</a:t>
            </a:r>
          </a:p>
        </p:txBody>
      </p:sp>
      <p:sp>
        <p:nvSpPr>
          <p:cNvPr id="65" name="矩形: 圆角 7"/>
          <p:cNvSpPr/>
          <p:nvPr/>
        </p:nvSpPr>
        <p:spPr>
          <a:xfrm>
            <a:off x="3649980" y="700849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基于通信感知主动寻优与联邦散度对齐的群体状态同步算法</a:t>
            </a:r>
          </a:p>
        </p:txBody>
      </p:sp>
      <p:sp>
        <p:nvSpPr>
          <p:cNvPr id="80" name="矩形: 圆角 7"/>
          <p:cNvSpPr/>
          <p:nvPr/>
        </p:nvSpPr>
        <p:spPr>
          <a:xfrm>
            <a:off x="2143760" y="700849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: 圆角 7"/>
          <p:cNvSpPr/>
          <p:nvPr/>
        </p:nvSpPr>
        <p:spPr>
          <a:xfrm>
            <a:off x="5156200" y="700722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基于异构资源感知与任务语义关联的跨层联合调度方法</a:t>
            </a: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0" y="7014210"/>
            <a:ext cx="944245" cy="66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文本框 94"/>
          <p:cNvSpPr txBox="1"/>
          <p:nvPr/>
        </p:nvSpPr>
        <p:spPr>
          <a:xfrm>
            <a:off x="1149985" y="7675245"/>
            <a:ext cx="833120" cy="39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9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云物融合分层治理</a:t>
            </a: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15890" y="7704455"/>
            <a:ext cx="46990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负载均衡切分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61025" y="77044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关键状态选择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053455" y="77044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跨层资源调度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182495" y="7704455"/>
            <a:ext cx="44069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850" b="1">
                <a:solidFill>
                  <a:srgbClr val="2E54A1"/>
                </a:solidFill>
              </a:rPr>
              <a:t>决策解耦协同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623820" y="77044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2E54A1"/>
                </a:solidFill>
              </a:rPr>
              <a:t>异步协同调度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007360" y="77044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2E54A1"/>
                </a:solidFill>
              </a:rPr>
              <a:t>轻量高频响应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718560" y="7704455"/>
            <a:ext cx="43942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主动协同合并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158615" y="77044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边云联邦融合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540885" y="77044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底层热备容错</a:t>
            </a:r>
          </a:p>
        </p:txBody>
      </p:sp>
      <p:sp>
        <p:nvSpPr>
          <p:cNvPr id="81" name="矩形 80"/>
          <p:cNvSpPr/>
          <p:nvPr/>
        </p:nvSpPr>
        <p:spPr>
          <a:xfrm>
            <a:off x="6708140" y="6593840"/>
            <a:ext cx="31686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理论架构</a:t>
            </a:r>
          </a:p>
        </p:txBody>
      </p:sp>
      <p:sp>
        <p:nvSpPr>
          <p:cNvPr id="87" name="矩形 86"/>
          <p:cNvSpPr/>
          <p:nvPr/>
        </p:nvSpPr>
        <p:spPr>
          <a:xfrm>
            <a:off x="535940" y="6593840"/>
            <a:ext cx="33845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怎么协同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920750" y="6235065"/>
            <a:ext cx="201231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5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云物融合分层治理</a:t>
            </a:r>
            <a:r>
              <a:rPr lang="en-US" altLang="zh-CN" sz="15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23" name="箭头: 燕尾形 1202"/>
          <p:cNvSpPr/>
          <p:nvPr/>
        </p:nvSpPr>
        <p:spPr>
          <a:xfrm rot="5400000" flipH="1">
            <a:off x="3659019" y="6316980"/>
            <a:ext cx="4000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7" name="箭头: 燕尾形 1202"/>
          <p:cNvSpPr/>
          <p:nvPr/>
        </p:nvSpPr>
        <p:spPr>
          <a:xfrm rot="5400000" flipH="1">
            <a:off x="3648075" y="4289835"/>
            <a:ext cx="4000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2" name="箭头: 燕尾形 1202"/>
          <p:cNvSpPr/>
          <p:nvPr/>
        </p:nvSpPr>
        <p:spPr>
          <a:xfrm rot="5400000" flipH="1">
            <a:off x="3649569" y="8255000"/>
            <a:ext cx="4000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708140" y="4580890"/>
            <a:ext cx="316865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感知底座</a:t>
            </a:r>
          </a:p>
        </p:txBody>
      </p:sp>
      <p:sp>
        <p:nvSpPr>
          <p:cNvPr id="129" name="箭头: 燕尾形 1202"/>
          <p:cNvSpPr/>
          <p:nvPr/>
        </p:nvSpPr>
        <p:spPr>
          <a:xfrm rot="5400000" flipH="1">
            <a:off x="6666230" y="6316980"/>
            <a:ext cx="4000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920750" y="4224655"/>
            <a:ext cx="201231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动态场景感知重建</a:t>
            </a:r>
            <a:r>
              <a:rPr lang="en-US" altLang="zh-CN" sz="1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131" name="矩形 130"/>
          <p:cNvSpPr/>
          <p:nvPr/>
        </p:nvSpPr>
        <p:spPr>
          <a:xfrm>
            <a:off x="535940" y="4589780"/>
            <a:ext cx="338455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怎么感知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1266825" y="4574540"/>
            <a:ext cx="5273040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研究方案二：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基于信息价值驱动与多维融合演化的感知建模技术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1170305" y="5661660"/>
            <a:ext cx="812800" cy="65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9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动态场景感知重建</a:t>
            </a:r>
            <a:endParaRPr kumimoji="0" lang="en-US" altLang="zh-CN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34" name="Picture 4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0" y="4964430"/>
            <a:ext cx="944245" cy="65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矩形: 圆角 7"/>
          <p:cNvSpPr/>
          <p:nvPr/>
        </p:nvSpPr>
        <p:spPr>
          <a:xfrm>
            <a:off x="3649980" y="4965700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基于多维融合与增量重建的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3D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场景建模技术</a:t>
            </a:r>
          </a:p>
        </p:txBody>
      </p:sp>
      <p:sp>
        <p:nvSpPr>
          <p:cNvPr id="136" name="矩形: 圆角 7"/>
          <p:cNvSpPr/>
          <p:nvPr/>
        </p:nvSpPr>
        <p:spPr>
          <a:xfrm>
            <a:off x="2143760" y="4965700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基于价值评估与动态决策的主动感知优化技术</a:t>
            </a:r>
          </a:p>
        </p:txBody>
      </p:sp>
      <p:sp>
        <p:nvSpPr>
          <p:cNvPr id="137" name="矩形: 圆角 7"/>
          <p:cNvSpPr/>
          <p:nvPr/>
        </p:nvSpPr>
        <p:spPr>
          <a:xfrm>
            <a:off x="5156200" y="4964430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基于模态对齐与知识演化的连续感知学习技术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234940" y="5661660"/>
            <a:ext cx="43180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连续感知机理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5648325" y="5661660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趋势拓扑感知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6053455" y="5661660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C00000"/>
                </a:solidFill>
              </a:rPr>
              <a:t>图谱认知迭代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2201545" y="5661660"/>
            <a:ext cx="44069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主动感知建模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2623820" y="5661660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环境信息更新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3007360" y="5661660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时空分配调度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3718560" y="5661660"/>
            <a:ext cx="43942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统一表示融合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4126865" y="5661660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增量多维感知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4540885" y="5661660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ctr"/>
            <a:r>
              <a:rPr lang="zh-CN" altLang="en-US" sz="850" b="1">
                <a:solidFill>
                  <a:srgbClr val="C00000"/>
                </a:solidFill>
              </a:rPr>
              <a:t>感知重建优化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2081530" y="7050405"/>
            <a:ext cx="1549400" cy="596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0" lang="zh-CN" altLang="en-US" sz="1000" b="1" i="0" spc="-5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面向轻量化</a:t>
            </a:r>
            <a:r>
              <a:rPr kumimoji="0" lang="en-US" altLang="zh-CN" sz="1000" b="1" i="0" spc="-5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</a:t>
            </a:r>
            <a:r>
              <a:rPr kumimoji="0" lang="zh-CN" altLang="en-US" sz="1000" b="1" i="0" spc="-5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大模型的特征异步调度与端侧并行解码方法</a:t>
            </a:r>
          </a:p>
        </p:txBody>
      </p:sp>
      <p:sp>
        <p:nvSpPr>
          <p:cNvPr id="148" name="箭头: 燕尾形 1202"/>
          <p:cNvSpPr/>
          <p:nvPr/>
        </p:nvSpPr>
        <p:spPr>
          <a:xfrm rot="5400000" flipH="1">
            <a:off x="6666230" y="4316730"/>
            <a:ext cx="4000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9" name="矩形: 圆角 3"/>
          <p:cNvSpPr/>
          <p:nvPr/>
        </p:nvSpPr>
        <p:spPr>
          <a:xfrm>
            <a:off x="977900" y="2580005"/>
            <a:ext cx="5850890" cy="1647190"/>
          </a:xfrm>
          <a:prstGeom prst="roundRect">
            <a:avLst>
              <a:gd name="adj" fmla="val 10777"/>
            </a:avLst>
          </a:prstGeom>
          <a:solidFill>
            <a:srgbClr val="DEEBF7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266825" y="2595245"/>
            <a:ext cx="5273040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E54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研究方案三：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基于多粒度保真蒸馏与动态协同演化的云边端推理技术</a:t>
            </a:r>
          </a:p>
        </p:txBody>
      </p:sp>
      <p:sp>
        <p:nvSpPr>
          <p:cNvPr id="151" name="矩形: 圆角 7"/>
          <p:cNvSpPr/>
          <p:nvPr/>
        </p:nvSpPr>
        <p:spPr>
          <a:xfrm>
            <a:off x="3649980" y="299529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基于任务感知与动态分割的云边端协同推理优化</a:t>
            </a:r>
          </a:p>
        </p:txBody>
      </p:sp>
      <p:sp>
        <p:nvSpPr>
          <p:cNvPr id="152" name="矩形: 圆角 7"/>
          <p:cNvSpPr/>
          <p:nvPr/>
        </p:nvSpPr>
        <p:spPr>
          <a:xfrm>
            <a:off x="2143760" y="299529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矩形: 圆角 7"/>
          <p:cNvSpPr/>
          <p:nvPr/>
        </p:nvSpPr>
        <p:spPr>
          <a:xfrm>
            <a:off x="5156200" y="2994025"/>
            <a:ext cx="1431925" cy="66611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基于表征锚定与稳健重放的云边端协同持续学习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1149985" y="3662045"/>
            <a:ext cx="833120" cy="39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知识蒸馏协同推理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5241290" y="3691255"/>
            <a:ext cx="44450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锚定表征蒸馏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5673725" y="36912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数据增量更新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6066155" y="36912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稳健平衡持续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2182495" y="3691255"/>
            <a:ext cx="44069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850" b="1">
                <a:solidFill>
                  <a:srgbClr val="2E54A1"/>
                </a:solidFill>
              </a:rPr>
              <a:t>知识解耦对齐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2623820" y="36912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2E54A1"/>
                </a:solidFill>
              </a:rPr>
              <a:t>动态保真度量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3007360" y="36912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2E54A1"/>
                </a:solidFill>
              </a:rPr>
              <a:t>人在回路筛选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3718560" y="3691255"/>
            <a:ext cx="439420" cy="5480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不确定性路由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4158615" y="36912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计算卸载分割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4540885" y="3691255"/>
            <a:ext cx="443865" cy="4832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50" b="1">
                <a:solidFill>
                  <a:srgbClr val="2E54A1"/>
                </a:solidFill>
              </a:rPr>
              <a:t>草稿生成验证</a:t>
            </a:r>
          </a:p>
        </p:txBody>
      </p:sp>
      <p:sp>
        <p:nvSpPr>
          <p:cNvPr id="165" name="矩形 164"/>
          <p:cNvSpPr/>
          <p:nvPr/>
        </p:nvSpPr>
        <p:spPr>
          <a:xfrm>
            <a:off x="6708140" y="2580640"/>
            <a:ext cx="31686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决策保障</a:t>
            </a:r>
          </a:p>
        </p:txBody>
      </p:sp>
      <p:sp>
        <p:nvSpPr>
          <p:cNvPr id="166" name="矩形 165"/>
          <p:cNvSpPr/>
          <p:nvPr/>
        </p:nvSpPr>
        <p:spPr>
          <a:xfrm>
            <a:off x="535940" y="2580640"/>
            <a:ext cx="338455" cy="1645920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怎么迁移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920750" y="2221865"/>
            <a:ext cx="201231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5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知识蒸馏协同推理</a:t>
            </a:r>
            <a:r>
              <a:rPr lang="en-US" altLang="zh-CN" sz="15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168" name="箭头: 燕尾形 1202"/>
          <p:cNvSpPr/>
          <p:nvPr/>
        </p:nvSpPr>
        <p:spPr>
          <a:xfrm rot="5400000" flipH="1">
            <a:off x="3653155" y="2303145"/>
            <a:ext cx="400050" cy="317500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2182495" y="3037205"/>
            <a:ext cx="1347470" cy="596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0" lang="zh-CN" altLang="en-US" sz="1000" b="1" i="0" spc="-5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基于多粒度解耦与人在回路的端侧高保真知识蒸馏</a:t>
            </a:r>
          </a:p>
        </p:txBody>
      </p:sp>
      <p:pic>
        <p:nvPicPr>
          <p:cNvPr id="171" name="Picture 6"/>
          <p:cNvPicPr>
            <a:picLocks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0" y="3000375"/>
            <a:ext cx="944245" cy="65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" name="矩形: 圆角 3"/>
          <p:cNvSpPr/>
          <p:nvPr/>
        </p:nvSpPr>
        <p:spPr>
          <a:xfrm>
            <a:off x="535306" y="1181100"/>
            <a:ext cx="6489700" cy="1040765"/>
          </a:xfrm>
          <a:prstGeom prst="roundRect">
            <a:avLst>
              <a:gd name="adj" fmla="val 10777"/>
            </a:avLst>
          </a:prstGeom>
          <a:solidFill>
            <a:srgbClr val="FBDCE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5" name="箭头: 燕尾形 1202"/>
          <p:cNvSpPr/>
          <p:nvPr/>
        </p:nvSpPr>
        <p:spPr>
          <a:xfrm rot="5400000" flipH="1">
            <a:off x="3665855" y="931227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081950" y="1195388"/>
            <a:ext cx="5273219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研究方案四：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智慧管廊巡检场景下的原型系统应用验证</a:t>
            </a:r>
          </a:p>
        </p:txBody>
      </p:sp>
      <p:grpSp>
        <p:nvGrpSpPr>
          <p:cNvPr id="181" name="组合 180"/>
          <p:cNvGrpSpPr/>
          <p:nvPr/>
        </p:nvGrpSpPr>
        <p:grpSpPr>
          <a:xfrm>
            <a:off x="1095838" y="1569720"/>
            <a:ext cx="5504180" cy="443230"/>
            <a:chOff x="3376" y="2710"/>
            <a:chExt cx="9442" cy="984"/>
          </a:xfrm>
        </p:grpSpPr>
        <p:sp>
          <p:nvSpPr>
            <p:cNvPr id="177" name="矩形: 圆角 7"/>
            <p:cNvSpPr/>
            <p:nvPr/>
          </p:nvSpPr>
          <p:spPr>
            <a:xfrm>
              <a:off x="5772" y="2712"/>
              <a:ext cx="2255" cy="983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热源异常</a:t>
              </a:r>
            </a:p>
          </p:txBody>
        </p:sp>
        <p:sp>
          <p:nvSpPr>
            <p:cNvPr id="178" name="矩形: 圆角 7"/>
            <p:cNvSpPr/>
            <p:nvPr/>
          </p:nvSpPr>
          <p:spPr>
            <a:xfrm>
              <a:off x="3376" y="2712"/>
              <a:ext cx="2255" cy="983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气体超标</a:t>
              </a:r>
            </a:p>
          </p:txBody>
        </p:sp>
        <p:sp>
          <p:nvSpPr>
            <p:cNvPr id="179" name="矩形: 圆角 7"/>
            <p:cNvSpPr/>
            <p:nvPr/>
          </p:nvSpPr>
          <p:spPr>
            <a:xfrm>
              <a:off x="8168" y="2710"/>
              <a:ext cx="2255" cy="983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水位上涨</a:t>
              </a:r>
            </a:p>
          </p:txBody>
        </p:sp>
        <p:sp>
          <p:nvSpPr>
            <p:cNvPr id="180" name="矩形: 圆角 7"/>
            <p:cNvSpPr/>
            <p:nvPr/>
          </p:nvSpPr>
          <p:spPr>
            <a:xfrm>
              <a:off x="10564" y="2710"/>
              <a:ext cx="2255" cy="983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......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DCACD971-C388-1C06-DB37-3BD8643D812B}"/>
              </a:ext>
            </a:extLst>
          </p:cNvPr>
          <p:cNvSpPr/>
          <p:nvPr/>
        </p:nvSpPr>
        <p:spPr>
          <a:xfrm>
            <a:off x="6707505" y="1173891"/>
            <a:ext cx="316865" cy="10536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61C097-C6A9-2B56-BFED-94A9E74C7602}"/>
              </a:ext>
            </a:extLst>
          </p:cNvPr>
          <p:cNvSpPr/>
          <p:nvPr/>
        </p:nvSpPr>
        <p:spPr>
          <a:xfrm>
            <a:off x="535305" y="1178010"/>
            <a:ext cx="316865" cy="10536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怎么验证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2472621" y="1147859"/>
            <a:ext cx="3125034" cy="3348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/>
              <a:t>云边智慧管廊巡检：</a:t>
            </a:r>
            <a:r>
              <a:rPr lang="en-US" altLang="zh-CN" sz="1115"/>
              <a:t>“</a:t>
            </a:r>
            <a:r>
              <a:rPr lang="zh-CN" altLang="en-US" sz="1115"/>
              <a:t>智慧大脑与多模态感知</a:t>
            </a:r>
            <a:r>
              <a:rPr lang="en-US" altLang="zh-CN" sz="1115"/>
              <a:t>”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1310332" y="3153911"/>
            <a:ext cx="5273219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40" b="1" i="0" u="none" strike="noStrike" kern="1200" cap="none" spc="0" normalizeH="0" baseline="0" noProof="0" dirty="0">
                <a:ln>
                  <a:noFill/>
                </a:ln>
                <a:solidFill>
                  <a:srgbClr val="3D50E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研究方案三：</a:t>
            </a:r>
            <a:r>
              <a:rPr lang="zh-CN" altLang="en-US" sz="124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基于多粒度保真蒸馏与动态协同演化的云边端推理技术</a:t>
            </a:r>
            <a:endParaRPr kumimoji="0" lang="zh-CN" altLang="en-US" sz="12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矩形: 圆角 3"/>
          <p:cNvSpPr/>
          <p:nvPr/>
        </p:nvSpPr>
        <p:spPr>
          <a:xfrm>
            <a:off x="875261" y="8130258"/>
            <a:ext cx="6150055" cy="135954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上箭头 65"/>
          <p:cNvSpPr/>
          <p:nvPr>
            <p:custDataLst>
              <p:tags r:id="rId2"/>
            </p:custDataLst>
          </p:nvPr>
        </p:nvSpPr>
        <p:spPr>
          <a:xfrm>
            <a:off x="3879417" y="7834567"/>
            <a:ext cx="294116" cy="253562"/>
          </a:xfrm>
          <a:prstGeom prst="upArrow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372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19979" y="8964294"/>
            <a:ext cx="546016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云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644495" y="8968231"/>
            <a:ext cx="59810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边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313328" y="8970593"/>
            <a:ext cx="557676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端</a:t>
            </a:r>
          </a:p>
        </p:txBody>
      </p:sp>
      <p:sp>
        <p:nvSpPr>
          <p:cNvPr id="34" name="矩形: 圆角 88"/>
          <p:cNvSpPr/>
          <p:nvPr/>
        </p:nvSpPr>
        <p:spPr>
          <a:xfrm>
            <a:off x="947707" y="8429492"/>
            <a:ext cx="1974947" cy="750055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: 圆角 90"/>
          <p:cNvSpPr/>
          <p:nvPr/>
        </p:nvSpPr>
        <p:spPr>
          <a:xfrm>
            <a:off x="2997463" y="8429492"/>
            <a:ext cx="3962887" cy="750055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808152" y="8970477"/>
            <a:ext cx="437040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算力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439694" y="8964177"/>
            <a:ext cx="440583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网络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063361" y="8964177"/>
            <a:ext cx="456726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平台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736245" y="8970477"/>
            <a:ext cx="393729" cy="39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367393" y="8970477"/>
            <a:ext cx="470900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存储</a:t>
            </a:r>
          </a:p>
        </p:txBody>
      </p:sp>
      <p:pic>
        <p:nvPicPr>
          <p:cNvPr id="41" name="Picture 2" descr="Manufacturing 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945" y="8476810"/>
            <a:ext cx="446477" cy="4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Cpu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739" y="8504666"/>
            <a:ext cx="446477" cy="4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0" descr="Gpu 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88" y="8476809"/>
            <a:ext cx="446477" cy="4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2" descr="Bandwidth 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555" y="8476906"/>
            <a:ext cx="446477" cy="4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 descr="ai-clou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6403" y="8519728"/>
            <a:ext cx="446477" cy="446477"/>
          </a:xfrm>
          <a:prstGeom prst="rect">
            <a:avLst/>
          </a:prstGeom>
        </p:spPr>
      </p:pic>
      <p:pic>
        <p:nvPicPr>
          <p:cNvPr id="50" name="图片 49" descr="dis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2579" y="8476810"/>
            <a:ext cx="446477" cy="446477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42252" y="8476811"/>
            <a:ext cx="446477" cy="446477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3101407" y="8951184"/>
            <a:ext cx="527991" cy="39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传感器</a:t>
            </a:r>
          </a:p>
        </p:txBody>
      </p:sp>
      <p:pic>
        <p:nvPicPr>
          <p:cNvPr id="53" name="图片 52" descr="server (1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6073" y="8476807"/>
            <a:ext cx="528831" cy="528831"/>
          </a:xfrm>
          <a:prstGeom prst="rect">
            <a:avLst/>
          </a:prstGeom>
        </p:spPr>
      </p:pic>
      <p:pic>
        <p:nvPicPr>
          <p:cNvPr id="54" name="图片 53" descr="networki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11688" y="8517760"/>
            <a:ext cx="446477" cy="446477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3310478" y="9203565"/>
            <a:ext cx="128001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技术架构支撑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185272" y="8133408"/>
            <a:ext cx="171784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管廊巡检组件概览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336712" y="6551403"/>
            <a:ext cx="5273219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40" b="1" i="0" u="none" strike="noStrike" kern="1200" cap="none" spc="0" normalizeH="0" baseline="0" noProof="0" dirty="0">
                <a:ln>
                  <a:noFill/>
                </a:ln>
                <a:solidFill>
                  <a:srgbClr val="3D50E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研究方案一：</a:t>
            </a:r>
            <a:r>
              <a:rPr kumimoji="0" lang="zh-CN" altLang="en-US" sz="12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结合云智算和物联网技术的</a:t>
            </a:r>
            <a:r>
              <a:rPr kumimoji="0" lang="en-US" altLang="zh-CN" sz="12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</a:t>
            </a:r>
            <a:r>
              <a:rPr kumimoji="0" lang="zh-CN" altLang="en-US" sz="12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远程大脑</a:t>
            </a:r>
            <a:r>
              <a:rPr kumimoji="0" lang="en-US" altLang="zh-CN" sz="12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”</a:t>
            </a:r>
            <a:r>
              <a:rPr kumimoji="0" lang="zh-CN" altLang="en-US" sz="12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理论框架与体系</a:t>
            </a:r>
          </a:p>
        </p:txBody>
      </p:sp>
      <p:sp>
        <p:nvSpPr>
          <p:cNvPr id="65" name="矩形: 圆角 7"/>
          <p:cNvSpPr/>
          <p:nvPr/>
        </p:nvSpPr>
        <p:spPr>
          <a:xfrm>
            <a:off x="3840270" y="6815595"/>
            <a:ext cx="1339074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弱网与断联环境下边云协同的群体状态一致性维护方案</a:t>
            </a:r>
          </a:p>
        </p:txBody>
      </p:sp>
      <p:sp>
        <p:nvSpPr>
          <p:cNvPr id="80" name="矩形: 圆角 7"/>
          <p:cNvSpPr/>
          <p:nvPr/>
        </p:nvSpPr>
        <p:spPr>
          <a:xfrm>
            <a:off x="2431280" y="6815595"/>
            <a:ext cx="1339300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面向轻量化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 VLA 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大模型的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“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云深算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边调度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端速决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”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的分层理论架构</a:t>
            </a:r>
          </a:p>
        </p:txBody>
      </p:sp>
      <p:sp>
        <p:nvSpPr>
          <p:cNvPr id="82" name="矩形: 圆角 7"/>
          <p:cNvSpPr/>
          <p:nvPr/>
        </p:nvSpPr>
        <p:spPr>
          <a:xfrm>
            <a:off x="5249034" y="6814020"/>
            <a:ext cx="1339074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资源瓶颈感知的异构智能体计算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存储</a:t>
            </a:r>
            <a:r>
              <a:rPr kumimoji="0" lang="en-US" altLang="zh-CN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通信资源动态分配机制</a:t>
            </a:r>
          </a:p>
        </p:txBody>
      </p:sp>
      <p:sp>
        <p:nvSpPr>
          <p:cNvPr id="88" name="矩形: 圆角 3"/>
          <p:cNvSpPr/>
          <p:nvPr/>
        </p:nvSpPr>
        <p:spPr>
          <a:xfrm>
            <a:off x="1337105" y="6429740"/>
            <a:ext cx="5273219" cy="135954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426" y="6814020"/>
            <a:ext cx="944163" cy="61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文本框 94"/>
          <p:cNvSpPr txBox="1"/>
          <p:nvPr/>
        </p:nvSpPr>
        <p:spPr>
          <a:xfrm>
            <a:off x="1310725" y="7514071"/>
            <a:ext cx="113433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9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云物融合分层治理</a:t>
            </a: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56085" y="5583222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主动感知建模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16927" y="5597396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环境信息更新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56329" y="5583222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时空分配调度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10521" y="5583222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统一表示融合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71363" y="5597396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增量多维感知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10766" y="5583222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感知重建优化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11411" y="7275865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负载均衡切分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72253" y="7290039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关键状态选择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111655" y="7275865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跨层资源调度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336712" y="4858760"/>
            <a:ext cx="5273219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40" b="1" i="0" u="none" strike="noStrike" kern="1200" cap="none" spc="0" normalizeH="0" baseline="0" noProof="0" dirty="0">
                <a:ln>
                  <a:noFill/>
                </a:ln>
                <a:solidFill>
                  <a:srgbClr val="3D50E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研究方案二：</a:t>
            </a:r>
            <a:r>
              <a:rPr lang="zh-CN" altLang="en-US" sz="124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非结构化动态开放场景的连续多维感知机理</a:t>
            </a:r>
            <a:endParaRPr kumimoji="0" lang="zh-CN" altLang="en-US" sz="12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: 圆角 7"/>
          <p:cNvSpPr/>
          <p:nvPr/>
        </p:nvSpPr>
        <p:spPr>
          <a:xfrm>
            <a:off x="3840270" y="5122952"/>
            <a:ext cx="1339074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45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开放</a:t>
            </a:r>
            <a:r>
              <a:rPr lang="en-US" altLang="zh-CN" sz="745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3D </a:t>
            </a:r>
            <a:r>
              <a:rPr lang="zh-CN" altLang="en-US" sz="745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场景中的多维感知与动态重建</a:t>
            </a:r>
            <a:endParaRPr kumimoji="0" lang="zh-CN" altLang="en-US" sz="74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0" name="矩形: 圆角 7"/>
          <p:cNvSpPr/>
          <p:nvPr/>
        </p:nvSpPr>
        <p:spPr>
          <a:xfrm>
            <a:off x="2431280" y="5122952"/>
            <a:ext cx="1339300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45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动态场景中的主动感知与信息获取优化</a:t>
            </a:r>
            <a:endParaRPr kumimoji="0" lang="zh-CN" altLang="en-US" sz="74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5249034" y="5121377"/>
            <a:ext cx="1339074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45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动态非结构化场景下的多模态表征连续感知与知识演化</a:t>
            </a:r>
            <a:endParaRPr kumimoji="0" lang="zh-CN" altLang="en-US" sz="74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2" name="矩形: 圆角 3"/>
          <p:cNvSpPr/>
          <p:nvPr/>
        </p:nvSpPr>
        <p:spPr>
          <a:xfrm>
            <a:off x="1337105" y="4737097"/>
            <a:ext cx="5273219" cy="135954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10725" y="5821428"/>
            <a:ext cx="113433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9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动态场景感知重建</a:t>
            </a:r>
            <a:endParaRPr kumimoji="0" lang="en-US" altLang="zh-CN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56085" y="7262084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决策解耦协同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816927" y="7276259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异步协同调度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256329" y="7262084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轻量高频响应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910521" y="7262084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主动协同合并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271363" y="7276259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边云联邦融合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710766" y="7262084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底层热备容错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5311411" y="5583222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>
                <a:sym typeface="+mn-ea"/>
              </a:rPr>
              <a:t>连续感知机理</a:t>
            </a:r>
            <a:endParaRPr lang="zh-CN" altLang="en-US" sz="745"/>
          </a:p>
        </p:txBody>
      </p:sp>
      <p:sp>
        <p:nvSpPr>
          <p:cNvPr id="48" name="文本框 47"/>
          <p:cNvSpPr txBox="1"/>
          <p:nvPr/>
        </p:nvSpPr>
        <p:spPr>
          <a:xfrm>
            <a:off x="5672253" y="5597396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>
                <a:sym typeface="+mn-ea"/>
              </a:rPr>
              <a:t>趋势拓扑感知</a:t>
            </a:r>
            <a:endParaRPr lang="zh-CN" altLang="en-US" sz="745"/>
          </a:p>
        </p:txBody>
      </p:sp>
      <p:sp>
        <p:nvSpPr>
          <p:cNvPr id="57" name="文本框 56"/>
          <p:cNvSpPr txBox="1"/>
          <p:nvPr/>
        </p:nvSpPr>
        <p:spPr>
          <a:xfrm>
            <a:off x="6111655" y="5583222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>
                <a:sym typeface="+mn-ea"/>
              </a:rPr>
              <a:t>图谱认知迭代</a:t>
            </a:r>
            <a:endParaRPr lang="zh-CN" altLang="en-US" sz="745"/>
          </a:p>
        </p:txBody>
      </p:sp>
      <p:sp>
        <p:nvSpPr>
          <p:cNvPr id="58" name="上箭头 65"/>
          <p:cNvSpPr/>
          <p:nvPr>
            <p:custDataLst>
              <p:tags r:id="rId3"/>
            </p:custDataLst>
          </p:nvPr>
        </p:nvSpPr>
        <p:spPr>
          <a:xfrm>
            <a:off x="3879417" y="6140743"/>
            <a:ext cx="294116" cy="253562"/>
          </a:xfrm>
          <a:prstGeom prst="upArrow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372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29705" y="3878373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知识解耦对齐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2790547" y="3892547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动态保真度量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229949" y="3878373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人在回路筛选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884141" y="3878373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不确定性路由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244984" y="3892547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计算卸载分割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684386" y="3878373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/>
              <a:t>草稿生成验证</a:t>
            </a:r>
          </a:p>
        </p:txBody>
      </p:sp>
      <p:sp>
        <p:nvSpPr>
          <p:cNvPr id="69" name="矩形: 圆角 7"/>
          <p:cNvSpPr/>
          <p:nvPr/>
        </p:nvSpPr>
        <p:spPr>
          <a:xfrm>
            <a:off x="3813890" y="3418103"/>
            <a:ext cx="1339074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基于任务感知与动态分割的云边端协同推理优化</a:t>
            </a:r>
          </a:p>
        </p:txBody>
      </p:sp>
      <p:sp>
        <p:nvSpPr>
          <p:cNvPr id="70" name="矩形: 圆角 7"/>
          <p:cNvSpPr/>
          <p:nvPr/>
        </p:nvSpPr>
        <p:spPr>
          <a:xfrm>
            <a:off x="2404900" y="3418103"/>
            <a:ext cx="1339300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基于多粒度解耦与人在回路的端侧高保真知识蒸馏</a:t>
            </a:r>
          </a:p>
        </p:txBody>
      </p:sp>
      <p:sp>
        <p:nvSpPr>
          <p:cNvPr id="71" name="矩形: 圆角 7"/>
          <p:cNvSpPr/>
          <p:nvPr/>
        </p:nvSpPr>
        <p:spPr>
          <a:xfrm>
            <a:off x="5222654" y="3416529"/>
            <a:ext cx="1339074" cy="446433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4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基于表征锚定与稳健重放的云边端协同持续学习</a:t>
            </a:r>
          </a:p>
        </p:txBody>
      </p:sp>
      <p:sp>
        <p:nvSpPr>
          <p:cNvPr id="72" name="矩形: 圆角 3"/>
          <p:cNvSpPr/>
          <p:nvPr/>
        </p:nvSpPr>
        <p:spPr>
          <a:xfrm>
            <a:off x="1337068" y="3032249"/>
            <a:ext cx="5273219" cy="135954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310282" y="4116580"/>
            <a:ext cx="113433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9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知识蒸馏协同推理</a:t>
            </a:r>
            <a:endParaRPr kumimoji="0" lang="en-US" altLang="zh-CN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9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285031" y="3878373"/>
            <a:ext cx="334825" cy="513398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r>
              <a:rPr lang="zh-CN" altLang="en-US" sz="745"/>
              <a:t>锚定表征蒸馏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5645873" y="3892547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>
                <a:sym typeface="+mn-ea"/>
              </a:rPr>
              <a:t>数据增量更新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6085275" y="3878373"/>
            <a:ext cx="413385" cy="513398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r>
              <a:rPr lang="zh-CN" altLang="en-US" sz="745">
                <a:sym typeface="+mn-ea"/>
              </a:rPr>
              <a:t>稳健平衡持续</a:t>
            </a:r>
          </a:p>
        </p:txBody>
      </p:sp>
      <p:sp>
        <p:nvSpPr>
          <p:cNvPr id="78" name="上箭头 65"/>
          <p:cNvSpPr/>
          <p:nvPr>
            <p:custDataLst>
              <p:tags r:id="rId4"/>
            </p:custDataLst>
          </p:nvPr>
        </p:nvSpPr>
        <p:spPr>
          <a:xfrm>
            <a:off x="3853037" y="4435894"/>
            <a:ext cx="294116" cy="253562"/>
          </a:xfrm>
          <a:prstGeom prst="upArrow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372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79" name="Picture 4"/>
          <p:cNvPicPr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969" y="5121409"/>
            <a:ext cx="944207" cy="61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矩形 80"/>
          <p:cNvSpPr/>
          <p:nvPr/>
        </p:nvSpPr>
        <p:spPr>
          <a:xfrm>
            <a:off x="6609931" y="6429347"/>
            <a:ext cx="414991" cy="1346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b="1">
                <a:solidFill>
                  <a:schemeClr val="accent6">
                    <a:lumMod val="75000"/>
                  </a:schemeClr>
                </a:solidFill>
              </a:rPr>
              <a:t>理论架构</a:t>
            </a:r>
          </a:p>
        </p:txBody>
      </p:sp>
      <p:sp>
        <p:nvSpPr>
          <p:cNvPr id="83" name="矩形 82"/>
          <p:cNvSpPr/>
          <p:nvPr/>
        </p:nvSpPr>
        <p:spPr>
          <a:xfrm>
            <a:off x="6610324" y="4737097"/>
            <a:ext cx="414991" cy="1346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b="1">
                <a:solidFill>
                  <a:schemeClr val="accent6">
                    <a:lumMod val="75000"/>
                  </a:schemeClr>
                </a:solidFill>
              </a:rPr>
              <a:t>感知底座</a:t>
            </a:r>
          </a:p>
        </p:txBody>
      </p:sp>
      <p:sp>
        <p:nvSpPr>
          <p:cNvPr id="84" name="矩形 83"/>
          <p:cNvSpPr/>
          <p:nvPr/>
        </p:nvSpPr>
        <p:spPr>
          <a:xfrm>
            <a:off x="6583551" y="3032249"/>
            <a:ext cx="414991" cy="1359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b="1">
                <a:solidFill>
                  <a:schemeClr val="accent6">
                    <a:lumMod val="75000"/>
                  </a:schemeClr>
                </a:solidFill>
              </a:rPr>
              <a:t>决策保障</a:t>
            </a:r>
          </a:p>
        </p:txBody>
      </p:sp>
      <p:sp>
        <p:nvSpPr>
          <p:cNvPr id="85" name="上箭头 84"/>
          <p:cNvSpPr/>
          <p:nvPr/>
        </p:nvSpPr>
        <p:spPr>
          <a:xfrm>
            <a:off x="6708363" y="6044279"/>
            <a:ext cx="189734" cy="334825"/>
          </a:xfrm>
          <a:prstGeom prst="up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5"/>
          </a:p>
        </p:txBody>
      </p:sp>
      <p:sp>
        <p:nvSpPr>
          <p:cNvPr id="86" name="上箭头 85"/>
          <p:cNvSpPr/>
          <p:nvPr/>
        </p:nvSpPr>
        <p:spPr>
          <a:xfrm>
            <a:off x="6708363" y="4354786"/>
            <a:ext cx="189734" cy="334825"/>
          </a:xfrm>
          <a:prstGeom prst="up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5"/>
          </a:p>
        </p:txBody>
      </p:sp>
      <p:sp>
        <p:nvSpPr>
          <p:cNvPr id="87" name="矩形 86"/>
          <p:cNvSpPr/>
          <p:nvPr/>
        </p:nvSpPr>
        <p:spPr>
          <a:xfrm>
            <a:off x="875261" y="6969150"/>
            <a:ext cx="446433" cy="446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b="1">
                <a:solidFill>
                  <a:schemeClr val="tx1"/>
                </a:solidFill>
              </a:rPr>
              <a:t>怎么协同</a:t>
            </a:r>
          </a:p>
        </p:txBody>
      </p:sp>
      <p:sp>
        <p:nvSpPr>
          <p:cNvPr id="89" name="矩形 88"/>
          <p:cNvSpPr/>
          <p:nvPr/>
        </p:nvSpPr>
        <p:spPr>
          <a:xfrm>
            <a:off x="875261" y="5175318"/>
            <a:ext cx="446433" cy="446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b="1">
                <a:solidFill>
                  <a:schemeClr val="tx1"/>
                </a:solidFill>
              </a:rPr>
              <a:t>怎么感知</a:t>
            </a:r>
          </a:p>
        </p:txBody>
      </p:sp>
      <p:sp>
        <p:nvSpPr>
          <p:cNvPr id="90" name="矩形 89"/>
          <p:cNvSpPr/>
          <p:nvPr/>
        </p:nvSpPr>
        <p:spPr>
          <a:xfrm>
            <a:off x="875010" y="3571658"/>
            <a:ext cx="446433" cy="446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b="1">
                <a:solidFill>
                  <a:schemeClr val="tx1"/>
                </a:solidFill>
              </a:rPr>
              <a:t>怎么迁移</a:t>
            </a:r>
          </a:p>
        </p:txBody>
      </p:sp>
      <p:cxnSp>
        <p:nvCxnSpPr>
          <p:cNvPr id="91" name="直接连接符 90"/>
          <p:cNvCxnSpPr>
            <a:stCxn id="87" idx="0"/>
            <a:endCxn id="89" idx="2"/>
          </p:cNvCxnSpPr>
          <p:nvPr/>
        </p:nvCxnSpPr>
        <p:spPr>
          <a:xfrm flipV="1">
            <a:off x="1098505" y="5621807"/>
            <a:ext cx="0" cy="1347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89" idx="0"/>
            <a:endCxn id="90" idx="2"/>
          </p:cNvCxnSpPr>
          <p:nvPr/>
        </p:nvCxnSpPr>
        <p:spPr>
          <a:xfrm flipH="1" flipV="1">
            <a:off x="1098112" y="4018147"/>
            <a:ext cx="394" cy="11571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矩形: 圆角 3"/>
          <p:cNvSpPr/>
          <p:nvPr/>
        </p:nvSpPr>
        <p:spPr>
          <a:xfrm>
            <a:off x="1337105" y="1799088"/>
            <a:ext cx="5661436" cy="89297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6" name="上箭头 65"/>
          <p:cNvSpPr/>
          <p:nvPr>
            <p:custDataLst>
              <p:tags r:id="rId5"/>
            </p:custDataLst>
          </p:nvPr>
        </p:nvSpPr>
        <p:spPr>
          <a:xfrm>
            <a:off x="3879417" y="2740495"/>
            <a:ext cx="294116" cy="253562"/>
          </a:xfrm>
          <a:prstGeom prst="upArrow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372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337105" y="1909332"/>
            <a:ext cx="5676792" cy="603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40" b="1" noProof="0" dirty="0">
                <a:ln>
                  <a:noFill/>
                </a:ln>
                <a:solidFill>
                  <a:srgbClr val="3D50E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研究方案四：</a:t>
            </a:r>
            <a:r>
              <a:rPr lang="zh-CN" altLang="en-US" sz="124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智慧管廊巡检场景下的原型系统应用验证</a:t>
            </a:r>
            <a:endParaRPr kumimoji="0" lang="zh-CN" altLang="en-US" sz="12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4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矩形: 圆角 7"/>
          <p:cNvSpPr/>
          <p:nvPr/>
        </p:nvSpPr>
        <p:spPr>
          <a:xfrm>
            <a:off x="1359154" y="2203842"/>
            <a:ext cx="1227692" cy="379468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气体超标</a:t>
            </a:r>
          </a:p>
        </p:txBody>
      </p:sp>
      <p:sp>
        <p:nvSpPr>
          <p:cNvPr id="99" name="矩形: 圆角 7"/>
          <p:cNvSpPr/>
          <p:nvPr/>
        </p:nvSpPr>
        <p:spPr>
          <a:xfrm>
            <a:off x="2806820" y="2203842"/>
            <a:ext cx="1227692" cy="379468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热源异常</a:t>
            </a:r>
          </a:p>
        </p:txBody>
      </p:sp>
      <p:sp>
        <p:nvSpPr>
          <p:cNvPr id="100" name="矩形: 圆角 7"/>
          <p:cNvSpPr/>
          <p:nvPr/>
        </p:nvSpPr>
        <p:spPr>
          <a:xfrm>
            <a:off x="4254170" y="2203842"/>
            <a:ext cx="1227692" cy="379468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水位上涨</a:t>
            </a:r>
          </a:p>
        </p:txBody>
      </p:sp>
      <p:sp>
        <p:nvSpPr>
          <p:cNvPr id="101" name="矩形: 圆角 7"/>
          <p:cNvSpPr/>
          <p:nvPr/>
        </p:nvSpPr>
        <p:spPr>
          <a:xfrm>
            <a:off x="5701519" y="2203842"/>
            <a:ext cx="1227692" cy="379468"/>
          </a:xfrm>
          <a:prstGeom prst="roundRect">
            <a:avLst/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9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</a:rPr>
              <a:t>......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1315056" y="6115544"/>
            <a:ext cx="2012351" cy="314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90" b="1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zh-CN" altLang="en-US" sz="1490" b="1">
                <a:solidFill>
                  <a:schemeClr val="accent6">
                    <a:lumMod val="75000"/>
                  </a:schemeClr>
                </a:solidFill>
              </a:rPr>
              <a:t>云物融合分层治理</a:t>
            </a:r>
            <a:r>
              <a:rPr lang="en-US" altLang="zh-CN" sz="1490" b="1">
                <a:solidFill>
                  <a:schemeClr val="accent6">
                    <a:lumMod val="75000"/>
                  </a:schemeClr>
                </a:solidFill>
              </a:rPr>
              <a:t>”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309151" y="4404790"/>
            <a:ext cx="1832811" cy="314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90" b="1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zh-CN" altLang="en-US" sz="1490" b="1">
                <a:solidFill>
                  <a:schemeClr val="accent6">
                    <a:lumMod val="75000"/>
                  </a:schemeClr>
                </a:solidFill>
              </a:rPr>
              <a:t>动态场景感知重建</a:t>
            </a:r>
            <a:r>
              <a:rPr lang="en-US" altLang="zh-CN" sz="1490" b="1">
                <a:solidFill>
                  <a:schemeClr val="accent6">
                    <a:lumMod val="75000"/>
                  </a:schemeClr>
                </a:solidFill>
              </a:rPr>
              <a:t>”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1310725" y="2692066"/>
            <a:ext cx="1724535" cy="314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90" b="1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zh-CN" altLang="en-US" sz="1490" b="1">
                <a:solidFill>
                  <a:schemeClr val="accent6">
                    <a:lumMod val="75000"/>
                  </a:schemeClr>
                </a:solidFill>
              </a:rPr>
              <a:t>知识蒸馏协同推理</a:t>
            </a:r>
            <a:r>
              <a:rPr lang="en-US" altLang="zh-CN" sz="1490" b="1">
                <a:solidFill>
                  <a:schemeClr val="accent6">
                    <a:lumMod val="75000"/>
                  </a:schemeClr>
                </a:solidFill>
              </a:rPr>
              <a:t>”</a:t>
            </a:r>
          </a:p>
        </p:txBody>
      </p:sp>
      <p:cxnSp>
        <p:nvCxnSpPr>
          <p:cNvPr id="105" name="直接连接符 104"/>
          <p:cNvCxnSpPr/>
          <p:nvPr/>
        </p:nvCxnSpPr>
        <p:spPr>
          <a:xfrm flipH="1" flipV="1">
            <a:off x="1097718" y="1331418"/>
            <a:ext cx="394" cy="22321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上箭头 65"/>
          <p:cNvSpPr/>
          <p:nvPr>
            <p:custDataLst>
              <p:tags r:id="rId6"/>
            </p:custDataLst>
          </p:nvPr>
        </p:nvSpPr>
        <p:spPr>
          <a:xfrm>
            <a:off x="3884141" y="1493160"/>
            <a:ext cx="294116" cy="253562"/>
          </a:xfrm>
          <a:prstGeom prst="upArrow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372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110" name="直接连接符 109"/>
          <p:cNvCxnSpPr/>
          <p:nvPr/>
        </p:nvCxnSpPr>
        <p:spPr>
          <a:xfrm rot="5400000" flipV="1">
            <a:off x="1698130" y="728987"/>
            <a:ext cx="394" cy="1205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" name="椭圆 111"/>
          <p:cNvSpPr/>
          <p:nvPr/>
        </p:nvSpPr>
        <p:spPr>
          <a:xfrm>
            <a:off x="2313161" y="1147859"/>
            <a:ext cx="334825" cy="334825"/>
          </a:xfrm>
          <a:prstGeom prst="ellipse">
            <a:avLst/>
          </a:prstGeom>
          <a:ln>
            <a:solidFill>
              <a:srgbClr val="4874C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5"/>
          </a:p>
        </p:txBody>
      </p:sp>
      <p:sp>
        <p:nvSpPr>
          <p:cNvPr id="113" name="椭圆 112"/>
          <p:cNvSpPr/>
          <p:nvPr/>
        </p:nvSpPr>
        <p:spPr>
          <a:xfrm>
            <a:off x="5441735" y="1147859"/>
            <a:ext cx="334825" cy="334825"/>
          </a:xfrm>
          <a:prstGeom prst="ellipse">
            <a:avLst/>
          </a:prstGeom>
          <a:ln>
            <a:solidFill>
              <a:srgbClr val="4874C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5"/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969" y="3416489"/>
            <a:ext cx="944207" cy="61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743</Words>
  <Application>Microsoft Macintosh PowerPoint</Application>
  <PresentationFormat>自定义</PresentationFormat>
  <Paragraphs>138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微软雅黑</vt:lpstr>
      <vt:lpstr>Arial</vt:lpstr>
      <vt:lpstr>Calibri</vt:lpstr>
      <vt:lpstr>Wingdings</vt:lpstr>
      <vt:lpstr>WPS</vt:lpstr>
      <vt:lpstr>1_WPS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明 董</cp:lastModifiedBy>
  <cp:revision>170</cp:revision>
  <dcterms:created xsi:type="dcterms:W3CDTF">2019-06-19T02:08:00Z</dcterms:created>
  <dcterms:modified xsi:type="dcterms:W3CDTF">2026-03-17T09:24:25Z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6CB6136405B14EEB9471DA5CC5350EE5_11</vt:lpwstr>
  </property>
</Properties>
</file>