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58" r:id="rId5"/>
  </p:sldIdLst>
  <p:sldSz cx="10691495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BDF"/>
    <a:srgbClr val="2E5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defRPr sz="3530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defRPr sz="3530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defRPr sz="353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9C9A7-2BDC-4094-8FA0-26A105E0C7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328C7-7531-4F08-855B-04D46523E4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10.xml"/><Relationship Id="rId21" Type="http://schemas.openxmlformats.org/officeDocument/2006/relationships/image" Target="../media/image12.png"/><Relationship Id="rId20" Type="http://schemas.openxmlformats.org/officeDocument/2006/relationships/image" Target="../media/image11.png"/><Relationship Id="rId2" Type="http://schemas.openxmlformats.org/officeDocument/2006/relationships/tags" Target="../tags/tag2.xml"/><Relationship Id="rId19" Type="http://schemas.openxmlformats.org/officeDocument/2006/relationships/image" Target="../media/image10.png"/><Relationship Id="rId18" Type="http://schemas.openxmlformats.org/officeDocument/2006/relationships/image" Target="../media/image9.png"/><Relationship Id="rId17" Type="http://schemas.openxmlformats.org/officeDocument/2006/relationships/image" Target="../media/image8.png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15" Type="http://schemas.openxmlformats.org/officeDocument/2006/relationships/image" Target="../media/image11.png"/><Relationship Id="rId14" Type="http://schemas.openxmlformats.org/officeDocument/2006/relationships/image" Target="../media/image10.png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圆角矩形 692"/>
          <p:cNvSpPr/>
          <p:nvPr/>
        </p:nvSpPr>
        <p:spPr>
          <a:xfrm rot="16200000">
            <a:off x="1911985" y="-1241107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235"/>
          </a:p>
        </p:txBody>
      </p:sp>
      <p:sp>
        <p:nvSpPr>
          <p:cNvPr id="115" name="矩形: 圆角 5"/>
          <p:cNvSpPr/>
          <p:nvPr/>
        </p:nvSpPr>
        <p:spPr>
          <a:xfrm>
            <a:off x="450215" y="4096385"/>
            <a:ext cx="9791700" cy="2928620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6" name="圆角矩形 15"/>
          <p:cNvSpPr/>
          <p:nvPr>
            <p:custDataLst>
              <p:tags r:id="rId1"/>
            </p:custDataLst>
          </p:nvPr>
        </p:nvSpPr>
        <p:spPr>
          <a:xfrm>
            <a:off x="469265" y="550545"/>
            <a:ext cx="9752965" cy="3441065"/>
          </a:xfrm>
          <a:prstGeom prst="roundRect">
            <a:avLst>
              <a:gd name="adj" fmla="val 702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8"/>
          <p:cNvSpPr/>
          <p:nvPr>
            <p:custDataLst>
              <p:tags r:id="rId2"/>
            </p:custDataLst>
          </p:nvPr>
        </p:nvSpPr>
        <p:spPr>
          <a:xfrm flipH="1">
            <a:off x="706120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" name="矩形: 圆角 8"/>
          <p:cNvSpPr/>
          <p:nvPr>
            <p:custDataLst>
              <p:tags r:id="rId3"/>
            </p:custDataLst>
          </p:nvPr>
        </p:nvSpPr>
        <p:spPr>
          <a:xfrm flipH="1">
            <a:off x="3121660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5" name="矩形: 圆角 8"/>
          <p:cNvSpPr/>
          <p:nvPr>
            <p:custDataLst>
              <p:tags r:id="rId4"/>
            </p:custDataLst>
          </p:nvPr>
        </p:nvSpPr>
        <p:spPr>
          <a:xfrm flipH="1">
            <a:off x="5537835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3" name="矩形: 圆角 8"/>
          <p:cNvSpPr/>
          <p:nvPr>
            <p:custDataLst>
              <p:tags r:id="rId5"/>
            </p:custDataLst>
          </p:nvPr>
        </p:nvSpPr>
        <p:spPr>
          <a:xfrm flipH="1">
            <a:off x="7954010" y="875030"/>
            <a:ext cx="2017395" cy="28308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19" name="矩形: 圆角 117"/>
          <p:cNvSpPr/>
          <p:nvPr>
            <p:custDataLst>
              <p:tags r:id="rId6"/>
            </p:custDataLst>
          </p:nvPr>
        </p:nvSpPr>
        <p:spPr>
          <a:xfrm>
            <a:off x="962660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云边端分层架构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矩形: 圆角 117"/>
          <p:cNvSpPr/>
          <p:nvPr>
            <p:custDataLst>
              <p:tags r:id="rId7"/>
            </p:custDataLst>
          </p:nvPr>
        </p:nvSpPr>
        <p:spPr>
          <a:xfrm>
            <a:off x="3376930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弱网一致性维护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矩形: 圆角 117"/>
          <p:cNvSpPr/>
          <p:nvPr>
            <p:custDataLst>
              <p:tags r:id="rId8"/>
            </p:custDataLst>
          </p:nvPr>
        </p:nvSpPr>
        <p:spPr>
          <a:xfrm>
            <a:off x="5793105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异构资源分配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矩形: 圆角 117"/>
          <p:cNvSpPr/>
          <p:nvPr>
            <p:custDataLst>
              <p:tags r:id="rId9"/>
            </p:custDataLst>
          </p:nvPr>
        </p:nvSpPr>
        <p:spPr>
          <a:xfrm>
            <a:off x="8209280" y="731520"/>
            <a:ext cx="1506855" cy="285115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高效协同执行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774825" y="1289685"/>
            <a:ext cx="83502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云侧全局</a:t>
            </a: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语义引导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3" name="Picture 2" descr="Image text 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10" y="116395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4" descr="Market capitalization 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99326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文本框 84"/>
          <p:cNvSpPr txBox="1"/>
          <p:nvPr/>
        </p:nvSpPr>
        <p:spPr>
          <a:xfrm>
            <a:off x="1773555" y="2150110"/>
            <a:ext cx="83693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异步协同动态调度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6" name="Picture 6" descr="Diffusion 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10" y="282257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文本框 86"/>
          <p:cNvSpPr txBox="1"/>
          <p:nvPr/>
        </p:nvSpPr>
        <p:spPr>
          <a:xfrm>
            <a:off x="1736090" y="2989580"/>
            <a:ext cx="87439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扩散生成策略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123055" y="2150110"/>
            <a:ext cx="87122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边云联邦</a:t>
            </a:r>
            <a:endParaRPr kumimoji="0" lang="en-US" altLang="zh-CN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知识融合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9" name="Picture 8" descr="Intersec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530" y="200596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10" descr="Map 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720" y="1173480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文本框 90"/>
          <p:cNvSpPr txBox="1"/>
          <p:nvPr/>
        </p:nvSpPr>
        <p:spPr>
          <a:xfrm>
            <a:off x="4126230" y="1289685"/>
            <a:ext cx="86360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主动交汇策略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2" name="Picture 12" descr="Cloud database 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720" y="2797810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文本框 92"/>
          <p:cNvSpPr txBox="1"/>
          <p:nvPr/>
        </p:nvSpPr>
        <p:spPr>
          <a:xfrm>
            <a:off x="4126230" y="3084195"/>
            <a:ext cx="864235" cy="280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热备切换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4" name="Picture 14" descr="Scissors 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560" y="116395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文本框 94"/>
          <p:cNvSpPr txBox="1"/>
          <p:nvPr/>
        </p:nvSpPr>
        <p:spPr>
          <a:xfrm>
            <a:off x="6464300" y="1289685"/>
            <a:ext cx="98615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深度强化学习任务切分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6" name="Picture 16" descr="Filter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560" y="2002790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文本框 96"/>
          <p:cNvSpPr txBox="1"/>
          <p:nvPr/>
        </p:nvSpPr>
        <p:spPr>
          <a:xfrm>
            <a:off x="6506845" y="2150110"/>
            <a:ext cx="90106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按需缓存机制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8" name="Picture 24" descr="Layers 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325" y="282892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文本框 98"/>
          <p:cNvSpPr txBox="1"/>
          <p:nvPr/>
        </p:nvSpPr>
        <p:spPr>
          <a:xfrm>
            <a:off x="6508115" y="2989580"/>
            <a:ext cx="898525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跨层协同优化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983345" y="1289685"/>
            <a:ext cx="87122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低延迟无缝传输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1" name="Picture 18" descr="Clock 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945" y="1224280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0" descr="Insurance 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945" y="2053590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文本框 102"/>
          <p:cNvSpPr txBox="1"/>
          <p:nvPr/>
        </p:nvSpPr>
        <p:spPr>
          <a:xfrm>
            <a:off x="9032875" y="2150110"/>
            <a:ext cx="87122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高可靠</a:t>
            </a:r>
            <a:endParaRPr kumimoji="0" lang="en-US" altLang="zh-CN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运行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4" name="Picture 22" descr="Business continuity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945" y="2860675"/>
            <a:ext cx="706120" cy="69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文本框 104"/>
          <p:cNvSpPr txBox="1"/>
          <p:nvPr/>
        </p:nvSpPr>
        <p:spPr>
          <a:xfrm>
            <a:off x="9003665" y="2989580"/>
            <a:ext cx="87122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连续性</a:t>
            </a:r>
            <a:endParaRPr kumimoji="0" lang="en-US" altLang="zh-CN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保障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箭头: 左右 129"/>
          <p:cNvSpPr/>
          <p:nvPr/>
        </p:nvSpPr>
        <p:spPr>
          <a:xfrm>
            <a:off x="2753995" y="2110740"/>
            <a:ext cx="342265" cy="202565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2E54A1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7" name="箭头: 左右 129"/>
          <p:cNvSpPr/>
          <p:nvPr/>
        </p:nvSpPr>
        <p:spPr>
          <a:xfrm>
            <a:off x="5167630" y="2110740"/>
            <a:ext cx="342265" cy="202565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2E54A1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8" name="上箭头 65"/>
          <p:cNvSpPr/>
          <p:nvPr>
            <p:custDataLst>
              <p:tags r:id="rId22"/>
            </p:custDataLst>
          </p:nvPr>
        </p:nvSpPr>
        <p:spPr>
          <a:xfrm rot="5400000">
            <a:off x="7673340" y="2037715"/>
            <a:ext cx="201295" cy="306070"/>
          </a:xfrm>
          <a:prstGeom prst="upArrow">
            <a:avLst/>
          </a:prstGeom>
          <a:solidFill>
            <a:srgbClr val="2E54A1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7" name="箭头: 燕尾形 1202"/>
          <p:cNvSpPr/>
          <p:nvPr/>
        </p:nvSpPr>
        <p:spPr>
          <a:xfrm rot="5400000" flipH="1" flipV="1">
            <a:off x="1961515" y="385064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9" name="箭头: 燕尾形 1202"/>
          <p:cNvSpPr/>
          <p:nvPr/>
        </p:nvSpPr>
        <p:spPr>
          <a:xfrm rot="5400000" flipH="1" flipV="1">
            <a:off x="5069840" y="385064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0" name="箭头: 燕尾形 1202"/>
          <p:cNvSpPr/>
          <p:nvPr/>
        </p:nvSpPr>
        <p:spPr>
          <a:xfrm rot="5400000" flipH="1" flipV="1">
            <a:off x="8226425" y="385064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3931285" y="4248785"/>
            <a:ext cx="2814955" cy="499745"/>
          </a:xfrm>
          <a:prstGeom prst="rect">
            <a:avLst/>
          </a:prstGeom>
          <a:solidFill>
            <a:srgbClr val="C00000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基于通信感知主动寻优与联邦散度对齐的群体状态同步算法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06120" y="4248785"/>
            <a:ext cx="2814955" cy="499745"/>
          </a:xfrm>
          <a:prstGeom prst="rect">
            <a:avLst/>
          </a:prstGeom>
          <a:solidFill>
            <a:srgbClr val="C00000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面向轻量化VLA大模型的特征异步调度与端侧并行解码方法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156450" y="4248785"/>
            <a:ext cx="2814955" cy="499745"/>
          </a:xfrm>
          <a:prstGeom prst="rect">
            <a:avLst/>
          </a:prstGeom>
          <a:solidFill>
            <a:srgbClr val="C00000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基于异构资源感知与任务语义关联的跨层联合调度方法</a:t>
            </a:r>
            <a:endParaRPr kumimoji="0" lang="zh-CN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7" name="矩形: 圆角 8"/>
          <p:cNvSpPr/>
          <p:nvPr/>
        </p:nvSpPr>
        <p:spPr>
          <a:xfrm flipH="1">
            <a:off x="706120" y="4886325"/>
            <a:ext cx="2814320" cy="18815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18" name="矩形: 圆角 8"/>
          <p:cNvSpPr/>
          <p:nvPr/>
        </p:nvSpPr>
        <p:spPr>
          <a:xfrm flipH="1">
            <a:off x="3931285" y="4886325"/>
            <a:ext cx="2814955" cy="18815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0" name="矩形: 圆角 8"/>
          <p:cNvSpPr/>
          <p:nvPr/>
        </p:nvSpPr>
        <p:spPr>
          <a:xfrm flipH="1">
            <a:off x="7155815" y="4886325"/>
            <a:ext cx="2815590" cy="18815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1" name="箭头: 左右 94"/>
          <p:cNvSpPr/>
          <p:nvPr/>
        </p:nvSpPr>
        <p:spPr>
          <a:xfrm>
            <a:off x="3504302" y="5647332"/>
            <a:ext cx="432000" cy="252000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C00000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423324" y="5349855"/>
            <a:ext cx="576217" cy="28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协同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4" name="箭头: 左右 94"/>
          <p:cNvSpPr/>
          <p:nvPr/>
        </p:nvSpPr>
        <p:spPr>
          <a:xfrm>
            <a:off x="6746612" y="5647332"/>
            <a:ext cx="432000" cy="252000"/>
          </a:xfrm>
          <a:prstGeom prst="leftRightArrow">
            <a:avLst>
              <a:gd name="adj1" fmla="val 42624"/>
              <a:gd name="adj2" fmla="val 50000"/>
            </a:avLst>
          </a:prstGeom>
          <a:solidFill>
            <a:srgbClr val="C00000"/>
          </a:solidFill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6665634" y="5349855"/>
            <a:ext cx="576217" cy="28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协同</a:t>
            </a:r>
            <a:endParaRPr kumimoji="0" lang="zh-CN" altLang="en-US" sz="12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矩形: 圆角 48"/>
          <p:cNvSpPr/>
          <p:nvPr/>
        </p:nvSpPr>
        <p:spPr>
          <a:xfrm>
            <a:off x="909320" y="5111750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云侧全局语义引导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7" name="矩形: 圆角 48"/>
          <p:cNvSpPr/>
          <p:nvPr/>
        </p:nvSpPr>
        <p:spPr>
          <a:xfrm>
            <a:off x="909320" y="562292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边侧异步中间态调度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0" name="矩形: 圆角 48"/>
          <p:cNvSpPr/>
          <p:nvPr/>
        </p:nvSpPr>
        <p:spPr>
          <a:xfrm>
            <a:off x="909320" y="614743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端侧扩散生成加速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2" name="矩形: 圆角 48"/>
          <p:cNvSpPr/>
          <p:nvPr/>
        </p:nvSpPr>
        <p:spPr>
          <a:xfrm>
            <a:off x="4123055" y="5111750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通信感知主动协同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" name="矩形: 圆角 48"/>
          <p:cNvSpPr/>
          <p:nvPr/>
        </p:nvSpPr>
        <p:spPr>
          <a:xfrm>
            <a:off x="4123055" y="562292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资源受限联邦对齐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4" name="矩形: 圆角 48"/>
          <p:cNvSpPr/>
          <p:nvPr/>
        </p:nvSpPr>
        <p:spPr>
          <a:xfrm>
            <a:off x="4123055" y="614743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恶劣环境热备容错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5" name="矩形: 圆角 48"/>
          <p:cNvSpPr/>
          <p:nvPr/>
        </p:nvSpPr>
        <p:spPr>
          <a:xfrm>
            <a:off x="7368540" y="5111750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异构算力负载均衡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6" name="矩形: 圆角 48"/>
          <p:cNvSpPr/>
          <p:nvPr/>
        </p:nvSpPr>
        <p:spPr>
          <a:xfrm>
            <a:off x="7368540" y="562292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语义关联按需缓存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7" name="矩形: 圆角 48"/>
          <p:cNvSpPr/>
          <p:nvPr/>
        </p:nvSpPr>
        <p:spPr>
          <a:xfrm>
            <a:off x="7368540" y="6147435"/>
            <a:ext cx="2408555" cy="383540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多维资源跨层协同</a:t>
            </a:r>
            <a:endParaRPr lang="zh-CN" altLang="en-US" sz="1200" b="1" kern="0" dirty="0"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2"/>
          <p:cNvSpPr/>
          <p:nvPr/>
        </p:nvSpPr>
        <p:spPr>
          <a:xfrm>
            <a:off x="664909" y="925459"/>
            <a:ext cx="9661224" cy="3157481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矩形: 圆角 36"/>
          <p:cNvSpPr/>
          <p:nvPr/>
        </p:nvSpPr>
        <p:spPr>
          <a:xfrm>
            <a:off x="824732" y="1325852"/>
            <a:ext cx="1865531" cy="2625666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: 圆角 38"/>
          <p:cNvSpPr/>
          <p:nvPr/>
        </p:nvSpPr>
        <p:spPr>
          <a:xfrm>
            <a:off x="5764213" y="1312487"/>
            <a:ext cx="1865531" cy="2625666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: 圆角 39"/>
          <p:cNvSpPr/>
          <p:nvPr/>
        </p:nvSpPr>
        <p:spPr>
          <a:xfrm>
            <a:off x="8241193" y="1307475"/>
            <a:ext cx="1865531" cy="2625666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8524" y="1171041"/>
            <a:ext cx="1479617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云边端分层架构</a:t>
            </a:r>
            <a:endParaRPr kumimoji="0" lang="zh-CN" altLang="en-US" sz="14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上箭头 65"/>
          <p:cNvSpPr/>
          <p:nvPr>
            <p:custDataLst>
              <p:tags r:id="rId1"/>
            </p:custDataLst>
          </p:nvPr>
        </p:nvSpPr>
        <p:spPr>
          <a:xfrm rot="5400000">
            <a:off x="7793465" y="2448512"/>
            <a:ext cx="300156" cy="452739"/>
          </a:xfrm>
          <a:prstGeom prst="upArrow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54107" y="1180508"/>
            <a:ext cx="1459569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异构资源分配</a:t>
            </a:r>
            <a:endParaRPr kumimoji="0" lang="zh-CN" altLang="en-US" sz="14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79773" y="1156562"/>
            <a:ext cx="1240161" cy="5245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高效协同执行</a:t>
            </a:r>
            <a:endParaRPr kumimoji="0" lang="zh-CN" altLang="en-US" sz="14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79527" y="1603733"/>
            <a:ext cx="857031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低延迟无缝传输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: 圆角 64"/>
          <p:cNvSpPr/>
          <p:nvPr/>
        </p:nvSpPr>
        <p:spPr>
          <a:xfrm>
            <a:off x="4044583" y="4968371"/>
            <a:ext cx="2891852" cy="1666170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44583" y="4414837"/>
            <a:ext cx="2891852" cy="499517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弱网与断联环境下边云协同的群体状态一致性维护方案</a:t>
            </a:r>
            <a:endParaRPr kumimoji="0" lang="zh-CN" altLang="en-US" sz="140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矩形: 圆角 7"/>
          <p:cNvSpPr/>
          <p:nvPr/>
        </p:nvSpPr>
        <p:spPr>
          <a:xfrm>
            <a:off x="4259537" y="5107033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通信感知主动协同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: 圆角 7"/>
          <p:cNvSpPr/>
          <p:nvPr/>
        </p:nvSpPr>
        <p:spPr>
          <a:xfrm>
            <a:off x="4259537" y="5617687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资源受限联邦对齐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: 圆角 7"/>
          <p:cNvSpPr/>
          <p:nvPr/>
        </p:nvSpPr>
        <p:spPr>
          <a:xfrm>
            <a:off x="4259537" y="6126114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恶劣环境热备容错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: 圆角 69"/>
          <p:cNvSpPr/>
          <p:nvPr/>
        </p:nvSpPr>
        <p:spPr>
          <a:xfrm>
            <a:off x="664909" y="4968371"/>
            <a:ext cx="2891852" cy="1666170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64909" y="4414837"/>
            <a:ext cx="2891852" cy="499517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面向轻量化</a:t>
            </a:r>
            <a:r>
              <a:rPr kumimoji="0" lang="en-US" altLang="zh-CN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VLA</a:t>
            </a: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大模型的“云深算</a:t>
            </a:r>
            <a:r>
              <a:rPr kumimoji="0" lang="en-US" altLang="zh-CN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边调度</a:t>
            </a:r>
            <a:r>
              <a:rPr kumimoji="0" lang="en-US" altLang="zh-CN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端速决”的分层理论架构</a:t>
            </a:r>
            <a:endParaRPr kumimoji="0" lang="zh-CN" altLang="en-US" sz="140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矩形: 圆角 7"/>
          <p:cNvSpPr/>
          <p:nvPr/>
        </p:nvSpPr>
        <p:spPr>
          <a:xfrm>
            <a:off x="879862" y="5107033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云侧全局</a:t>
            </a: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语义引导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: 圆角 7"/>
          <p:cNvSpPr/>
          <p:nvPr/>
        </p:nvSpPr>
        <p:spPr>
          <a:xfrm>
            <a:off x="879862" y="5617687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边侧异步中间态调度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: 圆角 7"/>
          <p:cNvSpPr/>
          <p:nvPr/>
        </p:nvSpPr>
        <p:spPr>
          <a:xfrm>
            <a:off x="879862" y="6126114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端侧扩散生成加速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: 圆角 74"/>
          <p:cNvSpPr/>
          <p:nvPr/>
        </p:nvSpPr>
        <p:spPr>
          <a:xfrm>
            <a:off x="7434281" y="4968371"/>
            <a:ext cx="2891852" cy="1666170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434281" y="4414837"/>
            <a:ext cx="2891852" cy="499517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资源瓶颈感知的异构智能体计算</a:t>
            </a:r>
            <a:r>
              <a:rPr kumimoji="0" lang="en-US" altLang="zh-CN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存储</a:t>
            </a:r>
            <a:r>
              <a:rPr kumimoji="0" lang="en-US" altLang="zh-CN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14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通信资源动态分配机制</a:t>
            </a:r>
            <a:endParaRPr kumimoji="0" lang="zh-CN" altLang="en-US" sz="140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" name="矩形: 圆角 7"/>
          <p:cNvSpPr/>
          <p:nvPr/>
        </p:nvSpPr>
        <p:spPr>
          <a:xfrm>
            <a:off x="7649235" y="5107033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异构算力负载均衡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: 圆角 7"/>
          <p:cNvSpPr/>
          <p:nvPr/>
        </p:nvSpPr>
        <p:spPr>
          <a:xfrm>
            <a:off x="7649235" y="5617687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语义关联按需缓存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: 圆角 7"/>
          <p:cNvSpPr/>
          <p:nvPr/>
        </p:nvSpPr>
        <p:spPr>
          <a:xfrm>
            <a:off x="7649235" y="6126114"/>
            <a:ext cx="2461387" cy="374220"/>
          </a:xfrm>
          <a:prstGeom prst="roundRect">
            <a:avLst>
              <a:gd name="adj" fmla="val 0"/>
            </a:avLst>
          </a:prstGeom>
          <a:solidFill>
            <a:srgbClr val="F6FBFF"/>
          </a:solidFill>
          <a:ln w="19050" cap="flat" cmpd="sng" algn="ctr">
            <a:solidFill>
              <a:srgbClr val="4372C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多维资源跨层协同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897454" y="5257389"/>
            <a:ext cx="576366" cy="28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协同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上箭头 65"/>
          <p:cNvSpPr/>
          <p:nvPr>
            <p:custDataLst>
              <p:tags r:id="rId2"/>
            </p:custDataLst>
          </p:nvPr>
        </p:nvSpPr>
        <p:spPr>
          <a:xfrm>
            <a:off x="1976349" y="4128604"/>
            <a:ext cx="268971" cy="241127"/>
          </a:xfrm>
          <a:prstGeom prst="upArrow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上箭头 65"/>
          <p:cNvSpPr/>
          <p:nvPr>
            <p:custDataLst>
              <p:tags r:id="rId3"/>
            </p:custDataLst>
          </p:nvPr>
        </p:nvSpPr>
        <p:spPr>
          <a:xfrm>
            <a:off x="8651610" y="4134172"/>
            <a:ext cx="268971" cy="241127"/>
          </a:xfrm>
          <a:prstGeom prst="upArrow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箭头: 左右 94"/>
          <p:cNvSpPr/>
          <p:nvPr/>
        </p:nvSpPr>
        <p:spPr>
          <a:xfrm>
            <a:off x="6958710" y="5610448"/>
            <a:ext cx="452739" cy="299042"/>
          </a:xfrm>
          <a:prstGeom prst="leftRightArrow">
            <a:avLst>
              <a:gd name="adj1" fmla="val 42624"/>
              <a:gd name="adj2" fmla="val 50000"/>
            </a:avLst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29891" y="1596493"/>
            <a:ext cx="820834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云侧全局</a:t>
            </a: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语义引导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箭头: 左右 129"/>
          <p:cNvSpPr/>
          <p:nvPr/>
        </p:nvSpPr>
        <p:spPr>
          <a:xfrm>
            <a:off x="2761543" y="2521462"/>
            <a:ext cx="452739" cy="299042"/>
          </a:xfrm>
          <a:prstGeom prst="leftRightArrow">
            <a:avLst>
              <a:gd name="adj1" fmla="val 42624"/>
              <a:gd name="adj2" fmla="val 50000"/>
            </a:avLst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矩形: 圆角 79"/>
          <p:cNvSpPr/>
          <p:nvPr/>
        </p:nvSpPr>
        <p:spPr>
          <a:xfrm>
            <a:off x="3287233" y="1307475"/>
            <a:ext cx="1865531" cy="2625666"/>
          </a:xfrm>
          <a:prstGeom prst="roundRect">
            <a:avLst>
              <a:gd name="adj" fmla="val 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478798" y="1172154"/>
            <a:ext cx="1459569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弱网一致性维护</a:t>
            </a:r>
            <a:endParaRPr kumimoji="0" lang="zh-CN" altLang="en-US" sz="14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上箭头 65"/>
          <p:cNvSpPr/>
          <p:nvPr>
            <p:custDataLst>
              <p:tags r:id="rId4"/>
            </p:custDataLst>
          </p:nvPr>
        </p:nvSpPr>
        <p:spPr>
          <a:xfrm>
            <a:off x="5356024" y="4136957"/>
            <a:ext cx="268971" cy="241127"/>
          </a:xfrm>
          <a:prstGeom prst="upArrow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228352" y="2505870"/>
            <a:ext cx="857031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边云联邦</a:t>
            </a:r>
            <a:endParaRPr kumimoji="0" lang="en-US" altLang="zh-CN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知识融合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0" name="Picture 2" descr="Image text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40" y="1514745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rket capitalization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40" y="2344003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829091" y="2505744"/>
            <a:ext cx="822812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异步协同动态调度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4" name="Picture 6" descr="Diffusion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40" y="3173261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文本框 67"/>
          <p:cNvSpPr txBox="1"/>
          <p:nvPr/>
        </p:nvSpPr>
        <p:spPr>
          <a:xfrm>
            <a:off x="1881909" y="3304905"/>
            <a:ext cx="717177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扩散生成策略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6" name="Picture 8" descr="Intersec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549" y="2344003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ap 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664" y="1511196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文本框 68"/>
          <p:cNvSpPr txBox="1"/>
          <p:nvPr/>
        </p:nvSpPr>
        <p:spPr>
          <a:xfrm>
            <a:off x="4300638" y="1603708"/>
            <a:ext cx="712126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主动交汇策略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60" name="Picture 12" descr="Cloud database 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664" y="3135419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文本框 69"/>
          <p:cNvSpPr txBox="1"/>
          <p:nvPr/>
        </p:nvSpPr>
        <p:spPr>
          <a:xfrm>
            <a:off x="4242382" y="3399373"/>
            <a:ext cx="850052" cy="2800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热备切换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62" name="Picture 14" descr="Scissors 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279" y="1507877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文本框 70"/>
          <p:cNvSpPr txBox="1"/>
          <p:nvPr/>
        </p:nvSpPr>
        <p:spPr>
          <a:xfrm>
            <a:off x="6631140" y="1603708"/>
            <a:ext cx="970350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深度强化学习任务切分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64" name="Picture 16" descr="Filter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279" y="2346933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文本框 71"/>
          <p:cNvSpPr txBox="1"/>
          <p:nvPr/>
        </p:nvSpPr>
        <p:spPr>
          <a:xfrm>
            <a:off x="6769928" y="2462430"/>
            <a:ext cx="694559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按需缓存机制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3" name="Picture 24" descr="Layers 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866" y="3173261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文本框 73"/>
          <p:cNvSpPr txBox="1"/>
          <p:nvPr/>
        </p:nvSpPr>
        <p:spPr>
          <a:xfrm>
            <a:off x="6791669" y="3325731"/>
            <a:ext cx="694559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跨层协同优化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66" name="Picture 18" descr="Clock 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557" y="1504759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Insurance 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557" y="2334017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文本框 74"/>
          <p:cNvSpPr txBox="1"/>
          <p:nvPr/>
        </p:nvSpPr>
        <p:spPr>
          <a:xfrm>
            <a:off x="9228525" y="2462430"/>
            <a:ext cx="857079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高可靠</a:t>
            </a:r>
            <a:endParaRPr kumimoji="0" lang="en-US" altLang="zh-CN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运行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70" name="Picture 22" descr="Business continuity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557" y="3141540"/>
            <a:ext cx="694559" cy="69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文本框 75"/>
          <p:cNvSpPr txBox="1"/>
          <p:nvPr/>
        </p:nvSpPr>
        <p:spPr>
          <a:xfrm>
            <a:off x="9199920" y="3305344"/>
            <a:ext cx="857079" cy="4692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连续性</a:t>
            </a:r>
            <a:endParaRPr kumimoji="0" lang="en-US" altLang="zh-CN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保障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箭头: 左右 129"/>
          <p:cNvSpPr/>
          <p:nvPr/>
        </p:nvSpPr>
        <p:spPr>
          <a:xfrm>
            <a:off x="5240378" y="2516056"/>
            <a:ext cx="452861" cy="299015"/>
          </a:xfrm>
          <a:prstGeom prst="leftRightArrow">
            <a:avLst>
              <a:gd name="adj1" fmla="val 42624"/>
              <a:gd name="adj2" fmla="val 50000"/>
            </a:avLst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8" name="箭头: 左右 94"/>
          <p:cNvSpPr/>
          <p:nvPr/>
        </p:nvSpPr>
        <p:spPr>
          <a:xfrm>
            <a:off x="3580502" y="5610502"/>
            <a:ext cx="452861" cy="299015"/>
          </a:xfrm>
          <a:prstGeom prst="leftRightArrow">
            <a:avLst>
              <a:gd name="adj1" fmla="val 42624"/>
              <a:gd name="adj2" fmla="val 50000"/>
            </a:avLst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529369" y="5246350"/>
            <a:ext cx="576217" cy="28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协同</a:t>
            </a:r>
            <a:endParaRPr kumimoji="0" lang="zh-CN" alt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2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3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4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5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6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7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8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9.xml><?xml version="1.0" encoding="utf-8"?>
<p:tagLst xmlns:p="http://schemas.openxmlformats.org/presentationml/2006/main">
  <p:tag name="KSO_WM_DIAGRAM_VIRTUALLY_FRAME" val="{&quot;height&quot;:287.85,&quot;left&quot;:39.65,&quot;top&quot;:40.35,&quot;width&quot;:752.1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WPS 演示</Application>
  <PresentationFormat>宽屏</PresentationFormat>
  <Paragraphs>126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等线</vt:lpstr>
      <vt:lpstr>Times New Roman</vt:lpstr>
      <vt:lpstr>Calibri</vt:lpstr>
      <vt:lpstr>Arial Unicode MS</vt:lpstr>
      <vt:lpstr>等线 Light</vt:lpstr>
      <vt:lpstr>Office 主题​​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我要凹凸曼</cp:lastModifiedBy>
  <cp:revision>39</cp:revision>
  <dcterms:created xsi:type="dcterms:W3CDTF">2026-03-05T08:22:00Z</dcterms:created>
  <dcterms:modified xsi:type="dcterms:W3CDTF">2026-03-17T08:01:56Z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0DBBA5F14F49492383B3FD6530E1CA10_12</vt:lpwstr>
  </property>
</Properties>
</file>