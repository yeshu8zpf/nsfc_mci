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62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61" r:id="rId4"/>
    <p:sldId id="260" r:id="rId5"/>
    <p:sldId id="259" r:id="rId6"/>
    <p:sldId id="258" r:id="rId7"/>
  </p:sldIdLst>
  <p:sldSz cx="12192000" cy="6858000"/>
  <p:notesSz cx="6858000" cy="9144000"/>
  <p:embeddedFontLst>
    <p:embeddedFont>
      <p:font typeface="微软雅黑" panose="020B0503020204020204" charset="-122"/>
      <p:regular r:id="rId11"/>
    </p:embeddedFont>
    <p:embeddedFont>
      <p:font typeface="Calibri" panose="020F050202020403020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00000"/>
    <a:srgbClr val="01569F"/>
    <a:srgbClr val="DBE7F1"/>
    <a:srgbClr val="C00015"/>
    <a:srgbClr val="FADBDF"/>
    <a:srgbClr val="DAE3F5"/>
    <a:srgbClr val="DBB5B5"/>
    <a:srgbClr val="FEFAFA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05.xml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3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72.xml"/><Relationship Id="rId32" Type="http://schemas.openxmlformats.org/officeDocument/2006/relationships/tags" Target="../tags/tag71.xml"/><Relationship Id="rId31" Type="http://schemas.openxmlformats.org/officeDocument/2006/relationships/tags" Target="../tags/tag70.xml"/><Relationship Id="rId30" Type="http://schemas.openxmlformats.org/officeDocument/2006/relationships/image" Target="../media/image36.png"/><Relationship Id="rId3" Type="http://schemas.openxmlformats.org/officeDocument/2006/relationships/image" Target="../media/image14.png"/><Relationship Id="rId29" Type="http://schemas.openxmlformats.org/officeDocument/2006/relationships/image" Target="../media/image35.png"/><Relationship Id="rId28" Type="http://schemas.openxmlformats.org/officeDocument/2006/relationships/image" Target="../media/image34.png"/><Relationship Id="rId27" Type="http://schemas.openxmlformats.org/officeDocument/2006/relationships/image" Target="../media/image33.png"/><Relationship Id="rId26" Type="http://schemas.openxmlformats.org/officeDocument/2006/relationships/image" Target="../media/image32.png"/><Relationship Id="rId25" Type="http://schemas.openxmlformats.org/officeDocument/2006/relationships/image" Target="../media/image31.png"/><Relationship Id="rId24" Type="http://schemas.openxmlformats.org/officeDocument/2006/relationships/image" Target="../media/image30.png"/><Relationship Id="rId23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27.png"/><Relationship Id="rId20" Type="http://schemas.openxmlformats.org/officeDocument/2006/relationships/image" Target="../media/image26.png"/><Relationship Id="rId2" Type="http://schemas.openxmlformats.org/officeDocument/2006/relationships/image" Target="../media/image13.png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image" Target="../media/image25.png"/><Relationship Id="rId15" Type="http://schemas.openxmlformats.org/officeDocument/2006/relationships/image" Target="../media/image24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3.xml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81.xml"/><Relationship Id="rId21" Type="http://schemas.openxmlformats.org/officeDocument/2006/relationships/image" Target="../media/image62.svg"/><Relationship Id="rId20" Type="http://schemas.openxmlformats.org/officeDocument/2006/relationships/image" Target="../media/image61.png"/><Relationship Id="rId2" Type="http://schemas.openxmlformats.org/officeDocument/2006/relationships/tags" Target="../tags/tag75.xml"/><Relationship Id="rId19" Type="http://schemas.openxmlformats.org/officeDocument/2006/relationships/tags" Target="../tags/tag80.xml"/><Relationship Id="rId18" Type="http://schemas.openxmlformats.org/officeDocument/2006/relationships/image" Target="../media/image60.png"/><Relationship Id="rId17" Type="http://schemas.openxmlformats.org/officeDocument/2006/relationships/image" Target="../media/image59.png"/><Relationship Id="rId16" Type="http://schemas.openxmlformats.org/officeDocument/2006/relationships/image" Target="../media/image58.png"/><Relationship Id="rId15" Type="http://schemas.openxmlformats.org/officeDocument/2006/relationships/image" Target="../media/image57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../media/image65.jpeg"/><Relationship Id="rId7" Type="http://schemas.openxmlformats.org/officeDocument/2006/relationships/tags" Target="../tags/tag86.xml"/><Relationship Id="rId6" Type="http://schemas.openxmlformats.org/officeDocument/2006/relationships/image" Target="../media/image64.jpeg"/><Relationship Id="rId5" Type="http://schemas.openxmlformats.org/officeDocument/2006/relationships/tags" Target="../tags/tag85.xml"/><Relationship Id="rId4" Type="http://schemas.openxmlformats.org/officeDocument/2006/relationships/image" Target="../media/image63.png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104.xml"/><Relationship Id="rId32" Type="http://schemas.openxmlformats.org/officeDocument/2006/relationships/tags" Target="../tags/tag103.xml"/><Relationship Id="rId31" Type="http://schemas.openxmlformats.org/officeDocument/2006/relationships/tags" Target="../tags/tag102.xml"/><Relationship Id="rId30" Type="http://schemas.openxmlformats.org/officeDocument/2006/relationships/tags" Target="../tags/tag101.xml"/><Relationship Id="rId3" Type="http://schemas.openxmlformats.org/officeDocument/2006/relationships/tags" Target="../tags/tag84.xml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image" Target="../media/image72.svg"/><Relationship Id="rId21" Type="http://schemas.openxmlformats.org/officeDocument/2006/relationships/image" Target="../media/image71.png"/><Relationship Id="rId20" Type="http://schemas.openxmlformats.org/officeDocument/2006/relationships/tags" Target="../tags/tag93.xml"/><Relationship Id="rId2" Type="http://schemas.openxmlformats.org/officeDocument/2006/relationships/tags" Target="../tags/tag83.xml"/><Relationship Id="rId19" Type="http://schemas.openxmlformats.org/officeDocument/2006/relationships/image" Target="../media/image70.svg"/><Relationship Id="rId18" Type="http://schemas.openxmlformats.org/officeDocument/2006/relationships/image" Target="../media/image69.png"/><Relationship Id="rId17" Type="http://schemas.openxmlformats.org/officeDocument/2006/relationships/tags" Target="../tags/tag92.xml"/><Relationship Id="rId16" Type="http://schemas.openxmlformats.org/officeDocument/2006/relationships/image" Target="../media/image68.svg"/><Relationship Id="rId15" Type="http://schemas.openxmlformats.org/officeDocument/2006/relationships/image" Target="../media/image67.png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image" Target="../media/image66.jpeg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: 圆角 32"/>
          <p:cNvSpPr/>
          <p:nvPr/>
        </p:nvSpPr>
        <p:spPr>
          <a:xfrm>
            <a:off x="816610" y="796290"/>
            <a:ext cx="10558780" cy="2872740"/>
          </a:xfrm>
          <a:prstGeom prst="roundRect">
            <a:avLst>
              <a:gd name="adj" fmla="val 0"/>
            </a:avLst>
          </a:prstGeom>
          <a:noFill/>
          <a:ln w="25400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altLang="zh-CN" sz="1600" u="sng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8" name="矩形: 圆角 64"/>
          <p:cNvSpPr/>
          <p:nvPr/>
        </p:nvSpPr>
        <p:spPr>
          <a:xfrm>
            <a:off x="4510405" y="4545965"/>
            <a:ext cx="3160395" cy="1515745"/>
          </a:xfrm>
          <a:prstGeom prst="roundRect">
            <a:avLst>
              <a:gd name="adj" fmla="val 0"/>
            </a:avLst>
          </a:prstGeom>
          <a:noFill/>
          <a:ln w="19050" cmpd="sng">
            <a:solidFill>
              <a:srgbClr val="C00000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b" anchorCtr="0" forceAA="0" compatLnSpc="1">
            <a:noAutofit/>
          </a:bodyPr>
          <a:lstStyle/>
          <a:p>
            <a:pPr marL="23495" lvl="0" algn="just" eaLnBrk="0">
              <a:lnSpc>
                <a:spcPct val="87000"/>
              </a:lnSpc>
              <a:spcBef>
                <a:spcPts val="515"/>
              </a:spcBef>
              <a:buClrTx/>
              <a:buSzTx/>
              <a:buFontTx/>
            </a:pPr>
            <a:endParaRPr sz="1400" b="1" kern="0" spc="3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苹方-简" panose="020B0400000000000000" charset="-122"/>
              <a:sym typeface="+mn-ea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4510405" y="3970655"/>
            <a:ext cx="3160395" cy="574675"/>
          </a:xfrm>
          <a:prstGeom prst="rect">
            <a:avLst/>
          </a:prstGeom>
          <a:solidFill>
            <a:srgbClr val="C00015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基于任务感知与动态分割的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云边端协同推理优化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0" name="矩形: 圆角 7"/>
          <p:cNvSpPr/>
          <p:nvPr/>
        </p:nvSpPr>
        <p:spPr>
          <a:xfrm>
            <a:off x="4745355" y="4661535"/>
            <a:ext cx="2690495" cy="34036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rPr>
              <a:t>基于任务感知的智能路由</a:t>
            </a:r>
            <a:endParaRPr lang="zh-CN" altLang="en-US" sz="1700" b="1" dirty="0"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91" name="矩形: 圆角 7"/>
          <p:cNvSpPr/>
          <p:nvPr/>
        </p:nvSpPr>
        <p:spPr>
          <a:xfrm>
            <a:off x="4745355" y="5125720"/>
            <a:ext cx="2690495" cy="34036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rPr>
              <a:t>计算卸载与模型分割</a:t>
            </a:r>
            <a:endParaRPr lang="zh-CN" altLang="en-US" sz="1700" b="1" dirty="0"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92" name="矩形: 圆角 7"/>
          <p:cNvSpPr/>
          <p:nvPr/>
        </p:nvSpPr>
        <p:spPr>
          <a:xfrm>
            <a:off x="4745355" y="5588635"/>
            <a:ext cx="2690495" cy="34036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rPr>
              <a:t>端侧草稿与云侧验证</a:t>
            </a:r>
            <a:endParaRPr lang="zh-CN" altLang="en-US" sz="1700" b="1" dirty="0"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355" name="组合 354"/>
          <p:cNvGrpSpPr/>
          <p:nvPr/>
        </p:nvGrpSpPr>
        <p:grpSpPr>
          <a:xfrm rot="0">
            <a:off x="816610" y="3970655"/>
            <a:ext cx="3159760" cy="2090420"/>
            <a:chOff x="1286" y="6253"/>
            <a:chExt cx="4976" cy="3292"/>
          </a:xfrm>
        </p:grpSpPr>
        <p:sp>
          <p:nvSpPr>
            <p:cNvPr id="293" name="矩形: 圆角 69"/>
            <p:cNvSpPr/>
            <p:nvPr/>
          </p:nvSpPr>
          <p:spPr>
            <a:xfrm>
              <a:off x="1286" y="7159"/>
              <a:ext cx="4977" cy="2387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4" name="矩形 293"/>
            <p:cNvSpPr/>
            <p:nvPr/>
          </p:nvSpPr>
          <p:spPr>
            <a:xfrm>
              <a:off x="1286" y="6253"/>
              <a:ext cx="4977" cy="905"/>
            </a:xfrm>
            <a:prstGeom prst="rect">
              <a:avLst/>
            </a:prstGeom>
            <a:solidFill>
              <a:srgbClr val="01569F"/>
            </a:solidFill>
            <a:ln w="19050"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基于多粒度解耦与人在回路的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端侧高保真知识蒸馏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95" name="矩形: 圆角 7"/>
            <p:cNvSpPr/>
            <p:nvPr/>
          </p:nvSpPr>
          <p:spPr>
            <a:xfrm>
              <a:off x="1656" y="7341"/>
              <a:ext cx="4237" cy="536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700" b="1" dirty="0">
                  <a:latin typeface="Calibri" panose="020F0502020204030204" charset="0"/>
                  <a:ea typeface="微软雅黑" panose="020B0503020204020204" charset="-122"/>
                  <a:sym typeface="+mn-ea"/>
                </a:rPr>
                <a:t>多粒度知识解耦与对齐</a:t>
              </a:r>
              <a:endPara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6" name="矩形: 圆角 7"/>
            <p:cNvSpPr/>
            <p:nvPr/>
          </p:nvSpPr>
          <p:spPr>
            <a:xfrm>
              <a:off x="1656" y="8072"/>
              <a:ext cx="4237" cy="536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700" b="1" dirty="0">
                  <a:latin typeface="Calibri" panose="020F0502020204030204" charset="0"/>
                  <a:ea typeface="微软雅黑" panose="020B0503020204020204" charset="-122"/>
                  <a:sym typeface="+mn-ea"/>
                </a:rPr>
                <a:t>动态保真度量</a:t>
              </a:r>
              <a:endPara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7" name="矩形: 圆角 7"/>
            <p:cNvSpPr/>
            <p:nvPr/>
          </p:nvSpPr>
          <p:spPr>
            <a:xfrm>
              <a:off x="1656" y="8801"/>
              <a:ext cx="4237" cy="536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700" b="1" dirty="0">
                  <a:latin typeface="Calibri" panose="020F0502020204030204" charset="0"/>
                  <a:ea typeface="微软雅黑" panose="020B0503020204020204" charset="-122"/>
                  <a:sym typeface="+mn-ea"/>
                </a:rPr>
                <a:t>人在回路的蒸馏优化</a:t>
              </a:r>
              <a:endPara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98" name="矩形: 圆角 74"/>
          <p:cNvSpPr/>
          <p:nvPr/>
        </p:nvSpPr>
        <p:spPr>
          <a:xfrm>
            <a:off x="8214995" y="4545965"/>
            <a:ext cx="3160395" cy="1515745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 w="19050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altLang="zh-CN" sz="1600" u="sng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8214995" y="3970655"/>
            <a:ext cx="3160395" cy="574675"/>
          </a:xfrm>
          <a:prstGeom prst="rect">
            <a:avLst/>
          </a:prstGeom>
          <a:solidFill>
            <a:srgbClr val="01569F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基于表征锚定与稳健重放的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云边端协同持续学习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0" name="矩形: 圆角 7"/>
          <p:cNvSpPr/>
          <p:nvPr/>
        </p:nvSpPr>
        <p:spPr>
          <a:xfrm>
            <a:off x="8449945" y="4661535"/>
            <a:ext cx="2690495" cy="34036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rPr>
              <a:t>锚定关键表征的协同蒸馏</a:t>
            </a:r>
            <a:endParaRPr lang="zh-CN" altLang="en-US" sz="1700" b="1" dirty="0"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01" name="矩形: 圆角 7"/>
          <p:cNvSpPr/>
          <p:nvPr/>
        </p:nvSpPr>
        <p:spPr>
          <a:xfrm>
            <a:off x="8449945" y="5125085"/>
            <a:ext cx="2690495" cy="34036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rPr>
              <a:t>面向流式数据的增量更新</a:t>
            </a:r>
            <a:endParaRPr lang="zh-CN" altLang="en-US" sz="1700" b="1" dirty="0"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02" name="矩形: 圆角 7"/>
          <p:cNvSpPr/>
          <p:nvPr/>
        </p:nvSpPr>
        <p:spPr>
          <a:xfrm>
            <a:off x="8336915" y="5588635"/>
            <a:ext cx="2916555" cy="34036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700" b="1" dirty="0">
                <a:latin typeface="Calibri" panose="020F0502020204030204" charset="0"/>
                <a:ea typeface="微软雅黑" panose="020B0503020204020204" charset="-122"/>
                <a:sym typeface="+mn-ea"/>
              </a:rPr>
              <a:t>云边端协同驱动的持续学习</a:t>
            </a:r>
            <a:endParaRPr lang="zh-CN" altLang="en-US" sz="1700" b="1" dirty="0"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7622540" y="4685665"/>
            <a:ext cx="629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保障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3933825" y="4685665"/>
            <a:ext cx="629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支撑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矩形: 圆角 36"/>
          <p:cNvSpPr/>
          <p:nvPr/>
        </p:nvSpPr>
        <p:spPr>
          <a:xfrm>
            <a:off x="995680" y="1113790"/>
            <a:ext cx="2038350" cy="2388235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0">
            <a:off x="1109345" y="1423670"/>
            <a:ext cx="1811020" cy="1990090"/>
            <a:chOff x="1740" y="2315"/>
            <a:chExt cx="2852" cy="3134"/>
          </a:xfrm>
        </p:grpSpPr>
        <p:sp>
          <p:nvSpPr>
            <p:cNvPr id="313" name="文本框 312"/>
            <p:cNvSpPr txBox="1"/>
            <p:nvPr/>
          </p:nvSpPr>
          <p:spPr>
            <a:xfrm>
              <a:off x="3116" y="2352"/>
              <a:ext cx="1476" cy="822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多模态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感知输入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3117" y="3456"/>
              <a:ext cx="1474" cy="822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具身环境</a:t>
              </a: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建模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5" name="文本框 314"/>
            <p:cNvSpPr txBox="1"/>
            <p:nvPr/>
          </p:nvSpPr>
          <p:spPr>
            <a:xfrm>
              <a:off x="3117" y="4560"/>
              <a:ext cx="1474" cy="822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语义信息提取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16" name="图片 3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21" y="2315"/>
              <a:ext cx="985" cy="915"/>
            </a:xfrm>
            <a:prstGeom prst="rect">
              <a:avLst/>
            </a:prstGeom>
          </p:spPr>
        </p:pic>
        <p:pic>
          <p:nvPicPr>
            <p:cNvPr id="317" name="图片 316" descr="rada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1" y="3411"/>
              <a:ext cx="985" cy="915"/>
            </a:xfrm>
            <a:prstGeom prst="rect">
              <a:avLst/>
            </a:prstGeom>
          </p:spPr>
        </p:pic>
        <p:pic>
          <p:nvPicPr>
            <p:cNvPr id="318" name="图片 317" descr="sound-wav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740" y="4385"/>
              <a:ext cx="1146" cy="1064"/>
            </a:xfrm>
            <a:prstGeom prst="rect">
              <a:avLst/>
            </a:prstGeom>
          </p:spPr>
        </p:pic>
      </p:grpSp>
      <p:sp>
        <p:nvSpPr>
          <p:cNvPr id="330" name="圆角矩形 329"/>
          <p:cNvSpPr/>
          <p:nvPr/>
        </p:nvSpPr>
        <p:spPr>
          <a:xfrm>
            <a:off x="1508760" y="963930"/>
            <a:ext cx="1012825" cy="306070"/>
          </a:xfrm>
          <a:prstGeom prst="roundRect">
            <a:avLst/>
          </a:prstGeom>
          <a:solidFill>
            <a:srgbClr val="0156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环境感知</a:t>
            </a:r>
            <a:endParaRPr lang="zh-CN" altLang="en-US" sz="15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500" b="1"/>
          </a:p>
        </p:txBody>
      </p:sp>
      <p:sp>
        <p:nvSpPr>
          <p:cNvPr id="273" name="矩形: 圆角 38"/>
          <p:cNvSpPr/>
          <p:nvPr/>
        </p:nvSpPr>
        <p:spPr>
          <a:xfrm>
            <a:off x="3716655" y="1113155"/>
            <a:ext cx="2038350" cy="238823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59" name="组合 358"/>
          <p:cNvGrpSpPr/>
          <p:nvPr/>
        </p:nvGrpSpPr>
        <p:grpSpPr>
          <a:xfrm rot="0">
            <a:off x="3890645" y="1376680"/>
            <a:ext cx="1690370" cy="2021205"/>
            <a:chOff x="6120" y="2241"/>
            <a:chExt cx="2662" cy="3183"/>
          </a:xfrm>
        </p:grpSpPr>
        <p:sp>
          <p:nvSpPr>
            <p:cNvPr id="279" name="文本框 278"/>
            <p:cNvSpPr txBox="1"/>
            <p:nvPr/>
          </p:nvSpPr>
          <p:spPr>
            <a:xfrm>
              <a:off x="7306" y="2315"/>
              <a:ext cx="1476" cy="82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多粒度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知识解耦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7306" y="3404"/>
              <a:ext cx="1476" cy="82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动态保真监控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7317" y="4560"/>
              <a:ext cx="1465" cy="82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人在回路优化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19" name="图片 318" descr="解耦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" y="2241"/>
              <a:ext cx="1065" cy="990"/>
            </a:xfrm>
            <a:prstGeom prst="rect">
              <a:avLst/>
            </a:prstGeom>
          </p:spPr>
        </p:pic>
        <p:pic>
          <p:nvPicPr>
            <p:cNvPr id="320" name="图片 319" descr="monitori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4" y="3424"/>
              <a:ext cx="977" cy="908"/>
            </a:xfrm>
            <a:prstGeom prst="rect">
              <a:avLst/>
            </a:prstGeom>
          </p:spPr>
        </p:pic>
        <p:pic>
          <p:nvPicPr>
            <p:cNvPr id="321" name="图片 320" descr="talki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3" y="4587"/>
              <a:ext cx="900" cy="837"/>
            </a:xfrm>
            <a:prstGeom prst="rect">
              <a:avLst/>
            </a:prstGeom>
          </p:spPr>
        </p:pic>
      </p:grpSp>
      <p:sp>
        <p:nvSpPr>
          <p:cNvPr id="332" name="圆角矩形 331"/>
          <p:cNvSpPr/>
          <p:nvPr/>
        </p:nvSpPr>
        <p:spPr>
          <a:xfrm>
            <a:off x="4229735" y="963930"/>
            <a:ext cx="1012825" cy="306070"/>
          </a:xfrm>
          <a:prstGeom prst="roundRect">
            <a:avLst/>
          </a:prstGeom>
          <a:solidFill>
            <a:srgbClr val="C0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保真蒸馏</a:t>
            </a:r>
            <a:endParaRPr lang="zh-CN" altLang="en-US" sz="15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矩形: 圆角 39"/>
          <p:cNvSpPr/>
          <p:nvPr/>
        </p:nvSpPr>
        <p:spPr>
          <a:xfrm>
            <a:off x="6437630" y="1113155"/>
            <a:ext cx="2038350" cy="2388235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58" name="组合 357"/>
          <p:cNvGrpSpPr/>
          <p:nvPr/>
        </p:nvGrpSpPr>
        <p:grpSpPr>
          <a:xfrm rot="0">
            <a:off x="6636385" y="1358900"/>
            <a:ext cx="1641475" cy="2030730"/>
            <a:chOff x="10450" y="2213"/>
            <a:chExt cx="2585" cy="3198"/>
          </a:xfrm>
        </p:grpSpPr>
        <p:sp>
          <p:nvSpPr>
            <p:cNvPr id="284" name="文本框 283"/>
            <p:cNvSpPr txBox="1"/>
            <p:nvPr/>
          </p:nvSpPr>
          <p:spPr>
            <a:xfrm>
              <a:off x="11553" y="2315"/>
              <a:ext cx="1476" cy="822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任务感知智能路由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5" name="文本框 284"/>
            <p:cNvSpPr txBox="1"/>
            <p:nvPr/>
          </p:nvSpPr>
          <p:spPr>
            <a:xfrm>
              <a:off x="11553" y="3404"/>
              <a:ext cx="1476" cy="822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动态分割与卸载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11559" y="4560"/>
              <a:ext cx="1476" cy="822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协同加速推理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22" name="图片 321" descr="wifi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82" y="2213"/>
              <a:ext cx="941" cy="874"/>
            </a:xfrm>
            <a:prstGeom prst="rect">
              <a:avLst/>
            </a:prstGeom>
          </p:spPr>
        </p:pic>
        <p:pic>
          <p:nvPicPr>
            <p:cNvPr id="323" name="图片 322" descr="share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65" y="3352"/>
              <a:ext cx="975" cy="906"/>
            </a:xfrm>
            <a:prstGeom prst="rect">
              <a:avLst/>
            </a:prstGeom>
          </p:spPr>
        </p:pic>
        <p:pic>
          <p:nvPicPr>
            <p:cNvPr id="324" name="图片 323" descr="teamwork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50" y="4479"/>
              <a:ext cx="1004" cy="932"/>
            </a:xfrm>
            <a:prstGeom prst="rect">
              <a:avLst/>
            </a:prstGeom>
          </p:spPr>
        </p:pic>
      </p:grpSp>
      <p:sp>
        <p:nvSpPr>
          <p:cNvPr id="333" name="圆角矩形 332"/>
          <p:cNvSpPr/>
          <p:nvPr/>
        </p:nvSpPr>
        <p:spPr>
          <a:xfrm>
            <a:off x="6950710" y="963930"/>
            <a:ext cx="1012825" cy="306070"/>
          </a:xfrm>
          <a:prstGeom prst="roundRect">
            <a:avLst/>
          </a:prstGeom>
          <a:solidFill>
            <a:srgbClr val="0156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协同推理</a:t>
            </a:r>
            <a:endParaRPr lang="zh-CN" altLang="en-US" sz="15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矩形: 圆角 40"/>
          <p:cNvSpPr/>
          <p:nvPr/>
        </p:nvSpPr>
        <p:spPr>
          <a:xfrm>
            <a:off x="9158605" y="1113155"/>
            <a:ext cx="2038350" cy="238823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57" name="组合 356"/>
          <p:cNvGrpSpPr/>
          <p:nvPr/>
        </p:nvGrpSpPr>
        <p:grpSpPr>
          <a:xfrm rot="0">
            <a:off x="9326245" y="1358900"/>
            <a:ext cx="1666240" cy="2018665"/>
            <a:chOff x="14697" y="2213"/>
            <a:chExt cx="2624" cy="3179"/>
          </a:xfrm>
        </p:grpSpPr>
        <p:sp>
          <p:nvSpPr>
            <p:cNvPr id="309" name="文本框 308"/>
            <p:cNvSpPr txBox="1"/>
            <p:nvPr/>
          </p:nvSpPr>
          <p:spPr>
            <a:xfrm>
              <a:off x="15845" y="2352"/>
              <a:ext cx="1476" cy="82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语义锚点锁定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0" name="文本框 309"/>
            <p:cNvSpPr txBox="1"/>
            <p:nvPr/>
          </p:nvSpPr>
          <p:spPr>
            <a:xfrm>
              <a:off x="15845" y="3411"/>
              <a:ext cx="1476" cy="82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流式知识补丁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1" name="文本框 310"/>
            <p:cNvSpPr txBox="1"/>
            <p:nvPr/>
          </p:nvSpPr>
          <p:spPr>
            <a:xfrm>
              <a:off x="15845" y="4552"/>
              <a:ext cx="1476" cy="822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稳健记忆重放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25" name="图片 324" descr="anchor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717" y="2213"/>
              <a:ext cx="981" cy="911"/>
            </a:xfrm>
            <a:prstGeom prst="rect">
              <a:avLst/>
            </a:prstGeom>
          </p:spPr>
        </p:pic>
        <p:pic>
          <p:nvPicPr>
            <p:cNvPr id="326" name="图片 325" descr="patch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782" y="3468"/>
              <a:ext cx="813" cy="756"/>
            </a:xfrm>
            <a:prstGeom prst="rect">
              <a:avLst/>
            </a:prstGeom>
          </p:spPr>
        </p:pic>
        <p:pic>
          <p:nvPicPr>
            <p:cNvPr id="327" name="图片 326" descr="memory-loss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697" y="4479"/>
              <a:ext cx="983" cy="913"/>
            </a:xfrm>
            <a:prstGeom prst="rect">
              <a:avLst/>
            </a:prstGeom>
          </p:spPr>
        </p:pic>
      </p:grpSp>
      <p:sp>
        <p:nvSpPr>
          <p:cNvPr id="334" name="圆角矩形 333"/>
          <p:cNvSpPr/>
          <p:nvPr/>
        </p:nvSpPr>
        <p:spPr>
          <a:xfrm>
            <a:off x="9671685" y="963930"/>
            <a:ext cx="1012825" cy="306070"/>
          </a:xfrm>
          <a:prstGeom prst="roundRect">
            <a:avLst/>
          </a:prstGeom>
          <a:solidFill>
            <a:srgbClr val="C0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持续学习</a:t>
            </a:r>
            <a:endParaRPr lang="zh-CN" altLang="en-US" sz="15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箭头: 下 3"/>
          <p:cNvSpPr/>
          <p:nvPr/>
        </p:nvSpPr>
        <p:spPr>
          <a:xfrm rot="5400000" flipV="1">
            <a:off x="3197225" y="2099310"/>
            <a:ext cx="407670" cy="417195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36" name="箭头: 下 3"/>
          <p:cNvSpPr/>
          <p:nvPr/>
        </p:nvSpPr>
        <p:spPr>
          <a:xfrm rot="5400000" flipV="1">
            <a:off x="5912485" y="2098675"/>
            <a:ext cx="407670" cy="417195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41" name="箭头: 下 3"/>
          <p:cNvSpPr/>
          <p:nvPr/>
        </p:nvSpPr>
        <p:spPr>
          <a:xfrm rot="5400000" flipV="1">
            <a:off x="8627745" y="2098675"/>
            <a:ext cx="407670" cy="417195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45" name="箭头: 下 3"/>
          <p:cNvSpPr/>
          <p:nvPr/>
        </p:nvSpPr>
        <p:spPr>
          <a:xfrm rot="5400000" flipV="1">
            <a:off x="4037965" y="4998720"/>
            <a:ext cx="422275" cy="417195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46" name="箭头: 下 3"/>
          <p:cNvSpPr/>
          <p:nvPr/>
        </p:nvSpPr>
        <p:spPr>
          <a:xfrm rot="16200000" flipH="1" flipV="1">
            <a:off x="7726680" y="4998720"/>
            <a:ext cx="421005" cy="417195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51" name="箭头: 下 3"/>
          <p:cNvSpPr/>
          <p:nvPr/>
        </p:nvSpPr>
        <p:spPr>
          <a:xfrm rot="10800000" flipH="1">
            <a:off x="2179955" y="3695700"/>
            <a:ext cx="434340" cy="26162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52" name="箭头: 下 3"/>
          <p:cNvSpPr/>
          <p:nvPr/>
        </p:nvSpPr>
        <p:spPr>
          <a:xfrm rot="10800000" flipH="1">
            <a:off x="9577705" y="3709035"/>
            <a:ext cx="435610" cy="26162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53" name="箭头: 下 3"/>
          <p:cNvSpPr/>
          <p:nvPr/>
        </p:nvSpPr>
        <p:spPr>
          <a:xfrm rot="10800000" flipH="1">
            <a:off x="5873115" y="3695700"/>
            <a:ext cx="435610" cy="26162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91490" y="506095"/>
            <a:ext cx="11209020" cy="584581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圆角矩形 23"/>
          <p:cNvSpPr/>
          <p:nvPr>
            <p:custDataLst>
              <p:tags r:id="rId1"/>
            </p:custDataLst>
          </p:nvPr>
        </p:nvSpPr>
        <p:spPr>
          <a:xfrm>
            <a:off x="638810" y="1150620"/>
            <a:ext cx="10914380" cy="5023485"/>
          </a:xfrm>
          <a:prstGeom prst="roundRect">
            <a:avLst>
              <a:gd name="adj" fmla="val 3153"/>
            </a:avLst>
          </a:prstGeom>
          <a:noFill/>
          <a:ln w="2222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altLang="zh-CN" sz="1600" u="sng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3" name="矩形: 圆角 33"/>
          <p:cNvSpPr/>
          <p:nvPr/>
        </p:nvSpPr>
        <p:spPr>
          <a:xfrm rot="5400000">
            <a:off x="3768090" y="2141855"/>
            <a:ext cx="4643755" cy="3041650"/>
          </a:xfrm>
          <a:prstGeom prst="roundRect">
            <a:avLst>
              <a:gd name="adj" fmla="val 6238"/>
            </a:avLst>
          </a:prstGeom>
          <a:solidFill>
            <a:schemeClr val="accent6">
              <a:lumMod val="20000"/>
              <a:lumOff val="80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8" name="矩形: 圆角 33"/>
          <p:cNvSpPr/>
          <p:nvPr/>
        </p:nvSpPr>
        <p:spPr>
          <a:xfrm rot="5400000">
            <a:off x="289560" y="1901825"/>
            <a:ext cx="4643755" cy="3521710"/>
          </a:xfrm>
          <a:prstGeom prst="roundRect">
            <a:avLst>
              <a:gd name="adj" fmla="val 6238"/>
            </a:avLst>
          </a:prstGeom>
          <a:solidFill>
            <a:srgbClr val="DAE3F5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0" name="矩形: 圆角 33"/>
          <p:cNvSpPr/>
          <p:nvPr/>
        </p:nvSpPr>
        <p:spPr>
          <a:xfrm rot="5400000">
            <a:off x="7268210" y="1910715"/>
            <a:ext cx="4643755" cy="3504565"/>
          </a:xfrm>
          <a:prstGeom prst="roundRect">
            <a:avLst>
              <a:gd name="adj" fmla="val 6238"/>
            </a:avLst>
          </a:prstGeom>
          <a:solidFill>
            <a:srgbClr val="DAE3F5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81" name="直接箭头连接符 180"/>
          <p:cNvCxnSpPr/>
          <p:nvPr/>
        </p:nvCxnSpPr>
        <p:spPr>
          <a:xfrm>
            <a:off x="7189470" y="1993900"/>
            <a:ext cx="88963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>
            <a:off x="7105015" y="5527675"/>
            <a:ext cx="592455" cy="3810"/>
          </a:xfrm>
          <a:prstGeom prst="straightConnector1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 flipH="1">
            <a:off x="7704455" y="1984375"/>
            <a:ext cx="3810" cy="3562350"/>
          </a:xfrm>
          <a:prstGeom prst="straightConnector1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矩形: 圆角 33"/>
          <p:cNvSpPr/>
          <p:nvPr/>
        </p:nvSpPr>
        <p:spPr>
          <a:xfrm rot="5400000">
            <a:off x="1908810" y="3704590"/>
            <a:ext cx="1677035" cy="2636520"/>
          </a:xfrm>
          <a:prstGeom prst="roundRect">
            <a:avLst>
              <a:gd name="adj" fmla="val 6238"/>
            </a:avLst>
          </a:prstGeom>
          <a:noFill/>
          <a:ln w="19050" cmpd="sng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endParaRPr lang="en-US" altLang="zh-CN" sz="1600" u="sng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958215" y="1520825"/>
            <a:ext cx="4030980" cy="4283710"/>
            <a:chOff x="1167" y="2311"/>
            <a:chExt cx="6577" cy="7008"/>
          </a:xfrm>
        </p:grpSpPr>
        <p:cxnSp>
          <p:nvCxnSpPr>
            <p:cNvPr id="186" name="直接箭头连接符 185"/>
            <p:cNvCxnSpPr/>
            <p:nvPr/>
          </p:nvCxnSpPr>
          <p:spPr>
            <a:xfrm>
              <a:off x="6432" y="8844"/>
              <a:ext cx="1312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/>
            <p:cNvCxnSpPr/>
            <p:nvPr/>
          </p:nvCxnSpPr>
          <p:spPr>
            <a:xfrm>
              <a:off x="6423" y="2965"/>
              <a:ext cx="1312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/>
            <p:cNvSpPr txBox="1"/>
            <p:nvPr/>
          </p:nvSpPr>
          <p:spPr>
            <a:xfrm>
              <a:off x="5198" y="5340"/>
              <a:ext cx="1161" cy="1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蒸馏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数据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2594" y="8525"/>
              <a:ext cx="132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专家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84" name="直接箭头连接符 183"/>
            <p:cNvCxnSpPr/>
            <p:nvPr/>
          </p:nvCxnSpPr>
          <p:spPr>
            <a:xfrm>
              <a:off x="5340" y="5922"/>
              <a:ext cx="1105" cy="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箭头连接符 184"/>
            <p:cNvCxnSpPr/>
            <p:nvPr/>
          </p:nvCxnSpPr>
          <p:spPr>
            <a:xfrm>
              <a:off x="6420" y="2940"/>
              <a:ext cx="0" cy="593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文本框 187"/>
            <p:cNvSpPr txBox="1"/>
            <p:nvPr/>
          </p:nvSpPr>
          <p:spPr>
            <a:xfrm>
              <a:off x="2271" y="2311"/>
              <a:ext cx="2141" cy="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89" name="图片 188" descr="Gc_103_face-Data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6" y="5566"/>
              <a:ext cx="1702" cy="731"/>
            </a:xfrm>
            <a:prstGeom prst="rect">
              <a:avLst/>
            </a:prstGeom>
          </p:spPr>
        </p:pic>
        <p:pic>
          <p:nvPicPr>
            <p:cNvPr id="191" name="图片 19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96" y="2502"/>
              <a:ext cx="1255" cy="1076"/>
            </a:xfrm>
            <a:prstGeom prst="rect">
              <a:avLst/>
            </a:prstGeom>
          </p:spPr>
        </p:pic>
        <p:sp>
          <p:nvSpPr>
            <p:cNvPr id="192" name="文本框 191"/>
            <p:cNvSpPr txBox="1"/>
            <p:nvPr/>
          </p:nvSpPr>
          <p:spPr>
            <a:xfrm>
              <a:off x="2591" y="2502"/>
              <a:ext cx="1325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主动</a:t>
              </a:r>
              <a:endPara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学习</a:t>
              </a:r>
              <a:endPara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1" name="矩形: 圆角 33"/>
            <p:cNvSpPr/>
            <p:nvPr/>
          </p:nvSpPr>
          <p:spPr>
            <a:xfrm rot="5400000">
              <a:off x="2658" y="1588"/>
              <a:ext cx="2855" cy="4302"/>
            </a:xfrm>
            <a:prstGeom prst="roundRect">
              <a:avLst>
                <a:gd name="adj" fmla="val 6238"/>
              </a:avLst>
            </a:prstGeom>
            <a:noFill/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2" name="文本框 211"/>
            <p:cNvSpPr txBox="1"/>
            <p:nvPr/>
          </p:nvSpPr>
          <p:spPr>
            <a:xfrm>
              <a:off x="2143" y="4507"/>
              <a:ext cx="1481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决策分歧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3389" y="4507"/>
              <a:ext cx="166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信息熵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4697" y="4507"/>
              <a:ext cx="166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置信度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15" name="图片 214" descr="discuss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9" y="3642"/>
              <a:ext cx="970" cy="846"/>
            </a:xfrm>
            <a:prstGeom prst="rect">
              <a:avLst/>
            </a:prstGeom>
          </p:spPr>
        </p:pic>
        <p:pic>
          <p:nvPicPr>
            <p:cNvPr id="216" name="图片 215" descr="gas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37" y="3644"/>
              <a:ext cx="967" cy="844"/>
            </a:xfrm>
            <a:prstGeom prst="rect">
              <a:avLst/>
            </a:prstGeom>
          </p:spPr>
        </p:pic>
        <p:pic>
          <p:nvPicPr>
            <p:cNvPr id="217" name="图片 216" descr="confidenc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30" y="3644"/>
              <a:ext cx="967" cy="844"/>
            </a:xfrm>
            <a:prstGeom prst="rect">
              <a:avLst/>
            </a:prstGeom>
          </p:spPr>
        </p:pic>
        <p:sp>
          <p:nvSpPr>
            <p:cNvPr id="218" name="文本框 217"/>
            <p:cNvSpPr txBox="1"/>
            <p:nvPr/>
          </p:nvSpPr>
          <p:spPr>
            <a:xfrm>
              <a:off x="1935" y="5690"/>
              <a:ext cx="166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样本池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20" name="图片 219" descr="best-results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2" y="6830"/>
              <a:ext cx="967" cy="844"/>
            </a:xfrm>
            <a:prstGeom prst="rect">
              <a:avLst/>
            </a:prstGeom>
          </p:spPr>
        </p:pic>
        <p:sp>
          <p:nvSpPr>
            <p:cNvPr id="221" name="文本框 220"/>
            <p:cNvSpPr txBox="1"/>
            <p:nvPr/>
          </p:nvSpPr>
          <p:spPr>
            <a:xfrm>
              <a:off x="2271" y="7763"/>
              <a:ext cx="1107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评分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4626" y="7763"/>
              <a:ext cx="166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反馈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3275" y="7763"/>
              <a:ext cx="166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关键定位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24" name="图片 223" descr="ma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23" y="6918"/>
              <a:ext cx="967" cy="844"/>
            </a:xfrm>
            <a:prstGeom prst="rect">
              <a:avLst/>
            </a:prstGeom>
          </p:spPr>
        </p:pic>
        <p:pic>
          <p:nvPicPr>
            <p:cNvPr id="225" name="图片 224" descr="feedback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81" y="6918"/>
              <a:ext cx="967" cy="844"/>
            </a:xfrm>
            <a:prstGeom prst="rect">
              <a:avLst/>
            </a:prstGeom>
          </p:spPr>
        </p:pic>
        <p:sp>
          <p:nvSpPr>
            <p:cNvPr id="226" name="上箭头 65"/>
            <p:cNvSpPr/>
            <p:nvPr>
              <p:custDataLst>
                <p:tags r:id="rId10"/>
              </p:custDataLst>
            </p:nvPr>
          </p:nvSpPr>
          <p:spPr>
            <a:xfrm rot="10800000">
              <a:off x="3998" y="5024"/>
              <a:ext cx="492" cy="544"/>
            </a:xfrm>
            <a:prstGeom prst="up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7" name="上箭头 65"/>
            <p:cNvSpPr/>
            <p:nvPr>
              <p:custDataLst>
                <p:tags r:id="rId11"/>
              </p:custDataLst>
            </p:nvPr>
          </p:nvSpPr>
          <p:spPr>
            <a:xfrm rot="10800000" flipV="1">
              <a:off x="3998" y="6296"/>
              <a:ext cx="492" cy="544"/>
            </a:xfrm>
            <a:prstGeom prst="up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52" name="图片 251" descr="boy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85" y="8213"/>
              <a:ext cx="1267" cy="1106"/>
            </a:xfrm>
            <a:prstGeom prst="rect">
              <a:avLst/>
            </a:prstGeom>
          </p:spPr>
        </p:pic>
        <p:grpSp>
          <p:nvGrpSpPr>
            <p:cNvPr id="264" name="组合 263"/>
            <p:cNvGrpSpPr/>
            <p:nvPr/>
          </p:nvGrpSpPr>
          <p:grpSpPr>
            <a:xfrm rot="0">
              <a:off x="1167" y="3334"/>
              <a:ext cx="618" cy="5002"/>
              <a:chOff x="1167" y="3334"/>
              <a:chExt cx="618" cy="5002"/>
            </a:xfrm>
          </p:grpSpPr>
          <p:sp>
            <p:nvSpPr>
              <p:cNvPr id="256" name="圆角矩形 255"/>
              <p:cNvSpPr/>
              <p:nvPr/>
            </p:nvSpPr>
            <p:spPr>
              <a:xfrm>
                <a:off x="1243" y="3334"/>
                <a:ext cx="466" cy="5002"/>
              </a:xfrm>
              <a:prstGeom prst="roundRect">
                <a:avLst/>
              </a:prstGeom>
              <a:solidFill>
                <a:srgbClr val="01569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endParaRPr lang="zh-CN" altLang="en-US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167" y="3407"/>
                <a:ext cx="618" cy="4899"/>
              </a:xfrm>
              <a:prstGeom prst="rect">
                <a:avLst/>
              </a:prstGeom>
              <a:noFill/>
            </p:spPr>
            <p:txBody>
              <a:bodyPr vert="eaVert" wrap="square" rtlCol="0">
                <a:no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人在回路的蒸馏优化与关键知识筛选</a:t>
                </a:r>
                <a:endParaRPr lang="zh-CN" altLang="en-US" sz="14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altLang="en-US" sz="14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 rot="0">
            <a:off x="4694555" y="1437005"/>
            <a:ext cx="2857500" cy="4451985"/>
            <a:chOff x="7263" y="2142"/>
            <a:chExt cx="4662" cy="7283"/>
          </a:xfrm>
        </p:grpSpPr>
        <p:sp>
          <p:nvSpPr>
            <p:cNvPr id="228" name="矩形: 圆角 33"/>
            <p:cNvSpPr/>
            <p:nvPr/>
          </p:nvSpPr>
          <p:spPr>
            <a:xfrm rot="5400000">
              <a:off x="8491" y="2630"/>
              <a:ext cx="1542" cy="3997"/>
            </a:xfrm>
            <a:prstGeom prst="roundRect">
              <a:avLst>
                <a:gd name="adj" fmla="val 6238"/>
              </a:avLst>
            </a:prstGeom>
            <a:noFill/>
            <a:ln w="19050" cmpd="sng">
              <a:solidFill>
                <a:srgbClr val="C00000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b" anchorCtr="0" forceAA="0" compatLnSpc="1">
              <a:noAutofit/>
            </a:bodyPr>
            <a:lstStyle/>
            <a:p>
              <a:pPr marL="23495" lvl="0" algn="just" eaLnBrk="0">
                <a:lnSpc>
                  <a:spcPct val="87000"/>
                </a:lnSpc>
                <a:spcBef>
                  <a:spcPts val="515"/>
                </a:spcBef>
                <a:buClrTx/>
                <a:buSzTx/>
                <a:buFontTx/>
              </a:pPr>
              <a:endParaRPr sz="14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苹方-简" panose="020B0400000000000000" charset="-122"/>
                <a:sym typeface="+mn-ea"/>
              </a:endParaRPr>
            </a:p>
          </p:txBody>
        </p:sp>
        <p:pic>
          <p:nvPicPr>
            <p:cNvPr id="193" name="图片 192" descr="server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070" y="2142"/>
              <a:ext cx="1776" cy="1237"/>
            </a:xfrm>
            <a:prstGeom prst="rect">
              <a:avLst/>
            </a:prstGeom>
          </p:spPr>
        </p:pic>
        <p:sp>
          <p:nvSpPr>
            <p:cNvPr id="194" name="文本框 193"/>
            <p:cNvSpPr txBox="1"/>
            <p:nvPr/>
          </p:nvSpPr>
          <p:spPr>
            <a:xfrm>
              <a:off x="7744" y="8734"/>
              <a:ext cx="1746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端侧模型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7663" y="2375"/>
              <a:ext cx="1697" cy="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云侧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模型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254" name="组合 253"/>
            <p:cNvGrpSpPr/>
            <p:nvPr/>
          </p:nvGrpSpPr>
          <p:grpSpPr>
            <a:xfrm rot="0">
              <a:off x="7263" y="6076"/>
              <a:ext cx="3997" cy="1925"/>
              <a:chOff x="7263" y="5972"/>
              <a:chExt cx="3997" cy="1925"/>
            </a:xfrm>
          </p:grpSpPr>
          <p:sp>
            <p:nvSpPr>
              <p:cNvPr id="229" name="矩形: 圆角 33"/>
              <p:cNvSpPr/>
              <p:nvPr/>
            </p:nvSpPr>
            <p:spPr>
              <a:xfrm rot="5400000">
                <a:off x="8299" y="4936"/>
                <a:ext cx="1925" cy="3997"/>
              </a:xfrm>
              <a:prstGeom prst="roundRect">
                <a:avLst>
                  <a:gd name="adj" fmla="val 6238"/>
                </a:avLst>
              </a:prstGeom>
              <a:noFill/>
              <a:ln w="19050" cmpd="sng">
                <a:solidFill>
                  <a:srgbClr val="C00000"/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b" anchorCtr="0" forceAA="0" compatLnSpc="1">
                <a:noAutofit/>
              </a:bodyPr>
              <a:lstStyle/>
              <a:p>
                <a:pPr marL="23495" lvl="0" algn="just" eaLnBrk="0">
                  <a:lnSpc>
                    <a:spcPct val="87000"/>
                  </a:lnSpc>
                  <a:spcBef>
                    <a:spcPts val="515"/>
                  </a:spcBef>
                  <a:buClrTx/>
                  <a:buSzTx/>
                  <a:buFontTx/>
                </a:pPr>
                <a:endParaRPr sz="1400" b="1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苹方-简" panose="020B0400000000000000" charset="-122"/>
                  <a:sym typeface="+mn-ea"/>
                </a:endParaRPr>
              </a:p>
            </p:txBody>
          </p:sp>
          <p:pic>
            <p:nvPicPr>
              <p:cNvPr id="230" name="图片 229" descr="curve (1)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62" y="6136"/>
                <a:ext cx="967" cy="844"/>
              </a:xfrm>
              <a:prstGeom prst="rect">
                <a:avLst/>
              </a:prstGeom>
            </p:spPr>
          </p:pic>
          <p:pic>
            <p:nvPicPr>
              <p:cNvPr id="231" name="图片 230" descr="attention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61" y="6136"/>
                <a:ext cx="967" cy="844"/>
              </a:xfrm>
              <a:prstGeom prst="rect">
                <a:avLst/>
              </a:prstGeom>
            </p:spPr>
          </p:pic>
          <p:pic>
            <p:nvPicPr>
              <p:cNvPr id="232" name="图片 231" descr="measurement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26" y="6136"/>
                <a:ext cx="967" cy="844"/>
              </a:xfrm>
              <a:prstGeom prst="rect">
                <a:avLst/>
              </a:prstGeom>
            </p:spPr>
          </p:pic>
          <p:sp>
            <p:nvSpPr>
              <p:cNvPr id="233" name="文本框 232"/>
              <p:cNvSpPr txBox="1"/>
              <p:nvPr/>
            </p:nvSpPr>
            <p:spPr>
              <a:xfrm>
                <a:off x="7311" y="6950"/>
                <a:ext cx="1596" cy="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散度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最小化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4" name="文本框 233"/>
              <p:cNvSpPr txBox="1"/>
              <p:nvPr/>
            </p:nvSpPr>
            <p:spPr>
              <a:xfrm>
                <a:off x="8684" y="6951"/>
                <a:ext cx="1342" cy="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注意力迁移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5" name="文本框 234"/>
              <p:cNvSpPr txBox="1"/>
              <p:nvPr/>
            </p:nvSpPr>
            <p:spPr>
              <a:xfrm>
                <a:off x="10003" y="6958"/>
                <a:ext cx="1161" cy="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距离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对齐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36" name="上箭头 65"/>
            <p:cNvSpPr/>
            <p:nvPr>
              <p:custDataLst>
                <p:tags r:id="rId17"/>
              </p:custDataLst>
            </p:nvPr>
          </p:nvSpPr>
          <p:spPr>
            <a:xfrm rot="10800000">
              <a:off x="9015" y="3264"/>
              <a:ext cx="492" cy="544"/>
            </a:xfrm>
            <a:prstGeom prst="up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7" name="上箭头 236"/>
            <p:cNvSpPr/>
            <p:nvPr>
              <p:custDataLst>
                <p:tags r:id="rId18"/>
              </p:custDataLst>
            </p:nvPr>
          </p:nvSpPr>
          <p:spPr>
            <a:xfrm rot="10800000">
              <a:off x="9015" y="5488"/>
              <a:ext cx="492" cy="544"/>
            </a:xfrm>
            <a:prstGeom prst="up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238" name="上箭头 65"/>
            <p:cNvSpPr/>
            <p:nvPr>
              <p:custDataLst>
                <p:tags r:id="rId19"/>
              </p:custDataLst>
            </p:nvPr>
          </p:nvSpPr>
          <p:spPr>
            <a:xfrm rot="10800000">
              <a:off x="9015" y="8103"/>
              <a:ext cx="492" cy="544"/>
            </a:xfrm>
            <a:prstGeom prst="up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endParaRPr>
            </a:p>
          </p:txBody>
        </p:sp>
        <p:grpSp>
          <p:nvGrpSpPr>
            <p:cNvPr id="255" name="组合 254"/>
            <p:cNvGrpSpPr/>
            <p:nvPr/>
          </p:nvGrpSpPr>
          <p:grpSpPr>
            <a:xfrm rot="0">
              <a:off x="7351" y="4036"/>
              <a:ext cx="3852" cy="1365"/>
              <a:chOff x="7336" y="4181"/>
              <a:chExt cx="3852" cy="1365"/>
            </a:xfrm>
          </p:grpSpPr>
          <p:sp>
            <p:nvSpPr>
              <p:cNvPr id="175" name="文本框 174"/>
              <p:cNvSpPr txBox="1"/>
              <p:nvPr/>
            </p:nvSpPr>
            <p:spPr>
              <a:xfrm>
                <a:off x="7336" y="5028"/>
                <a:ext cx="1161" cy="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响应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8708" y="5032"/>
                <a:ext cx="1161" cy="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特征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7" name="文本框 176"/>
              <p:cNvSpPr txBox="1"/>
              <p:nvPr/>
            </p:nvSpPr>
            <p:spPr>
              <a:xfrm>
                <a:off x="10027" y="5041"/>
                <a:ext cx="1161" cy="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关系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pic>
            <p:nvPicPr>
              <p:cNvPr id="249" name="图片 248" descr="crm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026" y="4230"/>
                <a:ext cx="967" cy="844"/>
              </a:xfrm>
              <a:prstGeom prst="rect">
                <a:avLst/>
              </a:prstGeom>
            </p:spPr>
          </p:pic>
          <p:pic>
            <p:nvPicPr>
              <p:cNvPr id="250" name="图片 249" descr="team-work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61" y="4190"/>
                <a:ext cx="967" cy="844"/>
              </a:xfrm>
              <a:prstGeom prst="rect">
                <a:avLst/>
              </a:prstGeom>
            </p:spPr>
          </p:pic>
          <p:pic>
            <p:nvPicPr>
              <p:cNvPr id="251" name="图片 250" descr="responsibilities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29" y="4181"/>
                <a:ext cx="967" cy="844"/>
              </a:xfrm>
              <a:prstGeom prst="rect">
                <a:avLst/>
              </a:prstGeom>
            </p:spPr>
          </p:pic>
        </p:grpSp>
        <p:pic>
          <p:nvPicPr>
            <p:cNvPr id="253" name="图片 252"/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9472" y="8274"/>
              <a:ext cx="1521" cy="1151"/>
            </a:xfrm>
            <a:prstGeom prst="rect">
              <a:avLst/>
            </a:prstGeom>
          </p:spPr>
        </p:pic>
        <p:grpSp>
          <p:nvGrpSpPr>
            <p:cNvPr id="261" name="组合 260"/>
            <p:cNvGrpSpPr/>
            <p:nvPr/>
          </p:nvGrpSpPr>
          <p:grpSpPr>
            <a:xfrm rot="0">
              <a:off x="11333" y="3332"/>
              <a:ext cx="592" cy="5002"/>
              <a:chOff x="19660" y="3439"/>
              <a:chExt cx="592" cy="5002"/>
            </a:xfrm>
          </p:grpSpPr>
          <p:sp>
            <p:nvSpPr>
              <p:cNvPr id="260" name="圆角矩形 259"/>
              <p:cNvSpPr/>
              <p:nvPr/>
            </p:nvSpPr>
            <p:spPr>
              <a:xfrm>
                <a:off x="19723" y="3439"/>
                <a:ext cx="466" cy="5002"/>
              </a:xfrm>
              <a:prstGeom prst="roundRect">
                <a:avLst/>
              </a:prstGeom>
              <a:solidFill>
                <a:srgbClr val="C000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endParaRPr lang="zh-CN" altLang="en-US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174" name="文本框 173"/>
              <p:cNvSpPr txBox="1"/>
              <p:nvPr/>
            </p:nvSpPr>
            <p:spPr>
              <a:xfrm>
                <a:off x="19660" y="3624"/>
                <a:ext cx="592" cy="4633"/>
              </a:xfrm>
              <a:prstGeom prst="rect">
                <a:avLst/>
              </a:prstGeom>
              <a:noFill/>
            </p:spPr>
            <p:txBody>
              <a:bodyPr vert="eaVert" wrap="square" rtlCol="0">
                <a:no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跨平台的多粒度知识解耦与对齐</a:t>
                </a:r>
                <a:endParaRPr lang="zh-CN" altLang="en-US" sz="14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207" name="文本框 206"/>
          <p:cNvSpPr txBox="1"/>
          <p:nvPr/>
        </p:nvSpPr>
        <p:spPr>
          <a:xfrm>
            <a:off x="9883140" y="2343785"/>
            <a:ext cx="935355" cy="471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决策特征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09" name="图片 208" descr="ruler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47555" y="5312410"/>
            <a:ext cx="662305" cy="576580"/>
          </a:xfrm>
          <a:prstGeom prst="rect">
            <a:avLst/>
          </a:prstGeom>
        </p:spPr>
      </p:pic>
      <p:sp>
        <p:nvSpPr>
          <p:cNvPr id="210" name="文本框 209"/>
          <p:cNvSpPr txBox="1"/>
          <p:nvPr/>
        </p:nvSpPr>
        <p:spPr>
          <a:xfrm>
            <a:off x="8503920" y="5358130"/>
            <a:ext cx="1069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综合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指标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68" name="组合 267"/>
          <p:cNvGrpSpPr/>
          <p:nvPr/>
        </p:nvGrpSpPr>
        <p:grpSpPr>
          <a:xfrm rot="0">
            <a:off x="7963535" y="3881120"/>
            <a:ext cx="2969260" cy="1264285"/>
            <a:chOff x="12593" y="6121"/>
            <a:chExt cx="4844" cy="2068"/>
          </a:xfrm>
        </p:grpSpPr>
        <p:sp>
          <p:nvSpPr>
            <p:cNvPr id="196" name="文本框 195"/>
            <p:cNvSpPr txBox="1"/>
            <p:nvPr/>
          </p:nvSpPr>
          <p:spPr>
            <a:xfrm>
              <a:off x="12701" y="7306"/>
              <a:ext cx="1832" cy="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输出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一致性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4232" y="7300"/>
              <a:ext cx="1832" cy="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中间特征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相似性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8" name="文本框 197"/>
            <p:cNvSpPr txBox="1"/>
            <p:nvPr/>
          </p:nvSpPr>
          <p:spPr>
            <a:xfrm>
              <a:off x="15761" y="7307"/>
              <a:ext cx="1676" cy="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决策路径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保真度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02" name="图片 201" descr="accountability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924" y="6165"/>
              <a:ext cx="1307" cy="1141"/>
            </a:xfrm>
            <a:prstGeom prst="rect">
              <a:avLst/>
            </a:prstGeom>
          </p:spPr>
        </p:pic>
        <p:pic>
          <p:nvPicPr>
            <p:cNvPr id="204" name="图片 203" descr="equality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4482" y="6121"/>
              <a:ext cx="1314" cy="1147"/>
            </a:xfrm>
            <a:prstGeom prst="rect">
              <a:avLst/>
            </a:prstGeom>
          </p:spPr>
        </p:pic>
        <p:pic>
          <p:nvPicPr>
            <p:cNvPr id="208" name="图片 207" descr="truth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6172" y="6344"/>
              <a:ext cx="949" cy="828"/>
            </a:xfrm>
            <a:prstGeom prst="rect">
              <a:avLst/>
            </a:prstGeom>
          </p:spPr>
        </p:pic>
        <p:sp>
          <p:nvSpPr>
            <p:cNvPr id="239" name="矩形: 圆角 33"/>
            <p:cNvSpPr/>
            <p:nvPr/>
          </p:nvSpPr>
          <p:spPr>
            <a:xfrm rot="5400000">
              <a:off x="13920" y="4864"/>
              <a:ext cx="1997" cy="4652"/>
            </a:xfrm>
            <a:prstGeom prst="roundRect">
              <a:avLst>
                <a:gd name="adj" fmla="val 6238"/>
              </a:avLst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65" name="组合 264"/>
          <p:cNvGrpSpPr/>
          <p:nvPr/>
        </p:nvGrpSpPr>
        <p:grpSpPr>
          <a:xfrm rot="0">
            <a:off x="7930515" y="1652270"/>
            <a:ext cx="2896235" cy="1005205"/>
            <a:chOff x="12539" y="2475"/>
            <a:chExt cx="4725" cy="1644"/>
          </a:xfrm>
        </p:grpSpPr>
        <p:pic>
          <p:nvPicPr>
            <p:cNvPr id="203" name="图片 202" descr="中间层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4371" y="2475"/>
              <a:ext cx="1239" cy="1081"/>
            </a:xfrm>
            <a:prstGeom prst="rect">
              <a:avLst/>
            </a:prstGeom>
          </p:spPr>
        </p:pic>
        <p:sp>
          <p:nvSpPr>
            <p:cNvPr id="205" name="文本框 204"/>
            <p:cNvSpPr txBox="1"/>
            <p:nvPr/>
          </p:nvSpPr>
          <p:spPr>
            <a:xfrm>
              <a:off x="12539" y="3606"/>
              <a:ext cx="1832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输出分布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14228" y="3615"/>
              <a:ext cx="1638" cy="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中间特征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99" name="图片 198" descr="area-chart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2927" y="2566"/>
              <a:ext cx="1080" cy="943"/>
            </a:xfrm>
            <a:prstGeom prst="rect">
              <a:avLst/>
            </a:prstGeom>
          </p:spPr>
        </p:pic>
        <p:pic>
          <p:nvPicPr>
            <p:cNvPr id="200" name="图片 199" descr="choice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6087" y="2627"/>
              <a:ext cx="931" cy="812"/>
            </a:xfrm>
            <a:prstGeom prst="rect">
              <a:avLst/>
            </a:prstGeom>
          </p:spPr>
        </p:pic>
        <p:sp>
          <p:nvSpPr>
            <p:cNvPr id="240" name="矩形: 圆角 33"/>
            <p:cNvSpPr/>
            <p:nvPr/>
          </p:nvSpPr>
          <p:spPr>
            <a:xfrm rot="5400000">
              <a:off x="14122" y="948"/>
              <a:ext cx="1615" cy="4669"/>
            </a:xfrm>
            <a:prstGeom prst="roundRect">
              <a:avLst>
                <a:gd name="adj" fmla="val 6238"/>
              </a:avLst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67" name="组合 266"/>
          <p:cNvGrpSpPr/>
          <p:nvPr/>
        </p:nvGrpSpPr>
        <p:grpSpPr>
          <a:xfrm rot="0">
            <a:off x="7964170" y="2909570"/>
            <a:ext cx="2861310" cy="700405"/>
            <a:chOff x="12594" y="4583"/>
            <a:chExt cx="4668" cy="1146"/>
          </a:xfrm>
        </p:grpSpPr>
        <p:sp>
          <p:nvSpPr>
            <p:cNvPr id="243" name="矩形: 圆角 33"/>
            <p:cNvSpPr/>
            <p:nvPr/>
          </p:nvSpPr>
          <p:spPr>
            <a:xfrm rot="5400000">
              <a:off x="14355" y="2822"/>
              <a:ext cx="1146" cy="4669"/>
            </a:xfrm>
            <a:prstGeom prst="roundRect">
              <a:avLst>
                <a:gd name="adj" fmla="val 6238"/>
              </a:avLst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pSp>
          <p:nvGrpSpPr>
            <p:cNvPr id="266" name="组合 265"/>
            <p:cNvGrpSpPr/>
            <p:nvPr/>
          </p:nvGrpSpPr>
          <p:grpSpPr>
            <a:xfrm>
              <a:off x="12678" y="4735"/>
              <a:ext cx="4519" cy="844"/>
              <a:chOff x="12678" y="4759"/>
              <a:chExt cx="4519" cy="844"/>
            </a:xfrm>
          </p:grpSpPr>
          <p:sp>
            <p:nvSpPr>
              <p:cNvPr id="242" name="矩形: 圆角 7"/>
              <p:cNvSpPr/>
              <p:nvPr/>
            </p:nvSpPr>
            <p:spPr>
              <a:xfrm>
                <a:off x="12678" y="4759"/>
                <a:ext cx="1451" cy="844"/>
              </a:xfrm>
              <a:prstGeom prst="roundRect">
                <a:avLst/>
              </a:prstGeom>
              <a:solidFill>
                <a:srgbClr val="F6FBFF"/>
              </a:solidFill>
              <a:ln w="19050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KL散度</a:t>
                </a:r>
                <a:endPara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4" name="矩形: 圆角 7"/>
              <p:cNvSpPr/>
              <p:nvPr/>
            </p:nvSpPr>
            <p:spPr>
              <a:xfrm>
                <a:off x="14213" y="4759"/>
                <a:ext cx="1450" cy="844"/>
              </a:xfrm>
              <a:prstGeom prst="roundRect">
                <a:avLst/>
              </a:prstGeom>
              <a:solidFill>
                <a:srgbClr val="F6FBFF"/>
              </a:solidFill>
              <a:ln w="19050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中心核对齐</a:t>
                </a:r>
                <a:endPara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6" name="矩形: 圆角 7"/>
              <p:cNvSpPr/>
              <p:nvPr/>
            </p:nvSpPr>
            <p:spPr>
              <a:xfrm>
                <a:off x="15747" y="4759"/>
                <a:ext cx="1450" cy="844"/>
              </a:xfrm>
              <a:prstGeom prst="roundRect">
                <a:avLst/>
              </a:prstGeom>
              <a:solidFill>
                <a:srgbClr val="F6FBFF"/>
              </a:solidFill>
              <a:ln w="19050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400" b="1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Jaccard系数</a:t>
                </a:r>
                <a:endPara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47" name="上箭头 65"/>
          <p:cNvSpPr/>
          <p:nvPr>
            <p:custDataLst>
              <p:tags r:id="rId31"/>
            </p:custDataLst>
          </p:nvPr>
        </p:nvSpPr>
        <p:spPr>
          <a:xfrm rot="10800000">
            <a:off x="9304655" y="2635885"/>
            <a:ext cx="269875" cy="297180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2" name="圆角矩形 261"/>
          <p:cNvSpPr/>
          <p:nvPr/>
        </p:nvSpPr>
        <p:spPr>
          <a:xfrm>
            <a:off x="10905173" y="2030730"/>
            <a:ext cx="285750" cy="3264535"/>
          </a:xfrm>
          <a:prstGeom prst="roundRect">
            <a:avLst/>
          </a:prstGeom>
          <a:solidFill>
            <a:srgbClr val="0156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b="1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0798175" y="2105025"/>
            <a:ext cx="442595" cy="31159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面向连续多维感知任务的动态保真度量</a:t>
            </a:r>
            <a:endParaRPr lang="zh-CN" altLang="en-US" sz="1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D50E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9" name="上箭头 65"/>
          <p:cNvSpPr/>
          <p:nvPr>
            <p:custDataLst>
              <p:tags r:id="rId32"/>
            </p:custDataLst>
          </p:nvPr>
        </p:nvSpPr>
        <p:spPr>
          <a:xfrm rot="10800000">
            <a:off x="9304655" y="3627120"/>
            <a:ext cx="269875" cy="297180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389890" y="673100"/>
            <a:ext cx="11412855" cy="577088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: 圆角 3"/>
          <p:cNvSpPr/>
          <p:nvPr/>
        </p:nvSpPr>
        <p:spPr>
          <a:xfrm>
            <a:off x="2789873" y="415290"/>
            <a:ext cx="6612890" cy="45974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基于多粒度解耦与人在回路的端侧高保真知识蒸馏</a:t>
            </a:r>
            <a:endParaRPr lang="zh-CN" altLang="en-US" b="1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959485" y="1339850"/>
            <a:ext cx="10273030" cy="4728845"/>
            <a:chOff x="1658" y="2110"/>
            <a:chExt cx="16178" cy="7447"/>
          </a:xfrm>
        </p:grpSpPr>
        <p:sp>
          <p:nvSpPr>
            <p:cNvPr id="50" name="矩形: 圆角 100"/>
            <p:cNvSpPr/>
            <p:nvPr/>
          </p:nvSpPr>
          <p:spPr>
            <a:xfrm>
              <a:off x="4810" y="2110"/>
              <a:ext cx="8475" cy="3773"/>
            </a:xfrm>
            <a:prstGeom prst="roundRect">
              <a:avLst>
                <a:gd name="adj" fmla="val 6238"/>
              </a:avLst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1" name="矩形: 圆角 107"/>
            <p:cNvSpPr txBox="1"/>
            <p:nvPr/>
          </p:nvSpPr>
          <p:spPr>
            <a:xfrm>
              <a:off x="1658" y="2456"/>
              <a:ext cx="2226" cy="2138"/>
            </a:xfrm>
            <a:prstGeom prst="roundRect">
              <a:avLst/>
            </a:prstGeom>
            <a:solidFill>
              <a:srgbClr val="01569F"/>
            </a:solidFill>
            <a:effectLst>
              <a:outerShdw blurRad="50800" dist="38100" dir="2700000" algn="tl" rotWithShape="0">
                <a:srgbClr val="01569F">
                  <a:alpha val="40000"/>
                </a:srgbClr>
              </a:outerShdw>
            </a:effectLst>
          </p:spPr>
          <p:txBody>
            <a:bodyPr wrap="square" rtlCol="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任务请求</a:t>
              </a:r>
              <a:endPara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120" y="3719"/>
              <a:ext cx="11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低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2124" y="2555"/>
              <a:ext cx="11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高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3141" y="2509"/>
              <a:ext cx="113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协同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推理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3055" y="7210"/>
              <a:ext cx="113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分割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模型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5" name="矩形: 圆角 107"/>
            <p:cNvSpPr/>
            <p:nvPr/>
          </p:nvSpPr>
          <p:spPr>
            <a:xfrm>
              <a:off x="10176" y="2555"/>
              <a:ext cx="1949" cy="99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15875" cap="flat" cmpd="sng" algn="ctr">
              <a:solidFill>
                <a:srgbClr val="01569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5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不确定性</a:t>
              </a:r>
              <a:endParaRPr lang="zh-CN" altLang="en-US" sz="15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5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估计</a:t>
              </a:r>
              <a:endParaRPr lang="zh-CN" altLang="en-US" sz="15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6" name="矩形: 圆角 107"/>
            <p:cNvSpPr/>
            <p:nvPr/>
          </p:nvSpPr>
          <p:spPr>
            <a:xfrm>
              <a:off x="5264" y="2456"/>
              <a:ext cx="1949" cy="99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15875" cap="flat" cmpd="sng" algn="ctr">
              <a:solidFill>
                <a:srgbClr val="01569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感知与编码</a:t>
              </a:r>
              <a:endPara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565" y="5333"/>
              <a:ext cx="6967" cy="477"/>
            </a:xfrm>
            <a:prstGeom prst="rect">
              <a:avLst/>
            </a:prstGeom>
            <a:noFill/>
          </p:spPr>
          <p:txBody>
            <a:bodyPr vert="horz"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1569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基于</a:t>
              </a:r>
              <a:r>
                <a:rPr lang="zh-CN" altLang="en-US" sz="1400" b="1" noProof="0" dirty="0">
                  <a:ln>
                    <a:noFill/>
                  </a:ln>
                  <a:solidFill>
                    <a:srgbClr val="01569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任务感知与不确定性估计的智能路由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1569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1569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矩形: 圆角 33"/>
            <p:cNvSpPr/>
            <p:nvPr/>
          </p:nvSpPr>
          <p:spPr>
            <a:xfrm rot="5400000">
              <a:off x="12427" y="4056"/>
              <a:ext cx="7354" cy="3464"/>
            </a:xfrm>
            <a:prstGeom prst="roundRect">
              <a:avLst>
                <a:gd name="adj" fmla="val 6238"/>
              </a:avLst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0" name="矩形: 圆角 35"/>
            <p:cNvSpPr/>
            <p:nvPr/>
          </p:nvSpPr>
          <p:spPr>
            <a:xfrm>
              <a:off x="5050" y="2305"/>
              <a:ext cx="2423" cy="2603"/>
            </a:xfrm>
            <a:prstGeom prst="roundRect">
              <a:avLst>
                <a:gd name="adj" fmla="val 0"/>
              </a:avLst>
            </a:prstGeom>
            <a:noFill/>
            <a:ln w="19050" cmpd="sng">
              <a:solidFill>
                <a:schemeClr val="accent1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u="sng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61" name="直接箭头连接符 60"/>
            <p:cNvCxnSpPr/>
            <p:nvPr/>
          </p:nvCxnSpPr>
          <p:spPr>
            <a:xfrm>
              <a:off x="3790" y="7773"/>
              <a:ext cx="125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2772" y="4595"/>
              <a:ext cx="19" cy="1420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9547" y="3078"/>
              <a:ext cx="573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 flipV="1">
              <a:off x="3970" y="3597"/>
              <a:ext cx="491" cy="6"/>
            </a:xfrm>
            <a:prstGeom prst="straightConnector1">
              <a:avLst/>
            </a:prstGeom>
            <a:ln w="38100">
              <a:solidFill>
                <a:srgbClr val="01569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flipV="1">
              <a:off x="4461" y="2950"/>
              <a:ext cx="810" cy="4"/>
            </a:xfrm>
            <a:prstGeom prst="straightConnector1">
              <a:avLst/>
            </a:prstGeom>
            <a:ln w="38100">
              <a:solidFill>
                <a:srgbClr val="01569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: 圆角 107"/>
            <p:cNvSpPr/>
            <p:nvPr/>
          </p:nvSpPr>
          <p:spPr>
            <a:xfrm>
              <a:off x="5264" y="3774"/>
              <a:ext cx="1949" cy="99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15875" cap="flat" cmpd="sng" algn="ctr">
              <a:solidFill>
                <a:srgbClr val="01569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5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相关性建模</a:t>
              </a:r>
              <a:endParaRPr lang="zh-CN" altLang="en-US" sz="15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71" name="图片 70" descr="任务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56" y="2792"/>
              <a:ext cx="866" cy="798"/>
            </a:xfrm>
            <a:prstGeom prst="rect">
              <a:avLst/>
            </a:prstGeom>
          </p:spPr>
        </p:pic>
        <p:cxnSp>
          <p:nvCxnSpPr>
            <p:cNvPr id="72" name="直接箭头连接符 71"/>
            <p:cNvCxnSpPr/>
            <p:nvPr/>
          </p:nvCxnSpPr>
          <p:spPr>
            <a:xfrm flipV="1">
              <a:off x="4446" y="2922"/>
              <a:ext cx="1" cy="1393"/>
            </a:xfrm>
            <a:prstGeom prst="straightConnector1">
              <a:avLst/>
            </a:prstGeom>
            <a:ln w="38100">
              <a:solidFill>
                <a:srgbClr val="01569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flipV="1">
              <a:off x="4461" y="4278"/>
              <a:ext cx="810" cy="4"/>
            </a:xfrm>
            <a:prstGeom prst="straightConnector1">
              <a:avLst/>
            </a:prstGeom>
            <a:ln w="38100">
              <a:solidFill>
                <a:srgbClr val="01569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图片 76" descr="强化学习-reinforcementLearning-lin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6" y="2230"/>
              <a:ext cx="1764" cy="1534"/>
            </a:xfrm>
            <a:prstGeom prst="rect">
              <a:avLst/>
            </a:prstGeom>
          </p:spPr>
        </p:pic>
        <p:sp>
          <p:nvSpPr>
            <p:cNvPr id="78" name="文本框 77"/>
            <p:cNvSpPr txBox="1"/>
            <p:nvPr/>
          </p:nvSpPr>
          <p:spPr>
            <a:xfrm>
              <a:off x="7960" y="3508"/>
              <a:ext cx="1856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强化学习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81" name="直接箭头连接符 80"/>
            <p:cNvCxnSpPr/>
            <p:nvPr/>
          </p:nvCxnSpPr>
          <p:spPr>
            <a:xfrm flipV="1">
              <a:off x="7230" y="2945"/>
              <a:ext cx="810" cy="4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/>
            <p:nvPr/>
          </p:nvCxnSpPr>
          <p:spPr>
            <a:xfrm>
              <a:off x="7213" y="4292"/>
              <a:ext cx="1620" cy="7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 flipH="1">
              <a:off x="8819" y="3948"/>
              <a:ext cx="2" cy="373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 flipH="1" flipV="1">
              <a:off x="11148" y="3590"/>
              <a:ext cx="2" cy="746"/>
            </a:xfrm>
            <a:prstGeom prst="straightConnector1">
              <a:avLst/>
            </a:prstGeom>
            <a:ln w="6985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: 圆角 107"/>
            <p:cNvSpPr/>
            <p:nvPr/>
          </p:nvSpPr>
          <p:spPr>
            <a:xfrm>
              <a:off x="10176" y="4342"/>
              <a:ext cx="1949" cy="99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15875" cap="flat" cmpd="sng" algn="ctr">
              <a:solidFill>
                <a:srgbClr val="01569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5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端侧推理</a:t>
              </a:r>
              <a:endParaRPr lang="zh-CN" altLang="en-US" sz="15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2" name="矩形: 圆角 101"/>
            <p:cNvSpPr/>
            <p:nvPr/>
          </p:nvSpPr>
          <p:spPr>
            <a:xfrm>
              <a:off x="4810" y="6093"/>
              <a:ext cx="8475" cy="3371"/>
            </a:xfrm>
            <a:prstGeom prst="roundRect">
              <a:avLst>
                <a:gd name="adj" fmla="val 6238"/>
              </a:avLst>
            </a:prstGeom>
            <a:solidFill>
              <a:schemeClr val="accent6">
                <a:lumMod val="20000"/>
                <a:lumOff val="80000"/>
                <a:alpha val="15000"/>
              </a:schemeClr>
            </a:solidFill>
            <a:ln w="19050" cmpd="sng">
              <a:gradFill>
                <a:gsLst>
                  <a:gs pos="0">
                    <a:srgbClr val="C00000">
                      <a:alpha val="48000"/>
                    </a:srgbClr>
                  </a:gs>
                  <a:gs pos="52000">
                    <a:srgbClr val="C00000">
                      <a:alpha val="32000"/>
                    </a:srgbClr>
                  </a:gs>
                  <a:gs pos="100000">
                    <a:srgbClr val="C00000"/>
                  </a:gs>
                </a:gsLst>
                <a:lin ang="5400000" scaled="0"/>
              </a:gra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11765" y="6412"/>
              <a:ext cx="1170" cy="53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D50E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94" name="直接箭头连接符 93"/>
            <p:cNvCxnSpPr/>
            <p:nvPr/>
          </p:nvCxnSpPr>
          <p:spPr>
            <a:xfrm>
              <a:off x="9534" y="7785"/>
              <a:ext cx="743" cy="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矩形: 圆角 107"/>
            <p:cNvSpPr/>
            <p:nvPr/>
          </p:nvSpPr>
          <p:spPr>
            <a:xfrm>
              <a:off x="10363" y="7353"/>
              <a:ext cx="1488" cy="88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53000"/>
              </a:schemeClr>
            </a:solidFill>
            <a:ln w="19050" cmpd="sng">
              <a:solidFill>
                <a:srgbClr val="C00000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b" anchorCtr="0" forceAA="0" compatLnSpc="1">
              <a:noAutofit/>
            </a:bodyPr>
            <a:lstStyle/>
            <a:p>
              <a:pPr marL="23495" lvl="0" algn="just" eaLnBrk="0">
                <a:lnSpc>
                  <a:spcPct val="87000"/>
                </a:lnSpc>
                <a:spcBef>
                  <a:spcPts val="515"/>
                </a:spcBef>
                <a:buClrTx/>
                <a:buSzTx/>
                <a:buFontTx/>
              </a:pPr>
              <a:endParaRPr sz="14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苹方-简" panose="020B0400000000000000" charset="-122"/>
                <a:sym typeface="+mn-ea"/>
              </a:endParaRPr>
            </a:p>
          </p:txBody>
        </p:sp>
        <p:sp>
          <p:nvSpPr>
            <p:cNvPr id="98" name="矩形: 圆角 107"/>
            <p:cNvSpPr/>
            <p:nvPr/>
          </p:nvSpPr>
          <p:spPr>
            <a:xfrm>
              <a:off x="5078" y="7389"/>
              <a:ext cx="1594" cy="72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53000"/>
              </a:schemeClr>
            </a:solidFill>
            <a:ln w="19050" cmpd="sng">
              <a:solidFill>
                <a:srgbClr val="C00000"/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b" anchorCtr="0" forceAA="0" compatLnSpc="1">
              <a:noAutofit/>
            </a:bodyPr>
            <a:lstStyle/>
            <a:p>
              <a:pPr marL="23495" lvl="0" algn="just" eaLnBrk="0">
                <a:lnSpc>
                  <a:spcPct val="87000"/>
                </a:lnSpc>
                <a:spcBef>
                  <a:spcPts val="515"/>
                </a:spcBef>
                <a:buClrTx/>
                <a:buSzTx/>
                <a:buFontTx/>
              </a:pPr>
              <a:endParaRPr sz="14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苹方-简" panose="020B0400000000000000" charset="-122"/>
                <a:sym typeface="+mn-ea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>
            <a:xfrm>
              <a:off x="6672" y="7788"/>
              <a:ext cx="809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/>
            <p:nvPr/>
          </p:nvCxnSpPr>
          <p:spPr>
            <a:xfrm flipV="1">
              <a:off x="7068" y="8240"/>
              <a:ext cx="519" cy="3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/>
            <p:nvPr/>
          </p:nvCxnSpPr>
          <p:spPr>
            <a:xfrm>
              <a:off x="7068" y="7059"/>
              <a:ext cx="519" cy="33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 flipH="1">
              <a:off x="9686" y="7059"/>
              <a:ext cx="257" cy="64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本框 107"/>
            <p:cNvSpPr txBox="1"/>
            <p:nvPr/>
          </p:nvSpPr>
          <p:spPr>
            <a:xfrm>
              <a:off x="7586" y="8170"/>
              <a:ext cx="1993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有向无环图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09" name="直接箭头连接符 108"/>
            <p:cNvCxnSpPr/>
            <p:nvPr/>
          </p:nvCxnSpPr>
          <p:spPr>
            <a:xfrm flipH="1" flipV="1">
              <a:off x="9686" y="7926"/>
              <a:ext cx="257" cy="64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/>
            <p:cNvSpPr txBox="1"/>
            <p:nvPr/>
          </p:nvSpPr>
          <p:spPr>
            <a:xfrm>
              <a:off x="12124" y="6093"/>
              <a:ext cx="908" cy="3464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计算卸载与模型分割的动态优化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>
            <a:xfrm>
              <a:off x="12124" y="3078"/>
              <a:ext cx="2281" cy="0"/>
            </a:xfrm>
            <a:prstGeom prst="straightConnector1">
              <a:avLst/>
            </a:prstGeom>
            <a:ln w="6985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本框 114"/>
            <p:cNvSpPr txBox="1"/>
            <p:nvPr/>
          </p:nvSpPr>
          <p:spPr>
            <a:xfrm>
              <a:off x="17100" y="2647"/>
              <a:ext cx="706" cy="6086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1569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端侧草稿生成与云侧并行验证的协同加速</a:t>
              </a:r>
              <a:endParaRPr lang="zh-CN" altLang="en-US" sz="1400" b="1" noProof="0" dirty="0">
                <a:ln>
                  <a:noFill/>
                </a:ln>
                <a:solidFill>
                  <a:srgbClr val="01569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569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23" name="图片 122" descr="草稿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30" y="4187"/>
              <a:ext cx="969" cy="893"/>
            </a:xfrm>
            <a:prstGeom prst="rect">
              <a:avLst/>
            </a:prstGeom>
          </p:spPr>
        </p:pic>
        <p:cxnSp>
          <p:nvCxnSpPr>
            <p:cNvPr id="128" name="直接箭头连接符 127"/>
            <p:cNvCxnSpPr/>
            <p:nvPr/>
          </p:nvCxnSpPr>
          <p:spPr>
            <a:xfrm flipH="1" flipV="1">
              <a:off x="15164" y="3506"/>
              <a:ext cx="2" cy="684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15485" y="4175"/>
              <a:ext cx="631" cy="834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草稿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37" name="直接箭头连接符 136"/>
            <p:cNvCxnSpPr/>
            <p:nvPr/>
          </p:nvCxnSpPr>
          <p:spPr>
            <a:xfrm flipH="1" flipV="1">
              <a:off x="15168" y="5097"/>
              <a:ext cx="2" cy="684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/>
            <p:cNvCxnSpPr/>
            <p:nvPr/>
          </p:nvCxnSpPr>
          <p:spPr>
            <a:xfrm flipH="1">
              <a:off x="16133" y="3528"/>
              <a:ext cx="2" cy="2176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文本框 139"/>
            <p:cNvSpPr txBox="1"/>
            <p:nvPr/>
          </p:nvSpPr>
          <p:spPr>
            <a:xfrm>
              <a:off x="16133" y="4044"/>
              <a:ext cx="631" cy="1374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蒸馏分布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41" name="直接箭头连接符 140"/>
            <p:cNvCxnSpPr/>
            <p:nvPr/>
          </p:nvCxnSpPr>
          <p:spPr>
            <a:xfrm flipH="1" flipV="1">
              <a:off x="15662" y="6976"/>
              <a:ext cx="2" cy="1442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矩形: 圆角 107"/>
            <p:cNvSpPr/>
            <p:nvPr/>
          </p:nvSpPr>
          <p:spPr>
            <a:xfrm>
              <a:off x="14916" y="8406"/>
              <a:ext cx="1705" cy="89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15875" cap="flat" cmpd="sng" algn="ctr">
              <a:solidFill>
                <a:srgbClr val="01569F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5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输出</a:t>
              </a:r>
              <a:endParaRPr lang="zh-CN" altLang="en-US" sz="15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15796" y="6901"/>
              <a:ext cx="500" cy="1374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拒绝采样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133" y="7198"/>
              <a:ext cx="112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端侧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2159" y="9067"/>
              <a:ext cx="107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云侧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164" name="组合 163"/>
            <p:cNvGrpSpPr/>
            <p:nvPr/>
          </p:nvGrpSpPr>
          <p:grpSpPr>
            <a:xfrm rot="0">
              <a:off x="3447" y="6867"/>
              <a:ext cx="343" cy="1866"/>
              <a:chOff x="3452" y="6412"/>
              <a:chExt cx="343" cy="1866"/>
            </a:xfrm>
          </p:grpSpPr>
          <p:cxnSp>
            <p:nvCxnSpPr>
              <p:cNvPr id="119" name="直接箭头连接符 118"/>
              <p:cNvCxnSpPr/>
              <p:nvPr/>
            </p:nvCxnSpPr>
            <p:spPr>
              <a:xfrm flipV="1">
                <a:off x="3795" y="6412"/>
                <a:ext cx="1" cy="1866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/>
              <p:cNvCxnSpPr/>
              <p:nvPr/>
            </p:nvCxnSpPr>
            <p:spPr>
              <a:xfrm>
                <a:off x="3453" y="6448"/>
                <a:ext cx="343" cy="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/>
              <p:cNvCxnSpPr/>
              <p:nvPr/>
            </p:nvCxnSpPr>
            <p:spPr>
              <a:xfrm>
                <a:off x="3452" y="8247"/>
                <a:ext cx="343" cy="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4" name="Picture 2" descr="Manufacturing 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1" y="6016"/>
              <a:ext cx="1350" cy="1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5" name="图片 144" descr="server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7" y="7906"/>
              <a:ext cx="1599" cy="1473"/>
            </a:xfrm>
            <a:prstGeom prst="rect">
              <a:avLst/>
            </a:prstGeom>
          </p:spPr>
        </p:pic>
        <p:pic>
          <p:nvPicPr>
            <p:cNvPr id="146" name="图片 145" descr="knowledge-graph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8006" y="7127"/>
              <a:ext cx="1154" cy="1063"/>
            </a:xfrm>
            <a:prstGeom prst="rect">
              <a:avLst/>
            </a:prstGeom>
          </p:spPr>
        </p:pic>
        <p:sp>
          <p:nvSpPr>
            <p:cNvPr id="147" name="文本框 146"/>
            <p:cNvSpPr txBox="1"/>
            <p:nvPr/>
          </p:nvSpPr>
          <p:spPr>
            <a:xfrm>
              <a:off x="6584" y="6395"/>
              <a:ext cx="1856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时延计算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48" name="图片 147" descr="expire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10" y="6201"/>
              <a:ext cx="945" cy="871"/>
            </a:xfrm>
            <a:prstGeom prst="rect">
              <a:avLst/>
            </a:prstGeom>
          </p:spPr>
        </p:pic>
        <p:sp>
          <p:nvSpPr>
            <p:cNvPr id="149" name="文本框 148"/>
            <p:cNvSpPr txBox="1"/>
            <p:nvPr/>
          </p:nvSpPr>
          <p:spPr>
            <a:xfrm>
              <a:off x="6584" y="8834"/>
              <a:ext cx="1856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精度约束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50" name="图片 149" descr="precisi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10" y="8561"/>
              <a:ext cx="945" cy="871"/>
            </a:xfrm>
            <a:prstGeom prst="rect">
              <a:avLst/>
            </a:prstGeom>
          </p:spPr>
        </p:pic>
        <p:pic>
          <p:nvPicPr>
            <p:cNvPr id="151" name="图片 150" descr="online-traini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4" y="6201"/>
              <a:ext cx="945" cy="871"/>
            </a:xfrm>
            <a:prstGeom prst="rect">
              <a:avLst/>
            </a:prstGeom>
          </p:spPr>
        </p:pic>
        <p:sp>
          <p:nvSpPr>
            <p:cNvPr id="152" name="文本框 151"/>
            <p:cNvSpPr txBox="1"/>
            <p:nvPr/>
          </p:nvSpPr>
          <p:spPr>
            <a:xfrm>
              <a:off x="10364" y="6395"/>
              <a:ext cx="155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在线学习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53" name="图片 152" descr="speed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19" y="8600"/>
              <a:ext cx="945" cy="871"/>
            </a:xfrm>
            <a:prstGeom prst="rect">
              <a:avLst/>
            </a:prstGeom>
          </p:spPr>
        </p:pic>
        <p:sp>
          <p:nvSpPr>
            <p:cNvPr id="154" name="文本框 153"/>
            <p:cNvSpPr txBox="1"/>
            <p:nvPr/>
          </p:nvSpPr>
          <p:spPr>
            <a:xfrm>
              <a:off x="10364" y="8834"/>
              <a:ext cx="1559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优化求解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55" name="图片 154" descr="3d-modeli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995" y="2324"/>
              <a:ext cx="1282" cy="1181"/>
            </a:xfrm>
            <a:prstGeom prst="rect">
              <a:avLst/>
            </a:prstGeom>
          </p:spPr>
        </p:pic>
        <p:sp>
          <p:nvSpPr>
            <p:cNvPr id="156" name="文本框 155"/>
            <p:cNvSpPr txBox="1"/>
            <p:nvPr/>
          </p:nvSpPr>
          <p:spPr>
            <a:xfrm>
              <a:off x="16355" y="2230"/>
              <a:ext cx="969" cy="116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端侧草稿模型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57" name="图片 156" descr="chatgpt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982" y="5741"/>
              <a:ext cx="1282" cy="1181"/>
            </a:xfrm>
            <a:prstGeom prst="rect">
              <a:avLst/>
            </a:prstGeom>
          </p:spPr>
        </p:pic>
        <p:sp>
          <p:nvSpPr>
            <p:cNvPr id="158" name="文本框 157"/>
            <p:cNvSpPr txBox="1"/>
            <p:nvPr/>
          </p:nvSpPr>
          <p:spPr>
            <a:xfrm>
              <a:off x="16354" y="5740"/>
              <a:ext cx="931" cy="116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云侧大模型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59" name="直接箭头连接符 158"/>
            <p:cNvCxnSpPr/>
            <p:nvPr/>
          </p:nvCxnSpPr>
          <p:spPr>
            <a:xfrm>
              <a:off x="13093" y="7778"/>
              <a:ext cx="1249" cy="0"/>
            </a:xfrm>
            <a:prstGeom prst="straightConnector1">
              <a:avLst/>
            </a:prstGeom>
            <a:ln w="69850">
              <a:gradFill>
                <a:gsLst>
                  <a:gs pos="0">
                    <a:srgbClr val="C00000"/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5145" y="7512"/>
              <a:ext cx="146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神经网络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458" y="7386"/>
              <a:ext cx="12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最优分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割点</a:t>
              </a:r>
              <a:endParaRPr lang="zh-CN" altLang="en-US" sz="1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544830" y="652145"/>
            <a:ext cx="11102340" cy="577088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3"/>
          <p:cNvSpPr/>
          <p:nvPr/>
        </p:nvSpPr>
        <p:spPr>
          <a:xfrm>
            <a:off x="2789555" y="415925"/>
            <a:ext cx="6612890" cy="45974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基于任务感知与动态分割的云边端协同推理优化</a:t>
            </a:r>
            <a:endParaRPr lang="zh-CN" altLang="en-US" b="1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>
            <p:custDataLst>
              <p:tags r:id="rId1"/>
            </p:custDataLst>
          </p:nvPr>
        </p:nvSpPr>
        <p:spPr>
          <a:xfrm>
            <a:off x="750570" y="1049655"/>
            <a:ext cx="1464310" cy="1515110"/>
          </a:xfrm>
          <a:prstGeom prst="roundRect">
            <a:avLst>
              <a:gd name="adj" fmla="val 10420"/>
            </a:avLst>
          </a:prstGeom>
          <a:solidFill>
            <a:srgbClr val="01569F"/>
          </a:solidFill>
          <a:effectLst>
            <a:outerShdw blurRad="50800" dist="38100" dir="2700000" algn="tl" rotWithShape="0">
              <a:srgbClr val="01569F">
                <a:alpha val="40000"/>
              </a:srgbClr>
            </a:outerShdw>
          </a:effectLst>
        </p:spPr>
        <p:txBody>
          <a:bodyPr wrap="square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云侧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远程大脑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逻辑基准</a:t>
            </a:r>
            <a:r>
              <a:rPr lang="en-US" altLang="zh-CN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1" lang="en-US" altLang="zh-CN" sz="20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2" name="圆角矩形 23"/>
          <p:cNvSpPr/>
          <p:nvPr>
            <p:custDataLst>
              <p:tags r:id="rId2"/>
            </p:custDataLst>
          </p:nvPr>
        </p:nvSpPr>
        <p:spPr>
          <a:xfrm>
            <a:off x="2391410" y="1049020"/>
            <a:ext cx="9051290" cy="1516380"/>
          </a:xfrm>
          <a:prstGeom prst="roundRect">
            <a:avLst>
              <a:gd name="adj" fmla="val 7486"/>
            </a:avLst>
          </a:prstGeom>
          <a:solidFill>
            <a:srgbClr val="DAE3F5">
              <a:alpha val="67000"/>
            </a:srgb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>
            <p:custDataLst>
              <p:tags r:id="rId3"/>
            </p:custDataLst>
          </p:nvPr>
        </p:nvSpPr>
        <p:spPr>
          <a:xfrm>
            <a:off x="744855" y="2769870"/>
            <a:ext cx="1464310" cy="1618615"/>
          </a:xfrm>
          <a:prstGeom prst="roundRect">
            <a:avLst>
              <a:gd name="adj" fmla="val 10420"/>
            </a:avLst>
          </a:prstGeom>
          <a:solidFill>
            <a:srgbClr val="C00000"/>
          </a:solidFill>
          <a:effectLst>
            <a:outerShdw blurRad="50800" dist="38100" dir="2700000" algn="tl" rotWithShape="0">
              <a:srgbClr val="C00000">
                <a:alpha val="40000"/>
              </a:srgbClr>
            </a:outerShdw>
          </a:effectLst>
        </p:spPr>
        <p:txBody>
          <a:bodyPr wrap="square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边侧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异步协同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信息桥接</a:t>
            </a:r>
            <a:r>
              <a:rPr lang="en-US" altLang="zh-CN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圆角矩形 23"/>
          <p:cNvSpPr/>
          <p:nvPr>
            <p:custDataLst>
              <p:tags r:id="rId4"/>
            </p:custDataLst>
          </p:nvPr>
        </p:nvSpPr>
        <p:spPr>
          <a:xfrm>
            <a:off x="2390775" y="2769870"/>
            <a:ext cx="9051290" cy="1618615"/>
          </a:xfrm>
          <a:prstGeom prst="roundRect">
            <a:avLst>
              <a:gd name="adj" fmla="val 7486"/>
            </a:avLst>
          </a:prstGeom>
          <a:solidFill>
            <a:schemeClr val="accent6">
              <a:lumMod val="20000"/>
              <a:lumOff val="80000"/>
              <a:alpha val="67000"/>
            </a:schemeClr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4" name="文本框 123"/>
          <p:cNvSpPr txBox="1"/>
          <p:nvPr>
            <p:custDataLst>
              <p:tags r:id="rId5"/>
            </p:custDataLst>
          </p:nvPr>
        </p:nvSpPr>
        <p:spPr>
          <a:xfrm>
            <a:off x="750570" y="4594860"/>
            <a:ext cx="1464310" cy="1618615"/>
          </a:xfrm>
          <a:prstGeom prst="roundRect">
            <a:avLst>
              <a:gd name="adj" fmla="val 10420"/>
            </a:avLst>
          </a:prstGeom>
          <a:solidFill>
            <a:srgbClr val="01569F"/>
          </a:solidFill>
          <a:effectLst>
            <a:outerShdw blurRad="50800" dist="38100" dir="2700000" algn="tl" rotWithShape="0">
              <a:srgbClr val="01569F">
                <a:alpha val="40000"/>
              </a:srgbClr>
            </a:outerShdw>
          </a:effectLst>
        </p:spPr>
        <p:txBody>
          <a:bodyPr wrap="square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端侧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任务执行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敏捷修正</a:t>
            </a:r>
            <a:r>
              <a:rPr lang="en-US" altLang="zh-CN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5" name="圆角矩形 23"/>
          <p:cNvSpPr/>
          <p:nvPr>
            <p:custDataLst>
              <p:tags r:id="rId6"/>
            </p:custDataLst>
          </p:nvPr>
        </p:nvSpPr>
        <p:spPr>
          <a:xfrm>
            <a:off x="2396490" y="4594860"/>
            <a:ext cx="9051290" cy="1618615"/>
          </a:xfrm>
          <a:prstGeom prst="roundRect">
            <a:avLst>
              <a:gd name="adj" fmla="val 7486"/>
            </a:avLst>
          </a:prstGeom>
          <a:solidFill>
            <a:srgbClr val="DAE3F5">
              <a:alpha val="67000"/>
            </a:srgb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7" name="图片 136" descr="databa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1785" y="1315085"/>
            <a:ext cx="454660" cy="521970"/>
          </a:xfrm>
          <a:prstGeom prst="rect">
            <a:avLst/>
          </a:prstGeom>
        </p:spPr>
      </p:pic>
      <p:sp>
        <p:nvSpPr>
          <p:cNvPr id="138" name="矩形: 圆角 107"/>
          <p:cNvSpPr/>
          <p:nvPr/>
        </p:nvSpPr>
        <p:spPr>
          <a:xfrm>
            <a:off x="2675255" y="1992630"/>
            <a:ext cx="770255" cy="444500"/>
          </a:xfrm>
          <a:prstGeom prst="roundRect">
            <a:avLst/>
          </a:prstGeom>
          <a:solidFill>
            <a:srgbClr val="01569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感知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表征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0" name="矩形: 圆角 107"/>
          <p:cNvSpPr/>
          <p:nvPr/>
        </p:nvSpPr>
        <p:spPr>
          <a:xfrm>
            <a:off x="3809365" y="1992630"/>
            <a:ext cx="770255" cy="444500"/>
          </a:xfrm>
          <a:prstGeom prst="roundRect">
            <a:avLst/>
          </a:prstGeom>
          <a:solidFill>
            <a:srgbClr val="01569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云侧</a:t>
            </a:r>
            <a:endParaRPr lang="zh-CN" altLang="en-US" sz="1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大模型</a:t>
            </a:r>
            <a:endParaRPr lang="zh-CN" altLang="en-US" sz="1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9365" y="1237615"/>
            <a:ext cx="721360" cy="687070"/>
          </a:xfrm>
          <a:prstGeom prst="rect">
            <a:avLst/>
          </a:prstGeom>
        </p:spPr>
      </p:pic>
      <p:sp>
        <p:nvSpPr>
          <p:cNvPr id="146" name="箭头: 下 3"/>
          <p:cNvSpPr/>
          <p:nvPr/>
        </p:nvSpPr>
        <p:spPr>
          <a:xfrm rot="5400000" flipV="1">
            <a:off x="3388995" y="1475105"/>
            <a:ext cx="390525" cy="27813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147" name="箭头: 下 3"/>
          <p:cNvSpPr/>
          <p:nvPr/>
        </p:nvSpPr>
        <p:spPr>
          <a:xfrm rot="5400000" flipV="1">
            <a:off x="4559935" y="1475105"/>
            <a:ext cx="390525" cy="27813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5167630" y="1200150"/>
            <a:ext cx="18002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dirty="0">
                <a:solidFill>
                  <a:srgbClr val="0156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关键表征锚定机制</a:t>
            </a:r>
            <a:endParaRPr lang="zh-CN" sz="1400" b="1" noProof="0" dirty="0">
              <a:ln>
                <a:noFill/>
              </a:ln>
              <a:solidFill>
                <a:srgbClr val="01569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839970" y="2080895"/>
            <a:ext cx="140208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3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特征流形分布</a:t>
            </a:r>
            <a:endParaRPr lang="zh-CN" sz="13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58" name="组合 157"/>
          <p:cNvGrpSpPr/>
          <p:nvPr/>
        </p:nvGrpSpPr>
        <p:grpSpPr>
          <a:xfrm rot="0">
            <a:off x="5067935" y="1457960"/>
            <a:ext cx="2000250" cy="662305"/>
            <a:chOff x="7883" y="2358"/>
            <a:chExt cx="3329" cy="1089"/>
          </a:xfrm>
        </p:grpSpPr>
        <p:pic>
          <p:nvPicPr>
            <p:cNvPr id="150" name="图片 1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83" y="2426"/>
              <a:ext cx="1108" cy="954"/>
            </a:xfrm>
            <a:prstGeom prst="rect">
              <a:avLst/>
            </a:prstGeom>
          </p:spPr>
        </p:pic>
        <p:cxnSp>
          <p:nvCxnSpPr>
            <p:cNvPr id="151" name="直接箭头连接符 89"/>
            <p:cNvCxnSpPr/>
            <p:nvPr/>
          </p:nvCxnSpPr>
          <p:spPr>
            <a:xfrm>
              <a:off x="9232" y="2904"/>
              <a:ext cx="891" cy="9"/>
            </a:xfrm>
            <a:prstGeom prst="straightConnector1">
              <a:avLst/>
            </a:prstGeom>
            <a:ln w="38100" cap="rnd">
              <a:solidFill>
                <a:schemeClr val="accent1"/>
              </a:solidFill>
              <a:round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2" name="文本框 151"/>
            <p:cNvSpPr txBox="1"/>
            <p:nvPr/>
          </p:nvSpPr>
          <p:spPr>
            <a:xfrm>
              <a:off x="8745" y="2358"/>
              <a:ext cx="1866" cy="50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语义锚点</a:t>
              </a:r>
              <a:endParaRPr lang="zh-CN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文本框 152"/>
                <p:cNvSpPr txBox="1"/>
                <p:nvPr/>
              </p:nvSpPr>
              <p:spPr>
                <a:xfrm>
                  <a:off x="9132" y="2841"/>
                  <a:ext cx="1044" cy="606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𝑎𝑛𝑐ℎ𝑜𝑟</m:t>
                        </m:r>
                      </m:oMath>
                    </m:oMathPara>
                  </a14:m>
                  <a:endParaRPr lang="zh-CN" altLang="en-US" baseline="-25000"/>
                </a:p>
              </p:txBody>
            </p:sp>
          </mc:Choice>
          <mc:Fallback>
            <p:sp>
              <p:nvSpPr>
                <p:cNvPr id="153" name="文本框 1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2" y="2841"/>
                  <a:ext cx="1044" cy="606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318" y="2389"/>
              <a:ext cx="894" cy="841"/>
            </a:xfrm>
            <a:prstGeom prst="rect">
              <a:avLst/>
            </a:prstGeom>
          </p:spPr>
        </p:pic>
      </p:grpSp>
      <p:sp>
        <p:nvSpPr>
          <p:cNvPr id="155" name="矩形: 圆角 100"/>
          <p:cNvSpPr/>
          <p:nvPr/>
        </p:nvSpPr>
        <p:spPr>
          <a:xfrm>
            <a:off x="4979670" y="1189355"/>
            <a:ext cx="2176145" cy="1244600"/>
          </a:xfrm>
          <a:prstGeom prst="roundRect">
            <a:avLst>
              <a:gd name="adj" fmla="val 6238"/>
            </a:avLst>
          </a:prstGeom>
          <a:noFill/>
          <a:ln w="25400">
            <a:solidFill>
              <a:srgbClr val="01569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5973445" y="1996440"/>
            <a:ext cx="15195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3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核心特征</a:t>
            </a:r>
            <a:endParaRPr lang="zh-CN" sz="13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3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子空间</a:t>
            </a:r>
            <a:endParaRPr lang="zh-CN" sz="13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9" name="矩形: 圆角 100"/>
          <p:cNvSpPr/>
          <p:nvPr/>
        </p:nvSpPr>
        <p:spPr>
          <a:xfrm>
            <a:off x="7567295" y="1198880"/>
            <a:ext cx="2296795" cy="1234440"/>
          </a:xfrm>
          <a:prstGeom prst="roundRect">
            <a:avLst>
              <a:gd name="adj" fmla="val 6238"/>
            </a:avLst>
          </a:prstGeom>
          <a:noFill/>
          <a:ln w="25400">
            <a:solidFill>
              <a:srgbClr val="01569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7555865" y="1200150"/>
            <a:ext cx="23075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dirty="0">
                <a:solidFill>
                  <a:srgbClr val="0156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环境演化监测与生成增强</a:t>
            </a:r>
            <a:endParaRPr lang="zh-CN" sz="1400" b="1" dirty="0">
              <a:solidFill>
                <a:srgbClr val="01569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1" name="矩形: 圆角 107"/>
          <p:cNvSpPr/>
          <p:nvPr/>
        </p:nvSpPr>
        <p:spPr>
          <a:xfrm>
            <a:off x="8034655" y="1529080"/>
            <a:ext cx="1413510" cy="241300"/>
          </a:xfrm>
          <a:prstGeom prst="roundRect">
            <a:avLst/>
          </a:prstGeom>
          <a:solidFill>
            <a:srgbClr val="F6FBF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300" b="1" i="0" u="none" strike="noStrike" kern="1200" cap="none" spc="0" normalizeH="0" baseline="0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不确定性评估</a:t>
            </a:r>
            <a:endParaRPr kumimoji="0" lang="zh-CN" sz="1300" b="1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2" name="矩形: 圆角 107"/>
          <p:cNvSpPr/>
          <p:nvPr/>
        </p:nvSpPr>
        <p:spPr>
          <a:xfrm>
            <a:off x="8034655" y="2062480"/>
            <a:ext cx="1413510" cy="241300"/>
          </a:xfrm>
          <a:prstGeom prst="roundRect">
            <a:avLst/>
          </a:prstGeom>
          <a:solidFill>
            <a:srgbClr val="F6FBF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300" b="1" i="0" u="none" strike="noStrike" kern="1200" cap="none" spc="0" normalizeH="0" baseline="0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增强数据生成</a:t>
            </a:r>
            <a:endParaRPr kumimoji="0" lang="zh-CN" sz="1300" b="1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63" name="肘形连接符 162"/>
          <p:cNvCxnSpPr/>
          <p:nvPr/>
        </p:nvCxnSpPr>
        <p:spPr>
          <a:xfrm rot="10800000" flipH="1" flipV="1">
            <a:off x="8034655" y="1649095"/>
            <a:ext cx="3175" cy="533400"/>
          </a:xfrm>
          <a:prstGeom prst="bentConnector3">
            <a:avLst>
              <a:gd name="adj1" fmla="val -7500000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肘形连接符 163"/>
          <p:cNvCxnSpPr/>
          <p:nvPr/>
        </p:nvCxnSpPr>
        <p:spPr>
          <a:xfrm flipV="1">
            <a:off x="9448165" y="1649730"/>
            <a:ext cx="3175" cy="533400"/>
          </a:xfrm>
          <a:prstGeom prst="bentConnector3">
            <a:avLst>
              <a:gd name="adj1" fmla="val 7500000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6" name="箭头: 下 3"/>
          <p:cNvSpPr/>
          <p:nvPr/>
        </p:nvSpPr>
        <p:spPr>
          <a:xfrm rot="5400000" flipV="1">
            <a:off x="7165975" y="1671955"/>
            <a:ext cx="390525" cy="27813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167" name="箭头: 下 3"/>
          <p:cNvSpPr/>
          <p:nvPr/>
        </p:nvSpPr>
        <p:spPr>
          <a:xfrm rot="5400000" flipV="1">
            <a:off x="9925685" y="1671955"/>
            <a:ext cx="390525" cy="27813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171" name="矩形: 圆角 107"/>
          <p:cNvSpPr/>
          <p:nvPr/>
        </p:nvSpPr>
        <p:spPr>
          <a:xfrm>
            <a:off x="2585720" y="3201670"/>
            <a:ext cx="1068705" cy="756285"/>
          </a:xfrm>
          <a:prstGeom prst="roundRect">
            <a:avLst/>
          </a:prstGeom>
          <a:solidFill>
            <a:srgbClr val="C00000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参数化感知表征</a:t>
            </a:r>
            <a:endParaRPr 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2" name="矩形: 圆角 107"/>
          <p:cNvSpPr/>
          <p:nvPr/>
        </p:nvSpPr>
        <p:spPr>
          <a:xfrm>
            <a:off x="4313555" y="3201670"/>
            <a:ext cx="1068705" cy="756285"/>
          </a:xfrm>
          <a:prstGeom prst="roundRect">
            <a:avLst/>
          </a:prstGeom>
          <a:solidFill>
            <a:srgbClr val="C00000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典型特征</a:t>
            </a:r>
            <a:endParaRPr 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原型下发</a:t>
            </a:r>
            <a:endParaRPr lang="zh-CN" sz="1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38" name="组合 237"/>
          <p:cNvGrpSpPr/>
          <p:nvPr/>
        </p:nvGrpSpPr>
        <p:grpSpPr>
          <a:xfrm rot="0">
            <a:off x="3740150" y="2564765"/>
            <a:ext cx="487680" cy="2030730"/>
            <a:chOff x="5661" y="4133"/>
            <a:chExt cx="812" cy="3339"/>
          </a:xfrm>
        </p:grpSpPr>
        <p:sp>
          <p:nvSpPr>
            <p:cNvPr id="174" name="箭头: 下 3"/>
            <p:cNvSpPr/>
            <p:nvPr/>
          </p:nvSpPr>
          <p:spPr>
            <a:xfrm flipV="1">
              <a:off x="6041" y="4138"/>
              <a:ext cx="433" cy="3334"/>
            </a:xfrm>
            <a:prstGeom prst="downArrow">
              <a:avLst/>
            </a:prstGeom>
            <a:gradFill>
              <a:gsLst>
                <a:gs pos="98000">
                  <a:srgbClr val="C00000"/>
                </a:gs>
                <a:gs pos="4000">
                  <a:srgbClr val="C00000">
                    <a:alpha val="7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  <p:sp>
          <p:nvSpPr>
            <p:cNvPr id="175" name="箭头: 下 3"/>
            <p:cNvSpPr/>
            <p:nvPr/>
          </p:nvSpPr>
          <p:spPr>
            <a:xfrm rot="10800000" flipH="1" flipV="1">
              <a:off x="5661" y="4133"/>
              <a:ext cx="433" cy="3334"/>
            </a:xfrm>
            <a:prstGeom prst="downArrow">
              <a:avLst/>
            </a:prstGeom>
            <a:gradFill>
              <a:gsLst>
                <a:gs pos="98000">
                  <a:srgbClr val="C00000"/>
                </a:gs>
                <a:gs pos="4000">
                  <a:srgbClr val="C00000">
                    <a:alpha val="7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</p:grpSp>
      <p:sp>
        <p:nvSpPr>
          <p:cNvPr id="176" name="矩形: 圆角 107"/>
          <p:cNvSpPr/>
          <p:nvPr/>
        </p:nvSpPr>
        <p:spPr>
          <a:xfrm>
            <a:off x="5588365" y="3028950"/>
            <a:ext cx="1120775" cy="3314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知识基准</a:t>
            </a:r>
            <a:endParaRPr lang="zh-CN" altLang="en-US" sz="1400" b="1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77" name="矩形: 圆角 107"/>
          <p:cNvSpPr/>
          <p:nvPr/>
        </p:nvSpPr>
        <p:spPr>
          <a:xfrm>
            <a:off x="5588953" y="3468370"/>
            <a:ext cx="1119600" cy="3060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增量知识</a:t>
            </a:r>
            <a:endParaRPr lang="zh-CN" altLang="en-US" sz="1400" b="1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78" name="矩形: 圆角 107"/>
          <p:cNvSpPr/>
          <p:nvPr/>
        </p:nvSpPr>
        <p:spPr>
          <a:xfrm>
            <a:off x="5588953" y="3882390"/>
            <a:ext cx="1119600" cy="3060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回传数据流</a:t>
            </a:r>
            <a:endParaRPr lang="zh-CN" altLang="en-US" sz="1400" b="1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244" name="组合 243"/>
          <p:cNvGrpSpPr/>
          <p:nvPr/>
        </p:nvGrpSpPr>
        <p:grpSpPr>
          <a:xfrm rot="0">
            <a:off x="6790055" y="3087370"/>
            <a:ext cx="1391920" cy="932945"/>
            <a:chOff x="10752" y="4993"/>
            <a:chExt cx="2317" cy="1534"/>
          </a:xfrm>
        </p:grpSpPr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993" y="4993"/>
              <a:ext cx="1835" cy="992"/>
            </a:xfrm>
            <a:prstGeom prst="rect">
              <a:avLst/>
            </a:prstGeom>
          </p:spPr>
        </p:pic>
        <p:sp>
          <p:nvSpPr>
            <p:cNvPr id="181" name="文本框 180"/>
            <p:cNvSpPr txBox="1"/>
            <p:nvPr/>
          </p:nvSpPr>
          <p:spPr>
            <a:xfrm>
              <a:off x="10752" y="5998"/>
              <a:ext cx="2317" cy="52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15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云侧知识缓存</a:t>
              </a:r>
              <a:endParaRPr lang="zh-CN" sz="15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42" name="组合 241"/>
          <p:cNvGrpSpPr/>
          <p:nvPr/>
        </p:nvGrpSpPr>
        <p:grpSpPr>
          <a:xfrm rot="0">
            <a:off x="8623935" y="3124200"/>
            <a:ext cx="1379855" cy="896800"/>
            <a:chOff x="13803" y="5053"/>
            <a:chExt cx="2297" cy="1475"/>
          </a:xfrm>
        </p:grpSpPr>
        <p:pic>
          <p:nvPicPr>
            <p:cNvPr id="183" name="图片 18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951" y="5053"/>
              <a:ext cx="2001" cy="992"/>
            </a:xfrm>
            <a:prstGeom prst="rect">
              <a:avLst/>
            </a:prstGeom>
          </p:spPr>
        </p:pic>
        <p:sp>
          <p:nvSpPr>
            <p:cNvPr id="184" name="文本框 183"/>
            <p:cNvSpPr txBox="1"/>
            <p:nvPr/>
          </p:nvSpPr>
          <p:spPr>
            <a:xfrm>
              <a:off x="13803" y="5998"/>
              <a:ext cx="2297" cy="5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15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端侧信息队列</a:t>
              </a:r>
              <a:endParaRPr lang="zh-CN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 rot="0">
            <a:off x="8158480" y="2564765"/>
            <a:ext cx="487680" cy="2030730"/>
            <a:chOff x="13069" y="4133"/>
            <a:chExt cx="812" cy="3339"/>
          </a:xfrm>
        </p:grpSpPr>
        <p:sp>
          <p:nvSpPr>
            <p:cNvPr id="186" name="箭头: 下 3"/>
            <p:cNvSpPr/>
            <p:nvPr/>
          </p:nvSpPr>
          <p:spPr>
            <a:xfrm flipV="1">
              <a:off x="13449" y="4138"/>
              <a:ext cx="433" cy="3334"/>
            </a:xfrm>
            <a:prstGeom prst="downArrow">
              <a:avLst/>
            </a:prstGeom>
            <a:gradFill>
              <a:gsLst>
                <a:gs pos="98000">
                  <a:srgbClr val="C00000"/>
                </a:gs>
                <a:gs pos="4000">
                  <a:srgbClr val="C00000">
                    <a:alpha val="7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  <p:sp>
          <p:nvSpPr>
            <p:cNvPr id="187" name="箭头: 下 3"/>
            <p:cNvSpPr/>
            <p:nvPr/>
          </p:nvSpPr>
          <p:spPr>
            <a:xfrm rot="10800000" flipH="1" flipV="1">
              <a:off x="13069" y="4133"/>
              <a:ext cx="433" cy="3334"/>
            </a:xfrm>
            <a:prstGeom prst="downArrow">
              <a:avLst/>
            </a:prstGeom>
            <a:gradFill>
              <a:gsLst>
                <a:gs pos="98000">
                  <a:srgbClr val="C00000"/>
                </a:gs>
                <a:gs pos="4000">
                  <a:srgbClr val="C00000">
                    <a:alpha val="7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</p:grpSp>
      <p:sp>
        <p:nvSpPr>
          <p:cNvPr id="189" name="矩形: 圆角 107"/>
          <p:cNvSpPr/>
          <p:nvPr/>
        </p:nvSpPr>
        <p:spPr>
          <a:xfrm>
            <a:off x="10143863" y="3028950"/>
            <a:ext cx="1152525" cy="3314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决策置信度</a:t>
            </a:r>
            <a:endParaRPr lang="zh-CN" altLang="en-US" sz="1400" b="1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0" name="矩形: 圆角 107"/>
          <p:cNvSpPr/>
          <p:nvPr/>
        </p:nvSpPr>
        <p:spPr>
          <a:xfrm>
            <a:off x="10144125" y="3468370"/>
            <a:ext cx="1152000" cy="3060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特征保真度</a:t>
            </a:r>
            <a:endParaRPr lang="zh-CN" altLang="en-US" sz="1400" b="1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矩形: 圆角 107"/>
          <p:cNvSpPr/>
          <p:nvPr/>
        </p:nvSpPr>
        <p:spPr>
          <a:xfrm>
            <a:off x="10144125" y="3882390"/>
            <a:ext cx="1152000" cy="3060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任务进度</a:t>
            </a:r>
            <a:endParaRPr lang="zh-CN" altLang="en-US" sz="1400" b="1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92" name="图片 19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53995" y="4792345"/>
            <a:ext cx="819785" cy="736600"/>
          </a:xfrm>
          <a:prstGeom prst="rect">
            <a:avLst/>
          </a:prstGeom>
        </p:spPr>
      </p:pic>
      <p:sp>
        <p:nvSpPr>
          <p:cNvPr id="193" name="矩形: 圆角 107"/>
          <p:cNvSpPr/>
          <p:nvPr/>
        </p:nvSpPr>
        <p:spPr>
          <a:xfrm>
            <a:off x="2628265" y="5671185"/>
            <a:ext cx="1069975" cy="427355"/>
          </a:xfrm>
          <a:prstGeom prst="roundRect">
            <a:avLst/>
          </a:prstGeom>
          <a:solidFill>
            <a:srgbClr val="01569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3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多模态</a:t>
            </a:r>
            <a:endParaRPr lang="zh-CN" altLang="en-US" sz="13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3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流式数据</a:t>
            </a:r>
            <a:endParaRPr lang="zh-CN" altLang="en-US" sz="13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3436620" y="4844415"/>
            <a:ext cx="12007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noProof="0" dirty="0">
                <a:ln>
                  <a:noFill/>
                </a:ln>
                <a:solidFill>
                  <a:srgbClr val="01569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持续演化</a:t>
            </a:r>
            <a:endParaRPr lang="zh-CN" sz="1400" b="1" noProof="0" dirty="0">
              <a:ln>
                <a:noFill/>
              </a:ln>
              <a:solidFill>
                <a:srgbClr val="01569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96" name="图片 19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8965" y="4897120"/>
            <a:ext cx="694055" cy="579755"/>
          </a:xfrm>
          <a:prstGeom prst="rect">
            <a:avLst/>
          </a:prstGeom>
        </p:spPr>
      </p:pic>
      <p:sp>
        <p:nvSpPr>
          <p:cNvPr id="197" name="矩形: 圆角 107"/>
          <p:cNvSpPr/>
          <p:nvPr/>
        </p:nvSpPr>
        <p:spPr>
          <a:xfrm>
            <a:off x="4231005" y="5671185"/>
            <a:ext cx="1069340" cy="427355"/>
          </a:xfrm>
          <a:prstGeom prst="roundRect">
            <a:avLst/>
          </a:prstGeom>
          <a:solidFill>
            <a:srgbClr val="01569F"/>
          </a:solidFill>
          <a:ln w="15875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端侧</a:t>
            </a:r>
            <a:endParaRPr lang="zh-CN" altLang="en-US" sz="1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3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轻量化模型</a:t>
            </a:r>
            <a:endParaRPr lang="zh-CN" altLang="en-US" sz="13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1" name="箭头: 下 3"/>
          <p:cNvSpPr/>
          <p:nvPr/>
        </p:nvSpPr>
        <p:spPr>
          <a:xfrm rot="5400000" flipV="1">
            <a:off x="3872865" y="5000625"/>
            <a:ext cx="329565" cy="62357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grpSp>
        <p:nvGrpSpPr>
          <p:cNvPr id="204" name="组合 203"/>
          <p:cNvGrpSpPr/>
          <p:nvPr/>
        </p:nvGrpSpPr>
        <p:grpSpPr>
          <a:xfrm rot="0">
            <a:off x="5201285" y="5007610"/>
            <a:ext cx="491490" cy="420370"/>
            <a:chOff x="8167" y="7969"/>
            <a:chExt cx="1330" cy="872"/>
          </a:xfrm>
        </p:grpSpPr>
        <p:sp>
          <p:nvSpPr>
            <p:cNvPr id="202" name="箭头: 下 3"/>
            <p:cNvSpPr/>
            <p:nvPr/>
          </p:nvSpPr>
          <p:spPr>
            <a:xfrm rot="5400000" flipV="1">
              <a:off x="8594" y="7542"/>
              <a:ext cx="477" cy="1331"/>
            </a:xfrm>
            <a:prstGeom prst="downArrow">
              <a:avLst/>
            </a:prstGeom>
            <a:gradFill>
              <a:gsLst>
                <a:gs pos="98000">
                  <a:srgbClr val="01569F"/>
                </a:gs>
                <a:gs pos="4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  <p:sp>
          <p:nvSpPr>
            <p:cNvPr id="203" name="箭头: 下 3"/>
            <p:cNvSpPr/>
            <p:nvPr/>
          </p:nvSpPr>
          <p:spPr>
            <a:xfrm rot="16200000" flipH="1" flipV="1">
              <a:off x="8594" y="7938"/>
              <a:ext cx="477" cy="1331"/>
            </a:xfrm>
            <a:prstGeom prst="downArrow">
              <a:avLst/>
            </a:prstGeom>
            <a:gradFill>
              <a:gsLst>
                <a:gs pos="98000">
                  <a:srgbClr val="01569F"/>
                </a:gs>
                <a:gs pos="4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rot="0">
            <a:off x="5761355" y="4745990"/>
            <a:ext cx="2277110" cy="1316990"/>
            <a:chOff x="9040" y="7719"/>
            <a:chExt cx="3790" cy="2166"/>
          </a:xfrm>
        </p:grpSpPr>
        <p:sp>
          <p:nvSpPr>
            <p:cNvPr id="205" name="矩形: 圆角 100"/>
            <p:cNvSpPr/>
            <p:nvPr/>
          </p:nvSpPr>
          <p:spPr>
            <a:xfrm>
              <a:off x="9040" y="7719"/>
              <a:ext cx="3790" cy="2165"/>
            </a:xfrm>
            <a:prstGeom prst="roundRect">
              <a:avLst>
                <a:gd name="adj" fmla="val 6238"/>
              </a:avLst>
            </a:prstGeom>
            <a:noFill/>
            <a:ln w="25400">
              <a:solidFill>
                <a:srgbClr val="01569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9160" y="9381"/>
              <a:ext cx="3551" cy="50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1400" b="1" dirty="0">
                  <a:solidFill>
                    <a:srgbClr val="01569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端侧模型持续更新</a:t>
              </a:r>
              <a:endParaRPr lang="zh-CN" sz="1400" b="1" noProof="0" dirty="0">
                <a:ln>
                  <a:noFill/>
                </a:ln>
                <a:solidFill>
                  <a:srgbClr val="01569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0" name="文本框 209"/>
                <p:cNvSpPr txBox="1"/>
                <p:nvPr/>
              </p:nvSpPr>
              <p:spPr>
                <a:xfrm>
                  <a:off x="10440" y="8832"/>
                  <a:ext cx="990" cy="665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𝑒𝑑𝑔𝑒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i="1" baseline="-250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 </m:t>
                        </m:r>
                      </m:oMath>
                    </m:oMathPara>
                  </a14:m>
                  <a:endParaRPr lang="en-US" altLang="zh-CN" i="1" baseline="-25000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10" name="文本框 2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0" y="8832"/>
                  <a:ext cx="990" cy="665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1" name="直接箭头连接符 89"/>
            <p:cNvCxnSpPr/>
            <p:nvPr/>
          </p:nvCxnSpPr>
          <p:spPr>
            <a:xfrm>
              <a:off x="9690" y="8649"/>
              <a:ext cx="789" cy="206"/>
            </a:xfrm>
            <a:prstGeom prst="straightConnector1">
              <a:avLst/>
            </a:prstGeom>
            <a:ln w="57150">
              <a:solidFill>
                <a:srgbClr val="01569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89"/>
            <p:cNvCxnSpPr/>
            <p:nvPr/>
          </p:nvCxnSpPr>
          <p:spPr>
            <a:xfrm flipH="1">
              <a:off x="11515" y="8613"/>
              <a:ext cx="766" cy="278"/>
            </a:xfrm>
            <a:prstGeom prst="straightConnector1">
              <a:avLst/>
            </a:prstGeom>
            <a:ln w="57150">
              <a:solidFill>
                <a:srgbClr val="01569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7" name="组合 236"/>
            <p:cNvGrpSpPr/>
            <p:nvPr/>
          </p:nvGrpSpPr>
          <p:grpSpPr>
            <a:xfrm>
              <a:off x="10414" y="7884"/>
              <a:ext cx="1022" cy="989"/>
              <a:chOff x="10526" y="7884"/>
              <a:chExt cx="1022" cy="989"/>
            </a:xfrm>
          </p:grpSpPr>
          <p:cxnSp>
            <p:nvCxnSpPr>
              <p:cNvPr id="212" name="直接箭头连接符 89"/>
              <p:cNvCxnSpPr/>
              <p:nvPr/>
            </p:nvCxnSpPr>
            <p:spPr>
              <a:xfrm>
                <a:off x="11038" y="8485"/>
                <a:ext cx="14" cy="389"/>
              </a:xfrm>
              <a:prstGeom prst="straightConnector1">
                <a:avLst/>
              </a:prstGeom>
              <a:ln w="57150">
                <a:solidFill>
                  <a:srgbClr val="01569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矩形: 圆角 107"/>
              <p:cNvSpPr txBox="1"/>
              <p:nvPr/>
            </p:nvSpPr>
            <p:spPr>
              <a:xfrm>
                <a:off x="10526" y="7884"/>
                <a:ext cx="1023" cy="601"/>
              </a:xfrm>
              <a:prstGeom prst="roundRect">
                <a:avLst/>
              </a:prstGeom>
              <a:solidFill>
                <a:srgbClr val="01569F"/>
              </a:solidFill>
              <a:effectLst>
                <a:outerShdw blurRad="50800" dist="38100" dir="2700000" algn="tl" rotWithShape="0">
                  <a:srgbClr val="01569F">
                    <a:alpha val="40000"/>
                  </a:srgbClr>
                </a:outerShdw>
              </a:effectLst>
            </p:spPr>
            <p:txBody>
              <a:bodyPr wrap="square" rtlCol="0" anchor="ctr" anchorCtr="1">
                <a:noAutofit/>
              </a:bodyPr>
              <a:lstStyle/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0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增量语义补丁</a:t>
                </a:r>
                <a:endParaRPr lang="zh-CN" altLang="en-US" sz="10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15" name="矩形: 圆角 107"/>
            <p:cNvSpPr txBox="1"/>
            <p:nvPr/>
          </p:nvSpPr>
          <p:spPr>
            <a:xfrm>
              <a:off x="9235" y="7884"/>
              <a:ext cx="1023" cy="601"/>
            </a:xfrm>
            <a:prstGeom prst="roundRect">
              <a:avLst/>
            </a:prstGeom>
            <a:solidFill>
              <a:srgbClr val="01569F"/>
            </a:solidFill>
            <a:effectLst>
              <a:outerShdw blurRad="50800" dist="38100" dir="2700000" algn="tl" rotWithShape="0">
                <a:srgbClr val="01569F">
                  <a:alpha val="40000"/>
                </a:srgbClr>
              </a:outerShdw>
            </a:effectLst>
          </p:spPr>
          <p:txBody>
            <a:bodyPr wrap="square" rtlCol="0" anchor="ctr" anchorCtr="1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特征空间约束</a:t>
              </a:r>
              <a:endParaRPr lang="zh-CN" altLang="en-US" sz="1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6" name="矩形: 圆角 107"/>
            <p:cNvSpPr txBox="1"/>
            <p:nvPr/>
          </p:nvSpPr>
          <p:spPr>
            <a:xfrm>
              <a:off x="11592" y="7884"/>
              <a:ext cx="1023" cy="601"/>
            </a:xfrm>
            <a:prstGeom prst="roundRect">
              <a:avLst/>
            </a:prstGeom>
            <a:solidFill>
              <a:srgbClr val="01569F"/>
            </a:solidFill>
            <a:effectLst>
              <a:outerShdw blurRad="50800" dist="38100" dir="2700000" algn="tl" rotWithShape="0">
                <a:srgbClr val="01569F">
                  <a:alpha val="40000"/>
                </a:srgbClr>
              </a:outerShdw>
            </a:effectLst>
          </p:spPr>
          <p:txBody>
            <a:bodyPr wrap="square" rtlCol="0" anchor="ctr" anchorCtr="1">
              <a:no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增强数据回流</a:t>
              </a:r>
              <a:endParaRPr lang="zh-CN" altLang="en-US" sz="1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21" name="矩形: 圆角 100"/>
          <p:cNvSpPr/>
          <p:nvPr/>
        </p:nvSpPr>
        <p:spPr>
          <a:xfrm>
            <a:off x="8678545" y="4745990"/>
            <a:ext cx="1341755" cy="1299845"/>
          </a:xfrm>
          <a:prstGeom prst="roundRect">
            <a:avLst>
              <a:gd name="adj" fmla="val 6238"/>
            </a:avLst>
          </a:prstGeom>
          <a:noFill/>
          <a:ln w="25400">
            <a:solidFill>
              <a:srgbClr val="01569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pic>
        <p:nvPicPr>
          <p:cNvPr id="222" name="图片 2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34780" y="5047615"/>
            <a:ext cx="675640" cy="680085"/>
          </a:xfrm>
          <a:prstGeom prst="rect">
            <a:avLst/>
          </a:prstGeom>
        </p:spPr>
      </p:pic>
      <p:sp>
        <p:nvSpPr>
          <p:cNvPr id="223" name="文本框 222"/>
          <p:cNvSpPr txBox="1"/>
          <p:nvPr/>
        </p:nvSpPr>
        <p:spPr>
          <a:xfrm>
            <a:off x="8607425" y="4767580"/>
            <a:ext cx="14833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00" b="1" dirty="0">
                <a:solidFill>
                  <a:srgbClr val="0156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稳健平衡记忆机制</a:t>
            </a:r>
            <a:endParaRPr lang="zh-CN" sz="1200" b="1" dirty="0">
              <a:solidFill>
                <a:srgbClr val="01569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28" name="图片 227"/>
          <p:cNvPicPr>
            <a:picLocks noChangeAspect="1"/>
          </p:cNvPicPr>
          <p:nvPr/>
        </p:nvPicPr>
        <p:blipFill>
          <a:blip r:embed="rId18"/>
          <a:srcRect r="9573"/>
          <a:stretch>
            <a:fillRect/>
          </a:stretch>
        </p:blipFill>
        <p:spPr>
          <a:xfrm>
            <a:off x="10450830" y="4897120"/>
            <a:ext cx="875665" cy="969645"/>
          </a:xfrm>
          <a:prstGeom prst="rect">
            <a:avLst/>
          </a:prstGeom>
        </p:spPr>
      </p:pic>
      <p:grpSp>
        <p:nvGrpSpPr>
          <p:cNvPr id="234" name="组合 233"/>
          <p:cNvGrpSpPr/>
          <p:nvPr/>
        </p:nvGrpSpPr>
        <p:grpSpPr>
          <a:xfrm rot="0">
            <a:off x="8110220" y="5193665"/>
            <a:ext cx="491490" cy="420370"/>
            <a:chOff x="13129" y="8271"/>
            <a:chExt cx="818" cy="691"/>
          </a:xfrm>
        </p:grpSpPr>
        <p:sp>
          <p:nvSpPr>
            <p:cNvPr id="230" name="箭头: 下 3"/>
            <p:cNvSpPr/>
            <p:nvPr/>
          </p:nvSpPr>
          <p:spPr>
            <a:xfrm rot="5400000" flipV="1">
              <a:off x="13349" y="8051"/>
              <a:ext cx="378" cy="819"/>
            </a:xfrm>
            <a:prstGeom prst="downArrow">
              <a:avLst/>
            </a:prstGeom>
            <a:gradFill>
              <a:gsLst>
                <a:gs pos="98000">
                  <a:srgbClr val="01569F"/>
                </a:gs>
                <a:gs pos="4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  <p:sp>
          <p:nvSpPr>
            <p:cNvPr id="231" name="箭头: 下 3"/>
            <p:cNvSpPr/>
            <p:nvPr/>
          </p:nvSpPr>
          <p:spPr>
            <a:xfrm rot="16200000" flipH="1" flipV="1">
              <a:off x="13349" y="8364"/>
              <a:ext cx="378" cy="819"/>
            </a:xfrm>
            <a:prstGeom prst="downArrow">
              <a:avLst/>
            </a:prstGeom>
            <a:gradFill>
              <a:gsLst>
                <a:gs pos="98000">
                  <a:srgbClr val="01569F"/>
                </a:gs>
                <a:gs pos="4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思源黑体 CN Regular" panose="020B0500000000000000" charset="-122"/>
                <a:sym typeface="+mn-ea"/>
              </a:endParaRPr>
            </a:p>
          </p:txBody>
        </p:sp>
      </p:grpSp>
      <p:sp>
        <p:nvSpPr>
          <p:cNvPr id="233" name="箭头: 下 3"/>
          <p:cNvSpPr/>
          <p:nvPr/>
        </p:nvSpPr>
        <p:spPr>
          <a:xfrm rot="5400000" flipV="1">
            <a:off x="10142855" y="5220970"/>
            <a:ext cx="229870" cy="332740"/>
          </a:xfrm>
          <a:prstGeom prst="downArrow">
            <a:avLst/>
          </a:prstGeom>
          <a:gradFill>
            <a:gsLst>
              <a:gs pos="98000">
                <a:srgbClr val="01569F"/>
              </a:gs>
              <a:gs pos="4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CN Regular" panose="020B0500000000000000" charset="-122"/>
              <a:sym typeface="+mn-ea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8721725" y="5727700"/>
            <a:ext cx="12814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1" dirty="0">
                <a:solidFill>
                  <a:srgbClr val="01569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核心样本重放</a:t>
            </a:r>
            <a:endParaRPr lang="zh-CN" sz="1300" b="1" dirty="0">
              <a:solidFill>
                <a:srgbClr val="01569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 descr="人工智能人脑控制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78440" y="1419225"/>
            <a:ext cx="865505" cy="875665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450215" y="563245"/>
            <a:ext cx="11291570" cy="5964555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3"/>
          <p:cNvSpPr/>
          <p:nvPr/>
        </p:nvSpPr>
        <p:spPr>
          <a:xfrm>
            <a:off x="2789555" y="331470"/>
            <a:ext cx="6612890" cy="45974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基于表征锚定与稳健重放的云边端协同持续学习</a:t>
            </a:r>
            <a:endParaRPr lang="zh-CN" altLang="en-US" b="1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450215" y="351155"/>
            <a:ext cx="11291570" cy="6155690"/>
            <a:chOff x="709" y="553"/>
            <a:chExt cx="17782" cy="9694"/>
          </a:xfrm>
        </p:grpSpPr>
        <p:grpSp>
          <p:nvGrpSpPr>
            <p:cNvPr id="2" name="组合 1"/>
            <p:cNvGrpSpPr/>
            <p:nvPr/>
          </p:nvGrpSpPr>
          <p:grpSpPr>
            <a:xfrm>
              <a:off x="1086" y="934"/>
              <a:ext cx="17030" cy="8933"/>
              <a:chOff x="926" y="404"/>
              <a:chExt cx="17349" cy="9993"/>
            </a:xfrm>
          </p:grpSpPr>
          <p:sp>
            <p:nvSpPr>
              <p:cNvPr id="142" name="箭头: 下 3"/>
              <p:cNvSpPr/>
              <p:nvPr/>
            </p:nvSpPr>
            <p:spPr>
              <a:xfrm rot="10800000">
                <a:off x="4169" y="2064"/>
                <a:ext cx="642" cy="463"/>
              </a:xfrm>
              <a:prstGeom prst="downArrow">
                <a:avLst/>
              </a:prstGeom>
              <a:gradFill>
                <a:gsLst>
                  <a:gs pos="98000">
                    <a:srgbClr val="01569F"/>
                  </a:gs>
                  <a:gs pos="4000">
                    <a:schemeClr val="accent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cs typeface="思源黑体 CN Regular" panose="020B0500000000000000" charset="-122"/>
                  <a:sym typeface="+mn-ea"/>
                </a:endParaRPr>
              </a:p>
            </p:txBody>
          </p:sp>
          <p:sp>
            <p:nvSpPr>
              <p:cNvPr id="26" name="箭头: 下 3"/>
              <p:cNvSpPr/>
              <p:nvPr/>
            </p:nvSpPr>
            <p:spPr>
              <a:xfrm rot="10800000">
                <a:off x="13627" y="2064"/>
                <a:ext cx="642" cy="463"/>
              </a:xfrm>
              <a:prstGeom prst="downArrow">
                <a:avLst/>
              </a:prstGeom>
              <a:gradFill>
                <a:gsLst>
                  <a:gs pos="98000">
                    <a:srgbClr val="01569F"/>
                  </a:gs>
                  <a:gs pos="4000">
                    <a:schemeClr val="accent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cs typeface="思源黑体 CN Regular" panose="020B0500000000000000" charset="-122"/>
                  <a:sym typeface="+mn-ea"/>
                </a:endParaRPr>
              </a:p>
            </p:txBody>
          </p:sp>
          <p:sp>
            <p:nvSpPr>
              <p:cNvPr id="13" name="圆角矩形 23"/>
              <p:cNvSpPr/>
              <p:nvPr>
                <p:custDataLst>
                  <p:tags r:id="rId1"/>
                </p:custDataLst>
              </p:nvPr>
            </p:nvSpPr>
            <p:spPr>
              <a:xfrm>
                <a:off x="926" y="2526"/>
                <a:ext cx="17349" cy="7871"/>
              </a:xfrm>
              <a:prstGeom prst="roundRect">
                <a:avLst>
                  <a:gd name="adj" fmla="val 4599"/>
                </a:avLst>
              </a:prstGeom>
              <a:noFill/>
              <a:ln w="19050" cmpd="sng">
                <a:solidFill>
                  <a:srgbClr val="01569F"/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07" name="圆角矩形 23"/>
              <p:cNvSpPr/>
              <p:nvPr>
                <p:custDataLst>
                  <p:tags r:id="rId2"/>
                </p:custDataLst>
              </p:nvPr>
            </p:nvSpPr>
            <p:spPr>
              <a:xfrm>
                <a:off x="926" y="404"/>
                <a:ext cx="17349" cy="1581"/>
              </a:xfrm>
              <a:prstGeom prst="roundRect">
                <a:avLst>
                  <a:gd name="adj" fmla="val 7486"/>
                </a:avLst>
              </a:prstGeom>
              <a:noFill/>
              <a:ln w="19050" cmpd="sng">
                <a:solidFill>
                  <a:srgbClr val="01569F"/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 rot="0">
                <a:off x="1483" y="534"/>
                <a:ext cx="16236" cy="1321"/>
                <a:chOff x="1739" y="602"/>
                <a:chExt cx="16236" cy="1321"/>
              </a:xfrm>
            </p:grpSpPr>
            <p:pic>
              <p:nvPicPr>
                <p:cNvPr id="1028" name="Picture 4" descr="More"/>
                <p:cNvPicPr>
                  <a:picLocks noChangeAspect="1" noChangeArrowheads="1"/>
                </p:cNvPicPr>
                <p:nvPr>
                  <p:custDataLst>
                    <p:tags r:id="rId3"/>
                  </p:custDataLst>
                </p:nvPr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842" y="710"/>
                  <a:ext cx="1133" cy="11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" name="图片 6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39" y="603"/>
                  <a:ext cx="1869" cy="1319"/>
                </a:xfrm>
                <a:prstGeom prst="rect">
                  <a:avLst/>
                </a:prstGeom>
              </p:spPr>
            </p:pic>
            <p:pic>
              <p:nvPicPr>
                <p:cNvPr id="9" name="图片 8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844" y="602"/>
                  <a:ext cx="1760" cy="1321"/>
                </a:xfrm>
                <a:prstGeom prst="rect">
                  <a:avLst/>
                </a:prstGeom>
              </p:spPr>
            </p:pic>
            <p:pic>
              <p:nvPicPr>
                <p:cNvPr id="10" name="图片 9"/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846" y="602"/>
                  <a:ext cx="1760" cy="1321"/>
                </a:xfrm>
                <a:prstGeom prst="rect">
                  <a:avLst/>
                </a:prstGeom>
              </p:spPr>
            </p:pic>
            <p:sp>
              <p:nvSpPr>
                <p:cNvPr id="63" name="圆角矩形 6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3982" y="881"/>
                  <a:ext cx="2490" cy="830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ln>
                  <a:noFill/>
                </a:ln>
                <a:effectLst>
                  <a:outerShdw blurRad="101600" dist="76200" dir="2700000" algn="tl" rotWithShape="0">
                    <a:schemeClr val="accent1">
                      <a:alpha val="2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    </a:t>
                  </a:r>
                  <a:r>
                    <a:rPr lang="zh-CN" altLang="en-US" sz="2000" b="1" dirty="0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气体超标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65" name="圆角矩形 6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8980" y="881"/>
                  <a:ext cx="2490" cy="830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ln>
                  <a:noFill/>
                </a:ln>
                <a:effectLst>
                  <a:outerShdw blurRad="101600" dist="76200" dir="2700000" algn="tl" rotWithShape="0">
                    <a:schemeClr val="accent1">
                      <a:alpha val="2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algn="ctr">
                    <a:buClrTx/>
                    <a:buSzTx/>
                    <a:buFontTx/>
                  </a:pPr>
                  <a:r>
                    <a:rPr lang="en-US" altLang="zh-CN" sz="2000" b="1" dirty="0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    </a:t>
                  </a:r>
                  <a:r>
                    <a:rPr lang="zh-CN" altLang="en-US" sz="2000" b="1" dirty="0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热源异常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66" name="圆角矩形 6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3978" y="881"/>
                  <a:ext cx="2490" cy="830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ln>
                  <a:noFill/>
                </a:ln>
                <a:effectLst>
                  <a:outerShdw blurRad="101600" dist="76200" dir="2700000" algn="tl" rotWithShape="0">
                    <a:schemeClr val="accent1">
                      <a:alpha val="2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algn="ctr">
                    <a:buClrTx/>
                    <a:buSzTx/>
                    <a:buFontTx/>
                  </a:pPr>
                  <a:r>
                    <a:rPr lang="en-US" altLang="zh-CN" sz="2000" b="1" dirty="0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    </a:t>
                  </a:r>
                  <a:r>
                    <a:rPr lang="zh-CN" altLang="en-US" sz="2000" b="1" dirty="0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水位上涨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pic>
              <p:nvPicPr>
                <p:cNvPr id="73" name="图片 72" descr="氧气罐"/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69" y="996"/>
                  <a:ext cx="600" cy="600"/>
                </a:xfrm>
                <a:prstGeom prst="rect">
                  <a:avLst/>
                </a:prstGeom>
              </p:spPr>
            </p:pic>
            <p:pic>
              <p:nvPicPr>
                <p:cNvPr id="74" name="图片 73" descr="异常信息"/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9" y="996"/>
                  <a:ext cx="601" cy="601"/>
                </a:xfrm>
                <a:prstGeom prst="rect">
                  <a:avLst/>
                </a:prstGeom>
              </p:spPr>
            </p:pic>
            <p:pic>
              <p:nvPicPr>
                <p:cNvPr id="78" name="图片 77" descr="业绩上涨折线"/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21"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68" y="1008"/>
                  <a:ext cx="512" cy="512"/>
                </a:xfrm>
                <a:prstGeom prst="rect">
                  <a:avLst/>
                </a:prstGeom>
              </p:spPr>
            </p:pic>
          </p:grpSp>
          <p:grpSp>
            <p:nvGrpSpPr>
              <p:cNvPr id="12" name="组合 11"/>
              <p:cNvGrpSpPr/>
              <p:nvPr/>
            </p:nvGrpSpPr>
            <p:grpSpPr>
              <a:xfrm rot="0">
                <a:off x="1269" y="2747"/>
                <a:ext cx="16664" cy="7463"/>
                <a:chOff x="1309" y="2815"/>
                <a:chExt cx="16664" cy="7463"/>
              </a:xfrm>
            </p:grpSpPr>
            <p:sp>
              <p:nvSpPr>
                <p:cNvPr id="14" name="文本框 1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16581" y="2848"/>
                  <a:ext cx="1392" cy="1232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algn="ctr">
                    <a:lnSpc>
                      <a:spcPts val="2000"/>
                    </a:lnSpc>
                  </a:pPr>
                  <a:r>
                    <a:rPr lang="zh-CN" altLang="en-US" sz="170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成果交付</a:t>
                  </a:r>
                  <a:endParaRPr kumimoji="1" lang="zh-CN" altLang="en-US" sz="17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" name="文本框 1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16581" y="4363"/>
                  <a:ext cx="1392" cy="1232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C00000"/>
                </a:solidFill>
                <a:effectLst>
                  <a:outerShdw blurRad="50800" dist="38100" dir="2700000" algn="tl" rotWithShape="0">
                    <a:srgbClr val="C00000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人工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反馈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  <p:sp>
              <p:nvSpPr>
                <p:cNvPr id="16" name="文本框 15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6581" y="5909"/>
                  <a:ext cx="1392" cy="1232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用例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驱动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  <p:sp>
              <p:nvSpPr>
                <p:cNvPr id="17" name="文本框 16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16581" y="7452"/>
                  <a:ext cx="1392" cy="1232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C00000"/>
                </a:solidFill>
                <a:effectLst>
                  <a:outerShdw blurRad="50800" dist="38100" dir="2700000" algn="tl" rotWithShape="0">
                    <a:srgbClr val="C00000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场景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贯通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  <p:sp>
              <p:nvSpPr>
                <p:cNvPr id="18" name="文本框 17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6581" y="9002"/>
                  <a:ext cx="1392" cy="1232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体系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sz="1700" b="1" dirty="0">
                      <a:solidFill>
                        <a:schemeClr val="lt1"/>
                      </a:solidFill>
                      <a:sym typeface="+mn-ea"/>
                    </a:rPr>
                    <a:t>搭建</a:t>
                  </a:r>
                  <a:endParaRPr kumimoji="1" lang="zh-CN" altLang="en-US" sz="17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  <p:sp>
              <p:nvSpPr>
                <p:cNvPr id="28" name="矩形: 圆角 30"/>
                <p:cNvSpPr/>
                <p:nvPr/>
              </p:nvSpPr>
              <p:spPr>
                <a:xfrm>
                  <a:off x="1349" y="2863"/>
                  <a:ext cx="15017" cy="1172"/>
                </a:xfrm>
                <a:prstGeom prst="roundRect">
                  <a:avLst>
                    <a:gd name="adj" fmla="val 6238"/>
                  </a:avLst>
                </a:prstGeom>
                <a:solidFill>
                  <a:srgbClr val="0070C0">
                    <a:alpha val="5000"/>
                  </a:srgbClr>
                </a:solidFill>
                <a:ln w="15875">
                  <a:solidFill>
                    <a:srgbClr val="01569F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/>
                    <a:t>V</a:t>
                  </a:r>
                  <a:endParaRPr lang="en-US" altLang="zh-CN" sz="1400" dirty="0"/>
                </a:p>
              </p:txBody>
            </p:sp>
            <p:sp>
              <p:nvSpPr>
                <p:cNvPr id="42" name="矩形: 圆角 41"/>
                <p:cNvSpPr/>
                <p:nvPr/>
              </p:nvSpPr>
              <p:spPr>
                <a:xfrm>
                  <a:off x="1349" y="5992"/>
                  <a:ext cx="15016" cy="1137"/>
                </a:xfrm>
                <a:prstGeom prst="roundRect">
                  <a:avLst>
                    <a:gd name="adj" fmla="val 6238"/>
                  </a:avLst>
                </a:prstGeom>
                <a:solidFill>
                  <a:srgbClr val="0070C0">
                    <a:alpha val="5000"/>
                  </a:srgbClr>
                </a:solidFill>
                <a:ln w="15875">
                  <a:solidFill>
                    <a:srgbClr val="01569F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en-US" altLang="zh-CN" sz="1400" dirty="0">
                    <a:sym typeface="+mn-ea"/>
                  </a:endParaRPr>
                </a:p>
              </p:txBody>
            </p:sp>
            <p:grpSp>
              <p:nvGrpSpPr>
                <p:cNvPr id="4" name="组合 3"/>
                <p:cNvGrpSpPr/>
                <p:nvPr/>
              </p:nvGrpSpPr>
              <p:grpSpPr>
                <a:xfrm>
                  <a:off x="4283" y="6192"/>
                  <a:ext cx="11853" cy="737"/>
                  <a:chOff x="4283" y="6323"/>
                  <a:chExt cx="11853" cy="474"/>
                </a:xfrm>
              </p:grpSpPr>
              <p:sp>
                <p:nvSpPr>
                  <p:cNvPr id="51" name="矩形: 圆角 7"/>
                  <p:cNvSpPr/>
                  <p:nvPr/>
                </p:nvSpPr>
                <p:spPr>
                  <a:xfrm>
                    <a:off x="8310" y="6323"/>
                    <a:ext cx="3809" cy="47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云侧决策与处置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6" name="矩形: 圆角 7"/>
                  <p:cNvSpPr/>
                  <p:nvPr/>
                </p:nvSpPr>
                <p:spPr>
                  <a:xfrm>
                    <a:off x="4283" y="6323"/>
                    <a:ext cx="3809" cy="47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异常触发与上报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53" name="矩形: 圆角 7"/>
                  <p:cNvSpPr/>
                  <p:nvPr/>
                </p:nvSpPr>
                <p:spPr>
                  <a:xfrm>
                    <a:off x="12328" y="6323"/>
                    <a:ext cx="3809" cy="47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结果回传工单闭环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  <p:sp>
              <p:nvSpPr>
                <p:cNvPr id="43" name="矩形: 圆角 42"/>
                <p:cNvSpPr/>
                <p:nvPr/>
              </p:nvSpPr>
              <p:spPr>
                <a:xfrm>
                  <a:off x="1350" y="7504"/>
                  <a:ext cx="15015" cy="1173"/>
                </a:xfrm>
                <a:prstGeom prst="roundRect">
                  <a:avLst>
                    <a:gd name="adj" fmla="val 6238"/>
                  </a:avLst>
                </a:prstGeom>
                <a:solidFill>
                  <a:srgbClr val="FADBDF">
                    <a:alpha val="17000"/>
                  </a:srgbClr>
                </a:solidFill>
                <a:ln w="15875">
                  <a:solidFill>
                    <a:srgbClr val="C0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 sz="1400" dirty="0">
                    <a:sym typeface="+mn-ea"/>
                  </a:endParaRPr>
                </a:p>
              </p:txBody>
            </p:sp>
            <p:grpSp>
              <p:nvGrpSpPr>
                <p:cNvPr id="5" name="组合 4"/>
                <p:cNvGrpSpPr/>
                <p:nvPr/>
              </p:nvGrpSpPr>
              <p:grpSpPr>
                <a:xfrm>
                  <a:off x="4283" y="7722"/>
                  <a:ext cx="11853" cy="737"/>
                  <a:chOff x="4283" y="7853"/>
                  <a:chExt cx="11853" cy="474"/>
                </a:xfrm>
              </p:grpSpPr>
              <p:sp>
                <p:nvSpPr>
                  <p:cNvPr id="55" name="矩形: 圆角 7"/>
                  <p:cNvSpPr/>
                  <p:nvPr/>
                </p:nvSpPr>
                <p:spPr>
                  <a:xfrm>
                    <a:off x="8302" y="7853"/>
                    <a:ext cx="3808" cy="474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边缘预处理上报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56" name="矩形: 圆角 7"/>
                  <p:cNvSpPr/>
                  <p:nvPr/>
                </p:nvSpPr>
                <p:spPr>
                  <a:xfrm>
                    <a:off x="4283" y="7853"/>
                    <a:ext cx="3808" cy="474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路线巡检与采集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57" name="矩形: 圆角 7"/>
                  <p:cNvSpPr/>
                  <p:nvPr/>
                </p:nvSpPr>
                <p:spPr>
                  <a:xfrm>
                    <a:off x="12328" y="7853"/>
                    <a:ext cx="3808" cy="474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云侧诊断与工单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  <p:sp>
              <p:nvSpPr>
                <p:cNvPr id="31" name="矩形: 圆角 30"/>
                <p:cNvSpPr/>
                <p:nvPr/>
              </p:nvSpPr>
              <p:spPr>
                <a:xfrm>
                  <a:off x="1348" y="4450"/>
                  <a:ext cx="15018" cy="1153"/>
                </a:xfrm>
                <a:prstGeom prst="roundRect">
                  <a:avLst>
                    <a:gd name="adj" fmla="val 6238"/>
                  </a:avLst>
                </a:prstGeom>
                <a:solidFill>
                  <a:srgbClr val="FADBDF">
                    <a:alpha val="17000"/>
                  </a:srgbClr>
                </a:solidFill>
                <a:ln w="15875">
                  <a:solidFill>
                    <a:srgbClr val="C0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 sz="1400" dirty="0">
                    <a:sym typeface="+mn-ea"/>
                  </a:endParaRPr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4283" y="4658"/>
                  <a:ext cx="11870" cy="737"/>
                  <a:chOff x="4283" y="4789"/>
                  <a:chExt cx="11870" cy="474"/>
                </a:xfrm>
              </p:grpSpPr>
              <p:sp>
                <p:nvSpPr>
                  <p:cNvPr id="36" name="矩形: 圆角 7"/>
                  <p:cNvSpPr/>
                  <p:nvPr/>
                </p:nvSpPr>
                <p:spPr>
                  <a:xfrm>
                    <a:off x="8299" y="4789"/>
                    <a:ext cx="3869" cy="474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处置策略纠偏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37" name="矩形: 圆角 7"/>
                  <p:cNvSpPr/>
                  <p:nvPr/>
                </p:nvSpPr>
                <p:spPr>
                  <a:xfrm>
                    <a:off x="4283" y="4789"/>
                    <a:ext cx="3808" cy="474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</a:rPr>
                      <a:t>高风险告警复核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49" name="矩形: 圆角 7"/>
                  <p:cNvSpPr/>
                  <p:nvPr/>
                </p:nvSpPr>
                <p:spPr>
                  <a:xfrm>
                    <a:off x="12345" y="4789"/>
                    <a:ext cx="3809" cy="474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误报漏报标注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  <p:sp>
              <p:nvSpPr>
                <p:cNvPr id="20" name="矩形: 圆角 42"/>
                <p:cNvSpPr/>
                <p:nvPr/>
              </p:nvSpPr>
              <p:spPr>
                <a:xfrm>
                  <a:off x="1348" y="9054"/>
                  <a:ext cx="15018" cy="1173"/>
                </a:xfrm>
                <a:prstGeom prst="roundRect">
                  <a:avLst>
                    <a:gd name="adj" fmla="val 6238"/>
                  </a:avLst>
                </a:prstGeom>
                <a:solidFill>
                  <a:srgbClr val="0070C0">
                    <a:alpha val="5000"/>
                  </a:srgbClr>
                </a:solidFill>
                <a:ln w="15875">
                  <a:solidFill>
                    <a:srgbClr val="01569F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en-US" altLang="zh-CN" sz="1400" dirty="0">
                    <a:sym typeface="+mn-ea"/>
                  </a:endParaRPr>
                </a:p>
              </p:txBody>
            </p:sp>
            <p:grpSp>
              <p:nvGrpSpPr>
                <p:cNvPr id="8" name="组合 7"/>
                <p:cNvGrpSpPr/>
                <p:nvPr/>
              </p:nvGrpSpPr>
              <p:grpSpPr>
                <a:xfrm>
                  <a:off x="4283" y="9272"/>
                  <a:ext cx="11853" cy="737"/>
                  <a:chOff x="4283" y="9403"/>
                  <a:chExt cx="11853" cy="474"/>
                </a:xfrm>
              </p:grpSpPr>
              <p:sp>
                <p:nvSpPr>
                  <p:cNvPr id="22" name="矩形: 圆角 7"/>
                  <p:cNvSpPr/>
                  <p:nvPr/>
                </p:nvSpPr>
                <p:spPr>
                  <a:xfrm>
                    <a:off x="8302" y="9403"/>
                    <a:ext cx="3809" cy="47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边缘节点部署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3" name="矩形: 圆角 7"/>
                  <p:cNvSpPr/>
                  <p:nvPr/>
                </p:nvSpPr>
                <p:spPr>
                  <a:xfrm>
                    <a:off x="4283" y="9403"/>
                    <a:ext cx="3809" cy="47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端侧机器人接入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4" name="矩形: 圆角 7"/>
                  <p:cNvSpPr/>
                  <p:nvPr/>
                </p:nvSpPr>
                <p:spPr>
                  <a:xfrm>
                    <a:off x="12328" y="9403"/>
                    <a:ext cx="3809" cy="474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云侧平台集成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85" name="组合 84"/>
                <p:cNvGrpSpPr/>
                <p:nvPr/>
              </p:nvGrpSpPr>
              <p:grpSpPr>
                <a:xfrm rot="0">
                  <a:off x="4283" y="3080"/>
                  <a:ext cx="11870" cy="737"/>
                  <a:chOff x="4283" y="3352"/>
                  <a:chExt cx="11870" cy="474"/>
                </a:xfrm>
              </p:grpSpPr>
              <p:sp>
                <p:nvSpPr>
                  <p:cNvPr id="38" name="矩形: 圆角 7"/>
                  <p:cNvSpPr/>
                  <p:nvPr/>
                </p:nvSpPr>
                <p:spPr>
                  <a:xfrm>
                    <a:off x="8298" y="3352"/>
                    <a:ext cx="3809" cy="475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多模态数据集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39" name="矩形: 圆角 7"/>
                  <p:cNvSpPr/>
                  <p:nvPr/>
                </p:nvSpPr>
                <p:spPr>
                  <a:xfrm>
                    <a:off x="4283" y="3352"/>
                    <a:ext cx="3809" cy="475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</a:rPr>
                      <a:t>巡检任务模板库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40" name="矩形: 圆角 7"/>
                  <p:cNvSpPr/>
                  <p:nvPr/>
                </p:nvSpPr>
                <p:spPr>
                  <a:xfrm>
                    <a:off x="12345" y="3352"/>
                    <a:ext cx="3809" cy="475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700" b="1" dirty="0">
                        <a:latin typeface="Calibri" panose="020F0502020204030204" charset="0"/>
                        <a:ea typeface="微软雅黑" panose="020B0503020204020204" charset="-122"/>
                        <a:sym typeface="+mn-ea"/>
                      </a:rPr>
                      <a:t>验证报告与规范</a:t>
                    </a:r>
                    <a:endParaRPr lang="zh-CN" altLang="en-US" sz="1700" b="1" dirty="0">
                      <a:latin typeface="Calibri" panose="020F0502020204030204" charset="0"/>
                      <a:ea typeface="微软雅黑" panose="020B0503020204020204" charset="-122"/>
                      <a:sym typeface="+mn-ea"/>
                    </a:endParaRPr>
                  </a:p>
                </p:txBody>
              </p:sp>
            </p:grpSp>
            <p:sp>
              <p:nvSpPr>
                <p:cNvPr id="48" name="箭头: 下 3"/>
                <p:cNvSpPr/>
                <p:nvPr/>
              </p:nvSpPr>
              <p:spPr>
                <a:xfrm rot="10800000">
                  <a:off x="9957" y="4066"/>
                  <a:ext cx="522" cy="337"/>
                </a:xfrm>
                <a:prstGeom prst="downArrow">
                  <a:avLst/>
                </a:prstGeom>
                <a:gradFill>
                  <a:gsLst>
                    <a:gs pos="98000">
                      <a:srgbClr val="01569F"/>
                    </a:gs>
                    <a:gs pos="4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cs typeface="思源黑体 CN Regular" panose="020B0500000000000000" charset="-122"/>
                    <a:sym typeface="+mn-ea"/>
                  </a:endParaRPr>
                </a:p>
              </p:txBody>
            </p:sp>
            <p:sp>
              <p:nvSpPr>
                <p:cNvPr id="60" name="箭头: 下 3"/>
                <p:cNvSpPr/>
                <p:nvPr/>
              </p:nvSpPr>
              <p:spPr>
                <a:xfrm rot="10800000">
                  <a:off x="9957" y="5614"/>
                  <a:ext cx="522" cy="337"/>
                </a:xfrm>
                <a:prstGeom prst="downArrow">
                  <a:avLst/>
                </a:prstGeom>
                <a:gradFill>
                  <a:gsLst>
                    <a:gs pos="98000">
                      <a:srgbClr val="01569F"/>
                    </a:gs>
                    <a:gs pos="4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cs typeface="思源黑体 CN Regular" panose="020B0500000000000000" charset="-122"/>
                    <a:sym typeface="+mn-ea"/>
                  </a:endParaRPr>
                </a:p>
              </p:txBody>
            </p:sp>
            <p:sp>
              <p:nvSpPr>
                <p:cNvPr id="61" name="箭头: 下 3"/>
                <p:cNvSpPr/>
                <p:nvPr/>
              </p:nvSpPr>
              <p:spPr>
                <a:xfrm rot="10800000">
                  <a:off x="9957" y="7162"/>
                  <a:ext cx="522" cy="337"/>
                </a:xfrm>
                <a:prstGeom prst="downArrow">
                  <a:avLst/>
                </a:prstGeom>
                <a:gradFill>
                  <a:gsLst>
                    <a:gs pos="98000">
                      <a:srgbClr val="01569F"/>
                    </a:gs>
                    <a:gs pos="4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cs typeface="思源黑体 CN Regular" panose="020B0500000000000000" charset="-122"/>
                    <a:sym typeface="+mn-ea"/>
                  </a:endParaRPr>
                </a:p>
              </p:txBody>
            </p:sp>
            <p:sp>
              <p:nvSpPr>
                <p:cNvPr id="62" name="箭头: 下 3"/>
                <p:cNvSpPr/>
                <p:nvPr/>
              </p:nvSpPr>
              <p:spPr>
                <a:xfrm rot="10800000">
                  <a:off x="9957" y="8710"/>
                  <a:ext cx="522" cy="337"/>
                </a:xfrm>
                <a:prstGeom prst="downArrow">
                  <a:avLst/>
                </a:prstGeom>
                <a:gradFill>
                  <a:gsLst>
                    <a:gs pos="98000">
                      <a:srgbClr val="01569F"/>
                    </a:gs>
                    <a:gs pos="4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cs typeface="思源黑体 CN Regular" panose="020B0500000000000000" charset="-122"/>
                    <a:sym typeface="+mn-ea"/>
                  </a:endParaRPr>
                </a:p>
              </p:txBody>
            </p:sp>
            <p:sp>
              <p:nvSpPr>
                <p:cNvPr id="84" name="文本框 83"/>
                <p:cNvSpPr txBox="1"/>
                <p:nvPr>
                  <p:custDataLst>
                    <p:tags r:id="rId28"/>
                  </p:custDataLst>
                </p:nvPr>
              </p:nvSpPr>
              <p:spPr>
                <a:xfrm>
                  <a:off x="1309" y="2815"/>
                  <a:ext cx="2633" cy="1276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algn="ctr">
                    <a:buClrTx/>
                    <a:buSzTx/>
                    <a:buNone/>
                  </a:pPr>
                  <a:endParaRPr kumimoji="1" lang="zh-CN" altLang="en-US" sz="1600" b="1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86" name="文本框 85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1309" y="4400"/>
                  <a:ext cx="2633" cy="1276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C00000"/>
                </a:solidFill>
                <a:effectLst>
                  <a:outerShdw blurRad="50800" dist="38100" dir="2700000" algn="tl" rotWithShape="0">
                    <a:srgbClr val="C00000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ts val="2000"/>
                    </a:lnSpc>
                    <a:buClrTx/>
                    <a:buSzTx/>
                    <a:buFontTx/>
                  </a:pP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88" name="文本框 87"/>
                <p:cNvSpPr txBox="1"/>
                <p:nvPr>
                  <p:custDataLst>
                    <p:tags r:id="rId30"/>
                  </p:custDataLst>
                </p:nvPr>
              </p:nvSpPr>
              <p:spPr>
                <a:xfrm>
                  <a:off x="1309" y="5922"/>
                  <a:ext cx="2633" cy="1276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algn="ctr">
                    <a:buClrTx/>
                    <a:buSzTx/>
                    <a:buNone/>
                  </a:pPr>
                  <a:endParaRPr kumimoji="1" lang="zh-CN" altLang="en-US" sz="1600" b="1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89" name="文本框 88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1309" y="7452"/>
                  <a:ext cx="2633" cy="1276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C00000"/>
                </a:solidFill>
                <a:effectLst>
                  <a:outerShdw blurRad="50800" dist="38100" dir="2700000" algn="tl" rotWithShape="0">
                    <a:srgbClr val="C00000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ts val="2000"/>
                    </a:lnSpc>
                    <a:buClrTx/>
                    <a:buSzTx/>
                    <a:buFontTx/>
                  </a:pP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90" name="文本框 89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309" y="9002"/>
                  <a:ext cx="2633" cy="1276"/>
                </a:xfrm>
                <a:prstGeom prst="roundRect">
                  <a:avLst>
                    <a:gd name="adj" fmla="val 10420"/>
                  </a:avLst>
                </a:prstGeom>
                <a:solidFill>
                  <a:srgbClr val="01569F"/>
                </a:solidFill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algn="ctr">
                    <a:buClrTx/>
                    <a:buSzTx/>
                    <a:buNone/>
                  </a:pPr>
                  <a:endParaRPr kumimoji="1" lang="zh-CN" altLang="en-US" sz="1600" b="1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1612" y="2885"/>
                  <a:ext cx="2027" cy="1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b="1" dirty="0">
                      <a:solidFill>
                        <a:schemeClr val="lt1"/>
                      </a:solidFill>
                    </a:rPr>
                    <a:t>成果固化</a:t>
                  </a:r>
                  <a:endParaRPr kumimoji="1" lang="zh-CN" altLang="en-US" b="1" dirty="0">
                    <a:solidFill>
                      <a:schemeClr val="lt1"/>
                    </a:solidFill>
                  </a:endParaRPr>
                </a:p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b="1" dirty="0">
                      <a:solidFill>
                        <a:schemeClr val="lt1"/>
                      </a:solidFill>
                    </a:rPr>
                    <a:t>与交付</a:t>
                  </a:r>
                  <a:endParaRPr kumimoji="1" lang="zh-CN" altLang="en-US" b="1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1612" y="4470"/>
                  <a:ext cx="2027" cy="1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人在回路</a:t>
                  </a:r>
                  <a:endParaRPr kumimoji="1" lang="zh-CN" altLang="en-US" sz="18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algn="ctr">
                    <a:lnSpc>
                      <a:spcPct val="100000"/>
                    </a:lnSpc>
                    <a:buClrTx/>
                    <a:buSz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演化</a:t>
                  </a:r>
                  <a:endParaRPr kumimoji="1" lang="zh-CN" altLang="en-US" sz="1800" b="1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1612" y="6085"/>
                  <a:ext cx="2027" cy="951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典型应急用例驱动</a:t>
                  </a:r>
                  <a:endParaRPr kumimoji="1" lang="zh-CN" altLang="en-US" sz="18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1612" y="7615"/>
                  <a:ext cx="2027" cy="95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巡检业务</a:t>
                  </a:r>
                  <a:endParaRPr kumimoji="1" lang="zh-CN" altLang="en-US" sz="18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贯通</a:t>
                  </a:r>
                  <a:endParaRPr kumimoji="1" lang="zh-CN" altLang="en-US" sz="18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  <p:sp>
              <p:nvSpPr>
                <p:cNvPr id="94" name="文本框 93"/>
                <p:cNvSpPr txBox="1"/>
                <p:nvPr/>
              </p:nvSpPr>
              <p:spPr>
                <a:xfrm>
                  <a:off x="1612" y="9165"/>
                  <a:ext cx="2027" cy="951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srgbClr val="01569F">
                      <a:alpha val="40000"/>
                    </a:srgbClr>
                  </a:outerShdw>
                </a:effectLst>
              </p:spPr>
              <p:txBody>
                <a:bodyPr wrap="square" rtlCol="0" anchor="ctr" anchorCtr="1">
                  <a:noAutofit/>
                </a:bodyPr>
                <a:lstStyle/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协同架构</a:t>
                  </a:r>
                  <a:endParaRPr kumimoji="1" lang="zh-CN" altLang="en-US" sz="1800" b="1" dirty="0">
                    <a:solidFill>
                      <a:schemeClr val="lt1"/>
                    </a:solidFill>
                    <a:sym typeface="+mn-ea"/>
                  </a:endParaRPr>
                </a:p>
                <a:p>
                  <a:pPr lvl="0"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kumimoji="1" lang="zh-CN" altLang="en-US" sz="1800" b="1" dirty="0">
                      <a:solidFill>
                        <a:schemeClr val="lt1"/>
                      </a:solidFill>
                      <a:sym typeface="+mn-ea"/>
                    </a:rPr>
                    <a:t>落地</a:t>
                  </a:r>
                  <a:endParaRPr kumimoji="1" lang="zh-CN" altLang="en-US" sz="1800" b="1" dirty="0">
                    <a:solidFill>
                      <a:schemeClr val="lt1"/>
                    </a:solidFill>
                    <a:sym typeface="+mn-ea"/>
                  </a:endParaRPr>
                </a:p>
              </p:txBody>
            </p:sp>
          </p:grpSp>
        </p:grpSp>
        <p:sp>
          <p:nvSpPr>
            <p:cNvPr id="19" name="圆角矩形 18"/>
            <p:cNvSpPr/>
            <p:nvPr/>
          </p:nvSpPr>
          <p:spPr>
            <a:xfrm>
              <a:off x="709" y="553"/>
              <a:ext cx="17782" cy="9694"/>
            </a:xfrm>
            <a:prstGeom prst="roundRect">
              <a:avLst>
                <a:gd name="adj" fmla="val 3556"/>
              </a:avLst>
            </a:prstGeom>
            <a:noFill/>
            <a:ln w="25400" cmpd="sng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18966,21574425,21582201,17426671,50029875],&quot;65&quot;:[20205081]}"/>
</p:tagLst>
</file>

<file path=ppt/tags/tag64.xml><?xml version="1.0" encoding="utf-8"?>
<p:tagLst xmlns:p="http://schemas.openxmlformats.org/presentationml/2006/main">
  <p:tag name="KSO_WM_DIAGRAM_VIRTUALLY_FRAME" val="{&quot;height&quot;:456.3249969482422,&quot;left&quot;:30.15,&quot;top&quot;:69,&quot;width&quot;:900.5}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18966,21574425,21582201,17426671,50029875],&quot;65&quot;:[20205081]}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18966,21574425,21582201,17426671,50029875],&quot;65&quot;:[20205081]}"/>
</p:tagLst>
</file>

<file path=ppt/tags/tag74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75.xml><?xml version="1.0" encoding="utf-8"?>
<p:tagLst xmlns:p="http://schemas.openxmlformats.org/presentationml/2006/main">
  <p:tag name="KSO_WM_DIAGRAM_VIRTUALLY_FRAME" val="{&quot;height&quot;:464.39858267716545,&quot;left&quot;:13.146141732283464,&quot;top&quot;:70.44559055118108,&quot;width&quot;:933.7077165354331}"/>
</p:tagLst>
</file>

<file path=ppt/tags/tag76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77.xml><?xml version="1.0" encoding="utf-8"?>
<p:tagLst xmlns:p="http://schemas.openxmlformats.org/presentationml/2006/main">
  <p:tag name="KSO_WM_DIAGRAM_VIRTUALLY_FRAME" val="{&quot;height&quot;:464.39858267716545,&quot;left&quot;:13.146141732283464,&quot;top&quot;:70.44559055118108,&quot;width&quot;:933.7077165354331}"/>
</p:tagLst>
</file>

<file path=ppt/tags/tag78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79.xml><?xml version="1.0" encoding="utf-8"?>
<p:tagLst xmlns:p="http://schemas.openxmlformats.org/presentationml/2006/main">
  <p:tag name="KSO_WM_DIAGRAM_VIRTUALLY_FRAME" val="{&quot;height&quot;:464.39858267716545,&quot;left&quot;:13.146141732283464,&quot;top&quot;:70.44559055118108,&quot;width&quot;:933.7077165354331}"/>
</p:tagLst>
</file>

<file path=ppt/tags/tag80.xml><?xml version="1.0" encoding="utf-8"?>
<p:tagLst xmlns:p="http://schemas.openxmlformats.org/presentationml/2006/main">
  <p:tag name="KSO_DOCER_RESOURCE_TRACE_INFO" val="{&quot;id&quot;:&quot;20201637&quot;,&quot;origin&quot;:0,&quot;type&quot;:&quot;icons&quot;,&quot;user&quot;:&quot;1628821605&quot;}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18966,21574425,21582201,17426671,50029875,20201637],&quot;65&quot;:[20205081]}"/>
</p:tagLst>
</file>

<file path=ppt/tags/tag82.xml><?xml version="1.0" encoding="utf-8"?>
<p:tagLst xmlns:p="http://schemas.openxmlformats.org/presentationml/2006/main">
  <p:tag name="KSO_WM_DIAGRAM_VIRTUALLY_FRAME" val="{&quot;height&quot;:464.39858267716545,&quot;left&quot;:13.146141732283464,&quot;top&quot;:70.44559055118108,&quot;width&quot;:933.7077165354331}"/>
</p:tagLst>
</file>

<file path=ppt/tags/tag83.xml><?xml version="1.0" encoding="utf-8"?>
<p:tagLst xmlns:p="http://schemas.openxmlformats.org/presentationml/2006/main">
  <p:tag name="KSO_WM_DIAGRAM_VIRTUALLY_FRAME" val="{&quot;height&quot;:464.39858267716545,&quot;left&quot;:13.146141732283464,&quot;top&quot;:70.44559055118108,&quot;width&quot;:933.7077165354331}"/>
</p:tagLst>
</file>

<file path=ppt/tags/tag84.xml><?xml version="1.0" encoding="utf-8"?>
<p:tagLst xmlns:p="http://schemas.openxmlformats.org/presentationml/2006/main">
  <p:tag name="KSO_WM_DIAGRAM_VIRTUALLY_FRAME" val="{&quot;height&quot;:104.25,&quot;left&quot;:137.55,&quot;top&quot;:11.45,&quot;width&quot;:726.85}"/>
</p:tagLst>
</file>

<file path=ppt/tags/tag85.xml><?xml version="1.0" encoding="utf-8"?>
<p:tagLst xmlns:p="http://schemas.openxmlformats.org/presentationml/2006/main">
  <p:tag name="KSO_WM_DIAGRAM_VIRTUALLY_FRAME" val="{&quot;height&quot;:104.25,&quot;left&quot;:137.55,&quot;top&quot;:11.45,&quot;width&quot;:726.85}"/>
</p:tagLst>
</file>

<file path=ppt/tags/tag86.xml><?xml version="1.0" encoding="utf-8"?>
<p:tagLst xmlns:p="http://schemas.openxmlformats.org/presentationml/2006/main">
  <p:tag name="KSO_WM_DIAGRAM_VIRTUALLY_FRAME" val="{&quot;height&quot;:104.25,&quot;left&quot;:137.55,&quot;top&quot;:11.45,&quot;width&quot;:726.85}"/>
</p:tagLst>
</file>

<file path=ppt/tags/tag87.xml><?xml version="1.0" encoding="utf-8"?>
<p:tagLst xmlns:p="http://schemas.openxmlformats.org/presentationml/2006/main">
  <p:tag name="KSO_WM_DIAGRAM_VIRTUALLY_FRAME" val="{&quot;height&quot;:104.25,&quot;left&quot;:137.55,&quot;top&quot;:11.45,&quot;width&quot;:726.85}"/>
</p:tagLst>
</file>

<file path=ppt/tags/tag88.xml><?xml version="1.0" encoding="utf-8"?>
<p:tagLst xmlns:p="http://schemas.openxmlformats.org/presentationml/2006/main">
  <p:tag name="KSO_WM_DIAGRAM_VIRTUALLY_FRAME" val="{&quot;height&quot;:426.21370078740154,&quot;left&quot;:49.65,&quot;top&quot;:80.29047244094488,&quot;width&quot;:864.3}"/>
</p:tagLst>
</file>

<file path=ppt/tags/tag89.xml><?xml version="1.0" encoding="utf-8"?>
<p:tagLst xmlns:p="http://schemas.openxmlformats.org/presentationml/2006/main">
  <p:tag name="KSO_WM_DIAGRAM_VIRTUALLY_FRAME" val="{&quot;height&quot;:426.21370078740154,&quot;left&quot;:49.65,&quot;top&quot;:80.29047244094488,&quot;width&quot;:864.3}"/>
</p:tagLst>
</file>

<file path=ppt/tags/tag90.xml><?xml version="1.0" encoding="utf-8"?>
<p:tagLst xmlns:p="http://schemas.openxmlformats.org/presentationml/2006/main">
  <p:tag name="KSO_WM_DIAGRAM_VIRTUALLY_FRAME" val="{&quot;height&quot;:426.21370078740154,&quot;left&quot;:49.65,&quot;top&quot;:80.29047244094488,&quot;width&quot;:864.3}"/>
</p:tagLst>
</file>

<file path=ppt/tags/tag91.xml><?xml version="1.0" encoding="utf-8"?>
<p:tagLst xmlns:p="http://schemas.openxmlformats.org/presentationml/2006/main">
  <p:tag name="KSO_DOCER_RESOURCE_TRACE_INFO" val="{&quot;id&quot;:&quot;21574425&quot;,&quot;origin&quot;:0,&quot;type&quot;:&quot;icons&quot;,&quot;user&quot;:&quot;1628821605&quot;}"/>
</p:tagLst>
</file>

<file path=ppt/tags/tag92.xml><?xml version="1.0" encoding="utf-8"?>
<p:tagLst xmlns:p="http://schemas.openxmlformats.org/presentationml/2006/main">
  <p:tag name="KSO_DOCER_RESOURCE_TRACE_INFO" val="{&quot;id&quot;:&quot;21582201&quot;,&quot;origin&quot;:0,&quot;type&quot;:&quot;icons&quot;,&quot;user&quot;:&quot;1628821605&quot;}"/>
</p:tagLst>
</file>

<file path=ppt/tags/tag93.xml><?xml version="1.0" encoding="utf-8"?>
<p:tagLst xmlns:p="http://schemas.openxmlformats.org/presentationml/2006/main">
  <p:tag name="KSO_DOCER_RESOURCE_TRACE_INFO" val="{&quot;id&quot;:&quot;17426671&quot;,&quot;origin&quot;:0,&quot;type&quot;:&quot;icons&quot;,&quot;user&quot;:&quot;1628821605&quot;}"/>
</p:tagLst>
</file>

<file path=ppt/tags/tag94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95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96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97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98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99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100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101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102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103.xml><?xml version="1.0" encoding="utf-8"?>
<p:tagLst xmlns:p="http://schemas.openxmlformats.org/presentationml/2006/main">
  <p:tag name="KSO_WM_DIAGRAM_VIRTUALLY_FRAME" val="{&quot;height&quot;:426.21370078740154,&quot;left&quot;:59.13228346456693,&quot;top&quot;:80.29047244094488,&quot;width&quot;:828.5120472440946}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18966,21574425,21582201,17426671],&quot;65&quot;:[20205081]}"/>
</p:tagLst>
</file>

<file path=ppt/tags/tag105.xml><?xml version="1.0" encoding="utf-8"?>
<p:tagLst xmlns:p="http://schemas.openxmlformats.org/presentationml/2006/main">
  <p:tag name="resource_record_key" val="{&quot;10&quot;:[50018966,21574425,21582201,17426671,50029875,20201637],&quot;65&quot;:[20205081]}"/>
  <p:tag name="commondata" val="eyJoZGlkIjoiYzFkNDdhMzM4M2YxNTVhODZlNDIyNWUwYzUyOTcyNW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WPS 演示</Application>
  <PresentationFormat>宽屏</PresentationFormat>
  <Paragraphs>361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苹方-简</vt:lpstr>
      <vt:lpstr>Times New Roman</vt:lpstr>
      <vt:lpstr>Calibri</vt:lpstr>
      <vt:lpstr>思源黑体 CN Regular</vt:lpstr>
      <vt:lpstr>等线</vt:lpstr>
      <vt:lpstr>Cambria Math</vt:lpstr>
      <vt:lpstr>MS Mincho</vt:lpstr>
      <vt:lpstr>Arial Unicode MS</vt:lpstr>
      <vt:lpstr>黑体</vt:lpstr>
      <vt:lpstr>Yu Gothic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memory。</cp:lastModifiedBy>
  <cp:revision>169</cp:revision>
  <dcterms:created xsi:type="dcterms:W3CDTF">2019-06-19T02:08:00Z</dcterms:created>
  <dcterms:modified xsi:type="dcterms:W3CDTF">2026-03-17T06:55:42Z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FCF22637B85649F08E0F3A8A7F586065_11</vt:lpwstr>
  </property>
</Properties>
</file>