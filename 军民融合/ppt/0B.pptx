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6FBFF"/>
    <a:srgbClr val="C00000"/>
    <a:srgbClr val="FADB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2143" autoAdjust="0"/>
    <p:restoredTop sz="95338" autoAdjust="0"/>
  </p:normalViewPr>
  <p:slideViewPr>
    <p:cSldViewPr snapToGrid="0">
      <p:cViewPr>
        <p:scale>
          <a:sx n="75" d="100"/>
          <a:sy n="75" d="100"/>
        </p:scale>
        <p:origin x="-126" y="-1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45045" y="1749902"/>
            <a:ext cx="5670268" cy="3722560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945045" y="5616018"/>
            <a:ext cx="5670268" cy="2581535"/>
          </a:xfrm>
        </p:spPr>
        <p:txBody>
          <a:bodyPr/>
          <a:lstStyle>
            <a:lvl1pPr marL="0" indent="0" algn="ctr">
              <a:buNone/>
              <a:defRPr sz="1985"/>
            </a:lvl1pPr>
            <a:lvl2pPr marL="378460" indent="0" algn="ctr">
              <a:buNone/>
              <a:defRPr sz="1655"/>
            </a:lvl2pPr>
            <a:lvl3pPr marL="755650" indent="0" algn="ctr">
              <a:buNone/>
              <a:defRPr sz="1490"/>
            </a:lvl3pPr>
            <a:lvl4pPr marL="1134110" indent="0" algn="ctr">
              <a:buNone/>
              <a:defRPr sz="1325"/>
            </a:lvl4pPr>
            <a:lvl5pPr marL="1511935" indent="0" algn="ctr">
              <a:buNone/>
              <a:defRPr sz="1325"/>
            </a:lvl5pPr>
            <a:lvl6pPr marL="1890395" indent="0" algn="ctr">
              <a:buNone/>
              <a:defRPr sz="1325"/>
            </a:lvl6pPr>
            <a:lvl7pPr marL="2268220" indent="0" algn="ctr">
              <a:buNone/>
              <a:defRPr sz="1325"/>
            </a:lvl7pPr>
            <a:lvl8pPr marL="2646045" indent="0" algn="ctr">
              <a:buNone/>
              <a:defRPr sz="1325"/>
            </a:lvl8pPr>
            <a:lvl9pPr marL="3024505" indent="0" algn="ctr">
              <a:buNone/>
              <a:defRPr sz="1325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5837" y="2665691"/>
            <a:ext cx="6520808" cy="4447765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15837" y="7155534"/>
            <a:ext cx="6520808" cy="2338974"/>
          </a:xfr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1pPr>
            <a:lvl2pPr marL="378460" indent="0">
              <a:buNone/>
              <a:defRPr sz="1655">
                <a:solidFill>
                  <a:schemeClr val="tx1">
                    <a:tint val="75000"/>
                  </a:schemeClr>
                </a:solidFill>
              </a:defRPr>
            </a:lvl2pPr>
            <a:lvl3pPr marL="755650" indent="0">
              <a:buNone/>
              <a:defRPr sz="1490">
                <a:solidFill>
                  <a:schemeClr val="tx1">
                    <a:tint val="75000"/>
                  </a:schemeClr>
                </a:solidFill>
              </a:defRPr>
            </a:lvl3pPr>
            <a:lvl4pPr marL="113411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4pPr>
            <a:lvl5pPr marL="151193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5pPr>
            <a:lvl6pPr marL="189039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6pPr>
            <a:lvl7pPr marL="226822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7pPr>
            <a:lvl8pPr marL="264604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8pPr>
            <a:lvl9pPr marL="302450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19775" y="2846372"/>
            <a:ext cx="3213152" cy="678426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827431" y="2846372"/>
            <a:ext cx="3213152" cy="678426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0760" y="569274"/>
            <a:ext cx="6520808" cy="206671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20760" y="2621139"/>
            <a:ext cx="3198385" cy="1284579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460" indent="0">
              <a:buNone/>
              <a:defRPr sz="1655" b="1"/>
            </a:lvl2pPr>
            <a:lvl3pPr marL="755650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90395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20760" y="3905718"/>
            <a:ext cx="3198385" cy="574472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827431" y="2621139"/>
            <a:ext cx="3214137" cy="1284579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460" indent="0">
              <a:buNone/>
              <a:defRPr sz="1655" b="1"/>
            </a:lvl2pPr>
            <a:lvl3pPr marL="755650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90395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827431" y="3905718"/>
            <a:ext cx="3214137" cy="574472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0760" y="712831"/>
            <a:ext cx="2438412" cy="2494907"/>
          </a:xfrm>
        </p:spPr>
        <p:txBody>
          <a:bodyPr anchor="b"/>
          <a:lstStyle>
            <a:lvl1pPr>
              <a:defRPr sz="265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14137" y="1539516"/>
            <a:ext cx="3827431" cy="7598576"/>
          </a:xfrm>
        </p:spPr>
        <p:txBody>
          <a:bodyPr/>
          <a:lstStyle>
            <a:lvl1pPr>
              <a:defRPr sz="2650"/>
            </a:lvl1pPr>
            <a:lvl2pPr>
              <a:defRPr sz="2315"/>
            </a:lvl2pPr>
            <a:lvl3pPr>
              <a:defRPr sz="1985"/>
            </a:lvl3pPr>
            <a:lvl4pPr>
              <a:defRPr sz="1655"/>
            </a:lvl4pPr>
            <a:lvl5pPr>
              <a:defRPr sz="1655"/>
            </a:lvl5pPr>
            <a:lvl6pPr>
              <a:defRPr sz="1655"/>
            </a:lvl6pPr>
            <a:lvl7pPr>
              <a:defRPr sz="1655"/>
            </a:lvl7pPr>
            <a:lvl8pPr>
              <a:defRPr sz="1655"/>
            </a:lvl8pPr>
            <a:lvl9pPr>
              <a:defRPr sz="165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20760" y="3207738"/>
            <a:ext cx="2438412" cy="5942732"/>
          </a:xfrm>
        </p:spPr>
        <p:txBody>
          <a:bodyPr/>
          <a:lstStyle>
            <a:lvl1pPr marL="0" indent="0">
              <a:buNone/>
              <a:defRPr sz="1325"/>
            </a:lvl1pPr>
            <a:lvl2pPr marL="378460" indent="0">
              <a:buNone/>
              <a:defRPr sz="1160"/>
            </a:lvl2pPr>
            <a:lvl3pPr marL="755650" indent="0">
              <a:buNone/>
              <a:defRPr sz="995"/>
            </a:lvl3pPr>
            <a:lvl4pPr marL="1134110" indent="0">
              <a:buNone/>
              <a:defRPr sz="825"/>
            </a:lvl4pPr>
            <a:lvl5pPr marL="1511935" indent="0">
              <a:buNone/>
              <a:defRPr sz="825"/>
            </a:lvl5pPr>
            <a:lvl6pPr marL="1890395" indent="0">
              <a:buNone/>
              <a:defRPr sz="825"/>
            </a:lvl6pPr>
            <a:lvl7pPr marL="2268220" indent="0">
              <a:buNone/>
              <a:defRPr sz="825"/>
            </a:lvl7pPr>
            <a:lvl8pPr marL="2646045" indent="0">
              <a:buNone/>
              <a:defRPr sz="825"/>
            </a:lvl8pPr>
            <a:lvl9pPr marL="3024505" indent="0">
              <a:buNone/>
              <a:defRPr sz="82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0760" y="712831"/>
            <a:ext cx="2438412" cy="2494907"/>
          </a:xfrm>
        </p:spPr>
        <p:txBody>
          <a:bodyPr anchor="b"/>
          <a:lstStyle>
            <a:lvl1pPr>
              <a:defRPr sz="265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214137" y="1539516"/>
            <a:ext cx="3827431" cy="7598576"/>
          </a:xfrm>
        </p:spPr>
        <p:txBody>
          <a:bodyPr/>
          <a:lstStyle>
            <a:lvl1pPr marL="0" indent="0">
              <a:buNone/>
              <a:defRPr sz="2650"/>
            </a:lvl1pPr>
            <a:lvl2pPr marL="378460" indent="0">
              <a:buNone/>
              <a:defRPr sz="2315"/>
            </a:lvl2pPr>
            <a:lvl3pPr marL="755650" indent="0">
              <a:buNone/>
              <a:defRPr sz="1985"/>
            </a:lvl3pPr>
            <a:lvl4pPr marL="1134110" indent="0">
              <a:buNone/>
              <a:defRPr sz="1655"/>
            </a:lvl4pPr>
            <a:lvl5pPr marL="1511935" indent="0">
              <a:buNone/>
              <a:defRPr sz="1655"/>
            </a:lvl5pPr>
            <a:lvl6pPr marL="1890395" indent="0">
              <a:buNone/>
              <a:defRPr sz="1655"/>
            </a:lvl6pPr>
            <a:lvl7pPr marL="2268220" indent="0">
              <a:buNone/>
              <a:defRPr sz="1655"/>
            </a:lvl7pPr>
            <a:lvl8pPr marL="2646045" indent="0">
              <a:buNone/>
              <a:defRPr sz="1655"/>
            </a:lvl8pPr>
            <a:lvl9pPr marL="3024505" indent="0">
              <a:buNone/>
              <a:defRPr sz="165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20760" y="3207738"/>
            <a:ext cx="2438412" cy="5942732"/>
          </a:xfrm>
        </p:spPr>
        <p:txBody>
          <a:bodyPr/>
          <a:lstStyle>
            <a:lvl1pPr marL="0" indent="0">
              <a:buNone/>
              <a:defRPr sz="1325"/>
            </a:lvl1pPr>
            <a:lvl2pPr marL="378460" indent="0">
              <a:buNone/>
              <a:defRPr sz="1160"/>
            </a:lvl2pPr>
            <a:lvl3pPr marL="755650" indent="0">
              <a:buNone/>
              <a:defRPr sz="995"/>
            </a:lvl3pPr>
            <a:lvl4pPr marL="1134110" indent="0">
              <a:buNone/>
              <a:defRPr sz="825"/>
            </a:lvl4pPr>
            <a:lvl5pPr marL="1511935" indent="0">
              <a:buNone/>
              <a:defRPr sz="825"/>
            </a:lvl5pPr>
            <a:lvl6pPr marL="1890395" indent="0">
              <a:buNone/>
              <a:defRPr sz="825"/>
            </a:lvl6pPr>
            <a:lvl7pPr marL="2268220" indent="0">
              <a:buNone/>
              <a:defRPr sz="825"/>
            </a:lvl7pPr>
            <a:lvl8pPr marL="2646045" indent="0">
              <a:buNone/>
              <a:defRPr sz="825"/>
            </a:lvl8pPr>
            <a:lvl9pPr marL="3024505" indent="0">
              <a:buNone/>
              <a:defRPr sz="82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410380" y="569274"/>
            <a:ext cx="1630202" cy="906136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19775" y="569274"/>
            <a:ext cx="4796101" cy="906136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19775" y="569274"/>
            <a:ext cx="6520808" cy="20667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19775" y="2846372"/>
            <a:ext cx="6520808" cy="6784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19775" y="9910326"/>
            <a:ext cx="1701080" cy="5692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B27EF-0196-4C0A-8796-E2E36BABCE15}" type="datetimeFigureOut">
              <a:rPr lang="zh-CN" altLang="en-US" smtClean="0"/>
              <a:t>2026/6/15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504368" y="9910326"/>
            <a:ext cx="2551620" cy="5692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339502" y="9910326"/>
            <a:ext cx="1701080" cy="5692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38185-F415-41A6-8CB1-AC07685CB1D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55650" rtl="0" eaLnBrk="1" latinLnBrk="0" hangingPunct="1">
        <a:lnSpc>
          <a:spcPct val="90000"/>
        </a:lnSpc>
        <a:spcBef>
          <a:spcPct val="0"/>
        </a:spcBef>
        <a:buNone/>
        <a:defRPr sz="3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230" indent="-189230" algn="l" defTabSz="75565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55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488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655" kern="1200">
          <a:solidFill>
            <a:schemeClr val="tx1"/>
          </a:solidFill>
          <a:latin typeface="+mn-lt"/>
          <a:ea typeface="+mn-ea"/>
          <a:cs typeface="+mn-cs"/>
        </a:defRPr>
      </a:lvl3pPr>
      <a:lvl4pPr marL="132334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701165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207899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456815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213100" indent="-189230" algn="l" defTabSz="755650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1pPr>
      <a:lvl2pPr marL="37846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2pPr>
      <a:lvl3pPr marL="75565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3pPr>
      <a:lvl4pPr marL="113411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51193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189039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268220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64604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024505" algn="l" defTabSz="755650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/>
          <p:cNvSpPr/>
          <p:nvPr/>
        </p:nvSpPr>
        <p:spPr>
          <a:xfrm>
            <a:off x="594995" y="4629150"/>
            <a:ext cx="6371590" cy="5563870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2" name="矩形: 圆角 8"/>
          <p:cNvSpPr/>
          <p:nvPr/>
        </p:nvSpPr>
        <p:spPr>
          <a:xfrm flipH="1">
            <a:off x="832485" y="4879340"/>
            <a:ext cx="1886585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8" name="矩形: 圆角 8"/>
          <p:cNvSpPr/>
          <p:nvPr/>
        </p:nvSpPr>
        <p:spPr>
          <a:xfrm flipH="1">
            <a:off x="2838450" y="4879340"/>
            <a:ext cx="1886585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1" name="矩形: 圆角 8"/>
          <p:cNvSpPr/>
          <p:nvPr/>
        </p:nvSpPr>
        <p:spPr>
          <a:xfrm flipH="1">
            <a:off x="4860290" y="4879340"/>
            <a:ext cx="1886585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6" name="矩形: 圆角 5"/>
          <p:cNvSpPr/>
          <p:nvPr/>
        </p:nvSpPr>
        <p:spPr>
          <a:xfrm>
            <a:off x="594995" y="532130"/>
            <a:ext cx="6370955" cy="3716655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1" name="矩形: 圆角 1150"/>
          <p:cNvSpPr/>
          <p:nvPr/>
        </p:nvSpPr>
        <p:spPr>
          <a:xfrm>
            <a:off x="1318895" y="2665095"/>
            <a:ext cx="1704340" cy="1478915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: 圆角 1150"/>
          <p:cNvSpPr>
            <a:spLocks/>
          </p:cNvSpPr>
          <p:nvPr/>
        </p:nvSpPr>
        <p:spPr>
          <a:xfrm>
            <a:off x="1309545" y="702310"/>
            <a:ext cx="1709245" cy="1840230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1" name="矩形: 圆角 1150"/>
          <p:cNvSpPr>
            <a:spLocks/>
          </p:cNvSpPr>
          <p:nvPr/>
        </p:nvSpPr>
        <p:spPr>
          <a:xfrm>
            <a:off x="5036995" y="702310"/>
            <a:ext cx="1709245" cy="1840230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343430" y="742653"/>
            <a:ext cx="16414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200" dirty="0"/>
              <a:t>🌊海杂波回波</a:t>
            </a:r>
            <a:endParaRPr lang="en-US" altLang="zh-CN" sz="1200" dirty="0"/>
          </a:p>
          <a:p>
            <a:r>
              <a:rPr lang="zh-CN" altLang="zh-CN" sz="1200" dirty="0"/>
              <a:t>🚤走私船/偷渡小艇</a:t>
            </a:r>
            <a:endParaRPr lang="en-US" altLang="zh-CN" sz="1200" dirty="0"/>
          </a:p>
          <a:p>
            <a:r>
              <a:rPr lang="zh-CN" altLang="zh-CN" sz="1200" dirty="0"/>
              <a:t>〰️微弱目标频谱信号　</a:t>
            </a:r>
            <a:endParaRPr lang="en-US" altLang="zh-CN" sz="1200" dirty="0"/>
          </a:p>
          <a:p>
            <a:r>
              <a:rPr lang="zh-CN" altLang="zh-CN" sz="1200" dirty="0"/>
              <a:t>🌫️被杂波淹没的频谱(噪声团)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017395" y="2969260"/>
            <a:ext cx="10756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buClrTx/>
              <a:buSzTx/>
              <a:buFontTx/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干扰</a:t>
            </a:r>
          </a:p>
        </p:txBody>
      </p:sp>
      <p:sp>
        <p:nvSpPr>
          <p:cNvPr id="109" name="文本框 108"/>
          <p:cNvSpPr txBox="1"/>
          <p:nvPr/>
        </p:nvSpPr>
        <p:spPr>
          <a:xfrm>
            <a:off x="1522140" y="3619091"/>
            <a:ext cx="1406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提取</a:t>
            </a: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难！</a:t>
            </a:r>
          </a:p>
        </p:txBody>
      </p:sp>
      <p:pic>
        <p:nvPicPr>
          <p:cNvPr id="96" name="图片 9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26" r="6204" b="14629"/>
          <a:stretch>
            <a:fillRect/>
          </a:stretch>
        </p:blipFill>
        <p:spPr>
          <a:xfrm>
            <a:off x="1509395" y="2883535"/>
            <a:ext cx="688340" cy="688340"/>
          </a:xfrm>
          <a:prstGeom prst="rect">
            <a:avLst/>
          </a:prstGeom>
        </p:spPr>
      </p:pic>
      <p:sp>
        <p:nvSpPr>
          <p:cNvPr id="693" name="圆角矩形 692"/>
          <p:cNvSpPr/>
          <p:nvPr/>
        </p:nvSpPr>
        <p:spPr>
          <a:xfrm>
            <a:off x="346075" y="333375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/>
          </a:p>
        </p:txBody>
      </p:sp>
      <p:sp>
        <p:nvSpPr>
          <p:cNvPr id="147" name="箭头: 燕尾形 1202"/>
          <p:cNvSpPr/>
          <p:nvPr/>
        </p:nvSpPr>
        <p:spPr>
          <a:xfrm rot="16200000" flipH="1">
            <a:off x="1410970" y="4252595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7" name="矩形: 圆角 8"/>
          <p:cNvSpPr/>
          <p:nvPr/>
        </p:nvSpPr>
        <p:spPr>
          <a:xfrm>
            <a:off x="832485" y="8140065"/>
            <a:ext cx="5913755" cy="18192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58" name="文本框 157"/>
          <p:cNvSpPr txBox="1"/>
          <p:nvPr/>
        </p:nvSpPr>
        <p:spPr>
          <a:xfrm>
            <a:off x="938530" y="4928870"/>
            <a:ext cx="161798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研究内容一：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海杂波干扰下微弱电磁频谱信号传播规律与微弱信号提取</a:t>
            </a:r>
          </a:p>
        </p:txBody>
      </p:sp>
      <p:cxnSp>
        <p:nvCxnSpPr>
          <p:cNvPr id="163" name="直接箭头连接符 162"/>
          <p:cNvCxnSpPr/>
          <p:nvPr/>
        </p:nvCxnSpPr>
        <p:spPr>
          <a:xfrm flipH="1">
            <a:off x="1185545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5" name="组合 44"/>
          <p:cNvGrpSpPr/>
          <p:nvPr/>
        </p:nvGrpSpPr>
        <p:grpSpPr>
          <a:xfrm>
            <a:off x="1332548" y="6124575"/>
            <a:ext cx="887095" cy="259080"/>
            <a:chOff x="15328" y="12018"/>
            <a:chExt cx="1397" cy="408"/>
          </a:xfrm>
        </p:grpSpPr>
        <p:cxnSp>
          <p:nvCxnSpPr>
            <p:cNvPr id="180" name="直接连接符 179"/>
            <p:cNvCxnSpPr/>
            <p:nvPr/>
          </p:nvCxnSpPr>
          <p:spPr>
            <a:xfrm rot="5400000" flipH="1">
              <a:off x="16500" y="12222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2" name="直接连接符 181"/>
            <p:cNvCxnSpPr/>
            <p:nvPr/>
          </p:nvCxnSpPr>
          <p:spPr>
            <a:xfrm rot="5400000" flipH="1">
              <a:off x="15135" y="12222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3" name="直接连接符 182"/>
            <p:cNvCxnSpPr/>
            <p:nvPr/>
          </p:nvCxnSpPr>
          <p:spPr>
            <a:xfrm rot="5400000">
              <a:off x="16026" y="11320"/>
              <a:ext cx="0" cy="1397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1" name="直接连接符 180"/>
            <p:cNvCxnSpPr/>
            <p:nvPr/>
          </p:nvCxnSpPr>
          <p:spPr>
            <a:xfrm rot="5400000" flipH="1">
              <a:off x="15821" y="12222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47" name="箭头: 燕尾形 1202"/>
          <p:cNvSpPr/>
          <p:nvPr/>
        </p:nvSpPr>
        <p:spPr>
          <a:xfrm rot="16200000" flipH="1">
            <a:off x="1571625" y="7684135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51" name="文本框 250"/>
          <p:cNvSpPr txBox="1"/>
          <p:nvPr/>
        </p:nvSpPr>
        <p:spPr>
          <a:xfrm>
            <a:off x="1052830" y="8237220"/>
            <a:ext cx="5578475" cy="3975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研究内容</a:t>
            </a:r>
            <a:r>
              <a:rPr lang="zh-CN" altLang="en-US" sz="14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四：</a:t>
            </a:r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海杂波场景电磁频谱数据智能处理原型系统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应用验证</a:t>
            </a:r>
          </a:p>
        </p:txBody>
      </p:sp>
      <p:sp>
        <p:nvSpPr>
          <p:cNvPr id="252" name="文本框 251"/>
          <p:cNvSpPr txBox="1"/>
          <p:nvPr/>
        </p:nvSpPr>
        <p:spPr>
          <a:xfrm>
            <a:off x="1399540" y="9612630"/>
            <a:ext cx="11785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验证一</a:t>
            </a:r>
          </a:p>
        </p:txBody>
      </p:sp>
      <p:sp>
        <p:nvSpPr>
          <p:cNvPr id="253" name="文本框 252"/>
          <p:cNvSpPr txBox="1"/>
          <p:nvPr/>
        </p:nvSpPr>
        <p:spPr>
          <a:xfrm>
            <a:off x="3155315" y="9612630"/>
            <a:ext cx="11785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验证二</a:t>
            </a:r>
          </a:p>
        </p:txBody>
      </p:sp>
      <p:sp>
        <p:nvSpPr>
          <p:cNvPr id="254" name="文本框 253"/>
          <p:cNvSpPr txBox="1"/>
          <p:nvPr/>
        </p:nvSpPr>
        <p:spPr>
          <a:xfrm>
            <a:off x="5158105" y="9612630"/>
            <a:ext cx="8623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验证三</a:t>
            </a:r>
          </a:p>
        </p:txBody>
      </p:sp>
      <p:pic>
        <p:nvPicPr>
          <p:cNvPr id="255" name="图片 25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74"/>
          <a:stretch>
            <a:fillRect/>
          </a:stretch>
        </p:blipFill>
        <p:spPr>
          <a:xfrm>
            <a:off x="1190625" y="8609330"/>
            <a:ext cx="1596390" cy="1008380"/>
          </a:xfrm>
          <a:prstGeom prst="rect">
            <a:avLst/>
          </a:prstGeom>
        </p:spPr>
      </p:pic>
      <p:pic>
        <p:nvPicPr>
          <p:cNvPr id="256" name="图片 25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55" b="604"/>
          <a:stretch>
            <a:fillRect/>
          </a:stretch>
        </p:blipFill>
        <p:spPr>
          <a:xfrm flipH="1">
            <a:off x="3018790" y="8609330"/>
            <a:ext cx="1539875" cy="1024890"/>
          </a:xfrm>
          <a:prstGeom prst="rect">
            <a:avLst/>
          </a:prstGeom>
        </p:spPr>
      </p:pic>
      <p:pic>
        <p:nvPicPr>
          <p:cNvPr id="257" name="图片 25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38" b="2860"/>
          <a:stretch>
            <a:fillRect/>
          </a:stretch>
        </p:blipFill>
        <p:spPr>
          <a:xfrm>
            <a:off x="4791075" y="8609330"/>
            <a:ext cx="1598295" cy="1031240"/>
          </a:xfrm>
          <a:prstGeom prst="rect">
            <a:avLst/>
          </a:prstGeom>
        </p:spPr>
      </p:pic>
      <p:sp>
        <p:nvSpPr>
          <p:cNvPr id="258" name="文本框 257"/>
          <p:cNvSpPr txBox="1"/>
          <p:nvPr/>
        </p:nvSpPr>
        <p:spPr>
          <a:xfrm>
            <a:off x="979363" y="7692017"/>
            <a:ext cx="752267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</a:t>
            </a:r>
          </a:p>
        </p:txBody>
      </p:sp>
      <p:sp>
        <p:nvSpPr>
          <p:cNvPr id="259" name="文本框 258"/>
          <p:cNvSpPr txBox="1"/>
          <p:nvPr/>
        </p:nvSpPr>
        <p:spPr>
          <a:xfrm>
            <a:off x="1832050" y="7691990"/>
            <a:ext cx="752267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底座</a:t>
            </a:r>
          </a:p>
        </p:txBody>
      </p:sp>
      <p:sp>
        <p:nvSpPr>
          <p:cNvPr id="12" name="矩形: 圆角 1150"/>
          <p:cNvSpPr/>
          <p:nvPr/>
        </p:nvSpPr>
        <p:spPr>
          <a:xfrm>
            <a:off x="3185795" y="2665095"/>
            <a:ext cx="1704340" cy="1478915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: 圆角 1150"/>
          <p:cNvSpPr/>
          <p:nvPr/>
        </p:nvSpPr>
        <p:spPr>
          <a:xfrm>
            <a:off x="5041900" y="2665095"/>
            <a:ext cx="1704340" cy="1478915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98" name="图片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705" y="2821305"/>
            <a:ext cx="745490" cy="74549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3682365" y="2969260"/>
            <a:ext cx="14058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端侧算力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受限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3464605" y="3619091"/>
            <a:ext cx="1406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难！</a:t>
            </a:r>
          </a:p>
        </p:txBody>
      </p:sp>
      <p:sp>
        <p:nvSpPr>
          <p:cNvPr id="18" name="箭头: 燕尾形 1202"/>
          <p:cNvSpPr/>
          <p:nvPr/>
        </p:nvSpPr>
        <p:spPr>
          <a:xfrm rot="16200000" flipH="1">
            <a:off x="3850640" y="244729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pic>
        <p:nvPicPr>
          <p:cNvPr id="135" name="图片 13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8255" y="2849880"/>
            <a:ext cx="795655" cy="795655"/>
          </a:xfrm>
          <a:prstGeom prst="rect">
            <a:avLst/>
          </a:prstGeom>
        </p:spPr>
      </p:pic>
      <p:sp>
        <p:nvSpPr>
          <p:cNvPr id="28" name="文本框 27"/>
          <p:cNvSpPr txBox="1">
            <a:spLocks/>
          </p:cNvSpPr>
          <p:nvPr/>
        </p:nvSpPr>
        <p:spPr>
          <a:xfrm>
            <a:off x="5652452" y="2969260"/>
            <a:ext cx="104013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海域自主侦测</a:t>
            </a:r>
            <a:endParaRPr lang="zh-CN" altLang="en-US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5367020" y="3606165"/>
            <a:ext cx="12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难！</a:t>
            </a:r>
          </a:p>
        </p:txBody>
      </p:sp>
      <p:sp>
        <p:nvSpPr>
          <p:cNvPr id="19" name="箭头: 燕尾形 1202"/>
          <p:cNvSpPr/>
          <p:nvPr/>
        </p:nvSpPr>
        <p:spPr>
          <a:xfrm rot="16200000" flipH="1">
            <a:off x="5706745" y="244729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1" name="矩形: 圆角 1197"/>
          <p:cNvSpPr/>
          <p:nvPr/>
        </p:nvSpPr>
        <p:spPr>
          <a:xfrm>
            <a:off x="791210" y="689610"/>
            <a:ext cx="396240" cy="1868805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700" b="1" spc="-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海域电磁频谱侦测</a:t>
            </a:r>
            <a:endParaRPr kumimoji="0" lang="zh-CN" altLang="en-US" sz="1700" b="1" i="0" u="none" strike="noStrike" kern="1200" cap="none" spc="-2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22" name="矩形: 圆角 1197"/>
          <p:cNvSpPr/>
          <p:nvPr/>
        </p:nvSpPr>
        <p:spPr>
          <a:xfrm>
            <a:off x="791210" y="2665730"/>
            <a:ext cx="396240" cy="1478280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1745615" y="4273550"/>
            <a:ext cx="14097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怎么提取？</a:t>
            </a:r>
          </a:p>
        </p:txBody>
      </p:sp>
      <p:sp>
        <p:nvSpPr>
          <p:cNvPr id="30" name="箭头: 燕尾形 1202"/>
          <p:cNvSpPr/>
          <p:nvPr/>
        </p:nvSpPr>
        <p:spPr>
          <a:xfrm rot="16200000" flipH="1">
            <a:off x="3318510" y="4252595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3653155" y="4274185"/>
            <a:ext cx="1409700" cy="3365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怎么存储？</a:t>
            </a:r>
          </a:p>
        </p:txBody>
      </p:sp>
      <p:sp>
        <p:nvSpPr>
          <p:cNvPr id="36" name="箭头: 燕尾形 1202"/>
          <p:cNvSpPr/>
          <p:nvPr/>
        </p:nvSpPr>
        <p:spPr>
          <a:xfrm rot="16200000" flipH="1">
            <a:off x="5164455" y="4252595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499100" y="4274185"/>
            <a:ext cx="1409700" cy="3365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怎么决策？</a:t>
            </a:r>
          </a:p>
        </p:txBody>
      </p:sp>
      <p:sp>
        <p:nvSpPr>
          <p:cNvPr id="42" name="箭头: 燕尾形 1202"/>
          <p:cNvSpPr/>
          <p:nvPr/>
        </p:nvSpPr>
        <p:spPr>
          <a:xfrm rot="16200000" flipH="1">
            <a:off x="1982470" y="244729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6" name="圆角矩形 45"/>
          <p:cNvSpPr/>
          <p:nvPr/>
        </p:nvSpPr>
        <p:spPr>
          <a:xfrm>
            <a:off x="951230" y="645160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1525905" y="645160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圆角矩形 47"/>
          <p:cNvSpPr/>
          <p:nvPr/>
        </p:nvSpPr>
        <p:spPr>
          <a:xfrm>
            <a:off x="2100580" y="6451600"/>
            <a:ext cx="500380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/>
        </p:nvSpPr>
        <p:spPr>
          <a:xfrm>
            <a:off x="965835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时空传播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1442085" y="5814695"/>
            <a:ext cx="6858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暂缺</a:t>
            </a:r>
          </a:p>
        </p:txBody>
      </p:sp>
      <p:cxnSp>
        <p:nvCxnSpPr>
          <p:cNvPr id="58" name="直接箭头连接符 57"/>
          <p:cNvCxnSpPr/>
          <p:nvPr/>
        </p:nvCxnSpPr>
        <p:spPr>
          <a:xfrm flipH="1">
            <a:off x="1776095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/>
          <p:cNvCxnSpPr/>
          <p:nvPr/>
        </p:nvCxnSpPr>
        <p:spPr>
          <a:xfrm flipH="1">
            <a:off x="2350135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1547495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干扰对消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2123440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联合表征</a:t>
            </a:r>
          </a:p>
        </p:txBody>
      </p:sp>
      <p:sp>
        <p:nvSpPr>
          <p:cNvPr id="62" name="圆角矩形 61"/>
          <p:cNvSpPr/>
          <p:nvPr/>
        </p:nvSpPr>
        <p:spPr>
          <a:xfrm>
            <a:off x="951230" y="711454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1525905" y="711454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圆角矩形 63"/>
          <p:cNvSpPr/>
          <p:nvPr/>
        </p:nvSpPr>
        <p:spPr>
          <a:xfrm>
            <a:off x="2100580" y="7114540"/>
            <a:ext cx="500380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/>
          <p:cNvSpPr txBox="1"/>
          <p:nvPr/>
        </p:nvSpPr>
        <p:spPr>
          <a:xfrm>
            <a:off x="953135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设计？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34795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对齐？</a:t>
            </a: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110740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分配？</a:t>
            </a:r>
          </a:p>
        </p:txBody>
      </p:sp>
      <p:grpSp>
        <p:nvGrpSpPr>
          <p:cNvPr id="92" name="组合 91"/>
          <p:cNvGrpSpPr/>
          <p:nvPr/>
        </p:nvGrpSpPr>
        <p:grpSpPr>
          <a:xfrm>
            <a:off x="3911600" y="6125845"/>
            <a:ext cx="474980" cy="273050"/>
            <a:chOff x="6160" y="10097"/>
            <a:chExt cx="748" cy="430"/>
          </a:xfrm>
        </p:grpSpPr>
        <p:cxnSp>
          <p:nvCxnSpPr>
            <p:cNvPr id="210" name="直接箭头连接符 209"/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连接符 207"/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9" name="直接连接符 208"/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68" name="文本框 67"/>
          <p:cNvSpPr txBox="1"/>
          <p:nvPr/>
        </p:nvSpPr>
        <p:spPr>
          <a:xfrm>
            <a:off x="2994025" y="4928870"/>
            <a:ext cx="156718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研究内容二：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有限算力端侧频谱数据的可信管理和分级存储方法</a:t>
            </a:r>
          </a:p>
        </p:txBody>
      </p:sp>
      <p:cxnSp>
        <p:nvCxnSpPr>
          <p:cNvPr id="69" name="直接箭头连接符 68"/>
          <p:cNvCxnSpPr/>
          <p:nvPr/>
        </p:nvCxnSpPr>
        <p:spPr>
          <a:xfrm flipH="1">
            <a:off x="3215640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圆角矩形 74"/>
          <p:cNvSpPr/>
          <p:nvPr/>
        </p:nvSpPr>
        <p:spPr>
          <a:xfrm>
            <a:off x="2981325" y="645160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3556000" y="645160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圆角矩形 76"/>
          <p:cNvSpPr/>
          <p:nvPr/>
        </p:nvSpPr>
        <p:spPr>
          <a:xfrm>
            <a:off x="4130675" y="6451600"/>
            <a:ext cx="500380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/>
          <p:cNvSpPr txBox="1"/>
          <p:nvPr/>
        </p:nvSpPr>
        <p:spPr>
          <a:xfrm>
            <a:off x="2995930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价值评估</a:t>
            </a:r>
          </a:p>
        </p:txBody>
      </p:sp>
      <p:sp>
        <p:nvSpPr>
          <p:cNvPr id="79" name="文本框 78"/>
          <p:cNvSpPr txBox="1"/>
          <p:nvPr/>
        </p:nvSpPr>
        <p:spPr>
          <a:xfrm>
            <a:off x="3143250" y="5814695"/>
            <a:ext cx="61341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暂缺</a:t>
            </a:r>
          </a:p>
        </p:txBody>
      </p:sp>
      <p:cxnSp>
        <p:nvCxnSpPr>
          <p:cNvPr id="80" name="直接箭头连接符 79"/>
          <p:cNvCxnSpPr/>
          <p:nvPr/>
        </p:nvCxnSpPr>
        <p:spPr>
          <a:xfrm flipH="1">
            <a:off x="3806190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/>
          <p:nvPr/>
        </p:nvCxnSpPr>
        <p:spPr>
          <a:xfrm flipH="1">
            <a:off x="4380230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文本框 82"/>
          <p:cNvSpPr txBox="1"/>
          <p:nvPr/>
        </p:nvSpPr>
        <p:spPr>
          <a:xfrm>
            <a:off x="3577590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语义压缩 </a:t>
            </a:r>
          </a:p>
        </p:txBody>
      </p:sp>
      <p:sp>
        <p:nvSpPr>
          <p:cNvPr id="84" name="文本框 83"/>
          <p:cNvSpPr txBox="1"/>
          <p:nvPr/>
        </p:nvSpPr>
        <p:spPr>
          <a:xfrm>
            <a:off x="4153535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可信管理</a:t>
            </a:r>
          </a:p>
        </p:txBody>
      </p:sp>
      <p:sp>
        <p:nvSpPr>
          <p:cNvPr id="85" name="圆角矩形 84"/>
          <p:cNvSpPr/>
          <p:nvPr/>
        </p:nvSpPr>
        <p:spPr>
          <a:xfrm>
            <a:off x="2981325" y="711454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圆角矩形 85"/>
          <p:cNvSpPr/>
          <p:nvPr/>
        </p:nvSpPr>
        <p:spPr>
          <a:xfrm>
            <a:off x="3556000" y="711454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圆角矩形 86"/>
          <p:cNvSpPr/>
          <p:nvPr/>
        </p:nvSpPr>
        <p:spPr>
          <a:xfrm>
            <a:off x="4130675" y="7114540"/>
            <a:ext cx="500380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文本框 87"/>
          <p:cNvSpPr txBox="1"/>
          <p:nvPr/>
        </p:nvSpPr>
        <p:spPr>
          <a:xfrm>
            <a:off x="2983230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决策？</a:t>
            </a: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3564890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构建？</a:t>
            </a: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4140835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迭代？</a:t>
            </a:r>
          </a:p>
        </p:txBody>
      </p:sp>
      <p:grpSp>
        <p:nvGrpSpPr>
          <p:cNvPr id="93" name="组合 92"/>
          <p:cNvGrpSpPr/>
          <p:nvPr/>
        </p:nvGrpSpPr>
        <p:grpSpPr>
          <a:xfrm flipH="1">
            <a:off x="3209925" y="6125845"/>
            <a:ext cx="474980" cy="273050"/>
            <a:chOff x="6160" y="10097"/>
            <a:chExt cx="748" cy="430"/>
          </a:xfrm>
        </p:grpSpPr>
        <p:cxnSp>
          <p:nvCxnSpPr>
            <p:cNvPr id="94" name="直接箭头连接符 93"/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直接连接符 94"/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7" name="直接连接符 96"/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99" name="文本框 98"/>
          <p:cNvSpPr txBox="1"/>
          <p:nvPr/>
        </p:nvSpPr>
        <p:spPr>
          <a:xfrm>
            <a:off x="3874770" y="5814695"/>
            <a:ext cx="5524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暂缺</a:t>
            </a:r>
          </a:p>
        </p:txBody>
      </p:sp>
      <p:grpSp>
        <p:nvGrpSpPr>
          <p:cNvPr id="110" name="组合 109"/>
          <p:cNvGrpSpPr/>
          <p:nvPr/>
        </p:nvGrpSpPr>
        <p:grpSpPr>
          <a:xfrm>
            <a:off x="5926455" y="6125845"/>
            <a:ext cx="474980" cy="273050"/>
            <a:chOff x="6160" y="10097"/>
            <a:chExt cx="748" cy="430"/>
          </a:xfrm>
        </p:grpSpPr>
        <p:cxnSp>
          <p:nvCxnSpPr>
            <p:cNvPr id="111" name="直接箭头连接符 110"/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连接符 113"/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5" name="直接连接符 114"/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16" name="文本框 115"/>
          <p:cNvSpPr txBox="1"/>
          <p:nvPr/>
        </p:nvSpPr>
        <p:spPr>
          <a:xfrm>
            <a:off x="5007429" y="4928870"/>
            <a:ext cx="16200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研究内容三：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面向海域自主侦测任务的知识驱动频谱智能处理方法</a:t>
            </a:r>
          </a:p>
        </p:txBody>
      </p:sp>
      <p:cxnSp>
        <p:nvCxnSpPr>
          <p:cNvPr id="117" name="直接箭头连接符 116"/>
          <p:cNvCxnSpPr/>
          <p:nvPr/>
        </p:nvCxnSpPr>
        <p:spPr>
          <a:xfrm flipH="1">
            <a:off x="5230495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8" name="圆角矩形 117"/>
          <p:cNvSpPr/>
          <p:nvPr/>
        </p:nvSpPr>
        <p:spPr>
          <a:xfrm>
            <a:off x="4996180" y="645160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圆角矩形 120"/>
          <p:cNvSpPr/>
          <p:nvPr/>
        </p:nvSpPr>
        <p:spPr>
          <a:xfrm>
            <a:off x="5570855" y="645160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圆角矩形 121"/>
          <p:cNvSpPr/>
          <p:nvPr/>
        </p:nvSpPr>
        <p:spPr>
          <a:xfrm>
            <a:off x="6145530" y="6451600"/>
            <a:ext cx="500380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文本框 122"/>
          <p:cNvSpPr txBox="1"/>
          <p:nvPr/>
        </p:nvSpPr>
        <p:spPr>
          <a:xfrm>
            <a:off x="5010785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</a:p>
        </p:txBody>
      </p:sp>
      <p:sp>
        <p:nvSpPr>
          <p:cNvPr id="124" name="文本框 123"/>
          <p:cNvSpPr txBox="1"/>
          <p:nvPr/>
        </p:nvSpPr>
        <p:spPr>
          <a:xfrm>
            <a:off x="5158105" y="5814695"/>
            <a:ext cx="61341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暂缺</a:t>
            </a:r>
          </a:p>
        </p:txBody>
      </p:sp>
      <p:cxnSp>
        <p:nvCxnSpPr>
          <p:cNvPr id="125" name="直接箭头连接符 124"/>
          <p:cNvCxnSpPr/>
          <p:nvPr/>
        </p:nvCxnSpPr>
        <p:spPr>
          <a:xfrm flipH="1">
            <a:off x="5821045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 flipH="1">
            <a:off x="6395085" y="6872605"/>
            <a:ext cx="1905" cy="177800"/>
          </a:xfrm>
          <a:prstGeom prst="straightConnector1">
            <a:avLst/>
          </a:prstGeom>
          <a:ln w="15875">
            <a:solidFill>
              <a:srgbClr val="2E54A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文本框 126"/>
          <p:cNvSpPr txBox="1"/>
          <p:nvPr/>
        </p:nvSpPr>
        <p:spPr>
          <a:xfrm>
            <a:off x="5592445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自主决策</a:t>
            </a:r>
          </a:p>
        </p:txBody>
      </p:sp>
      <p:sp>
        <p:nvSpPr>
          <p:cNvPr id="128" name="文本框 127"/>
          <p:cNvSpPr txBox="1"/>
          <p:nvPr/>
        </p:nvSpPr>
        <p:spPr>
          <a:xfrm>
            <a:off x="6168390" y="6423025"/>
            <a:ext cx="4635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协同可信</a:t>
            </a:r>
          </a:p>
        </p:txBody>
      </p:sp>
      <p:sp>
        <p:nvSpPr>
          <p:cNvPr id="130" name="圆角矩形 129"/>
          <p:cNvSpPr/>
          <p:nvPr/>
        </p:nvSpPr>
        <p:spPr>
          <a:xfrm>
            <a:off x="4996180" y="711454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圆角矩形 130"/>
          <p:cNvSpPr/>
          <p:nvPr/>
        </p:nvSpPr>
        <p:spPr>
          <a:xfrm>
            <a:off x="5570855" y="7114540"/>
            <a:ext cx="500380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圆角矩形 131"/>
          <p:cNvSpPr/>
          <p:nvPr/>
        </p:nvSpPr>
        <p:spPr>
          <a:xfrm>
            <a:off x="6145530" y="7114540"/>
            <a:ext cx="500380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文本框 132"/>
          <p:cNvSpPr txBox="1"/>
          <p:nvPr/>
        </p:nvSpPr>
        <p:spPr>
          <a:xfrm>
            <a:off x="4998085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保真？</a:t>
            </a: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文本框 133"/>
          <p:cNvSpPr txBox="1"/>
          <p:nvPr/>
        </p:nvSpPr>
        <p:spPr>
          <a:xfrm>
            <a:off x="5579745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兼顾？</a:t>
            </a:r>
          </a:p>
        </p:txBody>
      </p:sp>
      <p:sp>
        <p:nvSpPr>
          <p:cNvPr id="140" name="文本框 139"/>
          <p:cNvSpPr txBox="1"/>
          <p:nvPr/>
        </p:nvSpPr>
        <p:spPr>
          <a:xfrm>
            <a:off x="6155690" y="7085965"/>
            <a:ext cx="61200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如何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适应？</a:t>
            </a:r>
          </a:p>
        </p:txBody>
      </p:sp>
      <p:grpSp>
        <p:nvGrpSpPr>
          <p:cNvPr id="146" name="组合 145"/>
          <p:cNvGrpSpPr/>
          <p:nvPr/>
        </p:nvGrpSpPr>
        <p:grpSpPr>
          <a:xfrm flipH="1">
            <a:off x="5224780" y="6125845"/>
            <a:ext cx="474980" cy="273050"/>
            <a:chOff x="6160" y="10097"/>
            <a:chExt cx="748" cy="430"/>
          </a:xfrm>
        </p:grpSpPr>
        <p:cxnSp>
          <p:nvCxnSpPr>
            <p:cNvPr id="148" name="直接箭头连接符 147"/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9" name="直接连接符 148"/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0" name="直接连接符 149"/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51" name="文本框 150"/>
          <p:cNvSpPr txBox="1"/>
          <p:nvPr/>
        </p:nvSpPr>
        <p:spPr>
          <a:xfrm>
            <a:off x="5889625" y="5814695"/>
            <a:ext cx="552450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暂缺</a:t>
            </a:r>
          </a:p>
        </p:txBody>
      </p:sp>
      <p:sp>
        <p:nvSpPr>
          <p:cNvPr id="153" name="箭头: 燕尾形 1202"/>
          <p:cNvSpPr/>
          <p:nvPr/>
        </p:nvSpPr>
        <p:spPr>
          <a:xfrm rot="16200000" flipH="1">
            <a:off x="3548380" y="7684135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2956118" y="7692017"/>
            <a:ext cx="752267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</a:t>
            </a:r>
            <a:endParaRPr lang="zh-CN" altLang="en-US" sz="174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3808805" y="7691990"/>
            <a:ext cx="752267" cy="358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底座</a:t>
            </a:r>
            <a:endParaRPr lang="zh-CN" altLang="en-US" sz="174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9" name="箭头: 燕尾形 1202"/>
          <p:cNvSpPr/>
          <p:nvPr/>
        </p:nvSpPr>
        <p:spPr>
          <a:xfrm rot="16200000" flipH="1">
            <a:off x="5577840" y="7684135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4985578" y="7692017"/>
            <a:ext cx="752267" cy="358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决策</a:t>
            </a:r>
            <a:endParaRPr lang="zh-CN" altLang="en-US" sz="174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5838265" y="7691990"/>
            <a:ext cx="752267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中枢</a:t>
            </a:r>
            <a:endParaRPr lang="zh-CN" altLang="en-US" sz="174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: 圆角 1150">
            <a:extLst>
              <a:ext uri="{FF2B5EF4-FFF2-40B4-BE49-F238E27FC236}">
                <a16:creationId xmlns:a16="http://schemas.microsoft.com/office/drawing/2014/main" id="{A4FF3ECA-AF4F-82B2-8AE9-564B9FF7E84C}"/>
              </a:ext>
            </a:extLst>
          </p:cNvPr>
          <p:cNvSpPr>
            <a:spLocks/>
          </p:cNvSpPr>
          <p:nvPr/>
        </p:nvSpPr>
        <p:spPr>
          <a:xfrm>
            <a:off x="3183342" y="696750"/>
            <a:ext cx="1709245" cy="1840230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7AFB80-6736-77B5-056D-D98A6982F4CE}"/>
              </a:ext>
            </a:extLst>
          </p:cNvPr>
          <p:cNvSpPr txBox="1"/>
          <p:nvPr/>
        </p:nvSpPr>
        <p:spPr>
          <a:xfrm>
            <a:off x="3207155" y="742653"/>
            <a:ext cx="1641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📈频谱瀑布图</a:t>
            </a:r>
            <a:r>
              <a:rPr lang="en-US" altLang="zh-CN" sz="1200" dirty="0"/>
              <a:t>/</a:t>
            </a:r>
            <a:r>
              <a:rPr lang="zh-CN" altLang="en-US" sz="1200" dirty="0"/>
              <a:t>数据洪流</a:t>
            </a:r>
            <a:endParaRPr lang="en-US" altLang="zh-CN" sz="1200" dirty="0"/>
          </a:p>
          <a:p>
            <a:r>
              <a:rPr lang="zh-CN" altLang="en-US" sz="1200" dirty="0"/>
              <a:t>💾存储盘</a:t>
            </a:r>
            <a:r>
              <a:rPr lang="en-US" altLang="zh-CN" sz="1200" dirty="0"/>
              <a:t>(</a:t>
            </a:r>
            <a:r>
              <a:rPr lang="zh-CN" altLang="en-US" sz="1200" dirty="0"/>
              <a:t>满</a:t>
            </a:r>
            <a:r>
              <a:rPr lang="en-US" altLang="zh-CN" sz="1200" dirty="0"/>
              <a:t>)</a:t>
            </a:r>
          </a:p>
          <a:p>
            <a:r>
              <a:rPr lang="zh-CN" altLang="en-US" sz="1200" dirty="0"/>
              <a:t>🔲算力芯片</a:t>
            </a:r>
            <a:r>
              <a:rPr lang="en-US" altLang="zh-CN" sz="1200" dirty="0"/>
              <a:t>/GPU(</a:t>
            </a:r>
            <a:r>
              <a:rPr lang="zh-CN" altLang="en-US" sz="1200" dirty="0"/>
              <a:t>受限✗</a:t>
            </a:r>
            <a:r>
              <a:rPr lang="en-US" altLang="zh-CN" sz="1200" dirty="0"/>
              <a:t>)</a:t>
            </a:r>
          </a:p>
          <a:p>
            <a:r>
              <a:rPr lang="zh-CN" altLang="en-US" sz="1200" dirty="0"/>
              <a:t>📶带宽</a:t>
            </a:r>
            <a:r>
              <a:rPr lang="en-US" altLang="zh-CN" sz="1200" dirty="0"/>
              <a:t>/</a:t>
            </a:r>
            <a:r>
              <a:rPr lang="zh-CN" altLang="en-US" sz="1200" dirty="0"/>
              <a:t>链路</a:t>
            </a:r>
            <a:r>
              <a:rPr lang="en-US" altLang="zh-CN" sz="1200" dirty="0"/>
              <a:t>(</a:t>
            </a:r>
            <a:r>
              <a:rPr lang="zh-CN" altLang="en-US" sz="1200" dirty="0"/>
              <a:t>窄</a:t>
            </a:r>
            <a:r>
              <a:rPr lang="en-US" altLang="zh-CN" sz="1200" dirty="0"/>
              <a:t>)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DE9C3A-3BDB-F419-1205-51CEAF1845D9}"/>
              </a:ext>
            </a:extLst>
          </p:cNvPr>
          <p:cNvSpPr txBox="1"/>
          <p:nvPr/>
        </p:nvSpPr>
        <p:spPr>
          <a:xfrm>
            <a:off x="5070880" y="742653"/>
            <a:ext cx="16414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🚢🛥️舰船</a:t>
            </a:r>
            <a:r>
              <a:rPr lang="en-US" altLang="zh-CN" sz="1200" dirty="0"/>
              <a:t>/</a:t>
            </a:r>
            <a:r>
              <a:rPr lang="zh-CN" altLang="en-US" sz="1200" dirty="0"/>
              <a:t>无人艇编队</a:t>
            </a:r>
            <a:r>
              <a:rPr lang="en-US" altLang="zh-CN" sz="1200" dirty="0"/>
              <a:t>(≥2</a:t>
            </a:r>
            <a:r>
              <a:rPr lang="zh-CN" altLang="en-US" sz="1200" dirty="0"/>
              <a:t>平台</a:t>
            </a:r>
            <a:r>
              <a:rPr lang="en-US" altLang="zh-CN" sz="1200" dirty="0"/>
              <a:t>)</a:t>
            </a:r>
            <a:r>
              <a:rPr lang="zh-CN" altLang="en-US" sz="1200" dirty="0"/>
              <a:t>📡</a:t>
            </a:r>
            <a:endParaRPr lang="en-US" altLang="zh-CN" sz="1200" dirty="0"/>
          </a:p>
          <a:p>
            <a:r>
              <a:rPr lang="zh-CN" altLang="en-US" sz="1200" dirty="0"/>
              <a:t>❓缺频谱先验知识</a:t>
            </a:r>
            <a:endParaRPr lang="en-US" altLang="zh-CN" sz="1200" dirty="0"/>
          </a:p>
          <a:p>
            <a:r>
              <a:rPr lang="zh-CN" altLang="en-US" sz="1200" dirty="0"/>
              <a:t>🧠自主决策</a:t>
            </a:r>
            <a:endParaRPr lang="en-US" altLang="zh-CN" sz="1200" dirty="0"/>
          </a:p>
          <a:p>
            <a:r>
              <a:rPr lang="zh-CN" altLang="en-US" sz="1200" dirty="0"/>
              <a:t>🛡️可信</a:t>
            </a:r>
            <a:r>
              <a:rPr lang="en-US" altLang="zh-CN" sz="1200" dirty="0"/>
              <a:t>/</a:t>
            </a:r>
            <a:r>
              <a:rPr lang="zh-CN" altLang="en-US" sz="1200" dirty="0"/>
              <a:t>防篡改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246</Words>
  <Application>Microsoft Office PowerPoint</Application>
  <PresentationFormat>自定义</PresentationFormat>
  <Paragraphs>70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微软雅黑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Hodge Chang</cp:lastModifiedBy>
  <cp:revision>55</cp:revision>
  <dcterms:created xsi:type="dcterms:W3CDTF">2026-03-04T09:30:00Z</dcterms:created>
  <dcterms:modified xsi:type="dcterms:W3CDTF">2026-06-15T09:28:48Z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A88543D61BD84E62A9C2BC67F0AA663B_12</vt:lpwstr>
  </property>
</Properties>
</file>