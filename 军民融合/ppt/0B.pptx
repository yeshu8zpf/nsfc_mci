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4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buNone/>
              <a:defRPr sz="3530"/>
            </a:lvl1pPr>
            <a:lvl2pPr>
              <a:buNone/>
              <a:defRPr sz="3085"/>
            </a:lvl2pPr>
            <a:lvl3pPr>
              <a:buNone/>
              <a:defRPr sz="2645"/>
            </a:lvl3pPr>
            <a:lvl4pPr>
              <a:buNone/>
              <a:defRPr sz="2205"/>
            </a:lvl4pPr>
            <a:lvl5pPr>
              <a:buNone/>
              <a:defRPr sz="2205"/>
            </a:lvl5pPr>
            <a:lvl6pPr>
              <a:buNone/>
              <a:defRPr sz="2205"/>
            </a:lvl6pPr>
            <a:lvl7pPr>
              <a:buNone/>
              <a:defRPr sz="2205"/>
            </a:lvl7pPr>
            <a:lvl8pPr>
              <a:buNone/>
              <a:defRPr sz="2205"/>
            </a:lvl8pPr>
            <a:lvl9pPr>
              <a:buNone/>
              <a:defRPr sz="220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8A4E-1AD5-4525-8412-8CB756C9DD23}" type="datetimeFigureOut">
              <a:rPr lang="zh-CN" altLang="en-US"/>
              <a:t>2026/6/18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8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2095" indent="-252095" algn="l">
        <a:lnSpc>
          <a:spcPct val="90000"/>
        </a:lnSpc>
        <a:spcBef>
          <a:spcPts val="0"/>
        </a:spcBef>
        <a:buChar char="•"/>
        <a:defRPr sz="3085">
          <a:solidFill>
            <a:schemeClr val="tx1"/>
          </a:solidFill>
          <a:latin typeface="+mn-lt"/>
          <a:ea typeface="+mn-lt"/>
          <a:cs typeface="+mn-lt"/>
        </a:defRPr>
      </a:lvl1pPr>
      <a:lvl2pPr marL="756285" indent="-252095" algn="l">
        <a:lnSpc>
          <a:spcPct val="90000"/>
        </a:lnSpc>
        <a:spcBef>
          <a:spcPts val="550"/>
        </a:spcBef>
        <a:buChar char="•"/>
        <a:defRPr sz="2645">
          <a:solidFill>
            <a:schemeClr val="tx1"/>
          </a:solidFill>
          <a:latin typeface="+mn-lt"/>
          <a:ea typeface="+mn-lt"/>
          <a:cs typeface="+mn-lt"/>
        </a:defRPr>
      </a:lvl2pPr>
      <a:lvl3pPr marL="1259840" indent="-252095" algn="l">
        <a:lnSpc>
          <a:spcPct val="90000"/>
        </a:lnSpc>
        <a:spcBef>
          <a:spcPts val="550"/>
        </a:spcBef>
        <a:buChar char="•"/>
        <a:defRPr sz="2205">
          <a:solidFill>
            <a:schemeClr val="tx1"/>
          </a:solidFill>
          <a:latin typeface="+mn-lt"/>
          <a:ea typeface="+mn-lt"/>
          <a:cs typeface="+mn-lt"/>
        </a:defRPr>
      </a:lvl3pPr>
      <a:lvl4pPr marL="176403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26822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77177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27596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78015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28371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1pPr>
      <a:lvl2pPr marL="50419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2pPr>
      <a:lvl3pPr marL="100774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3pPr>
      <a:lvl4pPr marL="151193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01612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52031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02387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52806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03225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DF1D01C-C95D-EBF6-B821-C5B09231BCE6}"/>
              </a:ext>
            </a:extLst>
          </p:cNvPr>
          <p:cNvSpPr/>
          <p:nvPr/>
        </p:nvSpPr>
        <p:spPr>
          <a:xfrm>
            <a:off x="429760" y="3325694"/>
            <a:ext cx="7388679" cy="3764718"/>
          </a:xfrm>
          <a:prstGeom prst="roundRect">
            <a:avLst>
              <a:gd name="adj" fmla="val 5871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矩形: 圆角 8">
            <a:extLst>
              <a:ext uri="{FF2B5EF4-FFF2-40B4-BE49-F238E27FC236}">
                <a16:creationId xmlns:a16="http://schemas.microsoft.com/office/drawing/2014/main" id="{E4947E7F-FD20-9F67-5F19-22DDE1659FCA}"/>
              </a:ext>
            </a:extLst>
          </p:cNvPr>
          <p:cNvSpPr/>
          <p:nvPr/>
        </p:nvSpPr>
        <p:spPr>
          <a:xfrm flipH="1">
            <a:off x="5368045" y="3894785"/>
            <a:ext cx="2171881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28" name="矩形: 圆角 327">
            <a:extLst>
              <a:ext uri="{FF2B5EF4-FFF2-40B4-BE49-F238E27FC236}">
                <a16:creationId xmlns:a16="http://schemas.microsoft.com/office/drawing/2014/main" id="{41A6114A-208F-B894-EBF6-1CFAE3F008EC}"/>
              </a:ext>
            </a:extLst>
          </p:cNvPr>
          <p:cNvSpPr/>
          <p:nvPr/>
        </p:nvSpPr>
        <p:spPr>
          <a:xfrm>
            <a:off x="7908224" y="1050291"/>
            <a:ext cx="2293732" cy="6040122"/>
          </a:xfrm>
          <a:prstGeom prst="roundRect">
            <a:avLst>
              <a:gd name="adj" fmla="val 5871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圆角矩形 8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2265" y="439420"/>
            <a:ext cx="9996170" cy="687070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1933574" y="467360"/>
            <a:ext cx="6849745" cy="47752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clean-title"/>
          <p:cNvSpPr>
            <a:spLocks noGrp="1"/>
          </p:cNvSpPr>
          <p:nvPr/>
        </p:nvSpPr>
        <p:spPr>
          <a:xfrm>
            <a:off x="2177415" y="572770"/>
            <a:ext cx="640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9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海杂波场景电磁频谱数据智能处理机理与方法</a:t>
            </a:r>
            <a:endParaRPr sz="139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8AF08BB-6D8E-01CD-6FBA-179FBB199F07}"/>
              </a:ext>
            </a:extLst>
          </p:cNvPr>
          <p:cNvSpPr/>
          <p:nvPr/>
        </p:nvSpPr>
        <p:spPr>
          <a:xfrm>
            <a:off x="342266" y="999034"/>
            <a:ext cx="7388680" cy="1817687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9" name="矩形: 圆角 1197">
            <a:extLst>
              <a:ext uri="{FF2B5EF4-FFF2-40B4-BE49-F238E27FC236}">
                <a16:creationId xmlns:a16="http://schemas.microsoft.com/office/drawing/2014/main" id="{D166B956-04F8-9CD7-2780-10D5E62E8837}"/>
              </a:ext>
            </a:extLst>
          </p:cNvPr>
          <p:cNvSpPr/>
          <p:nvPr/>
        </p:nvSpPr>
        <p:spPr>
          <a:xfrm>
            <a:off x="413948" y="1197999"/>
            <a:ext cx="396240" cy="1478280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三大研究挑战</a:t>
            </a:r>
          </a:p>
        </p:txBody>
      </p:sp>
      <p:sp>
        <p:nvSpPr>
          <p:cNvPr id="10" name="箭头: 燕尾形 1202">
            <a:extLst>
              <a:ext uri="{FF2B5EF4-FFF2-40B4-BE49-F238E27FC236}">
                <a16:creationId xmlns:a16="http://schemas.microsoft.com/office/drawing/2014/main" id="{C6EC1BE1-5048-FAD9-D01A-21DBEFC23FEE}"/>
              </a:ext>
            </a:extLst>
          </p:cNvPr>
          <p:cNvSpPr/>
          <p:nvPr/>
        </p:nvSpPr>
        <p:spPr>
          <a:xfrm rot="16200000" flipH="1">
            <a:off x="2450129" y="2845137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B825D8-D713-C2AD-F135-53AA5482EFA1}"/>
              </a:ext>
            </a:extLst>
          </p:cNvPr>
          <p:cNvSpPr txBox="1"/>
          <p:nvPr/>
        </p:nvSpPr>
        <p:spPr>
          <a:xfrm>
            <a:off x="692218" y="2889025"/>
            <a:ext cx="225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怎么精确提取？</a:t>
            </a:r>
          </a:p>
        </p:txBody>
      </p:sp>
      <p:sp>
        <p:nvSpPr>
          <p:cNvPr id="23" name="箭头: 燕尾形 1202">
            <a:extLst>
              <a:ext uri="{FF2B5EF4-FFF2-40B4-BE49-F238E27FC236}">
                <a16:creationId xmlns:a16="http://schemas.microsoft.com/office/drawing/2014/main" id="{86341962-D03B-9378-14E0-DF6B604F9125}"/>
              </a:ext>
            </a:extLst>
          </p:cNvPr>
          <p:cNvSpPr/>
          <p:nvPr/>
        </p:nvSpPr>
        <p:spPr>
          <a:xfrm rot="16200000" flipH="1">
            <a:off x="4800581" y="2845137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C4A7BDD-FF10-DB8E-FCF6-9D6472B49069}"/>
              </a:ext>
            </a:extLst>
          </p:cNvPr>
          <p:cNvSpPr txBox="1"/>
          <p:nvPr/>
        </p:nvSpPr>
        <p:spPr>
          <a:xfrm>
            <a:off x="3072688" y="2876557"/>
            <a:ext cx="2222333" cy="330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怎么轻量存储？</a:t>
            </a:r>
          </a:p>
        </p:txBody>
      </p:sp>
      <p:sp>
        <p:nvSpPr>
          <p:cNvPr id="25" name="箭头: 燕尾形 1202">
            <a:extLst>
              <a:ext uri="{FF2B5EF4-FFF2-40B4-BE49-F238E27FC236}">
                <a16:creationId xmlns:a16="http://schemas.microsoft.com/office/drawing/2014/main" id="{9EF9700B-54B2-F625-E9C1-DF18BB3887CA}"/>
              </a:ext>
            </a:extLst>
          </p:cNvPr>
          <p:cNvSpPr/>
          <p:nvPr/>
        </p:nvSpPr>
        <p:spPr>
          <a:xfrm rot="16200000" flipH="1">
            <a:off x="7182215" y="2645758"/>
            <a:ext cx="617454" cy="65883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EB8F5A-A927-FCC7-D8DC-E2A3875723A6}"/>
              </a:ext>
            </a:extLst>
          </p:cNvPr>
          <p:cNvSpPr txBox="1"/>
          <p:nvPr/>
        </p:nvSpPr>
        <p:spPr>
          <a:xfrm>
            <a:off x="5464344" y="2876657"/>
            <a:ext cx="2026598" cy="365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怎么快速决策？</a:t>
            </a:r>
          </a:p>
        </p:txBody>
      </p:sp>
      <p:sp>
        <p:nvSpPr>
          <p:cNvPr id="34" name="矩形: 圆角 8">
            <a:extLst>
              <a:ext uri="{FF2B5EF4-FFF2-40B4-BE49-F238E27FC236}">
                <a16:creationId xmlns:a16="http://schemas.microsoft.com/office/drawing/2014/main" id="{43E8A04C-1FBE-C261-6626-3F4E1D0966C5}"/>
              </a:ext>
            </a:extLst>
          </p:cNvPr>
          <p:cNvSpPr/>
          <p:nvPr/>
        </p:nvSpPr>
        <p:spPr>
          <a:xfrm flipH="1">
            <a:off x="749690" y="3894785"/>
            <a:ext cx="2171881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3ABD20-0F5D-F4E2-B72F-89D8B45C5E65}"/>
              </a:ext>
            </a:extLst>
          </p:cNvPr>
          <p:cNvSpPr txBox="1"/>
          <p:nvPr/>
        </p:nvSpPr>
        <p:spPr>
          <a:xfrm>
            <a:off x="844306" y="3950345"/>
            <a:ext cx="2072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海杂波干扰下微弱电磁频谱信号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传播规律分析与提取</a:t>
            </a:r>
          </a:p>
        </p:txBody>
      </p:sp>
      <p:sp>
        <p:nvSpPr>
          <p:cNvPr id="45" name="箭头: 燕尾形 1202">
            <a:extLst>
              <a:ext uri="{FF2B5EF4-FFF2-40B4-BE49-F238E27FC236}">
                <a16:creationId xmlns:a16="http://schemas.microsoft.com/office/drawing/2014/main" id="{06AB37B5-AF15-F266-0C5C-4FD4800970B4}"/>
              </a:ext>
            </a:extLst>
          </p:cNvPr>
          <p:cNvSpPr/>
          <p:nvPr/>
        </p:nvSpPr>
        <p:spPr>
          <a:xfrm rot="10800000" flipH="1">
            <a:off x="2115526" y="6103632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F5B2339-57EE-F1FE-8F7C-AE3D648E94A2}"/>
              </a:ext>
            </a:extLst>
          </p:cNvPr>
          <p:cNvSpPr txBox="1"/>
          <p:nvPr/>
        </p:nvSpPr>
        <p:spPr>
          <a:xfrm>
            <a:off x="1064880" y="6102045"/>
            <a:ext cx="1341806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48" name="圆角矩形 45">
            <a:extLst>
              <a:ext uri="{FF2B5EF4-FFF2-40B4-BE49-F238E27FC236}">
                <a16:creationId xmlns:a16="http://schemas.microsoft.com/office/drawing/2014/main" id="{E45DC887-EEBB-AB65-8005-7D212263266E}"/>
              </a:ext>
            </a:extLst>
          </p:cNvPr>
          <p:cNvSpPr/>
          <p:nvPr/>
        </p:nvSpPr>
        <p:spPr>
          <a:xfrm>
            <a:off x="802228" y="4954217"/>
            <a:ext cx="644859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圆角矩形 46">
            <a:extLst>
              <a:ext uri="{FF2B5EF4-FFF2-40B4-BE49-F238E27FC236}">
                <a16:creationId xmlns:a16="http://schemas.microsoft.com/office/drawing/2014/main" id="{CA361522-BCCC-1AAF-D0FC-25FFD156F63B}"/>
              </a:ext>
            </a:extLst>
          </p:cNvPr>
          <p:cNvSpPr/>
          <p:nvPr/>
        </p:nvSpPr>
        <p:spPr>
          <a:xfrm>
            <a:off x="1490733" y="4946345"/>
            <a:ext cx="644859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圆角矩形 47">
            <a:extLst>
              <a:ext uri="{FF2B5EF4-FFF2-40B4-BE49-F238E27FC236}">
                <a16:creationId xmlns:a16="http://schemas.microsoft.com/office/drawing/2014/main" id="{8DD9D606-6480-4BAE-B26A-05602B9338DF}"/>
              </a:ext>
            </a:extLst>
          </p:cNvPr>
          <p:cNvSpPr/>
          <p:nvPr/>
        </p:nvSpPr>
        <p:spPr>
          <a:xfrm>
            <a:off x="2165426" y="4946345"/>
            <a:ext cx="644859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F95A879-BBFE-9295-AE18-9757ACCD16A9}"/>
              </a:ext>
            </a:extLst>
          </p:cNvPr>
          <p:cNvSpPr txBox="1"/>
          <p:nvPr/>
        </p:nvSpPr>
        <p:spPr>
          <a:xfrm>
            <a:off x="706484" y="4945546"/>
            <a:ext cx="839157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信号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传播规律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5AA039C-C53E-6087-F509-7550FDE6F6EC}"/>
              </a:ext>
            </a:extLst>
          </p:cNvPr>
          <p:cNvSpPr txBox="1"/>
          <p:nvPr/>
        </p:nvSpPr>
        <p:spPr>
          <a:xfrm>
            <a:off x="1465723" y="4924038"/>
            <a:ext cx="76614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海杂波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干扰对消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86F613D-FBA4-BE51-72A1-BBB2F98B7292}"/>
              </a:ext>
            </a:extLst>
          </p:cNvPr>
          <p:cNvSpPr txBox="1"/>
          <p:nvPr/>
        </p:nvSpPr>
        <p:spPr>
          <a:xfrm>
            <a:off x="2064002" y="4917770"/>
            <a:ext cx="852902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多维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联合表征</a:t>
            </a:r>
          </a:p>
        </p:txBody>
      </p:sp>
      <p:sp>
        <p:nvSpPr>
          <p:cNvPr id="35" name="矩形: 圆角 8">
            <a:extLst>
              <a:ext uri="{FF2B5EF4-FFF2-40B4-BE49-F238E27FC236}">
                <a16:creationId xmlns:a16="http://schemas.microsoft.com/office/drawing/2014/main" id="{91FA1DF0-98CC-71D5-F776-1A8CA9B714B1}"/>
              </a:ext>
            </a:extLst>
          </p:cNvPr>
          <p:cNvSpPr/>
          <p:nvPr/>
        </p:nvSpPr>
        <p:spPr>
          <a:xfrm flipH="1">
            <a:off x="3058868" y="3894785"/>
            <a:ext cx="2171881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E7A2159-E4CC-3AE2-F998-56AFD7031A30}"/>
              </a:ext>
            </a:extLst>
          </p:cNvPr>
          <p:cNvSpPr txBox="1"/>
          <p:nvPr/>
        </p:nvSpPr>
        <p:spPr>
          <a:xfrm>
            <a:off x="3063490" y="4073826"/>
            <a:ext cx="2212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有限算力端侧频谱数据的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可信管理和轻量存储方法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7C315841-99BE-D42F-F58F-9A65E94097BC}"/>
              </a:ext>
            </a:extLst>
          </p:cNvPr>
          <p:cNvSpPr txBox="1"/>
          <p:nvPr/>
        </p:nvSpPr>
        <p:spPr>
          <a:xfrm>
            <a:off x="2535701" y="6095744"/>
            <a:ext cx="3361963" cy="3600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r>
              <a:rPr lang="en-US" altLang="zh-CN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———</a:t>
            </a:r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数据管理底座</a:t>
            </a:r>
            <a:r>
              <a:rPr lang="en-US" altLang="zh-CN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———</a:t>
            </a:r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EFF5F34-3A0E-21C0-A3E9-F1A7B9493FEC}"/>
              </a:ext>
            </a:extLst>
          </p:cNvPr>
          <p:cNvSpPr txBox="1"/>
          <p:nvPr/>
        </p:nvSpPr>
        <p:spPr>
          <a:xfrm>
            <a:off x="5295021" y="4053237"/>
            <a:ext cx="2400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面向海域自主侦测任务的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知识驱动频谱智能处理方法</a:t>
            </a: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905B8614-46F6-2711-1EC8-81E1120FD300}"/>
              </a:ext>
            </a:extLst>
          </p:cNvPr>
          <p:cNvSpPr txBox="1"/>
          <p:nvPr/>
        </p:nvSpPr>
        <p:spPr>
          <a:xfrm>
            <a:off x="6115860" y="6035613"/>
            <a:ext cx="172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态势</a:t>
            </a: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（决策）</a:t>
            </a:r>
            <a:endParaRPr lang="zh-CN" altLang="en-US" sz="24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3DBCDC24-D2FA-E668-68DB-04E9F2A92F13}"/>
              </a:ext>
            </a:extLst>
          </p:cNvPr>
          <p:cNvSpPr txBox="1"/>
          <p:nvPr/>
        </p:nvSpPr>
        <p:spPr>
          <a:xfrm>
            <a:off x="1305241" y="3565343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研究内容一：</a:t>
            </a:r>
            <a:endParaRPr lang="zh-CN" altLang="en-US" dirty="0"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CBFDBA50-ABA2-402A-7610-184915521403}"/>
              </a:ext>
            </a:extLst>
          </p:cNvPr>
          <p:cNvSpPr txBox="1"/>
          <p:nvPr/>
        </p:nvSpPr>
        <p:spPr>
          <a:xfrm>
            <a:off x="3535941" y="3552776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研究内容二：</a:t>
            </a:r>
            <a:endParaRPr lang="zh-CN" altLang="en-US" dirty="0"/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F89DDA88-8BE4-62BE-534D-0C18ED8A823D}"/>
              </a:ext>
            </a:extLst>
          </p:cNvPr>
          <p:cNvSpPr txBox="1"/>
          <p:nvPr/>
        </p:nvSpPr>
        <p:spPr>
          <a:xfrm>
            <a:off x="5872228" y="3583500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lang="zh-CN" altLang="en-US" dirty="0"/>
          </a:p>
        </p:txBody>
      </p:sp>
      <p:sp>
        <p:nvSpPr>
          <p:cNvPr id="291" name="矩形: 圆角 8">
            <a:extLst>
              <a:ext uri="{FF2B5EF4-FFF2-40B4-BE49-F238E27FC236}">
                <a16:creationId xmlns:a16="http://schemas.microsoft.com/office/drawing/2014/main" id="{76DB7112-66CA-3E01-F473-37FAB630B7D6}"/>
              </a:ext>
            </a:extLst>
          </p:cNvPr>
          <p:cNvSpPr/>
          <p:nvPr/>
        </p:nvSpPr>
        <p:spPr>
          <a:xfrm flipH="1">
            <a:off x="8091040" y="2017017"/>
            <a:ext cx="1976091" cy="484893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CF50A2E-398F-AAB0-06AA-647EB2984476}"/>
              </a:ext>
            </a:extLst>
          </p:cNvPr>
          <p:cNvSpPr txBox="1"/>
          <p:nvPr/>
        </p:nvSpPr>
        <p:spPr>
          <a:xfrm>
            <a:off x="7989694" y="2161412"/>
            <a:ext cx="2171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海杂波场景电磁频谱数据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智能处理原型系统验证</a:t>
            </a:r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82F661A7-65C0-1752-E7EA-35775A21C962}"/>
              </a:ext>
            </a:extLst>
          </p:cNvPr>
          <p:cNvSpPr txBox="1"/>
          <p:nvPr/>
        </p:nvSpPr>
        <p:spPr>
          <a:xfrm>
            <a:off x="8132053" y="1603829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研究内容四：</a:t>
            </a:r>
            <a:endParaRPr lang="zh-CN" altLang="en-US" dirty="0"/>
          </a:p>
        </p:txBody>
      </p:sp>
      <p:sp>
        <p:nvSpPr>
          <p:cNvPr id="322" name="文本框 321">
            <a:extLst>
              <a:ext uri="{FF2B5EF4-FFF2-40B4-BE49-F238E27FC236}">
                <a16:creationId xmlns:a16="http://schemas.microsoft.com/office/drawing/2014/main" id="{128D989E-892E-BA5A-D85F-E7FF3DCED24B}"/>
              </a:ext>
            </a:extLst>
          </p:cNvPr>
          <p:cNvSpPr txBox="1"/>
          <p:nvPr/>
        </p:nvSpPr>
        <p:spPr>
          <a:xfrm>
            <a:off x="8203348" y="4202819"/>
            <a:ext cx="369332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场景环境构建</a:t>
            </a:r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5A3A83D3-E10B-7033-1BB3-577C593AEEA9}"/>
              </a:ext>
            </a:extLst>
          </p:cNvPr>
          <p:cNvSpPr txBox="1"/>
          <p:nvPr/>
        </p:nvSpPr>
        <p:spPr>
          <a:xfrm>
            <a:off x="8186140" y="5481150"/>
            <a:ext cx="369332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原型系统部署</a:t>
            </a:r>
          </a:p>
        </p:txBody>
      </p:sp>
      <p:sp>
        <p:nvSpPr>
          <p:cNvPr id="329" name="箭头: 燕尾形 1202">
            <a:extLst>
              <a:ext uri="{FF2B5EF4-FFF2-40B4-BE49-F238E27FC236}">
                <a16:creationId xmlns:a16="http://schemas.microsoft.com/office/drawing/2014/main" id="{8884B186-D89D-3A9E-0E10-EA2A7A9CCE81}"/>
              </a:ext>
            </a:extLst>
          </p:cNvPr>
          <p:cNvSpPr/>
          <p:nvPr/>
        </p:nvSpPr>
        <p:spPr>
          <a:xfrm rot="10800000" flipH="1">
            <a:off x="5686707" y="6035613"/>
            <a:ext cx="600499" cy="492962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4" name="箭头: 燕尾形 1202">
            <a:extLst>
              <a:ext uri="{FF2B5EF4-FFF2-40B4-BE49-F238E27FC236}">
                <a16:creationId xmlns:a16="http://schemas.microsoft.com/office/drawing/2014/main" id="{BB978D99-6A08-0DC8-2668-FAB36CF19B77}"/>
              </a:ext>
            </a:extLst>
          </p:cNvPr>
          <p:cNvSpPr/>
          <p:nvPr/>
        </p:nvSpPr>
        <p:spPr>
          <a:xfrm rot="10800000" flipH="1">
            <a:off x="7340921" y="4412402"/>
            <a:ext cx="775200" cy="1007102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2DE27678-9B99-B4A1-626E-2AACDC40C477}"/>
              </a:ext>
            </a:extLst>
          </p:cNvPr>
          <p:cNvGrpSpPr/>
          <p:nvPr/>
        </p:nvGrpSpPr>
        <p:grpSpPr>
          <a:xfrm>
            <a:off x="884371" y="1168420"/>
            <a:ext cx="2249707" cy="1478915"/>
            <a:chOff x="760546" y="1168420"/>
            <a:chExt cx="2710481" cy="1478915"/>
          </a:xfrm>
        </p:grpSpPr>
        <p:sp>
          <p:nvSpPr>
            <p:cNvPr id="5" name="矩形: 圆角 1150">
              <a:extLst>
                <a:ext uri="{FF2B5EF4-FFF2-40B4-BE49-F238E27FC236}">
                  <a16:creationId xmlns:a16="http://schemas.microsoft.com/office/drawing/2014/main" id="{F7C5C5AA-0D1F-13E7-3C01-D273500E161B}"/>
                </a:ext>
              </a:extLst>
            </p:cNvPr>
            <p:cNvSpPr/>
            <p:nvPr/>
          </p:nvSpPr>
          <p:spPr>
            <a:xfrm>
              <a:off x="775635" y="1168420"/>
              <a:ext cx="2581728" cy="1478915"/>
            </a:xfrm>
            <a:prstGeom prst="roundRect">
              <a:avLst>
                <a:gd name="adj" fmla="val 4026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C77C660-CCCC-BB43-CE62-7B532DD14256}"/>
                </a:ext>
              </a:extLst>
            </p:cNvPr>
            <p:cNvSpPr txBox="1"/>
            <p:nvPr/>
          </p:nvSpPr>
          <p:spPr>
            <a:xfrm>
              <a:off x="1641936" y="1284414"/>
              <a:ext cx="16976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海杂波下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475F978-FF99-5E7D-AC7B-3ECE757FD24D}"/>
                </a:ext>
              </a:extLst>
            </p:cNvPr>
            <p:cNvSpPr txBox="1"/>
            <p:nvPr/>
          </p:nvSpPr>
          <p:spPr>
            <a:xfrm>
              <a:off x="760546" y="2301776"/>
              <a:ext cx="27104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辐射目标“看不清”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E3199EC-4B38-DA88-C18B-08D99C2B1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26" r="6204" b="14629"/>
            <a:stretch>
              <a:fillRect/>
            </a:stretch>
          </p:blipFill>
          <p:spPr>
            <a:xfrm>
              <a:off x="966135" y="1386860"/>
              <a:ext cx="688340" cy="688340"/>
            </a:xfrm>
            <a:prstGeom prst="rect">
              <a:avLst/>
            </a:prstGeom>
          </p:spPr>
        </p:pic>
        <p:sp>
          <p:nvSpPr>
            <p:cNvPr id="336" name="文本框 335">
              <a:extLst>
                <a:ext uri="{FF2B5EF4-FFF2-40B4-BE49-F238E27FC236}">
                  <a16:creationId xmlns:a16="http://schemas.microsoft.com/office/drawing/2014/main" id="{1D5AECD2-A3B9-4712-2D50-E1415AF27A5E}"/>
                </a:ext>
              </a:extLst>
            </p:cNvPr>
            <p:cNvSpPr txBox="1"/>
            <p:nvPr/>
          </p:nvSpPr>
          <p:spPr>
            <a:xfrm>
              <a:off x="1510627" y="1802009"/>
              <a:ext cx="19375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微弱信号难感知</a:t>
              </a:r>
            </a:p>
          </p:txBody>
        </p:sp>
      </p:grpSp>
      <p:grpSp>
        <p:nvGrpSpPr>
          <p:cNvPr id="477" name="组合 476">
            <a:extLst>
              <a:ext uri="{FF2B5EF4-FFF2-40B4-BE49-F238E27FC236}">
                <a16:creationId xmlns:a16="http://schemas.microsoft.com/office/drawing/2014/main" id="{6BC1471C-097E-406C-656F-8E7698299734}"/>
              </a:ext>
            </a:extLst>
          </p:cNvPr>
          <p:cNvGrpSpPr/>
          <p:nvPr/>
        </p:nvGrpSpPr>
        <p:grpSpPr>
          <a:xfrm>
            <a:off x="3071236" y="1168420"/>
            <a:ext cx="2292296" cy="1478915"/>
            <a:chOff x="3574782" y="1168420"/>
            <a:chExt cx="2817178" cy="1478915"/>
          </a:xfrm>
        </p:grpSpPr>
        <p:sp>
          <p:nvSpPr>
            <p:cNvPr id="11" name="矩形: 圆角 1150">
              <a:extLst>
                <a:ext uri="{FF2B5EF4-FFF2-40B4-BE49-F238E27FC236}">
                  <a16:creationId xmlns:a16="http://schemas.microsoft.com/office/drawing/2014/main" id="{A257C579-0963-97FD-FFCB-18011124C9A9}"/>
                </a:ext>
              </a:extLst>
            </p:cNvPr>
            <p:cNvSpPr/>
            <p:nvPr/>
          </p:nvSpPr>
          <p:spPr>
            <a:xfrm>
              <a:off x="3683028" y="1168420"/>
              <a:ext cx="2581728" cy="1478915"/>
            </a:xfrm>
            <a:prstGeom prst="roundRect">
              <a:avLst>
                <a:gd name="adj" fmla="val 4026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494F128-4834-EF06-E5A4-754714E4A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4938" y="1324630"/>
              <a:ext cx="745490" cy="74549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945A4AA-B0BB-8B37-1D55-EDF7E985A251}"/>
                </a:ext>
              </a:extLst>
            </p:cNvPr>
            <p:cNvSpPr txBox="1"/>
            <p:nvPr/>
          </p:nvSpPr>
          <p:spPr>
            <a:xfrm>
              <a:off x="4536535" y="1294140"/>
              <a:ext cx="1405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海量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07CB87C-6ADC-6062-2C81-F2A81FBA7181}"/>
                </a:ext>
              </a:extLst>
            </p:cNvPr>
            <p:cNvSpPr txBox="1"/>
            <p:nvPr/>
          </p:nvSpPr>
          <p:spPr>
            <a:xfrm>
              <a:off x="3574782" y="2287313"/>
              <a:ext cx="28171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留存取证“查得慢”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文本框 336">
              <a:extLst>
                <a:ext uri="{FF2B5EF4-FFF2-40B4-BE49-F238E27FC236}">
                  <a16:creationId xmlns:a16="http://schemas.microsoft.com/office/drawing/2014/main" id="{CF1B5D7D-5602-616C-F327-4CDF57DDAACF}"/>
                </a:ext>
              </a:extLst>
            </p:cNvPr>
            <p:cNvSpPr txBox="1"/>
            <p:nvPr/>
          </p:nvSpPr>
          <p:spPr>
            <a:xfrm>
              <a:off x="4120865" y="1761690"/>
              <a:ext cx="22494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频谱数据流难管理</a:t>
              </a:r>
            </a:p>
          </p:txBody>
        </p:sp>
      </p:grpSp>
      <p:grpSp>
        <p:nvGrpSpPr>
          <p:cNvPr id="478" name="组合 477">
            <a:extLst>
              <a:ext uri="{FF2B5EF4-FFF2-40B4-BE49-F238E27FC236}">
                <a16:creationId xmlns:a16="http://schemas.microsoft.com/office/drawing/2014/main" id="{32B9D1A8-B89D-BE77-BD94-FD6D97DBB5CE}"/>
              </a:ext>
            </a:extLst>
          </p:cNvPr>
          <p:cNvGrpSpPr/>
          <p:nvPr/>
        </p:nvGrpSpPr>
        <p:grpSpPr>
          <a:xfrm>
            <a:off x="5300690" y="1168420"/>
            <a:ext cx="2394486" cy="1478915"/>
            <a:chOff x="6505605" y="1168420"/>
            <a:chExt cx="2862408" cy="1478915"/>
          </a:xfrm>
        </p:grpSpPr>
        <p:sp>
          <p:nvSpPr>
            <p:cNvPr id="12" name="矩形: 圆角 1150">
              <a:extLst>
                <a:ext uri="{FF2B5EF4-FFF2-40B4-BE49-F238E27FC236}">
                  <a16:creationId xmlns:a16="http://schemas.microsoft.com/office/drawing/2014/main" id="{B9444E71-DA4C-91CB-EABA-C911C95C2AA9}"/>
                </a:ext>
              </a:extLst>
            </p:cNvPr>
            <p:cNvSpPr/>
            <p:nvPr/>
          </p:nvSpPr>
          <p:spPr>
            <a:xfrm>
              <a:off x="6590420" y="1168420"/>
              <a:ext cx="2581728" cy="1478915"/>
            </a:xfrm>
            <a:prstGeom prst="roundRect">
              <a:avLst>
                <a:gd name="adj" fmla="val 4026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BB20AD0-47C9-E5D9-2612-76507965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6775" y="1353205"/>
              <a:ext cx="795655" cy="795655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2B4F00D-EA0A-264D-D66A-F3E0728D7F64}"/>
                </a:ext>
              </a:extLst>
            </p:cNvPr>
            <p:cNvSpPr txBox="1">
              <a:spLocks/>
            </p:cNvSpPr>
            <p:nvPr/>
          </p:nvSpPr>
          <p:spPr>
            <a:xfrm>
              <a:off x="7323243" y="1335217"/>
              <a:ext cx="1848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端侧环境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D82C3F1-4D36-95AF-1186-C3DF8C49D28F}"/>
                </a:ext>
              </a:extLst>
            </p:cNvPr>
            <p:cNvSpPr txBox="1"/>
            <p:nvPr/>
          </p:nvSpPr>
          <p:spPr>
            <a:xfrm>
              <a:off x="6505605" y="2270795"/>
              <a:ext cx="2779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目标研判“效率低”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文本框 337">
              <a:extLst>
                <a:ext uri="{FF2B5EF4-FFF2-40B4-BE49-F238E27FC236}">
                  <a16:creationId xmlns:a16="http://schemas.microsoft.com/office/drawing/2014/main" id="{97B9F2D8-B392-EBC4-3AC3-ADCDE94F7B70}"/>
                </a:ext>
              </a:extLst>
            </p:cNvPr>
            <p:cNvSpPr txBox="1"/>
            <p:nvPr/>
          </p:nvSpPr>
          <p:spPr>
            <a:xfrm>
              <a:off x="7203322" y="1722074"/>
              <a:ext cx="21646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智能大模型难部署</a:t>
              </a:r>
              <a:endParaRPr lang="en-US" altLang="zh-CN" dirty="0"/>
            </a:p>
          </p:txBody>
        </p: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46D1004E-FE67-F09D-69CB-CD27F75C09AB}"/>
              </a:ext>
            </a:extLst>
          </p:cNvPr>
          <p:cNvGrpSpPr/>
          <p:nvPr/>
        </p:nvGrpSpPr>
        <p:grpSpPr>
          <a:xfrm flipH="1" flipV="1">
            <a:off x="1925321" y="5527708"/>
            <a:ext cx="474980" cy="273050"/>
            <a:chOff x="6160" y="10097"/>
            <a:chExt cx="748" cy="430"/>
          </a:xfrm>
        </p:grpSpPr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1D14C3FA-233C-FC6B-29BA-EA23AA153777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B165F818-2926-4C41-DD18-5E6F3BFC6570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0E06F297-CE96-B54B-9463-34FD0DF41B05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05" name="文本框 404">
            <a:extLst>
              <a:ext uri="{FF2B5EF4-FFF2-40B4-BE49-F238E27FC236}">
                <a16:creationId xmlns:a16="http://schemas.microsoft.com/office/drawing/2014/main" id="{84A2B640-64D1-521F-8822-07ADE1479840}"/>
              </a:ext>
            </a:extLst>
          </p:cNvPr>
          <p:cNvSpPr txBox="1"/>
          <p:nvPr/>
        </p:nvSpPr>
        <p:spPr>
          <a:xfrm>
            <a:off x="1152159" y="5842045"/>
            <a:ext cx="694486" cy="233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理解信道</a:t>
            </a:r>
          </a:p>
        </p:txBody>
      </p: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D33AA39F-46B4-ED74-7884-38545D03D62C}"/>
              </a:ext>
            </a:extLst>
          </p:cNvPr>
          <p:cNvGrpSpPr/>
          <p:nvPr/>
        </p:nvGrpSpPr>
        <p:grpSpPr>
          <a:xfrm flipH="1" flipV="1">
            <a:off x="1223646" y="5527708"/>
            <a:ext cx="474980" cy="273050"/>
            <a:chOff x="6160" y="10097"/>
            <a:chExt cx="748" cy="430"/>
          </a:xfrm>
        </p:grpSpPr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F25FC688-3C77-B10D-D894-AED5ED7C3477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5960C5D7-C0C1-D46B-ACC4-CB3B98279A95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E3601BAE-2DD6-7D84-85AB-31A3508443C4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11" name="文本框 410">
            <a:extLst>
              <a:ext uri="{FF2B5EF4-FFF2-40B4-BE49-F238E27FC236}">
                <a16:creationId xmlns:a16="http://schemas.microsoft.com/office/drawing/2014/main" id="{DB924B54-F2F9-62F8-F0C6-A5497806AAA4}"/>
              </a:ext>
            </a:extLst>
          </p:cNvPr>
          <p:cNvSpPr txBox="1"/>
          <p:nvPr/>
        </p:nvSpPr>
        <p:spPr>
          <a:xfrm>
            <a:off x="1835033" y="5846303"/>
            <a:ext cx="694486" cy="233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抑制干扰</a:t>
            </a:r>
          </a:p>
        </p:txBody>
      </p:sp>
      <p:sp>
        <p:nvSpPr>
          <p:cNvPr id="413" name="圆角矩形 45">
            <a:extLst>
              <a:ext uri="{FF2B5EF4-FFF2-40B4-BE49-F238E27FC236}">
                <a16:creationId xmlns:a16="http://schemas.microsoft.com/office/drawing/2014/main" id="{CBBFBBAD-C8FA-FF86-4A4C-8E6170E4333F}"/>
              </a:ext>
            </a:extLst>
          </p:cNvPr>
          <p:cNvSpPr/>
          <p:nvPr/>
        </p:nvSpPr>
        <p:spPr>
          <a:xfrm>
            <a:off x="3134078" y="4857399"/>
            <a:ext cx="644859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4" name="圆角矩形 46">
            <a:extLst>
              <a:ext uri="{FF2B5EF4-FFF2-40B4-BE49-F238E27FC236}">
                <a16:creationId xmlns:a16="http://schemas.microsoft.com/office/drawing/2014/main" id="{DD2E71BD-8901-07C3-7462-B8EFC3D84D09}"/>
              </a:ext>
            </a:extLst>
          </p:cNvPr>
          <p:cNvSpPr/>
          <p:nvPr/>
        </p:nvSpPr>
        <p:spPr>
          <a:xfrm>
            <a:off x="3822583" y="4849527"/>
            <a:ext cx="644859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圆角矩形 47">
            <a:extLst>
              <a:ext uri="{FF2B5EF4-FFF2-40B4-BE49-F238E27FC236}">
                <a16:creationId xmlns:a16="http://schemas.microsoft.com/office/drawing/2014/main" id="{032C04C0-8A7C-8A87-F7EB-F029E4B1D8F6}"/>
              </a:ext>
            </a:extLst>
          </p:cNvPr>
          <p:cNvSpPr/>
          <p:nvPr/>
        </p:nvSpPr>
        <p:spPr>
          <a:xfrm>
            <a:off x="4497276" y="4849527"/>
            <a:ext cx="644859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D5B34B52-0D94-9655-EC02-D8CCD428A90D}"/>
              </a:ext>
            </a:extLst>
          </p:cNvPr>
          <p:cNvSpPr txBox="1"/>
          <p:nvPr/>
        </p:nvSpPr>
        <p:spPr>
          <a:xfrm>
            <a:off x="3038334" y="4848728"/>
            <a:ext cx="839157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事件价值评估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EC8B8B79-F92A-9DF4-1D83-2B2C46EE91FC}"/>
              </a:ext>
            </a:extLst>
          </p:cNvPr>
          <p:cNvSpPr txBox="1"/>
          <p:nvPr/>
        </p:nvSpPr>
        <p:spPr>
          <a:xfrm>
            <a:off x="3797573" y="4827220"/>
            <a:ext cx="76614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表征压缩存储</a:t>
            </a:r>
          </a:p>
        </p:txBody>
      </p:sp>
      <p:sp>
        <p:nvSpPr>
          <p:cNvPr id="420" name="文本框 419">
            <a:extLst>
              <a:ext uri="{FF2B5EF4-FFF2-40B4-BE49-F238E27FC236}">
                <a16:creationId xmlns:a16="http://schemas.microsoft.com/office/drawing/2014/main" id="{2A7E74BF-F891-E178-169E-250A5B991437}"/>
              </a:ext>
            </a:extLst>
          </p:cNvPr>
          <p:cNvSpPr txBox="1"/>
          <p:nvPr/>
        </p:nvSpPr>
        <p:spPr>
          <a:xfrm>
            <a:off x="4395852" y="4820952"/>
            <a:ext cx="852902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链上链下存证</a:t>
            </a:r>
          </a:p>
        </p:txBody>
      </p:sp>
      <p:grpSp>
        <p:nvGrpSpPr>
          <p:cNvPr id="427" name="组合 426">
            <a:extLst>
              <a:ext uri="{FF2B5EF4-FFF2-40B4-BE49-F238E27FC236}">
                <a16:creationId xmlns:a16="http://schemas.microsoft.com/office/drawing/2014/main" id="{3567ABAB-966C-5DE8-F2AF-E19B4DDCA7BA}"/>
              </a:ext>
            </a:extLst>
          </p:cNvPr>
          <p:cNvGrpSpPr/>
          <p:nvPr/>
        </p:nvGrpSpPr>
        <p:grpSpPr>
          <a:xfrm flipH="1" flipV="1">
            <a:off x="4257171" y="5430890"/>
            <a:ext cx="474980" cy="273050"/>
            <a:chOff x="6160" y="10097"/>
            <a:chExt cx="748" cy="430"/>
          </a:xfrm>
        </p:grpSpPr>
        <p:cxnSp>
          <p:nvCxnSpPr>
            <p:cNvPr id="428" name="直接箭头连接符 427">
              <a:extLst>
                <a:ext uri="{FF2B5EF4-FFF2-40B4-BE49-F238E27FC236}">
                  <a16:creationId xmlns:a16="http://schemas.microsoft.com/office/drawing/2014/main" id="{EE3ED3B9-61B3-3304-3F0D-D6EFA7727E39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009CE39F-6239-FE6A-472F-180EACC8F8D4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BEC01E2F-C6C4-4E64-BC7B-AB2EF6D654A8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1" name="文本框 430">
            <a:extLst>
              <a:ext uri="{FF2B5EF4-FFF2-40B4-BE49-F238E27FC236}">
                <a16:creationId xmlns:a16="http://schemas.microsoft.com/office/drawing/2014/main" id="{23909703-5FE7-F773-BC5B-BD1FF72C7D9D}"/>
              </a:ext>
            </a:extLst>
          </p:cNvPr>
          <p:cNvSpPr txBox="1"/>
          <p:nvPr/>
        </p:nvSpPr>
        <p:spPr>
          <a:xfrm>
            <a:off x="3484009" y="5745227"/>
            <a:ext cx="694486" cy="233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价值筛选</a:t>
            </a:r>
          </a:p>
        </p:txBody>
      </p:sp>
      <p:grpSp>
        <p:nvGrpSpPr>
          <p:cNvPr id="432" name="组合 431">
            <a:extLst>
              <a:ext uri="{FF2B5EF4-FFF2-40B4-BE49-F238E27FC236}">
                <a16:creationId xmlns:a16="http://schemas.microsoft.com/office/drawing/2014/main" id="{63460DB2-254B-B520-A931-F73BA583A013}"/>
              </a:ext>
            </a:extLst>
          </p:cNvPr>
          <p:cNvGrpSpPr/>
          <p:nvPr/>
        </p:nvGrpSpPr>
        <p:grpSpPr>
          <a:xfrm flipH="1" flipV="1">
            <a:off x="3555496" y="5430890"/>
            <a:ext cx="474980" cy="273050"/>
            <a:chOff x="6160" y="10097"/>
            <a:chExt cx="748" cy="430"/>
          </a:xfrm>
        </p:grpSpPr>
        <p:cxnSp>
          <p:nvCxnSpPr>
            <p:cNvPr id="433" name="直接箭头连接符 432">
              <a:extLst>
                <a:ext uri="{FF2B5EF4-FFF2-40B4-BE49-F238E27FC236}">
                  <a16:creationId xmlns:a16="http://schemas.microsoft.com/office/drawing/2014/main" id="{0AFE0CEE-BD83-311D-CE7C-DAF088F439EF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E78B189D-BEB3-8199-D3DD-E0E1EC90A4AC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5" name="直接连接符 434">
              <a:extLst>
                <a:ext uri="{FF2B5EF4-FFF2-40B4-BE49-F238E27FC236}">
                  <a16:creationId xmlns:a16="http://schemas.microsoft.com/office/drawing/2014/main" id="{47E91386-1013-6A9E-F85D-F7721B800C56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6" name="文本框 435">
            <a:extLst>
              <a:ext uri="{FF2B5EF4-FFF2-40B4-BE49-F238E27FC236}">
                <a16:creationId xmlns:a16="http://schemas.microsoft.com/office/drawing/2014/main" id="{F3DCE821-9C09-E476-645C-848B390C0AA9}"/>
              </a:ext>
            </a:extLst>
          </p:cNvPr>
          <p:cNvSpPr txBox="1"/>
          <p:nvPr/>
        </p:nvSpPr>
        <p:spPr>
          <a:xfrm>
            <a:off x="4166883" y="5749485"/>
            <a:ext cx="694486" cy="233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轻量存储</a:t>
            </a:r>
          </a:p>
        </p:txBody>
      </p:sp>
      <p:sp>
        <p:nvSpPr>
          <p:cNvPr id="438" name="圆角矩形 45">
            <a:extLst>
              <a:ext uri="{FF2B5EF4-FFF2-40B4-BE49-F238E27FC236}">
                <a16:creationId xmlns:a16="http://schemas.microsoft.com/office/drawing/2014/main" id="{83B2EBF4-6743-35F6-6494-D159233703A0}"/>
              </a:ext>
            </a:extLst>
          </p:cNvPr>
          <p:cNvSpPr/>
          <p:nvPr/>
        </p:nvSpPr>
        <p:spPr>
          <a:xfrm>
            <a:off x="5492236" y="4838421"/>
            <a:ext cx="644859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9" name="圆角矩形 46">
            <a:extLst>
              <a:ext uri="{FF2B5EF4-FFF2-40B4-BE49-F238E27FC236}">
                <a16:creationId xmlns:a16="http://schemas.microsoft.com/office/drawing/2014/main" id="{25CE7037-39FB-1890-F5EC-B7DA8136417A}"/>
              </a:ext>
            </a:extLst>
          </p:cNvPr>
          <p:cNvSpPr/>
          <p:nvPr/>
        </p:nvSpPr>
        <p:spPr>
          <a:xfrm>
            <a:off x="6180741" y="4830549"/>
            <a:ext cx="644859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圆角矩形 47">
            <a:extLst>
              <a:ext uri="{FF2B5EF4-FFF2-40B4-BE49-F238E27FC236}">
                <a16:creationId xmlns:a16="http://schemas.microsoft.com/office/drawing/2014/main" id="{C7BAC157-CF2E-68D8-B92B-1794742649F6}"/>
              </a:ext>
            </a:extLst>
          </p:cNvPr>
          <p:cNvSpPr/>
          <p:nvPr/>
        </p:nvSpPr>
        <p:spPr>
          <a:xfrm>
            <a:off x="6855434" y="4830549"/>
            <a:ext cx="644859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35AB627E-B791-ACD0-8343-8D76F94B0460}"/>
              </a:ext>
            </a:extLst>
          </p:cNvPr>
          <p:cNvSpPr txBox="1"/>
          <p:nvPr/>
        </p:nvSpPr>
        <p:spPr>
          <a:xfrm>
            <a:off x="5396492" y="4829750"/>
            <a:ext cx="839157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频谱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知识图谱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F3A9884F-A104-234D-B790-61535D530B9B}"/>
              </a:ext>
            </a:extLst>
          </p:cNvPr>
          <p:cNvSpPr txBox="1"/>
          <p:nvPr/>
        </p:nvSpPr>
        <p:spPr>
          <a:xfrm>
            <a:off x="6155731" y="4808242"/>
            <a:ext cx="76614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轨迹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智能识别</a:t>
            </a: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48D7462F-4539-3694-0FB4-A83047F22906}"/>
              </a:ext>
            </a:extLst>
          </p:cNvPr>
          <p:cNvSpPr txBox="1"/>
          <p:nvPr/>
        </p:nvSpPr>
        <p:spPr>
          <a:xfrm>
            <a:off x="6708783" y="4806018"/>
            <a:ext cx="1022357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多载体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分布式协同</a:t>
            </a:r>
          </a:p>
        </p:txBody>
      </p:sp>
      <p:grpSp>
        <p:nvGrpSpPr>
          <p:cNvPr id="452" name="组合 451">
            <a:extLst>
              <a:ext uri="{FF2B5EF4-FFF2-40B4-BE49-F238E27FC236}">
                <a16:creationId xmlns:a16="http://schemas.microsoft.com/office/drawing/2014/main" id="{B255A959-FD2F-D921-3DFA-942FFCB6D8F0}"/>
              </a:ext>
            </a:extLst>
          </p:cNvPr>
          <p:cNvGrpSpPr/>
          <p:nvPr/>
        </p:nvGrpSpPr>
        <p:grpSpPr>
          <a:xfrm flipH="1" flipV="1">
            <a:off x="6615329" y="5411912"/>
            <a:ext cx="474980" cy="273050"/>
            <a:chOff x="6160" y="10097"/>
            <a:chExt cx="748" cy="430"/>
          </a:xfrm>
        </p:grpSpPr>
        <p:cxnSp>
          <p:nvCxnSpPr>
            <p:cNvPr id="453" name="直接箭头连接符 452">
              <a:extLst>
                <a:ext uri="{FF2B5EF4-FFF2-40B4-BE49-F238E27FC236}">
                  <a16:creationId xmlns:a16="http://schemas.microsoft.com/office/drawing/2014/main" id="{803671DF-E3EE-0772-5BED-43ED161D9790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F5B4ED65-1F76-C7E9-2347-ED6F3E43640A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F1A1F16C-2BF1-2324-4E02-A7063CCFA296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56" name="文本框 455">
            <a:extLst>
              <a:ext uri="{FF2B5EF4-FFF2-40B4-BE49-F238E27FC236}">
                <a16:creationId xmlns:a16="http://schemas.microsoft.com/office/drawing/2014/main" id="{EE7D74F0-5A0A-A3A5-CDFE-9213DAC971C6}"/>
              </a:ext>
            </a:extLst>
          </p:cNvPr>
          <p:cNvSpPr txBox="1"/>
          <p:nvPr/>
        </p:nvSpPr>
        <p:spPr>
          <a:xfrm>
            <a:off x="5842167" y="5726249"/>
            <a:ext cx="694486" cy="233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知识积累</a:t>
            </a:r>
          </a:p>
        </p:txBody>
      </p: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B04F08EB-283F-3644-7CA0-49015D557382}"/>
              </a:ext>
            </a:extLst>
          </p:cNvPr>
          <p:cNvGrpSpPr/>
          <p:nvPr/>
        </p:nvGrpSpPr>
        <p:grpSpPr>
          <a:xfrm flipH="1" flipV="1">
            <a:off x="5913654" y="5411912"/>
            <a:ext cx="474980" cy="273050"/>
            <a:chOff x="6160" y="10097"/>
            <a:chExt cx="748" cy="430"/>
          </a:xfrm>
        </p:grpSpPr>
        <p:cxnSp>
          <p:nvCxnSpPr>
            <p:cNvPr id="458" name="直接箭头连接符 457">
              <a:extLst>
                <a:ext uri="{FF2B5EF4-FFF2-40B4-BE49-F238E27FC236}">
                  <a16:creationId xmlns:a16="http://schemas.microsoft.com/office/drawing/2014/main" id="{A341DCA7-6105-6E57-2D69-CBEAA7E05A14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A8852695-F77E-113A-4D61-DC703A439F90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97C65CED-2AD5-0E6B-D1B3-413D19F3E89B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2504B99F-0B5F-3DCA-4B48-8FA07EF8B73C}"/>
              </a:ext>
            </a:extLst>
          </p:cNvPr>
          <p:cNvSpPr txBox="1"/>
          <p:nvPr/>
        </p:nvSpPr>
        <p:spPr>
          <a:xfrm>
            <a:off x="6525041" y="5730507"/>
            <a:ext cx="694486" cy="233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智能认知</a:t>
            </a:r>
            <a:endParaRPr lang="zh-CN" altLang="en-US" sz="9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73" name="文本框 472">
            <a:extLst>
              <a:ext uri="{FF2B5EF4-FFF2-40B4-BE49-F238E27FC236}">
                <a16:creationId xmlns:a16="http://schemas.microsoft.com/office/drawing/2014/main" id="{5914BE67-4162-F064-5B23-5F10C6C4EE03}"/>
              </a:ext>
            </a:extLst>
          </p:cNvPr>
          <p:cNvSpPr txBox="1"/>
          <p:nvPr/>
        </p:nvSpPr>
        <p:spPr>
          <a:xfrm>
            <a:off x="8185618" y="2819160"/>
            <a:ext cx="369332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原型运行验证</a:t>
            </a:r>
          </a:p>
        </p:txBody>
      </p:sp>
      <p:pic>
        <p:nvPicPr>
          <p:cNvPr id="9" name="图片 8" descr="User uploaded image 1">
            <a:extLst>
              <a:ext uri="{FF2B5EF4-FFF2-40B4-BE49-F238E27FC236}">
                <a16:creationId xmlns:a16="http://schemas.microsoft.com/office/drawing/2014/main" id="{89048574-3403-5AC5-6D04-B0AEC4B779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3" t="5881" r="4231" b="13433"/>
          <a:stretch>
            <a:fillRect/>
          </a:stretch>
        </p:blipFill>
        <p:spPr>
          <a:xfrm>
            <a:off x="8578216" y="4179570"/>
            <a:ext cx="1378585" cy="963269"/>
          </a:xfrm>
          <a:custGeom>
            <a:avLst/>
            <a:gdLst>
              <a:gd name="csX0" fmla="*/ 155013 w 1378585"/>
              <a:gd name="csY0" fmla="*/ 0 h 963269"/>
              <a:gd name="csX1" fmla="*/ 1218037 w 1378585"/>
              <a:gd name="csY1" fmla="*/ 0 h 963269"/>
              <a:gd name="csX2" fmla="*/ 1378585 w 1378585"/>
              <a:gd name="csY2" fmla="*/ 160548 h 963269"/>
              <a:gd name="csX3" fmla="*/ 1378585 w 1378585"/>
              <a:gd name="csY3" fmla="*/ 802721 h 963269"/>
              <a:gd name="csX4" fmla="*/ 1218037 w 1378585"/>
              <a:gd name="csY4" fmla="*/ 963269 h 963269"/>
              <a:gd name="csX5" fmla="*/ 155013 w 1378585"/>
              <a:gd name="csY5" fmla="*/ 963269 h 963269"/>
              <a:gd name="csX6" fmla="*/ 7082 w 1378585"/>
              <a:gd name="csY6" fmla="*/ 865214 h 963269"/>
              <a:gd name="csX7" fmla="*/ 0 w 1378585"/>
              <a:gd name="csY7" fmla="*/ 830137 h 963269"/>
              <a:gd name="csX8" fmla="*/ 0 w 1378585"/>
              <a:gd name="csY8" fmla="*/ 133132 h 963269"/>
              <a:gd name="csX9" fmla="*/ 7082 w 1378585"/>
              <a:gd name="csY9" fmla="*/ 98056 h 963269"/>
              <a:gd name="csX10" fmla="*/ 155013 w 1378585"/>
              <a:gd name="csY10" fmla="*/ 0 h 9632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78585" h="963269">
                <a:moveTo>
                  <a:pt x="155013" y="0"/>
                </a:moveTo>
                <a:lnTo>
                  <a:pt x="1218037" y="0"/>
                </a:lnTo>
                <a:cubicBezTo>
                  <a:pt x="1306705" y="0"/>
                  <a:pt x="1378585" y="71880"/>
                  <a:pt x="1378585" y="160548"/>
                </a:cubicBezTo>
                <a:lnTo>
                  <a:pt x="1378585" y="802721"/>
                </a:lnTo>
                <a:cubicBezTo>
                  <a:pt x="1378585" y="891389"/>
                  <a:pt x="1306705" y="963269"/>
                  <a:pt x="1218037" y="963269"/>
                </a:cubicBezTo>
                <a:lnTo>
                  <a:pt x="155013" y="963269"/>
                </a:lnTo>
                <a:cubicBezTo>
                  <a:pt x="88512" y="963269"/>
                  <a:pt x="31454" y="922837"/>
                  <a:pt x="7082" y="865214"/>
                </a:cubicBezTo>
                <a:lnTo>
                  <a:pt x="0" y="830137"/>
                </a:lnTo>
                <a:lnTo>
                  <a:pt x="0" y="133132"/>
                </a:lnTo>
                <a:lnTo>
                  <a:pt x="7082" y="98056"/>
                </a:lnTo>
                <a:cubicBezTo>
                  <a:pt x="31454" y="40433"/>
                  <a:pt x="88512" y="0"/>
                  <a:pt x="155013" y="0"/>
                </a:cubicBezTo>
                <a:close/>
              </a:path>
            </a:pathLst>
          </a:custGeom>
          <a:ln>
            <a:solidFill>
              <a:srgbClr val="2E54A1"/>
            </a:solidFill>
          </a:ln>
        </p:spPr>
      </p:pic>
      <p:sp>
        <p:nvSpPr>
          <p:cNvPr id="2" name="箭头: 燕尾形 1202">
            <a:extLst>
              <a:ext uri="{FF2B5EF4-FFF2-40B4-BE49-F238E27FC236}">
                <a16:creationId xmlns:a16="http://schemas.microsoft.com/office/drawing/2014/main" id="{E6D3E40E-6980-A4D8-E7BF-38952D214FC4}"/>
              </a:ext>
            </a:extLst>
          </p:cNvPr>
          <p:cNvSpPr/>
          <p:nvPr/>
        </p:nvSpPr>
        <p:spPr>
          <a:xfrm rot="16200000" flipH="1">
            <a:off x="9459517" y="1176284"/>
            <a:ext cx="617454" cy="65883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39B5C9-97DC-F96D-5C4C-AE951C743591}"/>
              </a:ext>
            </a:extLst>
          </p:cNvPr>
          <p:cNvSpPr txBox="1"/>
          <p:nvPr/>
        </p:nvSpPr>
        <p:spPr>
          <a:xfrm>
            <a:off x="7771745" y="1170024"/>
            <a:ext cx="2026598" cy="365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实验验证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4E61B898-D60F-F6CB-47DC-D7BA778CE2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" r="1412"/>
          <a:stretch>
            <a:fillRect/>
          </a:stretch>
        </p:blipFill>
        <p:spPr>
          <a:xfrm>
            <a:off x="8572680" y="2846919"/>
            <a:ext cx="1384120" cy="948834"/>
          </a:xfrm>
          <a:custGeom>
            <a:avLst/>
            <a:gdLst>
              <a:gd name="csX0" fmla="*/ 95359 w 1384120"/>
              <a:gd name="csY0" fmla="*/ 0 h 948834"/>
              <a:gd name="csX1" fmla="*/ 1288761 w 1384120"/>
              <a:gd name="csY1" fmla="*/ 0 h 948834"/>
              <a:gd name="csX2" fmla="*/ 1337096 w 1384120"/>
              <a:gd name="csY2" fmla="*/ 32589 h 948834"/>
              <a:gd name="csX3" fmla="*/ 1384120 w 1384120"/>
              <a:gd name="csY3" fmla="*/ 146113 h 948834"/>
              <a:gd name="csX4" fmla="*/ 1384120 w 1384120"/>
              <a:gd name="csY4" fmla="*/ 788286 h 948834"/>
              <a:gd name="csX5" fmla="*/ 1223572 w 1384120"/>
              <a:gd name="csY5" fmla="*/ 948834 h 948834"/>
              <a:gd name="csX6" fmla="*/ 160548 w 1384120"/>
              <a:gd name="csY6" fmla="*/ 948834 h 948834"/>
              <a:gd name="csX7" fmla="*/ 0 w 1384120"/>
              <a:gd name="csY7" fmla="*/ 788286 h 948834"/>
              <a:gd name="csX8" fmla="*/ 0 w 1384120"/>
              <a:gd name="csY8" fmla="*/ 146113 h 948834"/>
              <a:gd name="csX9" fmla="*/ 47024 w 1384120"/>
              <a:gd name="csY9" fmla="*/ 32589 h 948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84120" h="948834">
                <a:moveTo>
                  <a:pt x="95359" y="0"/>
                </a:moveTo>
                <a:lnTo>
                  <a:pt x="1288761" y="0"/>
                </a:lnTo>
                <a:lnTo>
                  <a:pt x="1337096" y="32589"/>
                </a:lnTo>
                <a:cubicBezTo>
                  <a:pt x="1366150" y="61642"/>
                  <a:pt x="1384120" y="101779"/>
                  <a:pt x="1384120" y="146113"/>
                </a:cubicBezTo>
                <a:lnTo>
                  <a:pt x="1384120" y="788286"/>
                </a:lnTo>
                <a:cubicBezTo>
                  <a:pt x="1384120" y="876954"/>
                  <a:pt x="1312240" y="948834"/>
                  <a:pt x="1223572" y="948834"/>
                </a:cubicBezTo>
                <a:lnTo>
                  <a:pt x="160548" y="948834"/>
                </a:lnTo>
                <a:cubicBezTo>
                  <a:pt x="71880" y="948834"/>
                  <a:pt x="0" y="876954"/>
                  <a:pt x="0" y="788286"/>
                </a:cubicBezTo>
                <a:lnTo>
                  <a:pt x="0" y="146113"/>
                </a:lnTo>
                <a:cubicBezTo>
                  <a:pt x="0" y="101779"/>
                  <a:pt x="17970" y="61642"/>
                  <a:pt x="47024" y="32589"/>
                </a:cubicBezTo>
                <a:close/>
              </a:path>
            </a:pathLst>
          </a:custGeom>
          <a:ln>
            <a:solidFill>
              <a:srgbClr val="2E54A1"/>
            </a:solidFill>
          </a:ln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DD7505F0-AB30-AEBF-62EE-53C316D9907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/>
          <a:stretch>
            <a:fillRect/>
          </a:stretch>
        </p:blipFill>
        <p:spPr>
          <a:xfrm>
            <a:off x="8608122" y="5574594"/>
            <a:ext cx="1382482" cy="922037"/>
          </a:xfrm>
          <a:custGeom>
            <a:avLst/>
            <a:gdLst>
              <a:gd name="csX0" fmla="*/ 86193 w 1382482"/>
              <a:gd name="csY0" fmla="*/ 0 h 922037"/>
              <a:gd name="csX1" fmla="*/ 1297928 w 1382482"/>
              <a:gd name="csY1" fmla="*/ 0 h 922037"/>
              <a:gd name="csX2" fmla="*/ 1337096 w 1382482"/>
              <a:gd name="csY2" fmla="*/ 26409 h 922037"/>
              <a:gd name="csX3" fmla="*/ 1371503 w 1382482"/>
              <a:gd name="csY3" fmla="*/ 77441 h 922037"/>
              <a:gd name="csX4" fmla="*/ 1382482 w 1382482"/>
              <a:gd name="csY4" fmla="*/ 131820 h 922037"/>
              <a:gd name="csX5" fmla="*/ 1382482 w 1382482"/>
              <a:gd name="csY5" fmla="*/ 790219 h 922037"/>
              <a:gd name="csX6" fmla="*/ 1371503 w 1382482"/>
              <a:gd name="csY6" fmla="*/ 844599 h 922037"/>
              <a:gd name="csX7" fmla="*/ 1337096 w 1382482"/>
              <a:gd name="csY7" fmla="*/ 895631 h 922037"/>
              <a:gd name="csX8" fmla="*/ 1297930 w 1382482"/>
              <a:gd name="csY8" fmla="*/ 922037 h 922037"/>
              <a:gd name="csX9" fmla="*/ 86190 w 1382482"/>
              <a:gd name="csY9" fmla="*/ 922037 h 922037"/>
              <a:gd name="csX10" fmla="*/ 47024 w 1382482"/>
              <a:gd name="csY10" fmla="*/ 895631 h 922037"/>
              <a:gd name="csX11" fmla="*/ 0 w 1382482"/>
              <a:gd name="csY11" fmla="*/ 782106 h 922037"/>
              <a:gd name="csX12" fmla="*/ 0 w 1382482"/>
              <a:gd name="csY12" fmla="*/ 139933 h 922037"/>
              <a:gd name="csX13" fmla="*/ 47024 w 1382482"/>
              <a:gd name="csY13" fmla="*/ 26409 h 9220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82482" h="922037">
                <a:moveTo>
                  <a:pt x="86193" y="0"/>
                </a:moveTo>
                <a:lnTo>
                  <a:pt x="1297928" y="0"/>
                </a:lnTo>
                <a:lnTo>
                  <a:pt x="1337096" y="26409"/>
                </a:lnTo>
                <a:cubicBezTo>
                  <a:pt x="1351623" y="40936"/>
                  <a:pt x="1363379" y="58233"/>
                  <a:pt x="1371503" y="77441"/>
                </a:cubicBezTo>
                <a:lnTo>
                  <a:pt x="1382482" y="131820"/>
                </a:lnTo>
                <a:lnTo>
                  <a:pt x="1382482" y="790219"/>
                </a:lnTo>
                <a:lnTo>
                  <a:pt x="1371503" y="844599"/>
                </a:lnTo>
                <a:cubicBezTo>
                  <a:pt x="1363379" y="863806"/>
                  <a:pt x="1351623" y="881104"/>
                  <a:pt x="1337096" y="895631"/>
                </a:cubicBezTo>
                <a:lnTo>
                  <a:pt x="1297930" y="922037"/>
                </a:lnTo>
                <a:lnTo>
                  <a:pt x="86190" y="922037"/>
                </a:lnTo>
                <a:lnTo>
                  <a:pt x="47024" y="895631"/>
                </a:lnTo>
                <a:cubicBezTo>
                  <a:pt x="17970" y="866577"/>
                  <a:pt x="0" y="826440"/>
                  <a:pt x="0" y="782106"/>
                </a:cubicBezTo>
                <a:lnTo>
                  <a:pt x="0" y="139933"/>
                </a:lnTo>
                <a:cubicBezTo>
                  <a:pt x="0" y="95599"/>
                  <a:pt x="17970" y="55462"/>
                  <a:pt x="47024" y="26409"/>
                </a:cubicBezTo>
                <a:close/>
              </a:path>
            </a:pathLst>
          </a:custGeom>
          <a:ln>
            <a:solidFill>
              <a:srgbClr val="2E54A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187</Words>
  <Application>Microsoft Office PowerPoint</Application>
  <PresentationFormat>自定义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微软雅黑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Hodge Chang</cp:lastModifiedBy>
  <cp:revision>18</cp:revision>
  <dcterms:created xsi:type="dcterms:W3CDTF">2026-06-15T13:57:41Z</dcterms:created>
  <dcterms:modified xsi:type="dcterms:W3CDTF">2026-06-18T07:33:48Z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CCB4CCE1F4F0462ABE8EFD1EDFF8C9FF_12</vt:lpwstr>
  </property>
</Properties>
</file>