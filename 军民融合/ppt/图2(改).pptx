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7093D2"/>
    <a:srgbClr val="7F9EDB"/>
    <a:srgbClr val="ECF3FA"/>
    <a:srgbClr val="DEEBF7"/>
    <a:srgbClr val="EAF2FA"/>
    <a:srgbClr val="FCE8EA"/>
    <a:srgbClr val="FADBD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14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buNone/>
              <a:defRPr sz="3530"/>
            </a:lvl1pPr>
            <a:lvl2pPr>
              <a:buNone/>
              <a:defRPr sz="3085"/>
            </a:lvl2pPr>
            <a:lvl3pPr>
              <a:buNone/>
              <a:defRPr sz="2645"/>
            </a:lvl3pPr>
            <a:lvl4pPr>
              <a:buNone/>
              <a:defRPr sz="2205"/>
            </a:lvl4pPr>
            <a:lvl5pPr>
              <a:buNone/>
              <a:defRPr sz="2205"/>
            </a:lvl5pPr>
            <a:lvl6pPr>
              <a:buNone/>
              <a:defRPr sz="2205"/>
            </a:lvl6pPr>
            <a:lvl7pPr>
              <a:buNone/>
              <a:defRPr sz="2205"/>
            </a:lvl7pPr>
            <a:lvl8pPr>
              <a:buNone/>
              <a:defRPr sz="2205"/>
            </a:lvl8pPr>
            <a:lvl9pPr>
              <a:buNone/>
              <a:defRPr sz="220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 lang="zh-CN" altLang="en-US"/>
              <a:t>2026/6/23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8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2095" indent="-252095" algn="l">
        <a:lnSpc>
          <a:spcPct val="90000"/>
        </a:lnSpc>
        <a:spcBef>
          <a:spcPts val="0"/>
        </a:spcBef>
        <a:buChar char="•"/>
        <a:defRPr sz="3085">
          <a:solidFill>
            <a:schemeClr val="tx1"/>
          </a:solidFill>
          <a:latin typeface="+mn-lt"/>
          <a:ea typeface="+mn-lt"/>
          <a:cs typeface="+mn-lt"/>
        </a:defRPr>
      </a:lvl1pPr>
      <a:lvl2pPr marL="756285" indent="-252095" algn="l">
        <a:lnSpc>
          <a:spcPct val="90000"/>
        </a:lnSpc>
        <a:spcBef>
          <a:spcPts val="550"/>
        </a:spcBef>
        <a:buChar char="•"/>
        <a:defRPr sz="2645">
          <a:solidFill>
            <a:schemeClr val="tx1"/>
          </a:solidFill>
          <a:latin typeface="+mn-lt"/>
          <a:ea typeface="+mn-lt"/>
          <a:cs typeface="+mn-lt"/>
        </a:defRPr>
      </a:lvl2pPr>
      <a:lvl3pPr marL="1259840" indent="-252095" algn="l">
        <a:lnSpc>
          <a:spcPct val="90000"/>
        </a:lnSpc>
        <a:spcBef>
          <a:spcPts val="550"/>
        </a:spcBef>
        <a:buChar char="•"/>
        <a:defRPr sz="2205">
          <a:solidFill>
            <a:schemeClr val="tx1"/>
          </a:solidFill>
          <a:latin typeface="+mn-lt"/>
          <a:ea typeface="+mn-lt"/>
          <a:cs typeface="+mn-lt"/>
        </a:defRPr>
      </a:lvl3pPr>
      <a:lvl4pPr marL="176403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26822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77177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27596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78015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2837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1pPr>
      <a:lvl2pPr marL="50419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marL="100774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3pPr>
      <a:lvl4pPr marL="151193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01612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52031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02387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52806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03225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8">
            <a:extLst>
              <a:ext uri="{FF2B5EF4-FFF2-40B4-BE49-F238E27FC236}">
                <a16:creationId xmlns:a16="http://schemas.microsoft.com/office/drawing/2014/main" id="{04BDD49D-84AB-9D74-E506-84E8A7719E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37161" y="312185"/>
            <a:ext cx="10405332" cy="6989567"/>
          </a:xfrm>
          <a:prstGeom prst="roundRect">
            <a:avLst>
              <a:gd name="adj" fmla="val 2294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8AF08BB-6D8E-01CD-6FBA-179FBB199F07}"/>
              </a:ext>
            </a:extLst>
          </p:cNvPr>
          <p:cNvSpPr/>
          <p:nvPr/>
        </p:nvSpPr>
        <p:spPr>
          <a:xfrm>
            <a:off x="342266" y="719708"/>
            <a:ext cx="10004892" cy="1730315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DF1D01C-C95D-EBF6-B821-C5B09231BCE6}"/>
              </a:ext>
            </a:extLst>
          </p:cNvPr>
          <p:cNvSpPr>
            <a:spLocks/>
          </p:cNvSpPr>
          <p:nvPr/>
        </p:nvSpPr>
        <p:spPr>
          <a:xfrm>
            <a:off x="341457" y="2021305"/>
            <a:ext cx="10004892" cy="5141494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1933574" y="89798"/>
            <a:ext cx="6849745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lean-title"/>
          <p:cNvSpPr>
            <a:spLocks noGrp="1"/>
          </p:cNvSpPr>
          <p:nvPr/>
        </p:nvSpPr>
        <p:spPr>
          <a:xfrm>
            <a:off x="2135592" y="126164"/>
            <a:ext cx="640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 spc="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海杂波场景电磁频谱数据智能处理机理与方法</a:t>
            </a:r>
            <a:endParaRPr sz="2000" b="1" spc="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197">
            <a:extLst>
              <a:ext uri="{FF2B5EF4-FFF2-40B4-BE49-F238E27FC236}">
                <a16:creationId xmlns:a16="http://schemas.microsoft.com/office/drawing/2014/main" id="{D166B956-04F8-9CD7-2780-10D5E62E8837}"/>
              </a:ext>
            </a:extLst>
          </p:cNvPr>
          <p:cNvSpPr/>
          <p:nvPr/>
        </p:nvSpPr>
        <p:spPr>
          <a:xfrm>
            <a:off x="340648" y="655774"/>
            <a:ext cx="396240" cy="1413075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三大研究挑战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C4A7BDD-FF10-DB8E-FCF6-9D6472B49069}"/>
              </a:ext>
            </a:extLst>
          </p:cNvPr>
          <p:cNvSpPr txBox="1"/>
          <p:nvPr/>
        </p:nvSpPr>
        <p:spPr>
          <a:xfrm>
            <a:off x="2963005" y="2180043"/>
            <a:ext cx="2222333" cy="330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怎么轻量存储？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EB8F5A-A927-FCC7-D8DC-E2A3875723A6}"/>
              </a:ext>
            </a:extLst>
          </p:cNvPr>
          <p:cNvSpPr txBox="1"/>
          <p:nvPr/>
        </p:nvSpPr>
        <p:spPr>
          <a:xfrm>
            <a:off x="5472650" y="2181872"/>
            <a:ext cx="2075581" cy="36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怎么快速决策？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39B5C9-97DC-F96D-5C4C-AE951C743591}"/>
              </a:ext>
            </a:extLst>
          </p:cNvPr>
          <p:cNvSpPr txBox="1"/>
          <p:nvPr/>
        </p:nvSpPr>
        <p:spPr>
          <a:xfrm>
            <a:off x="7835543" y="2181872"/>
            <a:ext cx="2026598" cy="36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原型验证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!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4B544EA-5C22-98E0-4129-B5F651119707}"/>
              </a:ext>
            </a:extLst>
          </p:cNvPr>
          <p:cNvGrpSpPr/>
          <p:nvPr/>
        </p:nvGrpSpPr>
        <p:grpSpPr>
          <a:xfrm>
            <a:off x="7194238" y="765938"/>
            <a:ext cx="2897297" cy="1131671"/>
            <a:chOff x="7194238" y="765938"/>
            <a:chExt cx="2897297" cy="1131671"/>
          </a:xfrm>
        </p:grpSpPr>
        <p:sp>
          <p:nvSpPr>
            <p:cNvPr id="40" name="矩形: 圆角 1150">
              <a:extLst>
                <a:ext uri="{FF2B5EF4-FFF2-40B4-BE49-F238E27FC236}">
                  <a16:creationId xmlns:a16="http://schemas.microsoft.com/office/drawing/2014/main" id="{0B3A4E88-DA0A-4995-374F-323BFDB0CF4A}"/>
                </a:ext>
              </a:extLst>
            </p:cNvPr>
            <p:cNvSpPr/>
            <p:nvPr/>
          </p:nvSpPr>
          <p:spPr>
            <a:xfrm>
              <a:off x="7194238" y="897181"/>
              <a:ext cx="2877008" cy="857932"/>
            </a:xfrm>
            <a:prstGeom prst="roundRect">
              <a:avLst>
                <a:gd name="adj" fmla="val 4026"/>
              </a:avLst>
            </a:prstGeom>
            <a:gradFill flip="none" rotWithShape="1">
              <a:gsLst>
                <a:gs pos="100000">
                  <a:srgbClr val="FCE8EA"/>
                </a:gs>
                <a:gs pos="0">
                  <a:schemeClr val="bg1">
                    <a:shade val="100000"/>
                    <a:satMod val="115000"/>
                  </a:schemeClr>
                </a:gs>
              </a:gsLst>
              <a:lin ang="6000000" scaled="0"/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D82C3F1-4D36-95AF-1186-C3DF8C49D28F}"/>
                </a:ext>
              </a:extLst>
            </p:cNvPr>
            <p:cNvSpPr txBox="1"/>
            <p:nvPr/>
          </p:nvSpPr>
          <p:spPr>
            <a:xfrm>
              <a:off x="7766572" y="1291173"/>
              <a:ext cx="232496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目标研判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“协同难”</a:t>
              </a:r>
            </a:p>
          </p:txBody>
        </p:sp>
        <p:sp>
          <p:nvSpPr>
            <p:cNvPr id="338" name="文本框 337">
              <a:extLst>
                <a:ext uri="{FF2B5EF4-FFF2-40B4-BE49-F238E27FC236}">
                  <a16:creationId xmlns:a16="http://schemas.microsoft.com/office/drawing/2014/main" id="{97B9F2D8-B392-EBC4-3AC3-ADCDE94F7B70}"/>
                </a:ext>
              </a:extLst>
            </p:cNvPr>
            <p:cNvSpPr txBox="1"/>
            <p:nvPr/>
          </p:nvSpPr>
          <p:spPr>
            <a:xfrm>
              <a:off x="7950963" y="995529"/>
              <a:ext cx="181082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智能大模型难部署</a:t>
              </a:r>
              <a:endParaRPr lang="en-US" altLang="zh-CN" dirty="0"/>
            </a:p>
          </p:txBody>
        </p:sp>
        <p:sp>
          <p:nvSpPr>
            <p:cNvPr id="39" name="矩形: 圆角 1197">
              <a:extLst>
                <a:ext uri="{FF2B5EF4-FFF2-40B4-BE49-F238E27FC236}">
                  <a16:creationId xmlns:a16="http://schemas.microsoft.com/office/drawing/2014/main" id="{9C1E4D11-6274-072F-F0F6-90D1D0702502}"/>
                </a:ext>
              </a:extLst>
            </p:cNvPr>
            <p:cNvSpPr/>
            <p:nvPr/>
          </p:nvSpPr>
          <p:spPr>
            <a:xfrm>
              <a:off x="7380070" y="765938"/>
              <a:ext cx="373025" cy="903833"/>
            </a:xfrm>
            <a:prstGeom prst="roundRect">
              <a:avLst>
                <a:gd name="adj" fmla="val 275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spc="-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端 侧 环 境</a:t>
              </a:r>
              <a:endParaRPr kumimoji="0" lang="zh-CN" altLang="en-US" sz="1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42" name="箭头: 燕尾形 1202">
              <a:extLst>
                <a:ext uri="{FF2B5EF4-FFF2-40B4-BE49-F238E27FC236}">
                  <a16:creationId xmlns:a16="http://schemas.microsoft.com/office/drawing/2014/main" id="{B79E0CE1-821C-231C-3A49-2F1DAC2EA069}"/>
                </a:ext>
              </a:extLst>
            </p:cNvPr>
            <p:cNvSpPr/>
            <p:nvPr/>
          </p:nvSpPr>
          <p:spPr>
            <a:xfrm rot="16200000" flipH="1">
              <a:off x="9684025" y="1551534"/>
              <a:ext cx="374650" cy="317500"/>
            </a:xfrm>
            <a:prstGeom prst="notchedRightArrow">
              <a:avLst/>
            </a:prstGeom>
            <a:gradFill>
              <a:gsLst>
                <a:gs pos="100000">
                  <a:srgbClr val="C00000"/>
                </a:gs>
                <a:gs pos="500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B2B825D8-D713-C2AD-F135-53AA5482EFA1}"/>
              </a:ext>
            </a:extLst>
          </p:cNvPr>
          <p:cNvSpPr txBox="1"/>
          <p:nvPr/>
        </p:nvSpPr>
        <p:spPr>
          <a:xfrm>
            <a:off x="587547" y="2180043"/>
            <a:ext cx="225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怎么精确提取？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2D24985-F2B5-35D0-9A35-274B0F71E14D}"/>
              </a:ext>
            </a:extLst>
          </p:cNvPr>
          <p:cNvGrpSpPr/>
          <p:nvPr/>
        </p:nvGrpSpPr>
        <p:grpSpPr>
          <a:xfrm>
            <a:off x="4101160" y="766766"/>
            <a:ext cx="2880917" cy="1130843"/>
            <a:chOff x="7194237" y="765938"/>
            <a:chExt cx="2880917" cy="1130843"/>
          </a:xfrm>
        </p:grpSpPr>
        <p:sp>
          <p:nvSpPr>
            <p:cNvPr id="448" name="矩形: 圆角 1150">
              <a:extLst>
                <a:ext uri="{FF2B5EF4-FFF2-40B4-BE49-F238E27FC236}">
                  <a16:creationId xmlns:a16="http://schemas.microsoft.com/office/drawing/2014/main" id="{C835D01C-FBA5-F5D6-4541-539A6CC27368}"/>
                </a:ext>
              </a:extLst>
            </p:cNvPr>
            <p:cNvSpPr/>
            <p:nvPr/>
          </p:nvSpPr>
          <p:spPr>
            <a:xfrm>
              <a:off x="7194237" y="897181"/>
              <a:ext cx="2830829" cy="857932"/>
            </a:xfrm>
            <a:prstGeom prst="roundRect">
              <a:avLst>
                <a:gd name="adj" fmla="val 4026"/>
              </a:avLst>
            </a:prstGeom>
            <a:gradFill flip="none" rotWithShape="1">
              <a:gsLst>
                <a:gs pos="100000">
                  <a:srgbClr val="FCE8EA"/>
                </a:gs>
                <a:gs pos="0">
                  <a:schemeClr val="bg1">
                    <a:shade val="100000"/>
                    <a:satMod val="115000"/>
                  </a:schemeClr>
                </a:gs>
              </a:gsLst>
              <a:lin ang="6000000" scaled="0"/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9" name="文本框 448">
              <a:extLst>
                <a:ext uri="{FF2B5EF4-FFF2-40B4-BE49-F238E27FC236}">
                  <a16:creationId xmlns:a16="http://schemas.microsoft.com/office/drawing/2014/main" id="{F4031BC0-B22B-BE41-5900-61BB1B809901}"/>
                </a:ext>
              </a:extLst>
            </p:cNvPr>
            <p:cNvSpPr txBox="1"/>
            <p:nvPr/>
          </p:nvSpPr>
          <p:spPr>
            <a:xfrm>
              <a:off x="7750191" y="1291173"/>
              <a:ext cx="232496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留存取证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“效率低”</a:t>
              </a:r>
            </a:p>
          </p:txBody>
        </p:sp>
        <p:sp>
          <p:nvSpPr>
            <p:cNvPr id="450" name="文本框 449">
              <a:extLst>
                <a:ext uri="{FF2B5EF4-FFF2-40B4-BE49-F238E27FC236}">
                  <a16:creationId xmlns:a16="http://schemas.microsoft.com/office/drawing/2014/main" id="{D1981427-66D3-2DE3-9884-A13A0197FF77}"/>
                </a:ext>
              </a:extLst>
            </p:cNvPr>
            <p:cNvSpPr txBox="1"/>
            <p:nvPr/>
          </p:nvSpPr>
          <p:spPr>
            <a:xfrm>
              <a:off x="7934582" y="995529"/>
              <a:ext cx="181082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频谱数据流难管理</a:t>
              </a:r>
            </a:p>
          </p:txBody>
        </p:sp>
        <p:sp>
          <p:nvSpPr>
            <p:cNvPr id="451" name="矩形: 圆角 1197">
              <a:extLst>
                <a:ext uri="{FF2B5EF4-FFF2-40B4-BE49-F238E27FC236}">
                  <a16:creationId xmlns:a16="http://schemas.microsoft.com/office/drawing/2014/main" id="{7D0B9222-722E-1835-13BE-48856D6E008B}"/>
                </a:ext>
              </a:extLst>
            </p:cNvPr>
            <p:cNvSpPr/>
            <p:nvPr/>
          </p:nvSpPr>
          <p:spPr>
            <a:xfrm>
              <a:off x="7392305" y="765938"/>
              <a:ext cx="373025" cy="903833"/>
            </a:xfrm>
            <a:prstGeom prst="roundRect">
              <a:avLst>
                <a:gd name="adj" fmla="val 275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spc="-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海      量</a:t>
              </a:r>
              <a:endParaRPr kumimoji="0" lang="zh-CN" altLang="en-US" sz="1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462" name="箭头: 燕尾形 1202">
              <a:extLst>
                <a:ext uri="{FF2B5EF4-FFF2-40B4-BE49-F238E27FC236}">
                  <a16:creationId xmlns:a16="http://schemas.microsoft.com/office/drawing/2014/main" id="{62946ADA-1A8C-EBDE-F88C-EC3083BD6FCC}"/>
                </a:ext>
              </a:extLst>
            </p:cNvPr>
            <p:cNvSpPr/>
            <p:nvPr/>
          </p:nvSpPr>
          <p:spPr>
            <a:xfrm rot="16200000" flipH="1">
              <a:off x="9629480" y="1550706"/>
              <a:ext cx="374650" cy="317500"/>
            </a:xfrm>
            <a:prstGeom prst="notchedRightArrow">
              <a:avLst/>
            </a:prstGeom>
            <a:gradFill>
              <a:gsLst>
                <a:gs pos="100000">
                  <a:srgbClr val="C00000"/>
                </a:gs>
                <a:gs pos="500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3" name="组合 462">
            <a:extLst>
              <a:ext uri="{FF2B5EF4-FFF2-40B4-BE49-F238E27FC236}">
                <a16:creationId xmlns:a16="http://schemas.microsoft.com/office/drawing/2014/main" id="{EA6BFA0D-4D67-1F13-A1E6-948EF2554E4A}"/>
              </a:ext>
            </a:extLst>
          </p:cNvPr>
          <p:cNvGrpSpPr/>
          <p:nvPr/>
        </p:nvGrpSpPr>
        <p:grpSpPr>
          <a:xfrm>
            <a:off x="940375" y="767199"/>
            <a:ext cx="2892160" cy="1126565"/>
            <a:chOff x="7194238" y="765938"/>
            <a:chExt cx="2892160" cy="1126565"/>
          </a:xfrm>
        </p:grpSpPr>
        <p:sp>
          <p:nvSpPr>
            <p:cNvPr id="464" name="矩形: 圆角 1150">
              <a:extLst>
                <a:ext uri="{FF2B5EF4-FFF2-40B4-BE49-F238E27FC236}">
                  <a16:creationId xmlns:a16="http://schemas.microsoft.com/office/drawing/2014/main" id="{866A2A28-8FB4-E4AD-CD8E-F3D793F261CF}"/>
                </a:ext>
              </a:extLst>
            </p:cNvPr>
            <p:cNvSpPr/>
            <p:nvPr/>
          </p:nvSpPr>
          <p:spPr>
            <a:xfrm>
              <a:off x="7194238" y="897181"/>
              <a:ext cx="2892160" cy="857932"/>
            </a:xfrm>
            <a:prstGeom prst="roundRect">
              <a:avLst>
                <a:gd name="adj" fmla="val 4026"/>
              </a:avLst>
            </a:prstGeom>
            <a:gradFill flip="none" rotWithShape="1">
              <a:gsLst>
                <a:gs pos="100000">
                  <a:srgbClr val="FCE8EA"/>
                </a:gs>
                <a:gs pos="0">
                  <a:schemeClr val="bg1">
                    <a:shade val="100000"/>
                    <a:satMod val="115000"/>
                  </a:schemeClr>
                </a:gs>
              </a:gsLst>
              <a:lin ang="6000000" scaled="0"/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5" name="文本框 464">
              <a:extLst>
                <a:ext uri="{FF2B5EF4-FFF2-40B4-BE49-F238E27FC236}">
                  <a16:creationId xmlns:a16="http://schemas.microsoft.com/office/drawing/2014/main" id="{4BFAA788-E13C-FCA2-5048-A32E8A645CCA}"/>
                </a:ext>
              </a:extLst>
            </p:cNvPr>
            <p:cNvSpPr txBox="1"/>
            <p:nvPr/>
          </p:nvSpPr>
          <p:spPr>
            <a:xfrm>
              <a:off x="7753771" y="1291173"/>
              <a:ext cx="232496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辐射目标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“看不清”</a:t>
              </a:r>
            </a:p>
          </p:txBody>
        </p:sp>
        <p:sp>
          <p:nvSpPr>
            <p:cNvPr id="466" name="文本框 465">
              <a:extLst>
                <a:ext uri="{FF2B5EF4-FFF2-40B4-BE49-F238E27FC236}">
                  <a16:creationId xmlns:a16="http://schemas.microsoft.com/office/drawing/2014/main" id="{7D8DB21A-F680-105C-A5C4-5215ED10AAA3}"/>
                </a:ext>
              </a:extLst>
            </p:cNvPr>
            <p:cNvSpPr txBox="1"/>
            <p:nvPr/>
          </p:nvSpPr>
          <p:spPr>
            <a:xfrm>
              <a:off x="7938162" y="995529"/>
              <a:ext cx="181082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buClrTx/>
                <a:buSzTx/>
                <a:buFontTx/>
                <a:defRPr sz="16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微弱信号难感知</a:t>
              </a:r>
            </a:p>
          </p:txBody>
        </p:sp>
        <p:sp>
          <p:nvSpPr>
            <p:cNvPr id="467" name="矩形: 圆角 1197">
              <a:extLst>
                <a:ext uri="{FF2B5EF4-FFF2-40B4-BE49-F238E27FC236}">
                  <a16:creationId xmlns:a16="http://schemas.microsoft.com/office/drawing/2014/main" id="{FF767226-0881-0280-C191-DF289EC7E913}"/>
                </a:ext>
              </a:extLst>
            </p:cNvPr>
            <p:cNvSpPr/>
            <p:nvPr/>
          </p:nvSpPr>
          <p:spPr>
            <a:xfrm>
              <a:off x="7389311" y="765938"/>
              <a:ext cx="373025" cy="903833"/>
            </a:xfrm>
            <a:prstGeom prst="roundRect">
              <a:avLst>
                <a:gd name="adj" fmla="val 275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spc="-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海 杂 波 下</a:t>
              </a:r>
              <a:endParaRPr kumimoji="0" lang="zh-CN" altLang="en-US" sz="1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468" name="箭头: 燕尾形 1202">
              <a:extLst>
                <a:ext uri="{FF2B5EF4-FFF2-40B4-BE49-F238E27FC236}">
                  <a16:creationId xmlns:a16="http://schemas.microsoft.com/office/drawing/2014/main" id="{8432A34E-1226-7EEC-4F4A-FB46C0831DF2}"/>
                </a:ext>
              </a:extLst>
            </p:cNvPr>
            <p:cNvSpPr/>
            <p:nvPr/>
          </p:nvSpPr>
          <p:spPr>
            <a:xfrm rot="16200000" flipH="1">
              <a:off x="9703976" y="1546428"/>
              <a:ext cx="374650" cy="317500"/>
            </a:xfrm>
            <a:prstGeom prst="notchedRightArrow">
              <a:avLst/>
            </a:prstGeom>
            <a:gradFill>
              <a:gsLst>
                <a:gs pos="100000">
                  <a:srgbClr val="C00000"/>
                </a:gs>
                <a:gs pos="500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DBD3B94E-98CB-694B-6AA3-3A3FA739BBCC}"/>
              </a:ext>
            </a:extLst>
          </p:cNvPr>
          <p:cNvGrpSpPr/>
          <p:nvPr/>
        </p:nvGrpSpPr>
        <p:grpSpPr>
          <a:xfrm>
            <a:off x="545006" y="2747116"/>
            <a:ext cx="2284572" cy="3502721"/>
            <a:chOff x="545006" y="2747116"/>
            <a:chExt cx="2284572" cy="3502721"/>
          </a:xfrm>
        </p:grpSpPr>
        <p:sp>
          <p:nvSpPr>
            <p:cNvPr id="498" name="矩形: 圆角 8">
              <a:extLst>
                <a:ext uri="{FF2B5EF4-FFF2-40B4-BE49-F238E27FC236}">
                  <a16:creationId xmlns:a16="http://schemas.microsoft.com/office/drawing/2014/main" id="{44E58318-7654-6AA9-DE90-793905713B5C}"/>
                </a:ext>
              </a:extLst>
            </p:cNvPr>
            <p:cNvSpPr/>
            <p:nvPr/>
          </p:nvSpPr>
          <p:spPr>
            <a:xfrm flipH="1">
              <a:off x="560710" y="2894796"/>
              <a:ext cx="2268868" cy="3355041"/>
            </a:xfrm>
            <a:prstGeom prst="roundRect">
              <a:avLst>
                <a:gd name="adj" fmla="val 6238"/>
              </a:avLst>
            </a:prstGeom>
            <a:gradFill flip="none" rotWithShape="1">
              <a:gsLst>
                <a:gs pos="0">
                  <a:srgbClr val="EAF2FA"/>
                </a:gs>
                <a:gs pos="100000">
                  <a:srgbClr val="ECF3FA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499" name="文本框 498">
              <a:extLst>
                <a:ext uri="{FF2B5EF4-FFF2-40B4-BE49-F238E27FC236}">
                  <a16:creationId xmlns:a16="http://schemas.microsoft.com/office/drawing/2014/main" id="{7D5FCEEA-D301-2594-DE6E-F7FD0C46AEEA}"/>
                </a:ext>
              </a:extLst>
            </p:cNvPr>
            <p:cNvSpPr txBox="1"/>
            <p:nvPr/>
          </p:nvSpPr>
          <p:spPr>
            <a:xfrm>
              <a:off x="677356" y="3084678"/>
              <a:ext cx="2050716" cy="917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海杂波干扰下微弱电磁频谱信号传播规律分析与提取</a:t>
              </a:r>
            </a:p>
          </p:txBody>
        </p:sp>
        <p:sp>
          <p:nvSpPr>
            <p:cNvPr id="500" name="文本框 499">
              <a:extLst>
                <a:ext uri="{FF2B5EF4-FFF2-40B4-BE49-F238E27FC236}">
                  <a16:creationId xmlns:a16="http://schemas.microsoft.com/office/drawing/2014/main" id="{C3A464CF-9AB4-CF2E-CF3E-CA37B9D863B2}"/>
                </a:ext>
              </a:extLst>
            </p:cNvPr>
            <p:cNvSpPr txBox="1"/>
            <p:nvPr/>
          </p:nvSpPr>
          <p:spPr>
            <a:xfrm>
              <a:off x="545006" y="2747116"/>
              <a:ext cx="1107996" cy="276999"/>
            </a:xfrm>
            <a:custGeom>
              <a:avLst/>
              <a:gdLst>
                <a:gd name="connsiteX0" fmla="*/ 0 w 1261884"/>
                <a:gd name="connsiteY0" fmla="*/ 0 h 307777"/>
                <a:gd name="connsiteX1" fmla="*/ 1261884 w 1261884"/>
                <a:gd name="connsiteY1" fmla="*/ 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  <a:gd name="connsiteX0" fmla="*/ 0 w 1261884"/>
                <a:gd name="connsiteY0" fmla="*/ 0 h 307777"/>
                <a:gd name="connsiteX1" fmla="*/ 1096784 w 1261884"/>
                <a:gd name="connsiteY1" fmla="*/ 635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1884" h="307777">
                  <a:moveTo>
                    <a:pt x="0" y="0"/>
                  </a:moveTo>
                  <a:lnTo>
                    <a:pt x="1096784" y="6350"/>
                  </a:lnTo>
                  <a:lnTo>
                    <a:pt x="1261884" y="307777"/>
                  </a:lnTo>
                  <a:lnTo>
                    <a:pt x="0" y="307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4A1"/>
            </a:solidFill>
          </p:spPr>
          <p:txBody>
            <a:bodyPr wrap="none">
              <a:spAutoFit/>
            </a:bodyPr>
            <a:lstStyle/>
            <a:p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研究内容一：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2" name="文本框 501">
              <a:extLst>
                <a:ext uri="{FF2B5EF4-FFF2-40B4-BE49-F238E27FC236}">
                  <a16:creationId xmlns:a16="http://schemas.microsoft.com/office/drawing/2014/main" id="{1F5409DC-9C21-63B9-1C80-1420B8741008}"/>
                </a:ext>
              </a:extLst>
            </p:cNvPr>
            <p:cNvSpPr txBox="1"/>
            <p:nvPr/>
          </p:nvSpPr>
          <p:spPr>
            <a:xfrm>
              <a:off x="2042746" y="4423882"/>
              <a:ext cx="615463" cy="233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理解信道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EC85721-4DFF-1B72-1649-4F944034B180}"/>
                </a:ext>
              </a:extLst>
            </p:cNvPr>
            <p:cNvCxnSpPr/>
            <p:nvPr/>
          </p:nvCxnSpPr>
          <p:spPr>
            <a:xfrm rot="10800000" flipV="1">
              <a:off x="1869581" y="4896925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D7DAD4F-34A4-8F7D-05C4-903F9070DA0B}"/>
                </a:ext>
              </a:extLst>
            </p:cNvPr>
            <p:cNvCxnSpPr/>
            <p:nvPr/>
          </p:nvCxnSpPr>
          <p:spPr>
            <a:xfrm rot="10800000" flipH="1" flipV="1">
              <a:off x="1877830" y="4436232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4E4ADDC-7297-934B-6CA8-416A11161765}"/>
                </a:ext>
              </a:extLst>
            </p:cNvPr>
            <p:cNvCxnSpPr/>
            <p:nvPr/>
          </p:nvCxnSpPr>
          <p:spPr>
            <a:xfrm rot="16200000" flipH="1" flipV="1">
              <a:off x="1789234" y="4665150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4" name="文本框 503">
              <a:extLst>
                <a:ext uri="{FF2B5EF4-FFF2-40B4-BE49-F238E27FC236}">
                  <a16:creationId xmlns:a16="http://schemas.microsoft.com/office/drawing/2014/main" id="{C8EDF038-ACC1-F376-2088-4FBB3E16F1BE}"/>
                </a:ext>
              </a:extLst>
            </p:cNvPr>
            <p:cNvSpPr txBox="1"/>
            <p:nvPr/>
          </p:nvSpPr>
          <p:spPr>
            <a:xfrm>
              <a:off x="1989737" y="5197678"/>
              <a:ext cx="715764" cy="3760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抑制干扰</a:t>
              </a:r>
            </a:p>
          </p:txBody>
        </p:sp>
        <p:sp>
          <p:nvSpPr>
            <p:cNvPr id="511" name="圆角矩形 47">
              <a:extLst>
                <a:ext uri="{FF2B5EF4-FFF2-40B4-BE49-F238E27FC236}">
                  <a16:creationId xmlns:a16="http://schemas.microsoft.com/office/drawing/2014/main" id="{17EE5ED7-D233-6344-4509-31B0C2FDAD7C}"/>
                </a:ext>
              </a:extLst>
            </p:cNvPr>
            <p:cNvSpPr/>
            <p:nvPr/>
          </p:nvSpPr>
          <p:spPr>
            <a:xfrm>
              <a:off x="817416" y="4100485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30BEC44-E37C-9AFD-B05B-53AF4E4841D8}"/>
                </a:ext>
              </a:extLst>
            </p:cNvPr>
            <p:cNvSpPr txBox="1"/>
            <p:nvPr/>
          </p:nvSpPr>
          <p:spPr>
            <a:xfrm>
              <a:off x="823526" y="4111228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信号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传播规律</a:t>
              </a:r>
              <a:endPara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圆角矩形 47">
              <a:extLst>
                <a:ext uri="{FF2B5EF4-FFF2-40B4-BE49-F238E27FC236}">
                  <a16:creationId xmlns:a16="http://schemas.microsoft.com/office/drawing/2014/main" id="{615556BC-3FA1-8424-A692-05B4F8DB2756}"/>
                </a:ext>
              </a:extLst>
            </p:cNvPr>
            <p:cNvSpPr/>
            <p:nvPr/>
          </p:nvSpPr>
          <p:spPr>
            <a:xfrm>
              <a:off x="811305" y="4806739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8934D94F-E255-C8A7-9F90-2246DC134CAC}"/>
                </a:ext>
              </a:extLst>
            </p:cNvPr>
            <p:cNvSpPr txBox="1"/>
            <p:nvPr/>
          </p:nvSpPr>
          <p:spPr>
            <a:xfrm>
              <a:off x="817415" y="4817482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干扰对消</a:t>
              </a:r>
            </a:p>
            <a:p>
              <a:pPr algn="ctr"/>
              <a:endPara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圆角矩形 47">
              <a:extLst>
                <a:ext uri="{FF2B5EF4-FFF2-40B4-BE49-F238E27FC236}">
                  <a16:creationId xmlns:a16="http://schemas.microsoft.com/office/drawing/2014/main" id="{D3C72788-112E-D2CF-509C-2907991FD460}"/>
                </a:ext>
              </a:extLst>
            </p:cNvPr>
            <p:cNvSpPr/>
            <p:nvPr/>
          </p:nvSpPr>
          <p:spPr>
            <a:xfrm>
              <a:off x="811305" y="5525410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8E7CFAB7-9294-A387-55F9-88317C134854}"/>
                </a:ext>
              </a:extLst>
            </p:cNvPr>
            <p:cNvSpPr txBox="1"/>
            <p:nvPr/>
          </p:nvSpPr>
          <p:spPr>
            <a:xfrm>
              <a:off x="817415" y="5536153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表征提取</a:t>
              </a:r>
            </a:p>
            <a:p>
              <a:pPr algn="ctr"/>
              <a:endPara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2BDE65CB-CD1C-A6F6-C76B-12C6901496F7}"/>
                </a:ext>
              </a:extLst>
            </p:cNvPr>
            <p:cNvCxnSpPr/>
            <p:nvPr/>
          </p:nvCxnSpPr>
          <p:spPr>
            <a:xfrm rot="10800000" flipV="1">
              <a:off x="1869398" y="5674601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044693E0-96E9-AA41-2250-7FC4B1D57D93}"/>
                </a:ext>
              </a:extLst>
            </p:cNvPr>
            <p:cNvCxnSpPr/>
            <p:nvPr/>
          </p:nvCxnSpPr>
          <p:spPr>
            <a:xfrm rot="10800000" flipH="1" flipV="1">
              <a:off x="1877647" y="5213908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721633E0-5056-1B51-E0E8-F814E880A933}"/>
                </a:ext>
              </a:extLst>
            </p:cNvPr>
            <p:cNvCxnSpPr/>
            <p:nvPr/>
          </p:nvCxnSpPr>
          <p:spPr>
            <a:xfrm rot="16200000" flipH="1" flipV="1">
              <a:off x="1789051" y="5442826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F26B0CC-3CD6-AD82-4F94-5F34B7BC286C}"/>
              </a:ext>
            </a:extLst>
          </p:cNvPr>
          <p:cNvGrpSpPr/>
          <p:nvPr/>
        </p:nvGrpSpPr>
        <p:grpSpPr>
          <a:xfrm>
            <a:off x="2950520" y="2764520"/>
            <a:ext cx="2284572" cy="3502721"/>
            <a:chOff x="545006" y="2747116"/>
            <a:chExt cx="2284572" cy="3502721"/>
          </a:xfrm>
        </p:grpSpPr>
        <p:sp>
          <p:nvSpPr>
            <p:cNvPr id="208" name="矩形: 圆角 8">
              <a:extLst>
                <a:ext uri="{FF2B5EF4-FFF2-40B4-BE49-F238E27FC236}">
                  <a16:creationId xmlns:a16="http://schemas.microsoft.com/office/drawing/2014/main" id="{F2260423-DB4A-3B6D-DA2D-2B57052AAA93}"/>
                </a:ext>
              </a:extLst>
            </p:cNvPr>
            <p:cNvSpPr/>
            <p:nvPr/>
          </p:nvSpPr>
          <p:spPr>
            <a:xfrm flipH="1">
              <a:off x="560710" y="2894796"/>
              <a:ext cx="2268868" cy="3355041"/>
            </a:xfrm>
            <a:prstGeom prst="roundRect">
              <a:avLst>
                <a:gd name="adj" fmla="val 6238"/>
              </a:avLst>
            </a:prstGeom>
            <a:gradFill flip="none" rotWithShape="1">
              <a:gsLst>
                <a:gs pos="0">
                  <a:srgbClr val="EAF2FA"/>
                </a:gs>
                <a:gs pos="100000">
                  <a:srgbClr val="ECF3FA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8F521963-0DF4-0D7E-E6D1-FE8FFBEE7FD5}"/>
                </a:ext>
              </a:extLst>
            </p:cNvPr>
            <p:cNvSpPr txBox="1"/>
            <p:nvPr/>
          </p:nvSpPr>
          <p:spPr>
            <a:xfrm>
              <a:off x="677356" y="3084678"/>
              <a:ext cx="2050716" cy="1199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有限算力端侧频谱数据的轻量存储和可信管理方法</a:t>
              </a:r>
            </a:p>
            <a:p>
              <a:pPr algn="ctr">
                <a:lnSpc>
                  <a:spcPts val="22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C9C3C0D4-C5EE-8D68-C61B-05306A917256}"/>
                </a:ext>
              </a:extLst>
            </p:cNvPr>
            <p:cNvSpPr txBox="1"/>
            <p:nvPr/>
          </p:nvSpPr>
          <p:spPr>
            <a:xfrm>
              <a:off x="545006" y="2747116"/>
              <a:ext cx="1109599" cy="276999"/>
            </a:xfrm>
            <a:custGeom>
              <a:avLst/>
              <a:gdLst>
                <a:gd name="connsiteX0" fmla="*/ 0 w 1261884"/>
                <a:gd name="connsiteY0" fmla="*/ 0 h 307777"/>
                <a:gd name="connsiteX1" fmla="*/ 1261884 w 1261884"/>
                <a:gd name="connsiteY1" fmla="*/ 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  <a:gd name="connsiteX0" fmla="*/ 0 w 1261884"/>
                <a:gd name="connsiteY0" fmla="*/ 0 h 307777"/>
                <a:gd name="connsiteX1" fmla="*/ 1096784 w 1261884"/>
                <a:gd name="connsiteY1" fmla="*/ 635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1884" h="307777">
                  <a:moveTo>
                    <a:pt x="0" y="0"/>
                  </a:moveTo>
                  <a:lnTo>
                    <a:pt x="1096784" y="6350"/>
                  </a:lnTo>
                  <a:lnTo>
                    <a:pt x="1261884" y="307777"/>
                  </a:lnTo>
                  <a:lnTo>
                    <a:pt x="0" y="307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4A1"/>
            </a:solidFill>
          </p:spPr>
          <p:txBody>
            <a:bodyPr wrap="none">
              <a:spAutoFit/>
            </a:bodyPr>
            <a:lstStyle/>
            <a:p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研究内容二：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B6527AFE-642A-0EC9-009A-E37139FEAE6B}"/>
                </a:ext>
              </a:extLst>
            </p:cNvPr>
            <p:cNvSpPr txBox="1"/>
            <p:nvPr/>
          </p:nvSpPr>
          <p:spPr>
            <a:xfrm>
              <a:off x="2042746" y="4423882"/>
              <a:ext cx="615463" cy="233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价值筛选</a:t>
              </a:r>
            </a:p>
          </p:txBody>
        </p: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AB378DFF-A7FE-B124-87BB-6DBC9B891E88}"/>
                </a:ext>
              </a:extLst>
            </p:cNvPr>
            <p:cNvCxnSpPr/>
            <p:nvPr/>
          </p:nvCxnSpPr>
          <p:spPr>
            <a:xfrm rot="10800000" flipV="1">
              <a:off x="1869581" y="4896925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14DF1149-80E2-433A-7278-AE8F180C64F4}"/>
                </a:ext>
              </a:extLst>
            </p:cNvPr>
            <p:cNvCxnSpPr/>
            <p:nvPr/>
          </p:nvCxnSpPr>
          <p:spPr>
            <a:xfrm rot="10800000" flipH="1" flipV="1">
              <a:off x="1877830" y="4436232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B47C715B-0FD5-B51C-ADBC-A83B75559836}"/>
                </a:ext>
              </a:extLst>
            </p:cNvPr>
            <p:cNvCxnSpPr/>
            <p:nvPr/>
          </p:nvCxnSpPr>
          <p:spPr>
            <a:xfrm rot="16200000" flipH="1" flipV="1">
              <a:off x="1789234" y="4665150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D1AFA343-A941-B36A-7FAB-F65BDA096319}"/>
                </a:ext>
              </a:extLst>
            </p:cNvPr>
            <p:cNvSpPr txBox="1"/>
            <p:nvPr/>
          </p:nvSpPr>
          <p:spPr>
            <a:xfrm>
              <a:off x="1989737" y="5197678"/>
              <a:ext cx="715764" cy="3760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轻量存储</a:t>
              </a:r>
            </a:p>
          </p:txBody>
        </p:sp>
        <p:sp>
          <p:nvSpPr>
            <p:cNvPr id="216" name="圆角矩形 47">
              <a:extLst>
                <a:ext uri="{FF2B5EF4-FFF2-40B4-BE49-F238E27FC236}">
                  <a16:creationId xmlns:a16="http://schemas.microsoft.com/office/drawing/2014/main" id="{99DDA2DC-5DAB-42FA-B2A9-2D17D4EF3374}"/>
                </a:ext>
              </a:extLst>
            </p:cNvPr>
            <p:cNvSpPr/>
            <p:nvPr/>
          </p:nvSpPr>
          <p:spPr>
            <a:xfrm>
              <a:off x="817416" y="4100485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A3419811-B6DE-25A0-57EB-6143ACA0176F}"/>
                </a:ext>
              </a:extLst>
            </p:cNvPr>
            <p:cNvSpPr txBox="1"/>
            <p:nvPr/>
          </p:nvSpPr>
          <p:spPr>
            <a:xfrm>
              <a:off x="823526" y="4111228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频谱数据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价值评估</a:t>
              </a:r>
              <a:endPara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圆角矩形 47">
              <a:extLst>
                <a:ext uri="{FF2B5EF4-FFF2-40B4-BE49-F238E27FC236}">
                  <a16:creationId xmlns:a16="http://schemas.microsoft.com/office/drawing/2014/main" id="{961A9A16-5AD9-B153-DC06-847D5076D7A1}"/>
                </a:ext>
              </a:extLst>
            </p:cNvPr>
            <p:cNvSpPr/>
            <p:nvPr/>
          </p:nvSpPr>
          <p:spPr>
            <a:xfrm>
              <a:off x="811305" y="4806739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35174941-E3D3-90CE-1FE8-FF585DF346D9}"/>
                </a:ext>
              </a:extLst>
            </p:cNvPr>
            <p:cNvSpPr txBox="1"/>
            <p:nvPr/>
          </p:nvSpPr>
          <p:spPr>
            <a:xfrm>
              <a:off x="817415" y="4817482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向量库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存储压缩</a:t>
              </a:r>
            </a:p>
          </p:txBody>
        </p:sp>
        <p:sp>
          <p:nvSpPr>
            <p:cNvPr id="221" name="圆角矩形 47">
              <a:extLst>
                <a:ext uri="{FF2B5EF4-FFF2-40B4-BE49-F238E27FC236}">
                  <a16:creationId xmlns:a16="http://schemas.microsoft.com/office/drawing/2014/main" id="{42309F78-F399-3F2D-07CA-3433314A1275}"/>
                </a:ext>
              </a:extLst>
            </p:cNvPr>
            <p:cNvSpPr/>
            <p:nvPr/>
          </p:nvSpPr>
          <p:spPr>
            <a:xfrm>
              <a:off x="811305" y="5525410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3CE1F9F6-9D8F-C3C9-D18A-9D5CBE228507}"/>
                </a:ext>
              </a:extLst>
            </p:cNvPr>
            <p:cNvSpPr txBox="1"/>
            <p:nvPr/>
          </p:nvSpPr>
          <p:spPr>
            <a:xfrm>
              <a:off x="817415" y="5536153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频谱数据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可信管理</a:t>
              </a: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A173B7F3-5085-DCBC-2974-7F08F7CB88DF}"/>
                </a:ext>
              </a:extLst>
            </p:cNvPr>
            <p:cNvCxnSpPr/>
            <p:nvPr/>
          </p:nvCxnSpPr>
          <p:spPr>
            <a:xfrm rot="10800000" flipV="1">
              <a:off x="1869398" y="5674601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B295C011-3434-6CCF-5D28-3825DE3778B4}"/>
                </a:ext>
              </a:extLst>
            </p:cNvPr>
            <p:cNvCxnSpPr/>
            <p:nvPr/>
          </p:nvCxnSpPr>
          <p:spPr>
            <a:xfrm rot="10800000" flipH="1" flipV="1">
              <a:off x="1877647" y="5213908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CBC8ADAA-D86F-006E-62AD-15FB9359BFC4}"/>
                </a:ext>
              </a:extLst>
            </p:cNvPr>
            <p:cNvCxnSpPr/>
            <p:nvPr/>
          </p:nvCxnSpPr>
          <p:spPr>
            <a:xfrm rot="16200000" flipH="1" flipV="1">
              <a:off x="1789051" y="5442826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D7A68E39-3175-6F06-10B3-DF608B152B58}"/>
              </a:ext>
            </a:extLst>
          </p:cNvPr>
          <p:cNvGrpSpPr/>
          <p:nvPr/>
        </p:nvGrpSpPr>
        <p:grpSpPr>
          <a:xfrm>
            <a:off x="5335992" y="2738245"/>
            <a:ext cx="2284572" cy="3502721"/>
            <a:chOff x="545006" y="2747116"/>
            <a:chExt cx="2284572" cy="3502721"/>
          </a:xfrm>
        </p:grpSpPr>
        <p:sp>
          <p:nvSpPr>
            <p:cNvPr id="228" name="矩形: 圆角 8">
              <a:extLst>
                <a:ext uri="{FF2B5EF4-FFF2-40B4-BE49-F238E27FC236}">
                  <a16:creationId xmlns:a16="http://schemas.microsoft.com/office/drawing/2014/main" id="{4C4EA6F3-714F-A985-D2A1-56FEAA0D8B78}"/>
                </a:ext>
              </a:extLst>
            </p:cNvPr>
            <p:cNvSpPr/>
            <p:nvPr/>
          </p:nvSpPr>
          <p:spPr>
            <a:xfrm flipH="1">
              <a:off x="560710" y="2894796"/>
              <a:ext cx="2268868" cy="3355041"/>
            </a:xfrm>
            <a:prstGeom prst="roundRect">
              <a:avLst>
                <a:gd name="adj" fmla="val 6238"/>
              </a:avLst>
            </a:prstGeom>
            <a:gradFill flip="none" rotWithShape="1">
              <a:gsLst>
                <a:gs pos="0">
                  <a:srgbClr val="EAF2FA"/>
                </a:gs>
                <a:gs pos="100000">
                  <a:srgbClr val="ECF3FA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C10BE537-4D0B-2876-60C8-FAD2065AD038}"/>
                </a:ext>
              </a:extLst>
            </p:cNvPr>
            <p:cNvSpPr txBox="1"/>
            <p:nvPr/>
          </p:nvSpPr>
          <p:spPr>
            <a:xfrm>
              <a:off x="677356" y="3084678"/>
              <a:ext cx="2050716" cy="1481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基于频谱知识图谱的轻量化目标识别与可信协同决策</a:t>
              </a:r>
            </a:p>
            <a:p>
              <a:pPr algn="ctr">
                <a:lnSpc>
                  <a:spcPts val="22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22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D4CD765B-50A0-315F-A440-56AB229F4F6F}"/>
                </a:ext>
              </a:extLst>
            </p:cNvPr>
            <p:cNvSpPr txBox="1"/>
            <p:nvPr/>
          </p:nvSpPr>
          <p:spPr>
            <a:xfrm>
              <a:off x="545006" y="2747116"/>
              <a:ext cx="1107996" cy="276999"/>
            </a:xfrm>
            <a:custGeom>
              <a:avLst/>
              <a:gdLst>
                <a:gd name="connsiteX0" fmla="*/ 0 w 1261884"/>
                <a:gd name="connsiteY0" fmla="*/ 0 h 307777"/>
                <a:gd name="connsiteX1" fmla="*/ 1261884 w 1261884"/>
                <a:gd name="connsiteY1" fmla="*/ 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  <a:gd name="connsiteX0" fmla="*/ 0 w 1261884"/>
                <a:gd name="connsiteY0" fmla="*/ 0 h 307777"/>
                <a:gd name="connsiteX1" fmla="*/ 1096784 w 1261884"/>
                <a:gd name="connsiteY1" fmla="*/ 6350 h 307777"/>
                <a:gd name="connsiteX2" fmla="*/ 1261884 w 1261884"/>
                <a:gd name="connsiteY2" fmla="*/ 307777 h 307777"/>
                <a:gd name="connsiteX3" fmla="*/ 0 w 1261884"/>
                <a:gd name="connsiteY3" fmla="*/ 307777 h 307777"/>
                <a:gd name="connsiteX4" fmla="*/ 0 w 1261884"/>
                <a:gd name="connsiteY4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1884" h="307777">
                  <a:moveTo>
                    <a:pt x="0" y="0"/>
                  </a:moveTo>
                  <a:lnTo>
                    <a:pt x="1096784" y="6350"/>
                  </a:lnTo>
                  <a:lnTo>
                    <a:pt x="1261884" y="307777"/>
                  </a:lnTo>
                  <a:lnTo>
                    <a:pt x="0" y="307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4A1"/>
            </a:solidFill>
          </p:spPr>
          <p:txBody>
            <a:bodyPr wrap="none">
              <a:spAutoFit/>
            </a:bodyPr>
            <a:lstStyle/>
            <a:p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研究内容三：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32BBFE06-EFA1-2269-1F22-6DB019B79E35}"/>
                </a:ext>
              </a:extLst>
            </p:cNvPr>
            <p:cNvSpPr txBox="1"/>
            <p:nvPr/>
          </p:nvSpPr>
          <p:spPr>
            <a:xfrm>
              <a:off x="2042746" y="4423882"/>
              <a:ext cx="615463" cy="233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知识积累</a:t>
              </a:r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FD69C187-E436-770F-6745-21005BE3FFB5}"/>
                </a:ext>
              </a:extLst>
            </p:cNvPr>
            <p:cNvCxnSpPr/>
            <p:nvPr/>
          </p:nvCxnSpPr>
          <p:spPr>
            <a:xfrm rot="10800000" flipV="1">
              <a:off x="1869581" y="4896925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FCB1285B-D5F3-BEAE-28AF-B0AD6FE46F8D}"/>
                </a:ext>
              </a:extLst>
            </p:cNvPr>
            <p:cNvCxnSpPr/>
            <p:nvPr/>
          </p:nvCxnSpPr>
          <p:spPr>
            <a:xfrm rot="10800000" flipH="1" flipV="1">
              <a:off x="1877830" y="4436232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C848E0E6-12E2-1FD8-0E41-D86E47C87072}"/>
                </a:ext>
              </a:extLst>
            </p:cNvPr>
            <p:cNvCxnSpPr/>
            <p:nvPr/>
          </p:nvCxnSpPr>
          <p:spPr>
            <a:xfrm rot="16200000" flipH="1" flipV="1">
              <a:off x="1789234" y="4665150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D9D2E392-1F2A-45E0-838E-A52C2494F0CC}"/>
                </a:ext>
              </a:extLst>
            </p:cNvPr>
            <p:cNvSpPr txBox="1"/>
            <p:nvPr/>
          </p:nvSpPr>
          <p:spPr>
            <a:xfrm>
              <a:off x="1989737" y="5197678"/>
              <a:ext cx="715764" cy="3760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智能认知</a:t>
              </a:r>
            </a:p>
          </p:txBody>
        </p:sp>
        <p:sp>
          <p:nvSpPr>
            <p:cNvPr id="236" name="圆角矩形 47">
              <a:extLst>
                <a:ext uri="{FF2B5EF4-FFF2-40B4-BE49-F238E27FC236}">
                  <a16:creationId xmlns:a16="http://schemas.microsoft.com/office/drawing/2014/main" id="{79E86644-4310-5BCE-0D21-D0BA6831A9A4}"/>
                </a:ext>
              </a:extLst>
            </p:cNvPr>
            <p:cNvSpPr/>
            <p:nvPr/>
          </p:nvSpPr>
          <p:spPr>
            <a:xfrm>
              <a:off x="817416" y="4100485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5CFFF731-FF0D-18C1-7A9F-4ECEF5C8125C}"/>
                </a:ext>
              </a:extLst>
            </p:cNvPr>
            <p:cNvSpPr txBox="1"/>
            <p:nvPr/>
          </p:nvSpPr>
          <p:spPr>
            <a:xfrm>
              <a:off x="823526" y="4111228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频谱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知识图谱</a:t>
              </a:r>
              <a:endPara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圆角矩形 47">
              <a:extLst>
                <a:ext uri="{FF2B5EF4-FFF2-40B4-BE49-F238E27FC236}">
                  <a16:creationId xmlns:a16="http://schemas.microsoft.com/office/drawing/2014/main" id="{492B196A-C5C8-36DD-BA55-D5F8D2DFB24A}"/>
                </a:ext>
              </a:extLst>
            </p:cNvPr>
            <p:cNvSpPr/>
            <p:nvPr/>
          </p:nvSpPr>
          <p:spPr>
            <a:xfrm>
              <a:off x="811305" y="4806739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10C05396-2992-AD59-8AC2-AF40E206DE22}"/>
                </a:ext>
              </a:extLst>
            </p:cNvPr>
            <p:cNvSpPr txBox="1"/>
            <p:nvPr/>
          </p:nvSpPr>
          <p:spPr>
            <a:xfrm>
              <a:off x="817415" y="4817482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轨迹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智能识别</a:t>
              </a:r>
            </a:p>
          </p:txBody>
        </p:sp>
        <p:sp>
          <p:nvSpPr>
            <p:cNvPr id="240" name="圆角矩形 47">
              <a:extLst>
                <a:ext uri="{FF2B5EF4-FFF2-40B4-BE49-F238E27FC236}">
                  <a16:creationId xmlns:a16="http://schemas.microsoft.com/office/drawing/2014/main" id="{98446DC7-24C1-C2C1-2D0B-5172437C7AF2}"/>
                </a:ext>
              </a:extLst>
            </p:cNvPr>
            <p:cNvSpPr/>
            <p:nvPr/>
          </p:nvSpPr>
          <p:spPr>
            <a:xfrm>
              <a:off x="811305" y="5525410"/>
              <a:ext cx="1064954" cy="554536"/>
            </a:xfrm>
            <a:prstGeom prst="roundRect">
              <a:avLst>
                <a:gd name="adj" fmla="val 9830"/>
              </a:avLst>
            </a:prstGeom>
            <a:solidFill>
              <a:srgbClr val="DEEBF7"/>
            </a:solidFill>
            <a:ln w="19050" cmpd="sng">
              <a:solidFill>
                <a:srgbClr val="2E54A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D9811C6-1826-B78E-B247-3994C89D90A8}"/>
                </a:ext>
              </a:extLst>
            </p:cNvPr>
            <p:cNvSpPr txBox="1"/>
            <p:nvPr/>
          </p:nvSpPr>
          <p:spPr>
            <a:xfrm>
              <a:off x="817415" y="5536153"/>
              <a:ext cx="1052733" cy="4289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轻量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可信协同</a:t>
              </a:r>
            </a:p>
          </p:txBody>
        </p: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1891D533-CBB5-0B12-9435-35F2520949F1}"/>
                </a:ext>
              </a:extLst>
            </p:cNvPr>
            <p:cNvCxnSpPr/>
            <p:nvPr/>
          </p:nvCxnSpPr>
          <p:spPr>
            <a:xfrm rot="10800000" flipV="1">
              <a:off x="1869398" y="5674601"/>
              <a:ext cx="157644" cy="317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907479B2-5E1D-1220-0512-0022D1504BCD}"/>
                </a:ext>
              </a:extLst>
            </p:cNvPr>
            <p:cNvCxnSpPr/>
            <p:nvPr/>
          </p:nvCxnSpPr>
          <p:spPr>
            <a:xfrm rot="10800000" flipH="1" flipV="1">
              <a:off x="1877647" y="5213908"/>
              <a:ext cx="14957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AFE8169E-40D4-406D-F15A-7277420405B1}"/>
                </a:ext>
              </a:extLst>
            </p:cNvPr>
            <p:cNvCxnSpPr/>
            <p:nvPr/>
          </p:nvCxnSpPr>
          <p:spPr>
            <a:xfrm rot="16200000" flipH="1" flipV="1">
              <a:off x="1789051" y="5442826"/>
              <a:ext cx="475615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48" name="矩形: 圆角 8">
            <a:extLst>
              <a:ext uri="{FF2B5EF4-FFF2-40B4-BE49-F238E27FC236}">
                <a16:creationId xmlns:a16="http://schemas.microsoft.com/office/drawing/2014/main" id="{4239EBDC-01D7-5E2C-57FD-6E1245B2B2AD}"/>
              </a:ext>
            </a:extLst>
          </p:cNvPr>
          <p:cNvSpPr/>
          <p:nvPr/>
        </p:nvSpPr>
        <p:spPr>
          <a:xfrm flipH="1">
            <a:off x="7761232" y="2877604"/>
            <a:ext cx="2268868" cy="3355041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DD0BBAC-048E-FB45-293F-75A524BA6B59}"/>
              </a:ext>
            </a:extLst>
          </p:cNvPr>
          <p:cNvSpPr txBox="1"/>
          <p:nvPr/>
        </p:nvSpPr>
        <p:spPr>
          <a:xfrm>
            <a:off x="7784263" y="3060258"/>
            <a:ext cx="2222806" cy="1199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海杂波场景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电磁频谱数据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智能处理原型系统验证</a:t>
            </a:r>
          </a:p>
          <a:p>
            <a:pPr algn="ctr">
              <a:lnSpc>
                <a:spcPts val="22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C2A840D9-C165-DC98-7869-0EC58E5ACB30}"/>
              </a:ext>
            </a:extLst>
          </p:cNvPr>
          <p:cNvSpPr txBox="1"/>
          <p:nvPr/>
        </p:nvSpPr>
        <p:spPr>
          <a:xfrm>
            <a:off x="7745528" y="2729924"/>
            <a:ext cx="1107996" cy="276999"/>
          </a:xfrm>
          <a:custGeom>
            <a:avLst/>
            <a:gdLst>
              <a:gd name="connsiteX0" fmla="*/ 0 w 1261884"/>
              <a:gd name="connsiteY0" fmla="*/ 0 h 307777"/>
              <a:gd name="connsiteX1" fmla="*/ 1261884 w 1261884"/>
              <a:gd name="connsiteY1" fmla="*/ 0 h 307777"/>
              <a:gd name="connsiteX2" fmla="*/ 1261884 w 1261884"/>
              <a:gd name="connsiteY2" fmla="*/ 307777 h 307777"/>
              <a:gd name="connsiteX3" fmla="*/ 0 w 1261884"/>
              <a:gd name="connsiteY3" fmla="*/ 307777 h 307777"/>
              <a:gd name="connsiteX4" fmla="*/ 0 w 1261884"/>
              <a:gd name="connsiteY4" fmla="*/ 0 h 307777"/>
              <a:gd name="connsiteX0" fmla="*/ 0 w 1261884"/>
              <a:gd name="connsiteY0" fmla="*/ 0 h 307777"/>
              <a:gd name="connsiteX1" fmla="*/ 1096784 w 1261884"/>
              <a:gd name="connsiteY1" fmla="*/ 6350 h 307777"/>
              <a:gd name="connsiteX2" fmla="*/ 1261884 w 1261884"/>
              <a:gd name="connsiteY2" fmla="*/ 307777 h 307777"/>
              <a:gd name="connsiteX3" fmla="*/ 0 w 1261884"/>
              <a:gd name="connsiteY3" fmla="*/ 307777 h 307777"/>
              <a:gd name="connsiteX4" fmla="*/ 0 w 1261884"/>
              <a:gd name="connsiteY4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1884" h="307777">
                <a:moveTo>
                  <a:pt x="0" y="0"/>
                </a:moveTo>
                <a:lnTo>
                  <a:pt x="1096784" y="6350"/>
                </a:lnTo>
                <a:lnTo>
                  <a:pt x="1261884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2E54A1"/>
          </a:solidFill>
        </p:spPr>
        <p:txBody>
          <a:bodyPr wrap="none">
            <a:spAutoFit/>
          </a:bodyPr>
          <a:lstStyle/>
          <a:p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研究内容四：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73" name="文本框 472">
            <a:extLst>
              <a:ext uri="{FF2B5EF4-FFF2-40B4-BE49-F238E27FC236}">
                <a16:creationId xmlns:a16="http://schemas.microsoft.com/office/drawing/2014/main" id="{5914BE67-4162-F064-5B23-5F10C6C4EE03}"/>
              </a:ext>
            </a:extLst>
          </p:cNvPr>
          <p:cNvSpPr txBox="1"/>
          <p:nvPr/>
        </p:nvSpPr>
        <p:spPr>
          <a:xfrm>
            <a:off x="7760423" y="4163725"/>
            <a:ext cx="960072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原型运行验证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4E61B898-D60F-F6CB-47DC-D7BA778CE2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" t="8927" r="1412" b="15489"/>
          <a:stretch/>
        </p:blipFill>
        <p:spPr>
          <a:xfrm>
            <a:off x="8691928" y="4067216"/>
            <a:ext cx="1115638" cy="578062"/>
          </a:xfrm>
          <a:custGeom>
            <a:avLst/>
            <a:gdLst>
              <a:gd name="csX0" fmla="*/ 95359 w 1384120"/>
              <a:gd name="csY0" fmla="*/ 0 h 948834"/>
              <a:gd name="csX1" fmla="*/ 1288761 w 1384120"/>
              <a:gd name="csY1" fmla="*/ 0 h 948834"/>
              <a:gd name="csX2" fmla="*/ 1337096 w 1384120"/>
              <a:gd name="csY2" fmla="*/ 32589 h 948834"/>
              <a:gd name="csX3" fmla="*/ 1384120 w 1384120"/>
              <a:gd name="csY3" fmla="*/ 146113 h 948834"/>
              <a:gd name="csX4" fmla="*/ 1384120 w 1384120"/>
              <a:gd name="csY4" fmla="*/ 788286 h 948834"/>
              <a:gd name="csX5" fmla="*/ 1223572 w 1384120"/>
              <a:gd name="csY5" fmla="*/ 948834 h 948834"/>
              <a:gd name="csX6" fmla="*/ 160548 w 1384120"/>
              <a:gd name="csY6" fmla="*/ 948834 h 948834"/>
              <a:gd name="csX7" fmla="*/ 0 w 1384120"/>
              <a:gd name="csY7" fmla="*/ 788286 h 948834"/>
              <a:gd name="csX8" fmla="*/ 0 w 1384120"/>
              <a:gd name="csY8" fmla="*/ 146113 h 948834"/>
              <a:gd name="csX9" fmla="*/ 47024 w 1384120"/>
              <a:gd name="csY9" fmla="*/ 32589 h 948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84120" h="948834">
                <a:moveTo>
                  <a:pt x="95359" y="0"/>
                </a:moveTo>
                <a:lnTo>
                  <a:pt x="1288761" y="0"/>
                </a:lnTo>
                <a:lnTo>
                  <a:pt x="1337096" y="32589"/>
                </a:lnTo>
                <a:cubicBezTo>
                  <a:pt x="1366150" y="61642"/>
                  <a:pt x="1384120" y="101779"/>
                  <a:pt x="1384120" y="146113"/>
                </a:cubicBezTo>
                <a:lnTo>
                  <a:pt x="1384120" y="788286"/>
                </a:lnTo>
                <a:cubicBezTo>
                  <a:pt x="1384120" y="876954"/>
                  <a:pt x="1312240" y="948834"/>
                  <a:pt x="1223572" y="948834"/>
                </a:cubicBezTo>
                <a:lnTo>
                  <a:pt x="160548" y="948834"/>
                </a:lnTo>
                <a:cubicBezTo>
                  <a:pt x="71880" y="948834"/>
                  <a:pt x="0" y="876954"/>
                  <a:pt x="0" y="788286"/>
                </a:cubicBezTo>
                <a:lnTo>
                  <a:pt x="0" y="146113"/>
                </a:lnTo>
                <a:cubicBezTo>
                  <a:pt x="0" y="101779"/>
                  <a:pt x="17970" y="61642"/>
                  <a:pt x="47024" y="32589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  <p:pic>
        <p:nvPicPr>
          <p:cNvPr id="9" name="图片 8" descr="User uploaded image 1">
            <a:extLst>
              <a:ext uri="{FF2B5EF4-FFF2-40B4-BE49-F238E27FC236}">
                <a16:creationId xmlns:a16="http://schemas.microsoft.com/office/drawing/2014/main" id="{89048574-3403-5AC5-6D04-B0AEC4B779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" t="5881" r="4231" b="13433"/>
          <a:stretch>
            <a:fillRect/>
          </a:stretch>
        </p:blipFill>
        <p:spPr>
          <a:xfrm>
            <a:off x="8691928" y="4736208"/>
            <a:ext cx="1111177" cy="697306"/>
          </a:xfrm>
          <a:custGeom>
            <a:avLst/>
            <a:gdLst>
              <a:gd name="csX0" fmla="*/ 155013 w 1378585"/>
              <a:gd name="csY0" fmla="*/ 0 h 963269"/>
              <a:gd name="csX1" fmla="*/ 1218037 w 1378585"/>
              <a:gd name="csY1" fmla="*/ 0 h 963269"/>
              <a:gd name="csX2" fmla="*/ 1378585 w 1378585"/>
              <a:gd name="csY2" fmla="*/ 160548 h 963269"/>
              <a:gd name="csX3" fmla="*/ 1378585 w 1378585"/>
              <a:gd name="csY3" fmla="*/ 802721 h 963269"/>
              <a:gd name="csX4" fmla="*/ 1218037 w 1378585"/>
              <a:gd name="csY4" fmla="*/ 963269 h 963269"/>
              <a:gd name="csX5" fmla="*/ 155013 w 1378585"/>
              <a:gd name="csY5" fmla="*/ 963269 h 963269"/>
              <a:gd name="csX6" fmla="*/ 7082 w 1378585"/>
              <a:gd name="csY6" fmla="*/ 865214 h 963269"/>
              <a:gd name="csX7" fmla="*/ 0 w 1378585"/>
              <a:gd name="csY7" fmla="*/ 830137 h 963269"/>
              <a:gd name="csX8" fmla="*/ 0 w 1378585"/>
              <a:gd name="csY8" fmla="*/ 133132 h 963269"/>
              <a:gd name="csX9" fmla="*/ 7082 w 1378585"/>
              <a:gd name="csY9" fmla="*/ 98056 h 963269"/>
              <a:gd name="csX10" fmla="*/ 155013 w 1378585"/>
              <a:gd name="csY10" fmla="*/ 0 h 9632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78585" h="963269">
                <a:moveTo>
                  <a:pt x="155013" y="0"/>
                </a:moveTo>
                <a:lnTo>
                  <a:pt x="1218037" y="0"/>
                </a:lnTo>
                <a:cubicBezTo>
                  <a:pt x="1306705" y="0"/>
                  <a:pt x="1378585" y="71880"/>
                  <a:pt x="1378585" y="160548"/>
                </a:cubicBezTo>
                <a:lnTo>
                  <a:pt x="1378585" y="802721"/>
                </a:lnTo>
                <a:cubicBezTo>
                  <a:pt x="1378585" y="891389"/>
                  <a:pt x="1306705" y="963269"/>
                  <a:pt x="1218037" y="963269"/>
                </a:cubicBezTo>
                <a:lnTo>
                  <a:pt x="155013" y="963269"/>
                </a:lnTo>
                <a:cubicBezTo>
                  <a:pt x="88512" y="963269"/>
                  <a:pt x="31454" y="922837"/>
                  <a:pt x="7082" y="865214"/>
                </a:cubicBezTo>
                <a:lnTo>
                  <a:pt x="0" y="830137"/>
                </a:lnTo>
                <a:lnTo>
                  <a:pt x="0" y="133132"/>
                </a:lnTo>
                <a:lnTo>
                  <a:pt x="7082" y="98056"/>
                </a:lnTo>
                <a:cubicBezTo>
                  <a:pt x="31454" y="40433"/>
                  <a:pt x="88512" y="0"/>
                  <a:pt x="155013" y="0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DD7505F0-AB30-AEBF-62EE-53C316D990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t="12560" b="14695"/>
          <a:stretch/>
        </p:blipFill>
        <p:spPr>
          <a:xfrm>
            <a:off x="8688787" y="5581194"/>
            <a:ext cx="1114318" cy="540633"/>
          </a:xfrm>
          <a:custGeom>
            <a:avLst/>
            <a:gdLst>
              <a:gd name="csX0" fmla="*/ 86193 w 1382482"/>
              <a:gd name="csY0" fmla="*/ 0 h 922037"/>
              <a:gd name="csX1" fmla="*/ 1297928 w 1382482"/>
              <a:gd name="csY1" fmla="*/ 0 h 922037"/>
              <a:gd name="csX2" fmla="*/ 1337096 w 1382482"/>
              <a:gd name="csY2" fmla="*/ 26409 h 922037"/>
              <a:gd name="csX3" fmla="*/ 1371503 w 1382482"/>
              <a:gd name="csY3" fmla="*/ 77441 h 922037"/>
              <a:gd name="csX4" fmla="*/ 1382482 w 1382482"/>
              <a:gd name="csY4" fmla="*/ 131820 h 922037"/>
              <a:gd name="csX5" fmla="*/ 1382482 w 1382482"/>
              <a:gd name="csY5" fmla="*/ 790219 h 922037"/>
              <a:gd name="csX6" fmla="*/ 1371503 w 1382482"/>
              <a:gd name="csY6" fmla="*/ 844599 h 922037"/>
              <a:gd name="csX7" fmla="*/ 1337096 w 1382482"/>
              <a:gd name="csY7" fmla="*/ 895631 h 922037"/>
              <a:gd name="csX8" fmla="*/ 1297930 w 1382482"/>
              <a:gd name="csY8" fmla="*/ 922037 h 922037"/>
              <a:gd name="csX9" fmla="*/ 86190 w 1382482"/>
              <a:gd name="csY9" fmla="*/ 922037 h 922037"/>
              <a:gd name="csX10" fmla="*/ 47024 w 1382482"/>
              <a:gd name="csY10" fmla="*/ 895631 h 922037"/>
              <a:gd name="csX11" fmla="*/ 0 w 1382482"/>
              <a:gd name="csY11" fmla="*/ 782106 h 922037"/>
              <a:gd name="csX12" fmla="*/ 0 w 1382482"/>
              <a:gd name="csY12" fmla="*/ 139933 h 922037"/>
              <a:gd name="csX13" fmla="*/ 47024 w 1382482"/>
              <a:gd name="csY13" fmla="*/ 26409 h 922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82482" h="922037">
                <a:moveTo>
                  <a:pt x="86193" y="0"/>
                </a:moveTo>
                <a:lnTo>
                  <a:pt x="1297928" y="0"/>
                </a:lnTo>
                <a:lnTo>
                  <a:pt x="1337096" y="26409"/>
                </a:lnTo>
                <a:cubicBezTo>
                  <a:pt x="1351623" y="40936"/>
                  <a:pt x="1363379" y="58233"/>
                  <a:pt x="1371503" y="77441"/>
                </a:cubicBezTo>
                <a:lnTo>
                  <a:pt x="1382482" y="131820"/>
                </a:lnTo>
                <a:lnTo>
                  <a:pt x="1382482" y="790219"/>
                </a:lnTo>
                <a:lnTo>
                  <a:pt x="1371503" y="844599"/>
                </a:lnTo>
                <a:cubicBezTo>
                  <a:pt x="1363379" y="863806"/>
                  <a:pt x="1351623" y="881104"/>
                  <a:pt x="1337096" y="895631"/>
                </a:cubicBezTo>
                <a:lnTo>
                  <a:pt x="1297930" y="922037"/>
                </a:lnTo>
                <a:lnTo>
                  <a:pt x="86190" y="922037"/>
                </a:lnTo>
                <a:lnTo>
                  <a:pt x="47024" y="895631"/>
                </a:lnTo>
                <a:cubicBezTo>
                  <a:pt x="17970" y="866577"/>
                  <a:pt x="0" y="826440"/>
                  <a:pt x="0" y="782106"/>
                </a:cubicBezTo>
                <a:lnTo>
                  <a:pt x="0" y="139933"/>
                </a:lnTo>
                <a:cubicBezTo>
                  <a:pt x="0" y="95599"/>
                  <a:pt x="17970" y="55462"/>
                  <a:pt x="47024" y="26409"/>
                </a:cubicBezTo>
                <a:close/>
              </a:path>
            </a:pathLst>
          </a:custGeom>
          <a:ln>
            <a:solidFill>
              <a:srgbClr val="2E54A1"/>
            </a:solidFill>
          </a:ln>
        </p:spPr>
      </p:pic>
      <p:sp>
        <p:nvSpPr>
          <p:cNvPr id="322" name="文本框 321">
            <a:extLst>
              <a:ext uri="{FF2B5EF4-FFF2-40B4-BE49-F238E27FC236}">
                <a16:creationId xmlns:a16="http://schemas.microsoft.com/office/drawing/2014/main" id="{128D989E-892E-BA5A-D85F-E7FF3DCED24B}"/>
              </a:ext>
            </a:extLst>
          </p:cNvPr>
          <p:cNvSpPr txBox="1"/>
          <p:nvPr/>
        </p:nvSpPr>
        <p:spPr>
          <a:xfrm>
            <a:off x="7784263" y="4966370"/>
            <a:ext cx="91464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场景环境构建</a:t>
            </a: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5A3A83D3-E10B-7033-1BB3-577C593AEEA9}"/>
              </a:ext>
            </a:extLst>
          </p:cNvPr>
          <p:cNvSpPr txBox="1"/>
          <p:nvPr/>
        </p:nvSpPr>
        <p:spPr>
          <a:xfrm>
            <a:off x="7784263" y="5650422"/>
            <a:ext cx="91464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/>
              <a:t>原型系统部署</a:t>
            </a:r>
          </a:p>
        </p:txBody>
      </p:sp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9BCF9292-0E2F-4A6D-316F-F6182B6C12A1}"/>
              </a:ext>
            </a:extLst>
          </p:cNvPr>
          <p:cNvGrpSpPr/>
          <p:nvPr/>
        </p:nvGrpSpPr>
        <p:grpSpPr>
          <a:xfrm>
            <a:off x="3052707" y="6447055"/>
            <a:ext cx="5187752" cy="461665"/>
            <a:chOff x="3370952" y="6447055"/>
            <a:chExt cx="5187752" cy="461665"/>
          </a:xfrm>
        </p:grpSpPr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31E5953B-F055-4A9F-D745-E652F184031D}"/>
                </a:ext>
              </a:extLst>
            </p:cNvPr>
            <p:cNvGrpSpPr/>
            <p:nvPr/>
          </p:nvGrpSpPr>
          <p:grpSpPr>
            <a:xfrm>
              <a:off x="3370952" y="6447055"/>
              <a:ext cx="5187752" cy="461665"/>
              <a:chOff x="3370952" y="6447055"/>
              <a:chExt cx="5187752" cy="461665"/>
            </a:xfrm>
          </p:grpSpPr>
          <p:sp>
            <p:nvSpPr>
              <p:cNvPr id="45" name="箭头: 燕尾形 1202">
                <a:extLst>
                  <a:ext uri="{FF2B5EF4-FFF2-40B4-BE49-F238E27FC236}">
                    <a16:creationId xmlns:a16="http://schemas.microsoft.com/office/drawing/2014/main" id="{06AB37B5-AF15-F266-0C5C-4FD4800970B4}"/>
                  </a:ext>
                </a:extLst>
              </p:cNvPr>
              <p:cNvSpPr/>
              <p:nvPr/>
            </p:nvSpPr>
            <p:spPr>
              <a:xfrm rot="10800000" flipH="1">
                <a:off x="3896275" y="6533924"/>
                <a:ext cx="797560" cy="324485"/>
              </a:xfrm>
              <a:prstGeom prst="notchedRightArrow">
                <a:avLst/>
              </a:prstGeom>
              <a:gradFill>
                <a:gsLst>
                  <a:gs pos="100000">
                    <a:srgbClr val="2E54A1">
                      <a:alpha val="54000"/>
                    </a:srgbClr>
                  </a:gs>
                  <a:gs pos="5000">
                    <a:srgbClr val="7F9EDB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23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F5B2339-57EE-F1FE-8F7C-AE3D648E94A2}"/>
                  </a:ext>
                </a:extLst>
              </p:cNvPr>
              <p:cNvSpPr txBox="1"/>
              <p:nvPr/>
            </p:nvSpPr>
            <p:spPr>
              <a:xfrm>
                <a:off x="3370952" y="6543934"/>
                <a:ext cx="635907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740" b="1" dirty="0">
                    <a:solidFill>
                      <a:srgbClr val="2E54A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</a:t>
                </a:r>
              </a:p>
            </p:txBody>
          </p:sp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905B8614-46F6-2711-1EC8-81E1120FD300}"/>
                  </a:ext>
                </a:extLst>
              </p:cNvPr>
              <p:cNvSpPr txBox="1"/>
              <p:nvPr/>
            </p:nvSpPr>
            <p:spPr>
              <a:xfrm>
                <a:off x="6836316" y="6447055"/>
                <a:ext cx="17223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态势</a:t>
                </a:r>
                <a:endPara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D3EF06B-8E9C-26A0-1E9B-3385B3EF0CB3}"/>
                  </a:ext>
                </a:extLst>
              </p:cNvPr>
              <p:cNvSpPr txBox="1"/>
              <p:nvPr/>
            </p:nvSpPr>
            <p:spPr>
              <a:xfrm>
                <a:off x="4668445" y="6523674"/>
                <a:ext cx="670903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740" b="1" dirty="0">
                    <a:solidFill>
                      <a:srgbClr val="2E54A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6C0167C-A3AD-86FF-C06A-8E812839C915}"/>
                  </a:ext>
                </a:extLst>
              </p:cNvPr>
              <p:cNvSpPr txBox="1"/>
              <p:nvPr/>
            </p:nvSpPr>
            <p:spPr>
              <a:xfrm>
                <a:off x="5837135" y="6510098"/>
                <a:ext cx="873545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740" b="1" dirty="0">
                    <a:solidFill>
                      <a:srgbClr val="2E54A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</a:p>
            </p:txBody>
          </p:sp>
        </p:grpSp>
        <p:sp>
          <p:nvSpPr>
            <p:cNvPr id="267" name="箭头: 燕尾形 1202">
              <a:extLst>
                <a:ext uri="{FF2B5EF4-FFF2-40B4-BE49-F238E27FC236}">
                  <a16:creationId xmlns:a16="http://schemas.microsoft.com/office/drawing/2014/main" id="{572BC96B-AA8A-5D55-9D21-0E7E6DECB153}"/>
                </a:ext>
              </a:extLst>
            </p:cNvPr>
            <p:cNvSpPr/>
            <p:nvPr/>
          </p:nvSpPr>
          <p:spPr>
            <a:xfrm rot="10800000" flipH="1">
              <a:off x="6456680" y="6533921"/>
              <a:ext cx="863600" cy="324485"/>
            </a:xfrm>
            <a:prstGeom prst="notchedRightArrow">
              <a:avLst/>
            </a:prstGeom>
            <a:gradFill>
              <a:gsLst>
                <a:gs pos="100000">
                  <a:srgbClr val="C00000">
                    <a:alpha val="39000"/>
                  </a:srgbClr>
                </a:gs>
                <a:gs pos="500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9" name="箭头: 燕尾形 1202">
              <a:extLst>
                <a:ext uri="{FF2B5EF4-FFF2-40B4-BE49-F238E27FC236}">
                  <a16:creationId xmlns:a16="http://schemas.microsoft.com/office/drawing/2014/main" id="{FB5715E5-FDAE-BAA2-8AAC-BA0F7319C3C4}"/>
                </a:ext>
              </a:extLst>
            </p:cNvPr>
            <p:cNvSpPr/>
            <p:nvPr/>
          </p:nvSpPr>
          <p:spPr>
            <a:xfrm rot="10800000" flipH="1">
              <a:off x="5120555" y="6534333"/>
              <a:ext cx="797560" cy="324485"/>
            </a:xfrm>
            <a:prstGeom prst="notchedRightArrow">
              <a:avLst/>
            </a:prstGeom>
            <a:gradFill>
              <a:gsLst>
                <a:gs pos="100000">
                  <a:srgbClr val="2E54A1">
                    <a:alpha val="54000"/>
                  </a:srgbClr>
                </a:gs>
                <a:gs pos="5000">
                  <a:srgbClr val="7F9EDB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185</Words>
  <Application>Microsoft Office PowerPoint</Application>
  <PresentationFormat>自定义</PresentationFormat>
  <Paragraphs>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微软雅黑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Hodge Chang</cp:lastModifiedBy>
  <cp:revision>29</cp:revision>
  <dcterms:created xsi:type="dcterms:W3CDTF">2026-06-15T13:57:41Z</dcterms:created>
  <dcterms:modified xsi:type="dcterms:W3CDTF">2026-06-23T13:19:29Z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CCB4CCE1F4F0462ABE8EFD1EDFF8C9FF_12</vt:lpwstr>
  </property>
</Properties>
</file>