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0691495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BDF"/>
    <a:srgbClr val="2E5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defRPr sz="3530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2.jpeg"/><Relationship Id="rId21" Type="http://schemas.openxmlformats.org/officeDocument/2006/relationships/image" Target="../media/image11.webp"/><Relationship Id="rId20" Type="http://schemas.openxmlformats.org/officeDocument/2006/relationships/image" Target="../media/image10.png"/><Relationship Id="rId2" Type="http://schemas.openxmlformats.org/officeDocument/2006/relationships/tags" Target="../tags/tag2.xml"/><Relationship Id="rId19" Type="http://schemas.openxmlformats.org/officeDocument/2006/relationships/image" Target="../media/image9.jpeg"/><Relationship Id="rId18" Type="http://schemas.openxmlformats.org/officeDocument/2006/relationships/image" Target="../media/image8.jpeg"/><Relationship Id="rId17" Type="http://schemas.openxmlformats.org/officeDocument/2006/relationships/image" Target="../media/image7.jpeg"/><Relationship Id="rId16" Type="http://schemas.openxmlformats.org/officeDocument/2006/relationships/image" Target="../media/image6.jpeg"/><Relationship Id="rId15" Type="http://schemas.openxmlformats.org/officeDocument/2006/relationships/image" Target="../media/image5.jpeg"/><Relationship Id="rId14" Type="http://schemas.openxmlformats.org/officeDocument/2006/relationships/image" Target="../media/image4.jpe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image" Target="../media/image1.pn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圆角矩形 692"/>
          <p:cNvSpPr/>
          <p:nvPr/>
        </p:nvSpPr>
        <p:spPr>
          <a:xfrm rot="16200000">
            <a:off x="1911985" y="-1241107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235"/>
          </a:p>
        </p:txBody>
      </p:sp>
      <p:sp>
        <p:nvSpPr>
          <p:cNvPr id="115" name="矩形: 圆角 5"/>
          <p:cNvSpPr/>
          <p:nvPr/>
        </p:nvSpPr>
        <p:spPr>
          <a:xfrm>
            <a:off x="450215" y="4096385"/>
            <a:ext cx="9791700" cy="2928620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6" name="圆角矩形 15"/>
          <p:cNvSpPr/>
          <p:nvPr>
            <p:custDataLst>
              <p:tags r:id="rId1"/>
            </p:custDataLst>
          </p:nvPr>
        </p:nvSpPr>
        <p:spPr>
          <a:xfrm>
            <a:off x="469265" y="550545"/>
            <a:ext cx="9752965" cy="3441065"/>
          </a:xfrm>
          <a:prstGeom prst="roundRect">
            <a:avLst>
              <a:gd name="adj" fmla="val 702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8"/>
          <p:cNvSpPr/>
          <p:nvPr>
            <p:custDataLst>
              <p:tags r:id="rId2"/>
            </p:custDataLst>
          </p:nvPr>
        </p:nvSpPr>
        <p:spPr>
          <a:xfrm flipH="1">
            <a:off x="706120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" name="矩形: 圆角 8"/>
          <p:cNvSpPr/>
          <p:nvPr>
            <p:custDataLst>
              <p:tags r:id="rId3"/>
            </p:custDataLst>
          </p:nvPr>
        </p:nvSpPr>
        <p:spPr>
          <a:xfrm flipH="1">
            <a:off x="3121660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5" name="矩形: 圆角 8"/>
          <p:cNvSpPr/>
          <p:nvPr>
            <p:custDataLst>
              <p:tags r:id="rId4"/>
            </p:custDataLst>
          </p:nvPr>
        </p:nvSpPr>
        <p:spPr>
          <a:xfrm flipH="1">
            <a:off x="5537835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3" name="矩形: 圆角 8"/>
          <p:cNvSpPr/>
          <p:nvPr>
            <p:custDataLst>
              <p:tags r:id="rId5"/>
            </p:custDataLst>
          </p:nvPr>
        </p:nvSpPr>
        <p:spPr>
          <a:xfrm flipH="1">
            <a:off x="7954010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19" name="矩形: 圆角 117"/>
          <p:cNvSpPr/>
          <p:nvPr>
            <p:custDataLst>
              <p:tags r:id="rId6"/>
            </p:custDataLst>
          </p:nvPr>
        </p:nvSpPr>
        <p:spPr>
          <a:xfrm>
            <a:off x="962660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高价值事件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矩形: 圆角 117"/>
          <p:cNvSpPr/>
          <p:nvPr>
            <p:custDataLst>
              <p:tags r:id="rId7"/>
            </p:custDataLst>
          </p:nvPr>
        </p:nvSpPr>
        <p:spPr>
          <a:xfrm>
            <a:off x="3376930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频谱向量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压缩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矩形: 圆角 117"/>
          <p:cNvSpPr/>
          <p:nvPr>
            <p:custDataLst>
              <p:tags r:id="rId8"/>
            </p:custDataLst>
          </p:nvPr>
        </p:nvSpPr>
        <p:spPr>
          <a:xfrm>
            <a:off x="5793105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高效存储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矩形: 圆角 117"/>
          <p:cNvSpPr/>
          <p:nvPr>
            <p:custDataLst>
              <p:tags r:id="rId9"/>
            </p:custDataLst>
          </p:nvPr>
        </p:nvSpPr>
        <p:spPr>
          <a:xfrm>
            <a:off x="8209280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可信存证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溯源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774825" y="1289685"/>
            <a:ext cx="83502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事件窗口</a:t>
            </a: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zh-CN" altLang="en-US" sz="123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773555" y="2150110"/>
            <a:ext cx="83693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可疑事件识别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736090" y="2989580"/>
            <a:ext cx="87439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存储</a:t>
            </a: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事件判别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123055" y="2200593"/>
            <a:ext cx="871220" cy="280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量化压缩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126230" y="1380808"/>
            <a:ext cx="863600" cy="280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表征提取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4126230" y="3017838"/>
            <a:ext cx="864235" cy="280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</a:t>
            </a: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编码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464300" y="1289685"/>
            <a:ext cx="98615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磁盘索引</a:t>
            </a:r>
            <a:endParaRPr lang="zh-CN" altLang="en-US" sz="123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zh-CN" altLang="en-US" sz="123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6506845" y="2150110"/>
            <a:ext cx="90106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并发插入</a:t>
            </a: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维护</a:t>
            </a:r>
            <a:endParaRPr lang="zh-CN" altLang="en-US" sz="123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508115" y="2989580"/>
            <a:ext cx="89852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相似波形</a:t>
            </a: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  <a:endParaRPr lang="zh-CN" altLang="en-US" sz="123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110663" y="1289685"/>
            <a:ext cx="80073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链上链下</a:t>
            </a: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存证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110345" y="2151380"/>
            <a:ext cx="80137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可验证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查询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110663" y="2989580"/>
            <a:ext cx="80073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全流程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追溯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箭头: 左右 129"/>
          <p:cNvSpPr/>
          <p:nvPr/>
        </p:nvSpPr>
        <p:spPr>
          <a:xfrm>
            <a:off x="2753995" y="2110740"/>
            <a:ext cx="342265" cy="202565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2E54A1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7" name="箭头: 左右 129"/>
          <p:cNvSpPr/>
          <p:nvPr/>
        </p:nvSpPr>
        <p:spPr>
          <a:xfrm>
            <a:off x="5167630" y="2110740"/>
            <a:ext cx="342265" cy="202565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2E54A1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8" name="上箭头 65"/>
          <p:cNvSpPr/>
          <p:nvPr>
            <p:custDataLst>
              <p:tags r:id="rId10"/>
            </p:custDataLst>
          </p:nvPr>
        </p:nvSpPr>
        <p:spPr>
          <a:xfrm rot="5400000">
            <a:off x="7673340" y="2037715"/>
            <a:ext cx="201295" cy="306070"/>
          </a:xfrm>
          <a:prstGeom prst="upArrow">
            <a:avLst/>
          </a:prstGeom>
          <a:solidFill>
            <a:srgbClr val="2E54A1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7" name="箭头: 燕尾形 1202"/>
          <p:cNvSpPr/>
          <p:nvPr/>
        </p:nvSpPr>
        <p:spPr>
          <a:xfrm rot="5400000" flipH="1" flipV="1">
            <a:off x="1961515" y="385064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9" name="箭头: 燕尾形 1202"/>
          <p:cNvSpPr/>
          <p:nvPr/>
        </p:nvSpPr>
        <p:spPr>
          <a:xfrm rot="5400000" flipH="1" flipV="1">
            <a:off x="5158423" y="385064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0" name="箭头: 燕尾形 1202"/>
          <p:cNvSpPr/>
          <p:nvPr/>
        </p:nvSpPr>
        <p:spPr>
          <a:xfrm rot="5400000" flipH="1" flipV="1">
            <a:off x="8226425" y="385064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3931285" y="4248785"/>
            <a:ext cx="2814955" cy="499745"/>
          </a:xfrm>
          <a:prstGeom prst="rect">
            <a:avLst/>
          </a:prstGeom>
          <a:solidFill>
            <a:srgbClr val="C00000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基于</a:t>
            </a:r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表征压缩的频谱向量数据库</a:t>
            </a:r>
            <a:endParaRPr lang="zh-CN" altLang="en-US" sz="1300" b="1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存储优化</a:t>
            </a:r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方法</a:t>
            </a:r>
            <a:endParaRPr lang="zh-CN" altLang="en-US" sz="1300" b="1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06120" y="4248785"/>
            <a:ext cx="2814955" cy="499745"/>
          </a:xfrm>
          <a:prstGeom prst="rect">
            <a:avLst/>
          </a:prstGeom>
          <a:solidFill>
            <a:srgbClr val="C00000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事件窗口驱动的频谱数据</a:t>
            </a:r>
            <a:endParaRPr lang="zh-CN" altLang="en-US" sz="1300" b="1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价值评估</a:t>
            </a:r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模型</a:t>
            </a:r>
            <a:endParaRPr lang="zh-CN" altLang="en-US" sz="1300" b="1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156450" y="4248785"/>
            <a:ext cx="2814955" cy="499745"/>
          </a:xfrm>
          <a:prstGeom prst="rect">
            <a:avLst/>
          </a:prstGeom>
          <a:solidFill>
            <a:srgbClr val="C00000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链上链下协同的可追溯频谱数据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可信管理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方法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7" name="矩形: 圆角 8"/>
          <p:cNvSpPr/>
          <p:nvPr/>
        </p:nvSpPr>
        <p:spPr>
          <a:xfrm flipH="1">
            <a:off x="706120" y="4886325"/>
            <a:ext cx="2814320" cy="18815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18" name="矩形: 圆角 8"/>
          <p:cNvSpPr/>
          <p:nvPr/>
        </p:nvSpPr>
        <p:spPr>
          <a:xfrm flipH="1">
            <a:off x="3931285" y="4886325"/>
            <a:ext cx="2814955" cy="18815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0" name="矩形: 圆角 8"/>
          <p:cNvSpPr/>
          <p:nvPr/>
        </p:nvSpPr>
        <p:spPr>
          <a:xfrm flipH="1">
            <a:off x="7155815" y="4886325"/>
            <a:ext cx="2815590" cy="18815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1" name="箭头: 左右 94"/>
          <p:cNvSpPr/>
          <p:nvPr/>
        </p:nvSpPr>
        <p:spPr>
          <a:xfrm>
            <a:off x="3504302" y="5647332"/>
            <a:ext cx="432000" cy="252000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C00000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423324" y="5349855"/>
            <a:ext cx="576217" cy="28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协同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4" name="箭头: 左右 94"/>
          <p:cNvSpPr/>
          <p:nvPr/>
        </p:nvSpPr>
        <p:spPr>
          <a:xfrm>
            <a:off x="6746612" y="5647332"/>
            <a:ext cx="432000" cy="252000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C00000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6665634" y="5349855"/>
            <a:ext cx="576217" cy="28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协同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矩形: 圆角 48"/>
          <p:cNvSpPr/>
          <p:nvPr/>
        </p:nvSpPr>
        <p:spPr>
          <a:xfrm>
            <a:off x="909320" y="5111750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流式变点检测的事件窗口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7" name="矩形: 圆角 48"/>
          <p:cNvSpPr/>
          <p:nvPr/>
        </p:nvSpPr>
        <p:spPr>
          <a:xfrm>
            <a:off x="909320" y="562292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基于风险估计的可疑事件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识别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0" name="矩形: 圆角 48"/>
          <p:cNvSpPr/>
          <p:nvPr/>
        </p:nvSpPr>
        <p:spPr>
          <a:xfrm>
            <a:off x="909320" y="614743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子模覆盖增益的事件入库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判别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2" name="矩形: 圆角 48"/>
          <p:cNvSpPr/>
          <p:nvPr/>
        </p:nvSpPr>
        <p:spPr>
          <a:xfrm>
            <a:off x="4123055" y="5111750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物理先验增强的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表征压缩提取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" name="矩形: 圆角 48"/>
          <p:cNvSpPr/>
          <p:nvPr/>
        </p:nvSpPr>
        <p:spPr>
          <a:xfrm>
            <a:off x="4123055" y="562292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异构介质的高局部性磁盘索引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4" name="矩形: 圆角 48"/>
          <p:cNvSpPr/>
          <p:nvPr/>
        </p:nvSpPr>
        <p:spPr>
          <a:xfrm>
            <a:off x="4123055" y="614743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高频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表征向量的无缓冲并发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5" name="矩形: 圆角 48"/>
          <p:cNvSpPr/>
          <p:nvPr/>
        </p:nvSpPr>
        <p:spPr>
          <a:xfrm>
            <a:off x="7368540" y="5111750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事件驱动的分层存证与动态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摘要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" name="矩形: 圆角 48"/>
          <p:cNvSpPr/>
          <p:nvPr/>
        </p:nvSpPr>
        <p:spPr>
          <a:xfrm>
            <a:off x="7368540" y="562292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结合特征的可验证分级索引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7" name="矩形: 圆角 48"/>
          <p:cNvSpPr/>
          <p:nvPr/>
        </p:nvSpPr>
        <p:spPr>
          <a:xfrm>
            <a:off x="7368540" y="614743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高效可验证查询与</a:t>
            </a: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协同更新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320" y="1206500"/>
            <a:ext cx="828000" cy="6531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320" y="1971675"/>
            <a:ext cx="828000" cy="6491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870" y="2797810"/>
            <a:ext cx="662940" cy="66294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3327717" y="1163638"/>
            <a:ext cx="684000" cy="6588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5"/>
          <a:stretch>
            <a:fillRect/>
          </a:stretch>
        </p:blipFill>
        <p:spPr>
          <a:xfrm>
            <a:off x="3315652" y="1989773"/>
            <a:ext cx="684000" cy="72360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6"/>
          <a:stretch>
            <a:fillRect/>
          </a:stretch>
        </p:blipFill>
        <p:spPr>
          <a:xfrm>
            <a:off x="3260090" y="2847340"/>
            <a:ext cx="795020" cy="70802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7"/>
          <a:stretch>
            <a:fillRect/>
          </a:stretch>
        </p:blipFill>
        <p:spPr>
          <a:xfrm>
            <a:off x="5742305" y="1082040"/>
            <a:ext cx="764540" cy="77787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8"/>
          <a:stretch>
            <a:fillRect/>
          </a:stretch>
        </p:blipFill>
        <p:spPr>
          <a:xfrm>
            <a:off x="5717540" y="2052955"/>
            <a:ext cx="764540" cy="6096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9"/>
          <a:stretch>
            <a:fillRect/>
          </a:stretch>
        </p:blipFill>
        <p:spPr>
          <a:xfrm>
            <a:off x="8089265" y="1146810"/>
            <a:ext cx="893445" cy="7131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74360" y="2873375"/>
            <a:ext cx="857250" cy="60769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21"/>
          <a:stretch>
            <a:fillRect/>
          </a:stretch>
        </p:blipFill>
        <p:spPr>
          <a:xfrm>
            <a:off x="8225155" y="2022475"/>
            <a:ext cx="676910" cy="69088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22"/>
          <a:stretch>
            <a:fillRect/>
          </a:stretch>
        </p:blipFill>
        <p:spPr>
          <a:xfrm>
            <a:off x="8169910" y="2940050"/>
            <a:ext cx="812800" cy="6153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2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3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4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5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6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7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8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9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WPS 演示</Application>
  <PresentationFormat>宽屏</PresentationFormat>
  <Paragraphs>66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等线</vt:lpstr>
      <vt:lpstr>Times New Roman</vt:lpstr>
      <vt:lpstr>Arial Unicode MS</vt:lpstr>
      <vt:lpstr>等线 Light</vt:lpstr>
      <vt:lpstr>Calibri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我要凹凸曼</cp:lastModifiedBy>
  <cp:revision>42</cp:revision>
  <dcterms:created xsi:type="dcterms:W3CDTF">2026-03-05T08:22:00Z</dcterms:created>
  <dcterms:modified xsi:type="dcterms:W3CDTF">2026-06-16T08:32:25Z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0DBBA5F14F49492383B3FD6530E1CA10_12</vt:lpwstr>
  </property>
</Properties>
</file>