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3"/>
  </p:sldIdLst>
  <p:sldSz cx="10691495" cy="75596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FADBDF"/>
    <a:srgbClr val="2E54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246696" y="1143000"/>
            <a:ext cx="4364609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336500" y="1237251"/>
            <a:ext cx="8019000" cy="2632000"/>
          </a:xfrm>
        </p:spPr>
        <p:txBody>
          <a:bodyPr anchor="b"/>
          <a:lstStyle>
            <a:lvl1pPr algn="ctr">
              <a:defRPr sz="6615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36500" y="3970751"/>
            <a:ext cx="8019000" cy="1825249"/>
          </a:xfrm>
        </p:spPr>
        <p:txBody>
          <a:bodyPr/>
          <a:lstStyle>
            <a:lvl1pPr marL="0" indent="0" algn="ctr">
              <a:buNone/>
              <a:defRPr sz="2645"/>
            </a:lvl1pPr>
            <a:lvl2pPr marL="504190" indent="0" algn="ctr">
              <a:buNone/>
              <a:defRPr sz="2205"/>
            </a:lvl2pPr>
            <a:lvl3pPr marL="1007745" indent="0" algn="ctr">
              <a:buNone/>
              <a:defRPr sz="1985"/>
            </a:lvl3pPr>
            <a:lvl4pPr marL="1511935" indent="0" algn="ctr">
              <a:buNone/>
              <a:defRPr sz="1765"/>
            </a:lvl4pPr>
            <a:lvl5pPr marL="2016125" indent="0" algn="ctr">
              <a:buNone/>
              <a:defRPr sz="1765"/>
            </a:lvl5pPr>
            <a:lvl6pPr marL="2520315" indent="0" algn="ctr">
              <a:buNone/>
              <a:defRPr sz="1765"/>
            </a:lvl6pPr>
            <a:lvl7pPr marL="3023870" indent="0" algn="ctr">
              <a:buNone/>
              <a:defRPr sz="1765"/>
            </a:lvl7pPr>
            <a:lvl8pPr marL="3528060" indent="0" algn="ctr">
              <a:buNone/>
              <a:defRPr sz="1765"/>
            </a:lvl8pPr>
            <a:lvl9pPr marL="4032250" indent="0" algn="ctr">
              <a:buNone/>
              <a:defRPr sz="1765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9506" y="1884751"/>
            <a:ext cx="9221850" cy="3144749"/>
          </a:xfrm>
        </p:spPr>
        <p:txBody>
          <a:bodyPr anchor="b"/>
          <a:lstStyle>
            <a:lvl1pPr>
              <a:defRPr sz="6615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9506" y="5059251"/>
            <a:ext cx="9221850" cy="1653749"/>
          </a:xfrm>
        </p:spPr>
        <p:txBody>
          <a:bodyPr/>
          <a:lstStyle>
            <a:lvl1pPr marL="0" indent="0">
              <a:buNone/>
              <a:defRPr sz="2645">
                <a:solidFill>
                  <a:schemeClr val="tx1">
                    <a:tint val="75000"/>
                  </a:schemeClr>
                </a:solidFill>
              </a:defRPr>
            </a:lvl1pPr>
            <a:lvl2pPr marL="504190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745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193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4pPr>
            <a:lvl5pPr marL="201612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6pPr>
            <a:lvl7pPr marL="302387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7pPr>
            <a:lvl8pPr marL="352806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8pPr>
            <a:lvl9pPr marL="403225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35075" y="2012500"/>
            <a:ext cx="4544100" cy="47967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412825" y="2012500"/>
            <a:ext cx="4544100" cy="47967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402500"/>
            <a:ext cx="9221850" cy="146125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6468" y="1853251"/>
            <a:ext cx="4523217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36468" y="2761500"/>
            <a:ext cx="4523217" cy="40617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412825" y="1853251"/>
            <a:ext cx="4545493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412825" y="2761500"/>
            <a:ext cx="4545493" cy="40617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defRPr sz="353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>
              <a:defRPr sz="3530"/>
            </a:lvl1pPr>
            <a:lvl2pPr>
              <a:defRPr sz="3085"/>
            </a:lvl2pPr>
            <a:lvl3pPr>
              <a:defRPr sz="2645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defRPr sz="353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 marL="0" indent="0">
              <a:buNone/>
              <a:defRPr sz="3530"/>
            </a:lvl1pPr>
            <a:lvl2pPr marL="504190" indent="0">
              <a:buNone/>
              <a:defRPr sz="3085"/>
            </a:lvl2pPr>
            <a:lvl3pPr marL="1007745" indent="0">
              <a:buNone/>
              <a:defRPr sz="2645"/>
            </a:lvl3pPr>
            <a:lvl4pPr marL="1511935" indent="0">
              <a:buNone/>
              <a:defRPr sz="2205"/>
            </a:lvl4pPr>
            <a:lvl5pPr marL="2016125" indent="0">
              <a:buNone/>
              <a:defRPr sz="2205"/>
            </a:lvl5pPr>
            <a:lvl6pPr marL="2520315" indent="0">
              <a:buNone/>
              <a:defRPr sz="2205"/>
            </a:lvl6pPr>
            <a:lvl7pPr marL="3023870" indent="0">
              <a:buNone/>
              <a:defRPr sz="2205"/>
            </a:lvl7pPr>
            <a:lvl8pPr marL="3528060" indent="0">
              <a:buNone/>
              <a:defRPr sz="2205"/>
            </a:lvl8pPr>
            <a:lvl9pPr marL="4032250" indent="0">
              <a:buNone/>
              <a:defRPr sz="2205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651462" y="402500"/>
            <a:ext cx="2305462" cy="640675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35075" y="402500"/>
            <a:ext cx="6782737" cy="640675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35075" y="402500"/>
            <a:ext cx="9221850" cy="14612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5075" y="2012500"/>
            <a:ext cx="9221850" cy="47967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73507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541725" y="7007000"/>
            <a:ext cx="3608550" cy="402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55122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007745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095" indent="-252095" algn="l" defTabSz="1007745" rtl="0" eaLnBrk="1" latinLnBrk="0" hangingPunct="1">
        <a:lnSpc>
          <a:spcPct val="90000"/>
        </a:lnSpc>
        <a:spcBef>
          <a:spcPct val="221000"/>
        </a:spcBef>
        <a:buFont typeface="Arial" panose="020B0604020202020204" pitchFamily="34" charset="0"/>
        <a:buChar char="•"/>
        <a:defRPr sz="3085" kern="1200">
          <a:solidFill>
            <a:schemeClr val="tx1"/>
          </a:solidFill>
          <a:latin typeface="+mn-lt"/>
          <a:ea typeface="+mn-ea"/>
          <a:cs typeface="+mn-cs"/>
        </a:defRPr>
      </a:lvl1pPr>
      <a:lvl2pPr marL="756285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5" kern="1200">
          <a:solidFill>
            <a:schemeClr val="tx1"/>
          </a:solidFill>
          <a:latin typeface="+mn-lt"/>
          <a:ea typeface="+mn-ea"/>
          <a:cs typeface="+mn-cs"/>
        </a:defRPr>
      </a:lvl2pPr>
      <a:lvl3pPr marL="1259840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4030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268220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771775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5965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0155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3710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19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7745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1935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125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0315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387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806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225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4" Type="http://schemas.openxmlformats.org/officeDocument/2006/relationships/notesSlide" Target="../notesSlides/notesSlide1.xml"/><Relationship Id="rId23" Type="http://schemas.openxmlformats.org/officeDocument/2006/relationships/slideLayout" Target="../slideLayouts/slideLayout2.xml"/><Relationship Id="rId22" Type="http://schemas.openxmlformats.org/officeDocument/2006/relationships/image" Target="../media/image12.jpeg"/><Relationship Id="rId21" Type="http://schemas.openxmlformats.org/officeDocument/2006/relationships/image" Target="../media/image11.webp"/><Relationship Id="rId20" Type="http://schemas.openxmlformats.org/officeDocument/2006/relationships/image" Target="../media/image10.png"/><Relationship Id="rId2" Type="http://schemas.openxmlformats.org/officeDocument/2006/relationships/tags" Target="../tags/tag2.xml"/><Relationship Id="rId19" Type="http://schemas.openxmlformats.org/officeDocument/2006/relationships/image" Target="../media/image9.jpeg"/><Relationship Id="rId18" Type="http://schemas.openxmlformats.org/officeDocument/2006/relationships/image" Target="../media/image8.jpeg"/><Relationship Id="rId17" Type="http://schemas.openxmlformats.org/officeDocument/2006/relationships/image" Target="../media/image7.jpeg"/><Relationship Id="rId16" Type="http://schemas.openxmlformats.org/officeDocument/2006/relationships/image" Target="../media/image6.jpeg"/><Relationship Id="rId15" Type="http://schemas.openxmlformats.org/officeDocument/2006/relationships/image" Target="../media/image5.jpeg"/><Relationship Id="rId14" Type="http://schemas.openxmlformats.org/officeDocument/2006/relationships/image" Target="../media/image4.jpeg"/><Relationship Id="rId13" Type="http://schemas.openxmlformats.org/officeDocument/2006/relationships/image" Target="../media/image3.png"/><Relationship Id="rId12" Type="http://schemas.openxmlformats.org/officeDocument/2006/relationships/image" Target="../media/image2.png"/><Relationship Id="rId11" Type="http://schemas.openxmlformats.org/officeDocument/2006/relationships/image" Target="../media/image1.png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圆角矩形 692"/>
          <p:cNvSpPr/>
          <p:nvPr/>
        </p:nvSpPr>
        <p:spPr>
          <a:xfrm rot="16200000">
            <a:off x="1911985" y="-1241107"/>
            <a:ext cx="6867525" cy="10041890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235"/>
          </a:p>
        </p:txBody>
      </p:sp>
      <p:sp>
        <p:nvSpPr>
          <p:cNvPr id="115" name="矩形: 圆角 5"/>
          <p:cNvSpPr/>
          <p:nvPr/>
        </p:nvSpPr>
        <p:spPr>
          <a:xfrm>
            <a:off x="450215" y="4096385"/>
            <a:ext cx="9791700" cy="2928620"/>
          </a:xfrm>
          <a:prstGeom prst="roundRect">
            <a:avLst>
              <a:gd name="adj" fmla="val 7070"/>
            </a:avLst>
          </a:prstGeom>
          <a:solidFill>
            <a:srgbClr val="FADBDF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16" name="圆角矩形 15"/>
          <p:cNvSpPr/>
          <p:nvPr>
            <p:custDataLst>
              <p:tags r:id="rId1"/>
            </p:custDataLst>
          </p:nvPr>
        </p:nvSpPr>
        <p:spPr>
          <a:xfrm>
            <a:off x="469265" y="550545"/>
            <a:ext cx="9752965" cy="3441065"/>
          </a:xfrm>
          <a:prstGeom prst="roundRect">
            <a:avLst>
              <a:gd name="adj" fmla="val 7022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: 圆角 8"/>
          <p:cNvSpPr/>
          <p:nvPr>
            <p:custDataLst>
              <p:tags r:id="rId2"/>
            </p:custDataLst>
          </p:nvPr>
        </p:nvSpPr>
        <p:spPr>
          <a:xfrm flipH="1">
            <a:off x="706120" y="875030"/>
            <a:ext cx="2017395" cy="28308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2" name="矩形: 圆角 8"/>
          <p:cNvSpPr/>
          <p:nvPr>
            <p:custDataLst>
              <p:tags r:id="rId3"/>
            </p:custDataLst>
          </p:nvPr>
        </p:nvSpPr>
        <p:spPr>
          <a:xfrm flipH="1">
            <a:off x="3121660" y="875030"/>
            <a:ext cx="2017395" cy="28308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5" name="矩形: 圆角 8"/>
          <p:cNvSpPr/>
          <p:nvPr>
            <p:custDataLst>
              <p:tags r:id="rId4"/>
            </p:custDataLst>
          </p:nvPr>
        </p:nvSpPr>
        <p:spPr>
          <a:xfrm flipH="1">
            <a:off x="5537835" y="875030"/>
            <a:ext cx="2017395" cy="28308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33" name="矩形: 圆角 8"/>
          <p:cNvSpPr/>
          <p:nvPr>
            <p:custDataLst>
              <p:tags r:id="rId5"/>
            </p:custDataLst>
          </p:nvPr>
        </p:nvSpPr>
        <p:spPr>
          <a:xfrm flipH="1">
            <a:off x="7954010" y="875030"/>
            <a:ext cx="2017395" cy="28308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19" name="矩形: 圆角 117"/>
          <p:cNvSpPr/>
          <p:nvPr>
            <p:custDataLst>
              <p:tags r:id="rId6"/>
            </p:custDataLst>
          </p:nvPr>
        </p:nvSpPr>
        <p:spPr>
          <a:xfrm>
            <a:off x="962660" y="731520"/>
            <a:ext cx="1506855" cy="285115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高价值事件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提取</a:t>
            </a:r>
            <a:endParaRPr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7" name="矩形: 圆角 117"/>
          <p:cNvSpPr/>
          <p:nvPr>
            <p:custDataLst>
              <p:tags r:id="rId7"/>
            </p:custDataLst>
          </p:nvPr>
        </p:nvSpPr>
        <p:spPr>
          <a:xfrm>
            <a:off x="3376930" y="731520"/>
            <a:ext cx="1506855" cy="285115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频谱向量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压缩</a:t>
            </a:r>
            <a:endParaRPr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0" name="矩形: 圆角 117"/>
          <p:cNvSpPr/>
          <p:nvPr>
            <p:custDataLst>
              <p:tags r:id="rId8"/>
            </p:custDataLst>
          </p:nvPr>
        </p:nvSpPr>
        <p:spPr>
          <a:xfrm>
            <a:off x="5793105" y="731520"/>
            <a:ext cx="1506855" cy="285115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高效存储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检索</a:t>
            </a:r>
            <a:endParaRPr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1" name="矩形: 圆角 117"/>
          <p:cNvSpPr/>
          <p:nvPr>
            <p:custDataLst>
              <p:tags r:id="rId9"/>
            </p:custDataLst>
          </p:nvPr>
        </p:nvSpPr>
        <p:spPr>
          <a:xfrm>
            <a:off x="8209280" y="731520"/>
            <a:ext cx="1506855" cy="285115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可信存证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溯源</a:t>
            </a:r>
            <a:endParaRPr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1774825" y="1289685"/>
            <a:ext cx="83502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事件窗口</a:t>
            </a: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构建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文本框 84"/>
          <p:cNvSpPr txBox="1"/>
          <p:nvPr/>
        </p:nvSpPr>
        <p:spPr>
          <a:xfrm>
            <a:off x="1773555" y="2150110"/>
            <a:ext cx="836930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目标</a:t>
            </a: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识别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7" name="文本框 86"/>
          <p:cNvSpPr txBox="1"/>
          <p:nvPr/>
        </p:nvSpPr>
        <p:spPr>
          <a:xfrm>
            <a:off x="1736090" y="2989580"/>
            <a:ext cx="87439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存储利用</a:t>
            </a: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4123055" y="2200593"/>
            <a:ext cx="871220" cy="28003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量化压缩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4126230" y="1380808"/>
            <a:ext cx="863600" cy="28003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表征提取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4126230" y="3017838"/>
            <a:ext cx="864235" cy="28003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向量</a:t>
            </a: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编码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6464300" y="1289685"/>
            <a:ext cx="98615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磁盘索引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7" name="文本框 96"/>
          <p:cNvSpPr txBox="1"/>
          <p:nvPr/>
        </p:nvSpPr>
        <p:spPr>
          <a:xfrm>
            <a:off x="6506845" y="2150110"/>
            <a:ext cx="90106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并发插入</a:t>
            </a: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维护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6508115" y="2989580"/>
            <a:ext cx="89852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相似波形</a:t>
            </a: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检索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0" name="文本框 99"/>
          <p:cNvSpPr txBox="1"/>
          <p:nvPr/>
        </p:nvSpPr>
        <p:spPr>
          <a:xfrm>
            <a:off x="9110663" y="1289685"/>
            <a:ext cx="80073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链上链下</a:t>
            </a: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存证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9110345" y="2151380"/>
            <a:ext cx="801370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可验证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查询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9110663" y="2989580"/>
            <a:ext cx="80073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全流程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追溯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6" name="箭头: 左右 129"/>
          <p:cNvSpPr/>
          <p:nvPr/>
        </p:nvSpPr>
        <p:spPr>
          <a:xfrm>
            <a:off x="2753995" y="2110740"/>
            <a:ext cx="342265" cy="202565"/>
          </a:xfrm>
          <a:prstGeom prst="leftRightArrow">
            <a:avLst>
              <a:gd name="adj1" fmla="val 42624"/>
              <a:gd name="adj2" fmla="val 50000"/>
            </a:avLst>
          </a:prstGeom>
          <a:solidFill>
            <a:srgbClr val="2E54A1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7" name="箭头: 左右 129"/>
          <p:cNvSpPr/>
          <p:nvPr/>
        </p:nvSpPr>
        <p:spPr>
          <a:xfrm>
            <a:off x="5167630" y="2110740"/>
            <a:ext cx="342265" cy="202565"/>
          </a:xfrm>
          <a:prstGeom prst="leftRightArrow">
            <a:avLst>
              <a:gd name="adj1" fmla="val 42624"/>
              <a:gd name="adj2" fmla="val 50000"/>
            </a:avLst>
          </a:prstGeom>
          <a:solidFill>
            <a:srgbClr val="2E54A1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8" name="上箭头 65"/>
          <p:cNvSpPr/>
          <p:nvPr>
            <p:custDataLst>
              <p:tags r:id="rId10"/>
            </p:custDataLst>
          </p:nvPr>
        </p:nvSpPr>
        <p:spPr>
          <a:xfrm rot="5400000">
            <a:off x="7673340" y="2037715"/>
            <a:ext cx="201295" cy="306070"/>
          </a:xfrm>
          <a:prstGeom prst="upArrow">
            <a:avLst/>
          </a:prstGeom>
          <a:solidFill>
            <a:srgbClr val="2E54A1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47" name="箭头: 燕尾形 1202"/>
          <p:cNvSpPr/>
          <p:nvPr/>
        </p:nvSpPr>
        <p:spPr>
          <a:xfrm rot="5400000" flipH="1" flipV="1">
            <a:off x="1961515" y="3850640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9" name="箭头: 燕尾形 1202"/>
          <p:cNvSpPr/>
          <p:nvPr/>
        </p:nvSpPr>
        <p:spPr>
          <a:xfrm rot="5400000" flipH="1" flipV="1">
            <a:off x="5158423" y="3850640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10" name="箭头: 燕尾形 1202"/>
          <p:cNvSpPr/>
          <p:nvPr/>
        </p:nvSpPr>
        <p:spPr>
          <a:xfrm rot="5400000" flipH="1" flipV="1">
            <a:off x="8226425" y="3850640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11" name="矩形 110"/>
          <p:cNvSpPr/>
          <p:nvPr/>
        </p:nvSpPr>
        <p:spPr>
          <a:xfrm>
            <a:off x="3931285" y="4248785"/>
            <a:ext cx="2814955" cy="499745"/>
          </a:xfrm>
          <a:prstGeom prst="rect">
            <a:avLst/>
          </a:prstGeom>
          <a:solidFill>
            <a:srgbClr val="C00000"/>
          </a:solidFill>
          <a:ln w="19050"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基于</a:t>
            </a: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表征压缩的频谱向量数据库</a:t>
            </a:r>
            <a:endParaRPr lang="zh-CN" altLang="en-US" sz="1300" b="1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存储优化</a:t>
            </a: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方法</a:t>
            </a:r>
            <a:endParaRPr lang="zh-CN" altLang="en-US" sz="1300" b="1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12" name="矩形 111"/>
          <p:cNvSpPr/>
          <p:nvPr/>
        </p:nvSpPr>
        <p:spPr>
          <a:xfrm>
            <a:off x="706120" y="4248785"/>
            <a:ext cx="2814955" cy="499745"/>
          </a:xfrm>
          <a:prstGeom prst="rect">
            <a:avLst/>
          </a:prstGeom>
          <a:solidFill>
            <a:srgbClr val="C00000"/>
          </a:solidFill>
          <a:ln w="19050"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事件窗口驱动的频谱数据</a:t>
            </a:r>
            <a:endParaRPr lang="zh-CN" altLang="en-US" sz="1300" b="1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  <a:p>
            <a:pPr algn="ctr"/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价值评估</a:t>
            </a: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模型</a:t>
            </a:r>
            <a:endParaRPr lang="zh-CN" altLang="en-US" sz="1300" b="1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7156450" y="4248785"/>
            <a:ext cx="2814955" cy="499745"/>
          </a:xfrm>
          <a:prstGeom prst="rect">
            <a:avLst/>
          </a:prstGeom>
          <a:solidFill>
            <a:srgbClr val="C00000"/>
          </a:solidFill>
          <a:ln w="19050"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链上链下协同的可追溯频谱数据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可信管理</a:t>
            </a:r>
            <a:r>
              <a:rPr kumimoji="0" lang="zh-CN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方法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17" name="矩形: 圆角 8"/>
          <p:cNvSpPr/>
          <p:nvPr/>
        </p:nvSpPr>
        <p:spPr>
          <a:xfrm flipH="1">
            <a:off x="706120" y="4886325"/>
            <a:ext cx="2814320" cy="18815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18" name="矩形: 圆角 8"/>
          <p:cNvSpPr/>
          <p:nvPr/>
        </p:nvSpPr>
        <p:spPr>
          <a:xfrm flipH="1">
            <a:off x="3931285" y="4886325"/>
            <a:ext cx="2814955" cy="18815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20" name="矩形: 圆角 8"/>
          <p:cNvSpPr/>
          <p:nvPr/>
        </p:nvSpPr>
        <p:spPr>
          <a:xfrm flipH="1">
            <a:off x="7155815" y="4886325"/>
            <a:ext cx="2815590" cy="18815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22" name="文本框 121"/>
          <p:cNvSpPr txBox="1"/>
          <p:nvPr/>
        </p:nvSpPr>
        <p:spPr>
          <a:xfrm>
            <a:off x="3423324" y="5349855"/>
            <a:ext cx="576217" cy="2800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支撑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4" name="箭头: 左右 94"/>
          <p:cNvSpPr/>
          <p:nvPr/>
        </p:nvSpPr>
        <p:spPr>
          <a:xfrm>
            <a:off x="6746612" y="5647241"/>
            <a:ext cx="432000" cy="252000"/>
          </a:xfrm>
          <a:prstGeom prst="leftRightArrow">
            <a:avLst>
              <a:gd name="adj1" fmla="val 42624"/>
              <a:gd name="adj2" fmla="val 50000"/>
            </a:avLst>
          </a:prstGeom>
          <a:solidFill>
            <a:srgbClr val="C00000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25" name="文本框 124"/>
          <p:cNvSpPr txBox="1"/>
          <p:nvPr/>
        </p:nvSpPr>
        <p:spPr>
          <a:xfrm>
            <a:off x="6665634" y="5349855"/>
            <a:ext cx="576217" cy="2800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协同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6" name="矩形: 圆角 48"/>
          <p:cNvSpPr/>
          <p:nvPr/>
        </p:nvSpPr>
        <p:spPr>
          <a:xfrm>
            <a:off x="909320" y="5111750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事件窗口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构建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27" name="矩形: 圆角 48"/>
          <p:cNvSpPr/>
          <p:nvPr/>
        </p:nvSpPr>
        <p:spPr>
          <a:xfrm>
            <a:off x="909320" y="562292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价值评估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建模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0" name="矩形: 圆角 48"/>
          <p:cNvSpPr/>
          <p:nvPr/>
        </p:nvSpPr>
        <p:spPr>
          <a:xfrm>
            <a:off x="909320" y="614743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约束优化求解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2" name="矩形: 圆角 48"/>
          <p:cNvSpPr/>
          <p:nvPr/>
        </p:nvSpPr>
        <p:spPr>
          <a:xfrm>
            <a:off x="4123055" y="5111750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表征压缩提取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3" name="矩形: 圆角 48"/>
          <p:cNvSpPr/>
          <p:nvPr/>
        </p:nvSpPr>
        <p:spPr>
          <a:xfrm>
            <a:off x="4123055" y="562292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磁盘索引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4" name="矩形: 圆角 48"/>
          <p:cNvSpPr/>
          <p:nvPr/>
        </p:nvSpPr>
        <p:spPr>
          <a:xfrm>
            <a:off x="4123055" y="614743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向量并发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插入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5" name="矩形: 圆角 48"/>
          <p:cNvSpPr/>
          <p:nvPr/>
        </p:nvSpPr>
        <p:spPr>
          <a:xfrm>
            <a:off x="7368540" y="5111750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分层存证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6" name="矩形: 圆角 48"/>
          <p:cNvSpPr/>
          <p:nvPr/>
        </p:nvSpPr>
        <p:spPr>
          <a:xfrm>
            <a:off x="7368540" y="562292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分级索引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7" name="矩形: 圆角 48"/>
          <p:cNvSpPr/>
          <p:nvPr/>
        </p:nvSpPr>
        <p:spPr>
          <a:xfrm>
            <a:off x="7368540" y="614743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协同更新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9320" y="1206500"/>
            <a:ext cx="828000" cy="65311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9320" y="1971675"/>
            <a:ext cx="828000" cy="649162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91870" y="2797810"/>
            <a:ext cx="662940" cy="662940"/>
          </a:xfrm>
          <a:prstGeom prst="rect">
            <a:avLst/>
          </a:prstGeom>
        </p:spPr>
      </p:pic>
      <p:pic>
        <p:nvPicPr>
          <p:cNvPr id="9" name="图片 8"/>
          <p:cNvPicPr/>
          <p:nvPr/>
        </p:nvPicPr>
        <p:blipFill>
          <a:blip r:embed="rId14"/>
          <a:stretch>
            <a:fillRect/>
          </a:stretch>
        </p:blipFill>
        <p:spPr>
          <a:xfrm>
            <a:off x="3327717" y="1163638"/>
            <a:ext cx="684000" cy="658800"/>
          </a:xfrm>
          <a:prstGeom prst="rect">
            <a:avLst/>
          </a:prstGeom>
        </p:spPr>
      </p:pic>
      <p:pic>
        <p:nvPicPr>
          <p:cNvPr id="10" name="图片 9"/>
          <p:cNvPicPr/>
          <p:nvPr/>
        </p:nvPicPr>
        <p:blipFill>
          <a:blip r:embed="rId15"/>
          <a:stretch>
            <a:fillRect/>
          </a:stretch>
        </p:blipFill>
        <p:spPr>
          <a:xfrm>
            <a:off x="3315652" y="1989773"/>
            <a:ext cx="684000" cy="723600"/>
          </a:xfrm>
          <a:prstGeom prst="rect">
            <a:avLst/>
          </a:prstGeom>
        </p:spPr>
      </p:pic>
      <p:pic>
        <p:nvPicPr>
          <p:cNvPr id="13" name="图片 12"/>
          <p:cNvPicPr/>
          <p:nvPr/>
        </p:nvPicPr>
        <p:blipFill>
          <a:blip r:embed="rId16"/>
          <a:stretch>
            <a:fillRect/>
          </a:stretch>
        </p:blipFill>
        <p:spPr>
          <a:xfrm>
            <a:off x="3260090" y="2847340"/>
            <a:ext cx="795020" cy="708025"/>
          </a:xfrm>
          <a:prstGeom prst="rect">
            <a:avLst/>
          </a:prstGeom>
        </p:spPr>
      </p:pic>
      <p:pic>
        <p:nvPicPr>
          <p:cNvPr id="17" name="图片 16"/>
          <p:cNvPicPr/>
          <p:nvPr/>
        </p:nvPicPr>
        <p:blipFill>
          <a:blip r:embed="rId17"/>
          <a:stretch>
            <a:fillRect/>
          </a:stretch>
        </p:blipFill>
        <p:spPr>
          <a:xfrm>
            <a:off x="5742305" y="1082040"/>
            <a:ext cx="764540" cy="777875"/>
          </a:xfrm>
          <a:prstGeom prst="rect">
            <a:avLst/>
          </a:prstGeom>
        </p:spPr>
      </p:pic>
      <p:pic>
        <p:nvPicPr>
          <p:cNvPr id="18" name="图片 17"/>
          <p:cNvPicPr/>
          <p:nvPr/>
        </p:nvPicPr>
        <p:blipFill>
          <a:blip r:embed="rId18"/>
          <a:stretch>
            <a:fillRect/>
          </a:stretch>
        </p:blipFill>
        <p:spPr>
          <a:xfrm>
            <a:off x="5717540" y="2052955"/>
            <a:ext cx="764540" cy="609600"/>
          </a:xfrm>
          <a:prstGeom prst="rect">
            <a:avLst/>
          </a:prstGeom>
        </p:spPr>
      </p:pic>
      <p:pic>
        <p:nvPicPr>
          <p:cNvPr id="20" name="图片 19"/>
          <p:cNvPicPr/>
          <p:nvPr/>
        </p:nvPicPr>
        <p:blipFill>
          <a:blip r:embed="rId19"/>
          <a:stretch>
            <a:fillRect/>
          </a:stretch>
        </p:blipFill>
        <p:spPr>
          <a:xfrm>
            <a:off x="8089265" y="1146810"/>
            <a:ext cx="893445" cy="713105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74360" y="2873375"/>
            <a:ext cx="857250" cy="607695"/>
          </a:xfrm>
          <a:prstGeom prst="rect">
            <a:avLst/>
          </a:prstGeom>
        </p:spPr>
      </p:pic>
      <p:pic>
        <p:nvPicPr>
          <p:cNvPr id="26" name="图片 25"/>
          <p:cNvPicPr/>
          <p:nvPr/>
        </p:nvPicPr>
        <p:blipFill>
          <a:blip r:embed="rId21"/>
          <a:stretch>
            <a:fillRect/>
          </a:stretch>
        </p:blipFill>
        <p:spPr>
          <a:xfrm>
            <a:off x="8225155" y="2022475"/>
            <a:ext cx="676910" cy="690880"/>
          </a:xfrm>
          <a:prstGeom prst="rect">
            <a:avLst/>
          </a:prstGeom>
        </p:spPr>
      </p:pic>
      <p:pic>
        <p:nvPicPr>
          <p:cNvPr id="27" name="图片 26"/>
          <p:cNvPicPr/>
          <p:nvPr/>
        </p:nvPicPr>
        <p:blipFill>
          <a:blip r:embed="rId22"/>
          <a:stretch>
            <a:fillRect/>
          </a:stretch>
        </p:blipFill>
        <p:spPr>
          <a:xfrm>
            <a:off x="8169910" y="2940050"/>
            <a:ext cx="812800" cy="615315"/>
          </a:xfrm>
          <a:prstGeom prst="rect">
            <a:avLst/>
          </a:prstGeom>
        </p:spPr>
      </p:pic>
      <p:sp>
        <p:nvSpPr>
          <p:cNvPr id="2" name="右箭头 1"/>
          <p:cNvSpPr/>
          <p:nvPr/>
        </p:nvSpPr>
        <p:spPr>
          <a:xfrm>
            <a:off x="3520440" y="5647146"/>
            <a:ext cx="396000" cy="252095"/>
          </a:xfrm>
          <a:prstGeom prst="rightArrow">
            <a:avLst>
              <a:gd name="adj1" fmla="val 41561"/>
              <a:gd name="adj2" fmla="val 50000"/>
            </a:avLst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2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3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4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5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6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7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8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9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10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196</Words>
  <Application>WPS 演示</Application>
  <PresentationFormat>宽屏</PresentationFormat>
  <Paragraphs>67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宋体</vt:lpstr>
      <vt:lpstr>Wingdings</vt:lpstr>
      <vt:lpstr>微软雅黑</vt:lpstr>
      <vt:lpstr>等线</vt:lpstr>
      <vt:lpstr>Times New Roman</vt:lpstr>
      <vt:lpstr>Arial Unicode MS</vt:lpstr>
      <vt:lpstr>等线 Light</vt:lpstr>
      <vt:lpstr>Calibri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</dc:creator>
  <cp:lastModifiedBy>我要凹凸曼</cp:lastModifiedBy>
  <cp:revision>43</cp:revision>
  <dcterms:created xsi:type="dcterms:W3CDTF">2026-03-05T08:22:00Z</dcterms:created>
  <dcterms:modified xsi:type="dcterms:W3CDTF">2026-06-17T08:19:12Z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0DBBA5F14F49492383B3FD6530E1CA10_12</vt:lpwstr>
  </property>
</Properties>
</file>