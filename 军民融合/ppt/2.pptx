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1069149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DBDF"/>
    <a:srgbClr val="2E54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46696" y="1143000"/>
            <a:ext cx="4364609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defRPr sz="3530"/>
            </a:lvl1pPr>
            <a:lvl2pPr>
              <a:defRPr sz="3085"/>
            </a:lvl2pPr>
            <a:lvl3pPr>
              <a:defRPr sz="2645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95" indent="-252095" algn="l" defTabSz="1007745" rtl="0" eaLnBrk="1" latinLnBrk="0" hangingPunct="1">
        <a:lnSpc>
          <a:spcPct val="90000"/>
        </a:lnSpc>
        <a:spcBef>
          <a:spcPct val="221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628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5" kern="1200">
          <a:solidFill>
            <a:schemeClr val="tx1"/>
          </a:solidFill>
          <a:latin typeface="+mn-lt"/>
          <a:ea typeface="+mn-ea"/>
          <a:cs typeface="+mn-cs"/>
        </a:defRPr>
      </a:lvl2pPr>
      <a:lvl3pPr marL="125984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03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2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177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596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371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387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4" Type="http://schemas.openxmlformats.org/officeDocument/2006/relationships/notesSlide" Target="../notesSlides/notesSlide1.x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12.jpeg"/><Relationship Id="rId21" Type="http://schemas.openxmlformats.org/officeDocument/2006/relationships/image" Target="../media/image11.webp"/><Relationship Id="rId20" Type="http://schemas.openxmlformats.org/officeDocument/2006/relationships/image" Target="../media/image10.png"/><Relationship Id="rId2" Type="http://schemas.openxmlformats.org/officeDocument/2006/relationships/tags" Target="../tags/tag2.xml"/><Relationship Id="rId19" Type="http://schemas.openxmlformats.org/officeDocument/2006/relationships/image" Target="../media/image9.jpeg"/><Relationship Id="rId18" Type="http://schemas.openxmlformats.org/officeDocument/2006/relationships/image" Target="../media/image8.jpeg"/><Relationship Id="rId17" Type="http://schemas.openxmlformats.org/officeDocument/2006/relationships/image" Target="../media/image7.jpeg"/><Relationship Id="rId16" Type="http://schemas.openxmlformats.org/officeDocument/2006/relationships/image" Target="../media/image6.jpeg"/><Relationship Id="rId15" Type="http://schemas.openxmlformats.org/officeDocument/2006/relationships/image" Target="../media/image5.jpeg"/><Relationship Id="rId14" Type="http://schemas.openxmlformats.org/officeDocument/2006/relationships/image" Target="../media/image4.jpe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image" Target="../media/image1.png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圆角矩形 692"/>
          <p:cNvSpPr/>
          <p:nvPr/>
        </p:nvSpPr>
        <p:spPr>
          <a:xfrm rot="16200000">
            <a:off x="1911985" y="-1241107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115" name="矩形: 圆角 5"/>
          <p:cNvSpPr/>
          <p:nvPr/>
        </p:nvSpPr>
        <p:spPr>
          <a:xfrm>
            <a:off x="450215" y="4096385"/>
            <a:ext cx="9791700" cy="2928620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469265" y="550545"/>
            <a:ext cx="9752965" cy="3441065"/>
          </a:xfrm>
          <a:prstGeom prst="roundRect">
            <a:avLst>
              <a:gd name="adj" fmla="val 702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8"/>
          <p:cNvSpPr/>
          <p:nvPr>
            <p:custDataLst>
              <p:tags r:id="rId2"/>
            </p:custDataLst>
          </p:nvPr>
        </p:nvSpPr>
        <p:spPr>
          <a:xfrm flipH="1">
            <a:off x="70612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" name="矩形: 圆角 8"/>
          <p:cNvSpPr/>
          <p:nvPr>
            <p:custDataLst>
              <p:tags r:id="rId3"/>
            </p:custDataLst>
          </p:nvPr>
        </p:nvSpPr>
        <p:spPr>
          <a:xfrm flipH="1">
            <a:off x="312166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5" name="矩形: 圆角 8"/>
          <p:cNvSpPr/>
          <p:nvPr>
            <p:custDataLst>
              <p:tags r:id="rId4"/>
            </p:custDataLst>
          </p:nvPr>
        </p:nvSpPr>
        <p:spPr>
          <a:xfrm flipH="1">
            <a:off x="5537835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3" name="矩形: 圆角 8"/>
          <p:cNvSpPr/>
          <p:nvPr>
            <p:custDataLst>
              <p:tags r:id="rId5"/>
            </p:custDataLst>
          </p:nvPr>
        </p:nvSpPr>
        <p:spPr>
          <a:xfrm flipH="1">
            <a:off x="795401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9" name="矩形: 圆角 117"/>
          <p:cNvSpPr/>
          <p:nvPr>
            <p:custDataLst>
              <p:tags r:id="rId6"/>
            </p:custDataLst>
          </p:nvPr>
        </p:nvSpPr>
        <p:spPr>
          <a:xfrm>
            <a:off x="96266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高价值事件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提取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7" name="矩形: 圆角 117"/>
          <p:cNvSpPr/>
          <p:nvPr>
            <p:custDataLst>
              <p:tags r:id="rId7"/>
            </p:custDataLst>
          </p:nvPr>
        </p:nvSpPr>
        <p:spPr>
          <a:xfrm>
            <a:off x="337693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频谱向量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压缩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0" name="矩形: 圆角 117"/>
          <p:cNvSpPr/>
          <p:nvPr>
            <p:custDataLst>
              <p:tags r:id="rId8"/>
            </p:custDataLst>
          </p:nvPr>
        </p:nvSpPr>
        <p:spPr>
          <a:xfrm>
            <a:off x="5793105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高效存储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检索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1" name="矩形: 圆角 117"/>
          <p:cNvSpPr/>
          <p:nvPr>
            <p:custDataLst>
              <p:tags r:id="rId9"/>
            </p:custDataLst>
          </p:nvPr>
        </p:nvSpPr>
        <p:spPr>
          <a:xfrm>
            <a:off x="820928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可信存证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溯源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74825" y="1289685"/>
            <a:ext cx="8350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事件窗口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1773555" y="2150110"/>
            <a:ext cx="83693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可疑事件识别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1736090" y="2989580"/>
            <a:ext cx="87439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事件判别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23055" y="2200593"/>
            <a:ext cx="87122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量化压缩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26230" y="1380808"/>
            <a:ext cx="86360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语义提取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126230" y="3017838"/>
            <a:ext cx="864235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向量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464300" y="1289685"/>
            <a:ext cx="98615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磁盘索引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6506845" y="2150110"/>
            <a:ext cx="90106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并发插入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维护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6508115" y="2989580"/>
            <a:ext cx="8985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相似波形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983345" y="1289685"/>
            <a:ext cx="87122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链上链下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9032875" y="2150110"/>
            <a:ext cx="87122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可验证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查询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003665" y="2989580"/>
            <a:ext cx="87122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全流程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追溯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6" name="箭头: 左右 129"/>
          <p:cNvSpPr/>
          <p:nvPr/>
        </p:nvSpPr>
        <p:spPr>
          <a:xfrm>
            <a:off x="2753995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7" name="箭头: 左右 129"/>
          <p:cNvSpPr/>
          <p:nvPr/>
        </p:nvSpPr>
        <p:spPr>
          <a:xfrm>
            <a:off x="5167630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8" name="上箭头 65"/>
          <p:cNvSpPr/>
          <p:nvPr>
            <p:custDataLst>
              <p:tags r:id="rId10"/>
            </p:custDataLst>
          </p:nvPr>
        </p:nvSpPr>
        <p:spPr>
          <a:xfrm rot="5400000">
            <a:off x="7673340" y="2037715"/>
            <a:ext cx="201295" cy="306070"/>
          </a:xfrm>
          <a:prstGeom prst="upArrow">
            <a:avLst/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7" name="箭头: 燕尾形 1202"/>
          <p:cNvSpPr/>
          <p:nvPr/>
        </p:nvSpPr>
        <p:spPr>
          <a:xfrm rot="5400000" flipH="1" flipV="1">
            <a:off x="196151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9" name="箭头: 燕尾形 1202"/>
          <p:cNvSpPr/>
          <p:nvPr/>
        </p:nvSpPr>
        <p:spPr>
          <a:xfrm rot="5400000" flipH="1" flipV="1">
            <a:off x="5069840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0" name="箭头: 燕尾形 1202"/>
          <p:cNvSpPr/>
          <p:nvPr/>
        </p:nvSpPr>
        <p:spPr>
          <a:xfrm rot="5400000" flipH="1" flipV="1">
            <a:off x="822642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3931285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基于语义压缩的频谱向量数据库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存储优化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70612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事件窗口驱动的频谱数据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价值评估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模型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15645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链上链下协同的可追溯频谱数据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可信管理</a:t>
            </a: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7" name="矩形: 圆角 8"/>
          <p:cNvSpPr/>
          <p:nvPr/>
        </p:nvSpPr>
        <p:spPr>
          <a:xfrm flipH="1">
            <a:off x="706120" y="4886325"/>
            <a:ext cx="281432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8" name="矩形: 圆角 8"/>
          <p:cNvSpPr/>
          <p:nvPr/>
        </p:nvSpPr>
        <p:spPr>
          <a:xfrm flipH="1">
            <a:off x="3931285" y="4886325"/>
            <a:ext cx="2814955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0" name="矩形: 圆角 8"/>
          <p:cNvSpPr/>
          <p:nvPr/>
        </p:nvSpPr>
        <p:spPr>
          <a:xfrm flipH="1">
            <a:off x="7155815" y="4886325"/>
            <a:ext cx="281559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1" name="箭头: 左右 94"/>
          <p:cNvSpPr/>
          <p:nvPr/>
        </p:nvSpPr>
        <p:spPr>
          <a:xfrm>
            <a:off x="3504302" y="5647332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342332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4" name="箭头: 左右 94"/>
          <p:cNvSpPr/>
          <p:nvPr/>
        </p:nvSpPr>
        <p:spPr>
          <a:xfrm>
            <a:off x="6746612" y="5647332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666563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6" name="矩形: 圆角 48"/>
          <p:cNvSpPr/>
          <p:nvPr/>
        </p:nvSpPr>
        <p:spPr>
          <a:xfrm>
            <a:off x="90932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流式变点检测的事件窗口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7" name="矩形: 圆角 48"/>
          <p:cNvSpPr/>
          <p:nvPr/>
        </p:nvSpPr>
        <p:spPr>
          <a:xfrm>
            <a:off x="90932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PU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风险估计的可疑事件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识别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0" name="矩形: 圆角 48"/>
          <p:cNvSpPr/>
          <p:nvPr/>
        </p:nvSpPr>
        <p:spPr>
          <a:xfrm>
            <a:off x="90932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子模覆盖增益的事件入库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判别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2" name="矩形: 圆角 48"/>
          <p:cNvSpPr/>
          <p:nvPr/>
        </p:nvSpPr>
        <p:spPr>
          <a:xfrm>
            <a:off x="4123055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物理先验增强的语义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压缩提取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3" name="矩形: 圆角 48"/>
          <p:cNvSpPr/>
          <p:nvPr/>
        </p:nvSpPr>
        <p:spPr>
          <a:xfrm>
            <a:off x="4123055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异构介质的高局部性磁盘索引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4" name="矩形: 圆角 48"/>
          <p:cNvSpPr/>
          <p:nvPr/>
        </p:nvSpPr>
        <p:spPr>
          <a:xfrm>
            <a:off x="4123055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高频语义向量的无缓冲并发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插入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5" name="矩形: 圆角 48"/>
          <p:cNvSpPr/>
          <p:nvPr/>
        </p:nvSpPr>
        <p:spPr>
          <a:xfrm>
            <a:off x="736854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事件驱动的分层存证与动态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摘要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6" name="矩形: 圆角 48"/>
          <p:cNvSpPr/>
          <p:nvPr/>
        </p:nvSpPr>
        <p:spPr>
          <a:xfrm>
            <a:off x="736854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结合特征的可验证分级索引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7" name="矩形: 圆角 48"/>
          <p:cNvSpPr/>
          <p:nvPr/>
        </p:nvSpPr>
        <p:spPr>
          <a:xfrm>
            <a:off x="736854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高效可验证查询与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协同更新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320" y="1206500"/>
            <a:ext cx="828000" cy="653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320" y="1971675"/>
            <a:ext cx="828000" cy="64916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1870" y="2797810"/>
            <a:ext cx="662940" cy="662940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14"/>
          <a:stretch>
            <a:fillRect/>
          </a:stretch>
        </p:blipFill>
        <p:spPr>
          <a:xfrm>
            <a:off x="3327717" y="1163638"/>
            <a:ext cx="684000" cy="65880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15"/>
          <a:stretch>
            <a:fillRect/>
          </a:stretch>
        </p:blipFill>
        <p:spPr>
          <a:xfrm>
            <a:off x="3315652" y="1989773"/>
            <a:ext cx="684000" cy="723600"/>
          </a:xfrm>
          <a:prstGeom prst="rect">
            <a:avLst/>
          </a:prstGeom>
        </p:spPr>
      </p:pic>
      <p:pic>
        <p:nvPicPr>
          <p:cNvPr id="13" name="图片 12"/>
          <p:cNvPicPr/>
          <p:nvPr/>
        </p:nvPicPr>
        <p:blipFill>
          <a:blip r:embed="rId16"/>
          <a:stretch>
            <a:fillRect/>
          </a:stretch>
        </p:blipFill>
        <p:spPr>
          <a:xfrm>
            <a:off x="3260090" y="2847340"/>
            <a:ext cx="795020" cy="708025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17"/>
          <a:stretch>
            <a:fillRect/>
          </a:stretch>
        </p:blipFill>
        <p:spPr>
          <a:xfrm>
            <a:off x="5742305" y="1082040"/>
            <a:ext cx="764540" cy="777875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18"/>
          <a:stretch>
            <a:fillRect/>
          </a:stretch>
        </p:blipFill>
        <p:spPr>
          <a:xfrm>
            <a:off x="5717540" y="2052955"/>
            <a:ext cx="764540" cy="609600"/>
          </a:xfrm>
          <a:prstGeom prst="rect">
            <a:avLst/>
          </a:prstGeom>
        </p:spPr>
      </p:pic>
      <p:pic>
        <p:nvPicPr>
          <p:cNvPr id="20" name="图片 19"/>
          <p:cNvPicPr/>
          <p:nvPr/>
        </p:nvPicPr>
        <p:blipFill>
          <a:blip r:embed="rId19"/>
          <a:stretch>
            <a:fillRect/>
          </a:stretch>
        </p:blipFill>
        <p:spPr>
          <a:xfrm>
            <a:off x="8089265" y="1146810"/>
            <a:ext cx="893445" cy="71310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74360" y="2873375"/>
            <a:ext cx="857250" cy="607695"/>
          </a:xfrm>
          <a:prstGeom prst="rect">
            <a:avLst/>
          </a:prstGeom>
        </p:spPr>
      </p:pic>
      <p:pic>
        <p:nvPicPr>
          <p:cNvPr id="26" name="图片 25"/>
          <p:cNvPicPr/>
          <p:nvPr/>
        </p:nvPicPr>
        <p:blipFill>
          <a:blip r:embed="rId21"/>
          <a:stretch>
            <a:fillRect/>
          </a:stretch>
        </p:blipFill>
        <p:spPr>
          <a:xfrm>
            <a:off x="8225155" y="2022475"/>
            <a:ext cx="676910" cy="69088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22"/>
          <a:stretch>
            <a:fillRect/>
          </a:stretch>
        </p:blipFill>
        <p:spPr>
          <a:xfrm>
            <a:off x="8169910" y="2940050"/>
            <a:ext cx="812800" cy="61531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2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3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4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5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6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7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8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9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1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</Words>
  <Application>WPS 演示</Application>
  <PresentationFormat>宽屏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等线</vt:lpstr>
      <vt:lpstr>Times New Roman</vt:lpstr>
      <vt:lpstr>Calibri</vt:lpstr>
      <vt:lpstr>Arial Unicode MS</vt:lpstr>
      <vt:lpstr>等线 Light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我要凹凸曼</cp:lastModifiedBy>
  <cp:revision>40</cp:revision>
  <dcterms:created xsi:type="dcterms:W3CDTF">2026-03-05T08:22:00Z</dcterms:created>
  <dcterms:modified xsi:type="dcterms:W3CDTF">2026-06-15T07:53:02Z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0DBBA5F14F49492383B3FD6530E1CA10_12</vt:lpwstr>
  </property>
</Properties>
</file>