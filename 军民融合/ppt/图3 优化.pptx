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6199485" cy="12599670"/>
  <p:notesSz cx="6858000" cy="9144000"/>
  <p:embeddedFontLst>
    <p:embeddedFont>
      <p:font typeface="微软雅黑" panose="020B0503020204020204" charset="-122"/>
      <p:regular r:id="rId9"/>
      <p:bold r:id="rId10"/>
    </p:embeddedFont>
    <p:embeddedFont>
      <p:font typeface="优设标题黑" panose="00000500000000000000" charset="-122"/>
      <p:regular r:id="rId1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9" userDrawn="1">
          <p15:clr>
            <a:srgbClr val="A4A3A4"/>
          </p15:clr>
        </p15:guide>
        <p15:guide id="2" pos="53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4A1"/>
    <a:srgbClr val="B6C7E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919"/>
        <p:guide pos="531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445078" y="1143000"/>
            <a:ext cx="396784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93293" y="1680249"/>
            <a:ext cx="13023858" cy="472322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062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93293" y="6542389"/>
            <a:ext cx="13023858" cy="2705599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4250" spc="200"/>
            </a:lvl1pPr>
            <a:lvl2pPr marL="809625" indent="0" algn="ctr">
              <a:buNone/>
              <a:defRPr sz="3550"/>
            </a:lvl2pPr>
            <a:lvl3pPr marL="1619885" indent="0" algn="ctr">
              <a:buNone/>
              <a:defRPr sz="3190"/>
            </a:lvl3pPr>
            <a:lvl4pPr marL="2429510" indent="0" algn="ctr">
              <a:buNone/>
              <a:defRPr sz="2835"/>
            </a:lvl4pPr>
            <a:lvl5pPr marL="3241040" indent="0" algn="ctr">
              <a:buNone/>
              <a:defRPr sz="2835"/>
            </a:lvl5pPr>
            <a:lvl6pPr marL="4050030" indent="0" algn="ctr">
              <a:buNone/>
              <a:defRPr sz="2835"/>
            </a:lvl6pPr>
            <a:lvl7pPr marL="4860290" indent="0" algn="ctr">
              <a:buNone/>
              <a:defRPr sz="2835"/>
            </a:lvl7pPr>
            <a:lvl8pPr marL="5670550" indent="0" algn="ctr">
              <a:buNone/>
              <a:defRPr sz="2835"/>
            </a:lvl8pPr>
            <a:lvl9pPr marL="6480810" indent="0" algn="ctr">
              <a:buNone/>
              <a:defRPr sz="28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608" y="1117961"/>
            <a:ext cx="14578875" cy="12965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08608" y="2738674"/>
            <a:ext cx="14578875" cy="87452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645920" y="7071601"/>
            <a:ext cx="10325307" cy="1409028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78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645920" y="8480629"/>
            <a:ext cx="10325307" cy="15942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19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80962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2pPr>
            <a:lvl3pPr marL="1619885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42951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4pPr>
            <a:lvl5pPr marL="324104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5pPr>
            <a:lvl6pPr marL="405003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6pPr>
            <a:lvl7pPr marL="486029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7pPr>
            <a:lvl8pPr marL="567055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8pPr>
            <a:lvl9pPr marL="648081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608" y="1117961"/>
            <a:ext cx="14578875" cy="12965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08608" y="2758520"/>
            <a:ext cx="6880348" cy="872539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521489" y="2758520"/>
            <a:ext cx="6880348" cy="872539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608" y="1117961"/>
            <a:ext cx="14578875" cy="12965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808608" y="2579911"/>
            <a:ext cx="7100443" cy="760743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5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09625" indent="0">
              <a:buNone/>
              <a:defRPr sz="3550" b="1"/>
            </a:lvl2pPr>
            <a:lvl3pPr marL="1619885" indent="0">
              <a:buNone/>
              <a:defRPr sz="3190" b="1"/>
            </a:lvl3pPr>
            <a:lvl4pPr marL="2429510" indent="0">
              <a:buNone/>
              <a:defRPr sz="2835" b="1"/>
            </a:lvl4pPr>
            <a:lvl5pPr marL="3241040" indent="0">
              <a:buNone/>
              <a:defRPr sz="2835" b="1"/>
            </a:lvl5pPr>
            <a:lvl6pPr marL="4050030" indent="0">
              <a:buNone/>
              <a:defRPr sz="2835" b="1"/>
            </a:lvl6pPr>
            <a:lvl7pPr marL="4860290" indent="0">
              <a:buNone/>
              <a:defRPr sz="2835" b="1"/>
            </a:lvl7pPr>
            <a:lvl8pPr marL="5670550" indent="0">
              <a:buNone/>
              <a:defRPr sz="2835" b="1"/>
            </a:lvl8pPr>
            <a:lvl9pPr marL="6480810" indent="0">
              <a:buNone/>
              <a:defRPr sz="28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08608" y="3406805"/>
            <a:ext cx="7100443" cy="807710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8287771" y="2579911"/>
            <a:ext cx="7100443" cy="76074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55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09625" indent="0">
              <a:buNone/>
              <a:defRPr sz="3550" b="1"/>
            </a:lvl2pPr>
            <a:lvl3pPr marL="1619885" indent="0">
              <a:buNone/>
              <a:defRPr sz="3190" b="1"/>
            </a:lvl3pPr>
            <a:lvl4pPr marL="2429510" indent="0">
              <a:buNone/>
              <a:defRPr sz="2835" b="1"/>
            </a:lvl4pPr>
            <a:lvl5pPr marL="3241040" indent="0">
              <a:buNone/>
              <a:defRPr sz="2835" b="1"/>
            </a:lvl5pPr>
            <a:lvl6pPr marL="4050030" indent="0">
              <a:buNone/>
              <a:defRPr sz="2835" b="1"/>
            </a:lvl6pPr>
            <a:lvl7pPr marL="4860290" indent="0">
              <a:buNone/>
              <a:defRPr sz="2835" b="1"/>
            </a:lvl7pPr>
            <a:lvl8pPr marL="5670550" indent="0">
              <a:buNone/>
              <a:defRPr sz="2835" b="1"/>
            </a:lvl8pPr>
            <a:lvl9pPr marL="6480810" indent="0">
              <a:buNone/>
              <a:defRPr sz="283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8287771" y="3406805"/>
            <a:ext cx="7100443" cy="807710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08608" y="1117961"/>
            <a:ext cx="14578875" cy="129657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808608" y="2857747"/>
            <a:ext cx="6955145" cy="846739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8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440149" y="2857747"/>
            <a:ext cx="6947334" cy="846739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83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3602803" y="1680249"/>
            <a:ext cx="1387553" cy="9241372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96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215305" y="1680249"/>
            <a:ext cx="12186542" cy="9241372"/>
          </a:xfrm>
        </p:spPr>
        <p:txBody>
          <a:bodyPr vert="eaVert" lIns="46800" tIns="46800" rIns="46800" bIns="46800"/>
          <a:lstStyle>
            <a:lvl1pPr marL="405130" indent="-405130">
              <a:spcAft>
                <a:spcPts val="1000"/>
              </a:spcAft>
              <a:defRPr spc="300"/>
            </a:lvl1pPr>
            <a:lvl2pPr marL="1216025" indent="-405130">
              <a:defRPr spc="300"/>
            </a:lvl2pPr>
            <a:lvl3pPr marL="2024380" indent="-405130">
              <a:defRPr spc="300"/>
            </a:lvl3pPr>
            <a:lvl4pPr marL="2835275" indent="-405130">
              <a:defRPr spc="300"/>
            </a:lvl4pPr>
            <a:lvl5pPr marL="3644900" indent="-40513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808608" y="1422258"/>
            <a:ext cx="14583659" cy="1007488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93293" y="4405693"/>
            <a:ext cx="13023858" cy="203085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062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593293" y="6542389"/>
            <a:ext cx="13023858" cy="92612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425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08608" y="1117961"/>
            <a:ext cx="14578875" cy="129657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08608" y="2738674"/>
            <a:ext cx="14578875" cy="87452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13393" y="11602983"/>
            <a:ext cx="3588499" cy="582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5470467" y="11602983"/>
            <a:ext cx="5263132" cy="582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1798984" y="11602983"/>
            <a:ext cx="3588499" cy="582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19885" rtl="0" eaLnBrk="1" fontAlgn="auto" latinLnBrk="0" hangingPunct="1">
        <a:lnSpc>
          <a:spcPct val="100000"/>
        </a:lnSpc>
        <a:spcBef>
          <a:spcPct val="0"/>
        </a:spcBef>
        <a:buNone/>
        <a:defRPr sz="637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405130" indent="-405130" algn="l" defTabSz="161988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31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216025" indent="-405130" algn="l" defTabSz="16198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851785" algn="l"/>
          <a:tab pos="2851785" algn="l"/>
          <a:tab pos="2851785" algn="l"/>
          <a:tab pos="2851785" algn="l"/>
        </a:tabLst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024380" indent="-405130" algn="l" defTabSz="161988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835275" indent="-405130" algn="l" defTabSz="16198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24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3644900" indent="-405130" algn="l" defTabSz="161988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24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4455795" indent="-405130" algn="l" defTabSz="1619885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6pPr>
      <a:lvl7pPr marL="5266690" indent="-405130" algn="l" defTabSz="1619885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7pPr>
      <a:lvl8pPr marL="6076315" indent="-405130" algn="l" defTabSz="1619885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8pPr>
      <a:lvl9pPr marL="6885940" indent="-405130" algn="l" defTabSz="1619885" rtl="0" eaLnBrk="1" latinLnBrk="0" hangingPunct="1">
        <a:lnSpc>
          <a:spcPct val="90000"/>
        </a:lnSpc>
        <a:spcBef>
          <a:spcPct val="178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1pPr>
      <a:lvl2pPr marL="809625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2pPr>
      <a:lvl3pPr marL="1619885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3pPr>
      <a:lvl4pPr marL="2429510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4pPr>
      <a:lvl5pPr marL="3241040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5pPr>
      <a:lvl6pPr marL="4050030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6pPr>
      <a:lvl7pPr marL="4860290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7pPr>
      <a:lvl8pPr marL="5670550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8pPr>
      <a:lvl9pPr marL="6480810" algn="l" defTabSz="1619885" rtl="0" eaLnBrk="1" latinLnBrk="0" hangingPunct="1">
        <a:defRPr sz="31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: 圆角 2"/>
          <p:cNvSpPr/>
          <p:nvPr/>
        </p:nvSpPr>
        <p:spPr>
          <a:xfrm>
            <a:off x="5487670" y="7218045"/>
            <a:ext cx="9902190" cy="2219960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8" name="矩形: 圆角 2"/>
          <p:cNvSpPr/>
          <p:nvPr/>
        </p:nvSpPr>
        <p:spPr>
          <a:xfrm>
            <a:off x="5500370" y="9895205"/>
            <a:ext cx="9890125" cy="2196465"/>
          </a:xfrm>
          <a:prstGeom prst="roundRect">
            <a:avLst>
              <a:gd name="adj" fmla="val 7070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19" name="矩形: 圆角 2"/>
          <p:cNvSpPr/>
          <p:nvPr/>
        </p:nvSpPr>
        <p:spPr>
          <a:xfrm>
            <a:off x="5481320" y="4552315"/>
            <a:ext cx="9908540" cy="2220595"/>
          </a:xfrm>
          <a:prstGeom prst="roundRect">
            <a:avLst>
              <a:gd name="adj" fmla="val 7070"/>
            </a:avLst>
          </a:prstGeom>
          <a:solidFill>
            <a:schemeClr val="accent1">
              <a:lumMod val="40000"/>
              <a:lumOff val="60000"/>
            </a:schemeClr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37845" y="254000"/>
            <a:ext cx="15404465" cy="12183745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矩形: 圆角 3"/>
          <p:cNvSpPr/>
          <p:nvPr/>
        </p:nvSpPr>
        <p:spPr>
          <a:xfrm>
            <a:off x="2881087" y="494650"/>
            <a:ext cx="10379406" cy="93729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clean-title"/>
          <p:cNvSpPr/>
          <p:nvPr/>
        </p:nvSpPr>
        <p:spPr>
          <a:xfrm>
            <a:off x="3568814" y="653406"/>
            <a:ext cx="8999507" cy="5727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海杂波场景电磁频谱数据智能处理机理与方法</a:t>
            </a:r>
            <a:endParaRPr lang="zh-CN" altLang="en-US"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: 圆角 2"/>
          <p:cNvSpPr/>
          <p:nvPr/>
        </p:nvSpPr>
        <p:spPr>
          <a:xfrm>
            <a:off x="5440853" y="1886609"/>
            <a:ext cx="9948862" cy="2219396"/>
          </a:xfrm>
          <a:prstGeom prst="roundRect">
            <a:avLst>
              <a:gd name="adj" fmla="val 7070"/>
            </a:avLst>
          </a:prstGeom>
          <a:solidFill>
            <a:srgbClr val="FADBDF"/>
          </a:solidFill>
          <a:ln w="254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2235" dirty="0">
              <a:solidFill>
                <a:srgbClr val="C00000"/>
              </a:solidFill>
            </a:endParaRPr>
          </a:p>
        </p:txBody>
      </p:sp>
      <p:cxnSp>
        <p:nvCxnSpPr>
          <p:cNvPr id="119" name="直接箭头连接符 118"/>
          <p:cNvCxnSpPr/>
          <p:nvPr/>
        </p:nvCxnSpPr>
        <p:spPr>
          <a:xfrm>
            <a:off x="9079395" y="2186814"/>
            <a:ext cx="5195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组合 245"/>
          <p:cNvGrpSpPr/>
          <p:nvPr/>
        </p:nvGrpSpPr>
        <p:grpSpPr>
          <a:xfrm>
            <a:off x="847725" y="1886585"/>
            <a:ext cx="4379734" cy="2220638"/>
            <a:chOff x="964" y="3146"/>
            <a:chExt cx="5470" cy="2878"/>
          </a:xfrm>
        </p:grpSpPr>
        <p:sp>
          <p:nvSpPr>
            <p:cNvPr id="77" name="矩形: 圆角 94"/>
            <p:cNvSpPr/>
            <p:nvPr/>
          </p:nvSpPr>
          <p:spPr>
            <a:xfrm>
              <a:off x="2669" y="3146"/>
              <a:ext cx="3766" cy="2862"/>
            </a:xfrm>
            <a:prstGeom prst="roundRect">
              <a:avLst>
                <a:gd name="adj" fmla="val 7070"/>
              </a:avLst>
            </a:prstGeom>
            <a:solidFill>
              <a:srgbClr val="FADBD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35" dirty="0">
                <a:solidFill>
                  <a:srgbClr val="C00000"/>
                </a:solidFill>
              </a:endParaRPr>
            </a:p>
          </p:txBody>
        </p:sp>
        <p:sp>
          <p:nvSpPr>
            <p:cNvPr id="78" name="矩形: 圆角 1197"/>
            <p:cNvSpPr/>
            <p:nvPr/>
          </p:nvSpPr>
          <p:spPr>
            <a:xfrm>
              <a:off x="2880" y="3232"/>
              <a:ext cx="624" cy="2672"/>
            </a:xfrm>
            <a:prstGeom prst="roundRect">
              <a:avLst>
                <a:gd name="adj" fmla="val 2756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zh-CN" altLang="en-US" sz="1700" b="1" i="0" u="none" strike="noStrike" kern="1200" cap="none" spc="-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研究内容一方案</a:t>
              </a:r>
              <a:endPara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3665" y="3459"/>
              <a:ext cx="2532" cy="2329"/>
              <a:chOff x="1482489" y="1168420"/>
              <a:chExt cx="1937502" cy="1478915"/>
            </a:xfrm>
          </p:grpSpPr>
          <p:sp>
            <p:nvSpPr>
              <p:cNvPr id="80" name="矩形: 圆角 1150"/>
              <p:cNvSpPr/>
              <p:nvPr/>
            </p:nvSpPr>
            <p:spPr>
              <a:xfrm>
                <a:off x="1510625" y="1168420"/>
                <a:ext cx="1846737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23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1482489" y="1334054"/>
                <a:ext cx="1937502" cy="1087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buClrTx/>
                  <a:buSzTx/>
                  <a:buFontTx/>
                  <a:defRPr sz="1600" b="1"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r>
                  <a:rPr lang="zh-CN" altLang="en-US" sz="2000" dirty="0">
                    <a:sym typeface="+mn-ea"/>
                  </a:rPr>
                  <a:t>海杂波干扰下</a:t>
                </a:r>
                <a:endParaRPr lang="zh-CN" altLang="en-US" sz="20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2000" dirty="0"/>
                  <a:t>微弱电磁频谱信号传播规律分析与提取</a:t>
                </a:r>
                <a:endParaRPr lang="zh-CN" altLang="en-US" sz="2000" dirty="0"/>
              </a:p>
            </p:txBody>
          </p:sp>
        </p:grpSp>
        <p:sp>
          <p:nvSpPr>
            <p:cNvPr id="151" name="矩形: 圆角 1197"/>
            <p:cNvSpPr/>
            <p:nvPr/>
          </p:nvSpPr>
          <p:spPr>
            <a:xfrm>
              <a:off x="964" y="3161"/>
              <a:ext cx="1442" cy="2862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mongolianVert" rtlCol="0" anchor="ctr" anchorCtr="0"/>
            <a:lstStyle/>
            <a:p>
              <a:pPr lvl="0" indent="0" algn="l" fontAlgn="ctr">
                <a:lnSpc>
                  <a:spcPct val="80000"/>
                </a:lnSpc>
                <a:spcBef>
                  <a:spcPts val="1200"/>
                </a:spcBef>
                <a:spcAft>
                  <a:spcPts val="1200"/>
                </a:spcAft>
              </a:pPr>
              <a:endParaRPr kumimoji="0" lang="zh-CN" altLang="en-US" sz="24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1277" y="3161"/>
              <a:ext cx="843" cy="286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zh-CN" altLang="en-US" sz="3200">
                  <a:solidFill>
                    <a:schemeClr val="bg1"/>
                  </a:solidFill>
                  <a:latin typeface="优设标题黑" panose="00000500000000000000" charset="-122"/>
                  <a:ea typeface="优设标题黑" panose="00000500000000000000" charset="-122"/>
                </a:rPr>
                <a:t>怎么提取</a:t>
              </a:r>
              <a:endParaRPr lang="zh-CN" altLang="en-US" sz="3200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</a:endParaRPr>
            </a:p>
          </p:txBody>
        </p:sp>
      </p:grpSp>
      <p:sp>
        <p:nvSpPr>
          <p:cNvPr id="261" name="同侧圆角矩形 260"/>
          <p:cNvSpPr/>
          <p:nvPr/>
        </p:nvSpPr>
        <p:spPr>
          <a:xfrm>
            <a:off x="5822315" y="2106930"/>
            <a:ext cx="2813685" cy="629920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951855" y="215836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1.1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复杂海洋环境下电磁频谱信号时空耦合规律建模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1" name="组合 430"/>
          <p:cNvGrpSpPr/>
          <p:nvPr/>
        </p:nvGrpSpPr>
        <p:grpSpPr>
          <a:xfrm>
            <a:off x="5837555" y="2736850"/>
            <a:ext cx="2780665" cy="1162050"/>
            <a:chOff x="9193" y="4310"/>
            <a:chExt cx="4379" cy="1830"/>
          </a:xfrm>
        </p:grpSpPr>
        <p:cxnSp>
          <p:nvCxnSpPr>
            <p:cNvPr id="118" name="直接箭头连接符 117"/>
            <p:cNvCxnSpPr/>
            <p:nvPr/>
          </p:nvCxnSpPr>
          <p:spPr>
            <a:xfrm>
              <a:off x="12754" y="4845"/>
              <a:ext cx="8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矩形 263"/>
            <p:cNvSpPr/>
            <p:nvPr/>
          </p:nvSpPr>
          <p:spPr>
            <a:xfrm>
              <a:off x="9193" y="4310"/>
              <a:ext cx="4379" cy="18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8" name="矩形: 圆角 1197"/>
            <p:cNvSpPr/>
            <p:nvPr/>
          </p:nvSpPr>
          <p:spPr>
            <a:xfrm>
              <a:off x="9522" y="4473"/>
              <a:ext cx="3721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76" name="文本框 275"/>
            <p:cNvSpPr txBox="1"/>
            <p:nvPr/>
          </p:nvSpPr>
          <p:spPr>
            <a:xfrm>
              <a:off x="9854" y="4442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环境状态建模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7" name="任意多边形: 形状 371"/>
            <p:cNvSpPr/>
            <p:nvPr/>
          </p:nvSpPr>
          <p:spPr>
            <a:xfrm>
              <a:off x="9522" y="4475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85" name="矩形: 圆角 1197"/>
            <p:cNvSpPr/>
            <p:nvPr/>
          </p:nvSpPr>
          <p:spPr>
            <a:xfrm>
              <a:off x="9524" y="5006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86" name="文本框 285"/>
            <p:cNvSpPr txBox="1"/>
            <p:nvPr/>
          </p:nvSpPr>
          <p:spPr>
            <a:xfrm>
              <a:off x="9854" y="4975"/>
              <a:ext cx="3381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海杂波建模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7" name="任意多边形: 形状 371"/>
            <p:cNvSpPr/>
            <p:nvPr/>
          </p:nvSpPr>
          <p:spPr>
            <a:xfrm>
              <a:off x="9522" y="500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288" name="矩形: 圆角 1197"/>
            <p:cNvSpPr/>
            <p:nvPr/>
          </p:nvSpPr>
          <p:spPr>
            <a:xfrm>
              <a:off x="9525" y="5554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289" name="文本框 288"/>
            <p:cNvSpPr txBox="1"/>
            <p:nvPr/>
          </p:nvSpPr>
          <p:spPr>
            <a:xfrm>
              <a:off x="9844" y="5523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时间耦合规律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0" name="任意多边形: 形状 371"/>
            <p:cNvSpPr/>
            <p:nvPr/>
          </p:nvSpPr>
          <p:spPr>
            <a:xfrm>
              <a:off x="9526" y="555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294" name="同侧圆角矩形 293"/>
          <p:cNvSpPr/>
          <p:nvPr/>
        </p:nvSpPr>
        <p:spPr>
          <a:xfrm>
            <a:off x="9029065" y="2106930"/>
            <a:ext cx="2813685" cy="629920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5" name="文本框 294"/>
          <p:cNvSpPr txBox="1"/>
          <p:nvPr/>
        </p:nvSpPr>
        <p:spPr>
          <a:xfrm>
            <a:off x="9158605" y="215836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1.2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基于干扰对消的微弱信号频谱特征增强方法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8" name="同侧圆角矩形 307"/>
          <p:cNvSpPr/>
          <p:nvPr/>
        </p:nvSpPr>
        <p:spPr>
          <a:xfrm>
            <a:off x="12244070" y="2107565"/>
            <a:ext cx="2813685" cy="629920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9" name="文本框 308"/>
          <p:cNvSpPr txBox="1"/>
          <p:nvPr/>
        </p:nvSpPr>
        <p:spPr>
          <a:xfrm>
            <a:off x="12373610" y="2159000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1.3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面向微弱电磁信号的多维表征提取方法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22" name="组合 321"/>
          <p:cNvGrpSpPr/>
          <p:nvPr/>
        </p:nvGrpSpPr>
        <p:grpSpPr>
          <a:xfrm>
            <a:off x="845820" y="4552358"/>
            <a:ext cx="4380535" cy="2220595"/>
            <a:chOff x="964" y="3146"/>
            <a:chExt cx="5471" cy="2878"/>
          </a:xfrm>
        </p:grpSpPr>
        <p:sp>
          <p:nvSpPr>
            <p:cNvPr id="323" name="矩形: 圆角 94"/>
            <p:cNvSpPr/>
            <p:nvPr/>
          </p:nvSpPr>
          <p:spPr>
            <a:xfrm>
              <a:off x="2669" y="3146"/>
              <a:ext cx="3766" cy="2862"/>
            </a:xfrm>
            <a:prstGeom prst="roundRect">
              <a:avLst>
                <a:gd name="adj" fmla="val 7070"/>
              </a:avLst>
            </a:prstGeom>
            <a:solidFill>
              <a:srgbClr val="B6C7EA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35" dirty="0">
                <a:solidFill>
                  <a:srgbClr val="C00000"/>
                </a:solidFill>
              </a:endParaRPr>
            </a:p>
          </p:txBody>
        </p:sp>
        <p:sp>
          <p:nvSpPr>
            <p:cNvPr id="324" name="矩形: 圆角 1197"/>
            <p:cNvSpPr/>
            <p:nvPr/>
          </p:nvSpPr>
          <p:spPr>
            <a:xfrm>
              <a:off x="2882" y="3232"/>
              <a:ext cx="623" cy="2672"/>
            </a:xfrm>
            <a:prstGeom prst="roundRect">
              <a:avLst>
                <a:gd name="adj" fmla="val 27564"/>
              </a:avLst>
            </a:prstGeom>
            <a:solidFill>
              <a:srgbClr val="2E54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zh-CN" altLang="en-US" sz="1700" b="1" i="0" u="none" strike="noStrike" kern="1200" cap="none" spc="-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研究内容</a:t>
              </a:r>
              <a:r>
                <a:rPr kumimoji="0" lang="zh-CN" altLang="en-US" sz="1700" b="1" i="0" u="none" strike="noStrike" kern="1200" cap="none" spc="-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二方案</a:t>
              </a:r>
              <a:endPara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grpSp>
          <p:nvGrpSpPr>
            <p:cNvPr id="328" name="组合 327"/>
            <p:cNvGrpSpPr/>
            <p:nvPr/>
          </p:nvGrpSpPr>
          <p:grpSpPr>
            <a:xfrm>
              <a:off x="3665" y="3459"/>
              <a:ext cx="2532" cy="2373"/>
              <a:chOff x="1482489" y="1168420"/>
              <a:chExt cx="1937502" cy="1507147"/>
            </a:xfrm>
          </p:grpSpPr>
          <p:sp>
            <p:nvSpPr>
              <p:cNvPr id="329" name="矩形: 圆角 1150"/>
              <p:cNvSpPr/>
              <p:nvPr/>
            </p:nvSpPr>
            <p:spPr>
              <a:xfrm>
                <a:off x="1510625" y="1168420"/>
                <a:ext cx="1846737" cy="1478915"/>
              </a:xfrm>
              <a:prstGeom prst="roundRect">
                <a:avLst>
                  <a:gd name="adj" fmla="val 4026"/>
                </a:avLst>
              </a:prstGeom>
              <a:solidFill>
                <a:srgbClr val="FFFFFF"/>
              </a:solidFill>
              <a:ln>
                <a:solidFill>
                  <a:srgbClr val="2E54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23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34" name="文本框 333"/>
              <p:cNvSpPr txBox="1"/>
              <p:nvPr/>
            </p:nvSpPr>
            <p:spPr>
              <a:xfrm>
                <a:off x="1482489" y="1334054"/>
                <a:ext cx="1937502" cy="1341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buClrTx/>
                  <a:buSzTx/>
                  <a:buFontTx/>
                  <a:defRPr sz="1600" b="1"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r>
                  <a:rPr lang="zh-CN" altLang="en-US" sz="2000" dirty="0"/>
                  <a:t>有限算力端侧</a:t>
                </a:r>
                <a:endParaRPr lang="zh-CN" altLang="en-US" sz="2000" dirty="0"/>
              </a:p>
              <a:p>
                <a:r>
                  <a:rPr lang="zh-CN" altLang="en-US" sz="2000" dirty="0"/>
                  <a:t>频谱数据的轻量存储和可信管理方法</a:t>
                </a:r>
                <a:endParaRPr lang="zh-CN" altLang="en-US" sz="2000" dirty="0"/>
              </a:p>
              <a:p>
                <a:endParaRPr lang="zh-CN" altLang="en-US" sz="2000" dirty="0"/>
              </a:p>
            </p:txBody>
          </p:sp>
        </p:grpSp>
        <p:sp>
          <p:nvSpPr>
            <p:cNvPr id="336" name="矩形: 圆角 1197"/>
            <p:cNvSpPr/>
            <p:nvPr/>
          </p:nvSpPr>
          <p:spPr>
            <a:xfrm>
              <a:off x="964" y="3161"/>
              <a:ext cx="1442" cy="2862"/>
            </a:xfrm>
            <a:prstGeom prst="roundRect">
              <a:avLst>
                <a:gd name="adj" fmla="val 0"/>
              </a:avLst>
            </a:prstGeom>
            <a:solidFill>
              <a:srgbClr val="2E54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mongolianVert" rtlCol="0" anchor="ctr" anchorCtr="0"/>
            <a:lstStyle/>
            <a:p>
              <a:pPr lvl="0" indent="0" algn="l" fontAlgn="ctr">
                <a:lnSpc>
                  <a:spcPct val="80000"/>
                </a:lnSpc>
                <a:spcBef>
                  <a:spcPts val="1200"/>
                </a:spcBef>
                <a:spcAft>
                  <a:spcPts val="1200"/>
                </a:spcAft>
              </a:pPr>
              <a:endParaRPr kumimoji="0" lang="zh-CN" altLang="en-US" sz="24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37" name="文本框 336"/>
            <p:cNvSpPr txBox="1"/>
            <p:nvPr/>
          </p:nvSpPr>
          <p:spPr>
            <a:xfrm>
              <a:off x="1277" y="3161"/>
              <a:ext cx="843" cy="286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zh-CN" altLang="en-US" sz="3200">
                  <a:solidFill>
                    <a:schemeClr val="bg1"/>
                  </a:solidFill>
                  <a:latin typeface="优设标题黑" panose="00000500000000000000" charset="-122"/>
                  <a:ea typeface="优设标题黑" panose="00000500000000000000" charset="-122"/>
                </a:rPr>
                <a:t>怎么</a:t>
              </a:r>
              <a:r>
                <a:rPr lang="zh-CN" altLang="en-US" sz="3200">
                  <a:solidFill>
                    <a:schemeClr val="bg1"/>
                  </a:solidFill>
                  <a:latin typeface="优设标题黑" panose="00000500000000000000" charset="-122"/>
                  <a:ea typeface="优设标题黑" panose="00000500000000000000" charset="-122"/>
                </a:rPr>
                <a:t>存储</a:t>
              </a:r>
              <a:endParaRPr lang="zh-CN" altLang="en-US" sz="3200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</a:endParaRPr>
            </a:p>
          </p:txBody>
        </p:sp>
      </p:grpSp>
      <p:grpSp>
        <p:nvGrpSpPr>
          <p:cNvPr id="338" name="组合 337"/>
          <p:cNvGrpSpPr/>
          <p:nvPr/>
        </p:nvGrpSpPr>
        <p:grpSpPr>
          <a:xfrm>
            <a:off x="846455" y="7218088"/>
            <a:ext cx="4380535" cy="2220595"/>
            <a:chOff x="964" y="3146"/>
            <a:chExt cx="5471" cy="2878"/>
          </a:xfrm>
        </p:grpSpPr>
        <p:sp>
          <p:nvSpPr>
            <p:cNvPr id="345" name="矩形: 圆角 94"/>
            <p:cNvSpPr/>
            <p:nvPr/>
          </p:nvSpPr>
          <p:spPr>
            <a:xfrm>
              <a:off x="2669" y="3146"/>
              <a:ext cx="3766" cy="2862"/>
            </a:xfrm>
            <a:prstGeom prst="roundRect">
              <a:avLst>
                <a:gd name="adj" fmla="val 7070"/>
              </a:avLst>
            </a:prstGeom>
            <a:solidFill>
              <a:srgbClr val="FADBDF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35" dirty="0">
                <a:solidFill>
                  <a:srgbClr val="C00000"/>
                </a:solidFill>
              </a:endParaRPr>
            </a:p>
          </p:txBody>
        </p:sp>
        <p:sp>
          <p:nvSpPr>
            <p:cNvPr id="346" name="矩形: 圆角 1197"/>
            <p:cNvSpPr/>
            <p:nvPr/>
          </p:nvSpPr>
          <p:spPr>
            <a:xfrm>
              <a:off x="2880" y="3232"/>
              <a:ext cx="624" cy="2672"/>
            </a:xfrm>
            <a:prstGeom prst="roundRect">
              <a:avLst>
                <a:gd name="adj" fmla="val 2756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zh-CN" altLang="en-US" sz="1700" b="1" i="0" u="none" strike="noStrike" kern="1200" cap="none" spc="-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研究内容</a:t>
              </a:r>
              <a:r>
                <a:rPr kumimoji="0" lang="zh-CN" altLang="en-US" sz="1700" b="1" i="0" u="none" strike="noStrike" kern="1200" cap="none" spc="-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三方案</a:t>
              </a:r>
              <a:endPara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grpSp>
          <p:nvGrpSpPr>
            <p:cNvPr id="347" name="组合 346"/>
            <p:cNvGrpSpPr/>
            <p:nvPr/>
          </p:nvGrpSpPr>
          <p:grpSpPr>
            <a:xfrm>
              <a:off x="3702" y="3459"/>
              <a:ext cx="2533" cy="2329"/>
              <a:chOff x="1510625" y="1168420"/>
              <a:chExt cx="1937889" cy="1478915"/>
            </a:xfrm>
          </p:grpSpPr>
          <p:sp>
            <p:nvSpPr>
              <p:cNvPr id="348" name="矩形: 圆角 1150"/>
              <p:cNvSpPr/>
              <p:nvPr/>
            </p:nvSpPr>
            <p:spPr>
              <a:xfrm>
                <a:off x="1510625" y="1168420"/>
                <a:ext cx="1846737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23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55" name="文本框 354"/>
              <p:cNvSpPr txBox="1"/>
              <p:nvPr/>
            </p:nvSpPr>
            <p:spPr>
              <a:xfrm>
                <a:off x="1511012" y="1389450"/>
                <a:ext cx="1937502" cy="1088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buClrTx/>
                  <a:buSzTx/>
                  <a:buFontTx/>
                  <a:defRPr sz="1600" b="1"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r>
                  <a:rPr lang="zh-CN" altLang="en-US" sz="2000" dirty="0">
                    <a:sym typeface="+mn-ea"/>
                  </a:rPr>
                  <a:t>基于频谱知识图谱的轻量化目标识别与可信协同决策方法</a:t>
                </a:r>
                <a:endParaRPr lang="zh-CN" altLang="en-US" sz="2000" dirty="0">
                  <a:sym typeface="+mn-ea"/>
                </a:endParaRPr>
              </a:p>
            </p:txBody>
          </p:sp>
        </p:grpSp>
        <p:sp>
          <p:nvSpPr>
            <p:cNvPr id="356" name="矩形: 圆角 1197"/>
            <p:cNvSpPr/>
            <p:nvPr/>
          </p:nvSpPr>
          <p:spPr>
            <a:xfrm>
              <a:off x="964" y="3161"/>
              <a:ext cx="1442" cy="2862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mongolianVert" rtlCol="0" anchor="ctr" anchorCtr="0"/>
            <a:lstStyle/>
            <a:p>
              <a:pPr lvl="0" indent="0" algn="l" fontAlgn="ctr">
                <a:lnSpc>
                  <a:spcPct val="80000"/>
                </a:lnSpc>
                <a:spcBef>
                  <a:spcPts val="1200"/>
                </a:spcBef>
                <a:spcAft>
                  <a:spcPts val="1200"/>
                </a:spcAft>
              </a:pPr>
              <a:endParaRPr kumimoji="0" lang="zh-CN" altLang="en-US" sz="24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57" name="文本框 356"/>
            <p:cNvSpPr txBox="1"/>
            <p:nvPr/>
          </p:nvSpPr>
          <p:spPr>
            <a:xfrm>
              <a:off x="1277" y="3161"/>
              <a:ext cx="843" cy="286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zh-CN" altLang="en-US" sz="3200">
                  <a:solidFill>
                    <a:schemeClr val="bg1"/>
                  </a:solidFill>
                  <a:latin typeface="优设标题黑" panose="00000500000000000000" charset="-122"/>
                  <a:ea typeface="优设标题黑" panose="00000500000000000000" charset="-122"/>
                </a:rPr>
                <a:t>怎么</a:t>
              </a:r>
              <a:r>
                <a:rPr lang="zh-CN" altLang="en-US" sz="3200">
                  <a:solidFill>
                    <a:schemeClr val="bg1"/>
                  </a:solidFill>
                  <a:latin typeface="优设标题黑" panose="00000500000000000000" charset="-122"/>
                  <a:ea typeface="优设标题黑" panose="00000500000000000000" charset="-122"/>
                </a:rPr>
                <a:t>处理</a:t>
              </a:r>
              <a:endParaRPr lang="zh-CN" altLang="en-US" sz="3200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</a:endParaRPr>
            </a:p>
          </p:txBody>
        </p:sp>
      </p:grpSp>
      <p:grpSp>
        <p:nvGrpSpPr>
          <p:cNvPr id="358" name="组合 357"/>
          <p:cNvGrpSpPr/>
          <p:nvPr/>
        </p:nvGrpSpPr>
        <p:grpSpPr>
          <a:xfrm>
            <a:off x="847090" y="9883818"/>
            <a:ext cx="4380535" cy="2219960"/>
            <a:chOff x="964" y="3146"/>
            <a:chExt cx="5471" cy="2878"/>
          </a:xfrm>
        </p:grpSpPr>
        <p:sp>
          <p:nvSpPr>
            <p:cNvPr id="359" name="矩形: 圆角 94"/>
            <p:cNvSpPr/>
            <p:nvPr/>
          </p:nvSpPr>
          <p:spPr>
            <a:xfrm>
              <a:off x="2669" y="3146"/>
              <a:ext cx="3766" cy="2862"/>
            </a:xfrm>
            <a:prstGeom prst="roundRect">
              <a:avLst>
                <a:gd name="adj" fmla="val 7070"/>
              </a:avLst>
            </a:prstGeom>
            <a:solidFill>
              <a:srgbClr val="B6C7EA"/>
            </a:solidFill>
            <a:ln w="254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2235" dirty="0">
                <a:solidFill>
                  <a:srgbClr val="C00000"/>
                </a:solidFill>
              </a:endParaRPr>
            </a:p>
          </p:txBody>
        </p:sp>
        <p:sp>
          <p:nvSpPr>
            <p:cNvPr id="360" name="矩形: 圆角 1197"/>
            <p:cNvSpPr/>
            <p:nvPr/>
          </p:nvSpPr>
          <p:spPr>
            <a:xfrm>
              <a:off x="2880" y="3232"/>
              <a:ext cx="624" cy="2672"/>
            </a:xfrm>
            <a:prstGeom prst="roundRect">
              <a:avLst>
                <a:gd name="adj" fmla="val 27564"/>
              </a:avLst>
            </a:prstGeom>
            <a:solidFill>
              <a:srgbClr val="2E54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umimoji="0" lang="zh-CN" altLang="en-US" sz="1700" b="1" i="0" u="none" strike="noStrike" kern="1200" cap="none" spc="-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研究内容</a:t>
              </a:r>
              <a:r>
                <a:rPr kumimoji="0" lang="zh-CN" altLang="en-US" sz="1700" b="1" i="0" u="none" strike="noStrike" kern="1200" cap="none" spc="-20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四方案</a:t>
              </a:r>
              <a:endParaRPr kumimoji="0" lang="zh-CN" altLang="en-US" sz="17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grpSp>
          <p:nvGrpSpPr>
            <p:cNvPr id="361" name="组合 360"/>
            <p:cNvGrpSpPr/>
            <p:nvPr/>
          </p:nvGrpSpPr>
          <p:grpSpPr>
            <a:xfrm>
              <a:off x="3665" y="3459"/>
              <a:ext cx="2532" cy="2329"/>
              <a:chOff x="1482489" y="1168420"/>
              <a:chExt cx="1937502" cy="1478915"/>
            </a:xfrm>
          </p:grpSpPr>
          <p:sp>
            <p:nvSpPr>
              <p:cNvPr id="362" name="矩形: 圆角 1150"/>
              <p:cNvSpPr/>
              <p:nvPr/>
            </p:nvSpPr>
            <p:spPr>
              <a:xfrm>
                <a:off x="1510625" y="1168420"/>
                <a:ext cx="1846737" cy="1478915"/>
              </a:xfrm>
              <a:prstGeom prst="roundRect">
                <a:avLst>
                  <a:gd name="adj" fmla="val 4026"/>
                </a:avLst>
              </a:prstGeom>
              <a:solidFill>
                <a:schemeClr val="bg1"/>
              </a:solidFill>
              <a:ln>
                <a:solidFill>
                  <a:srgbClr val="2E54A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235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363" name="文本框 362"/>
              <p:cNvSpPr txBox="1"/>
              <p:nvPr/>
            </p:nvSpPr>
            <p:spPr>
              <a:xfrm>
                <a:off x="1482489" y="1334054"/>
                <a:ext cx="1937502" cy="1088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buClrTx/>
                  <a:buSzTx/>
                  <a:buFontTx/>
                  <a:defRPr sz="1600" b="1">
                    <a:latin typeface="微软雅黑" panose="020B0503020204020204" charset="-122"/>
                    <a:ea typeface="微软雅黑" panose="020B0503020204020204" charset="-122"/>
                  </a:defRPr>
                </a:lvl1pPr>
              </a:lstStyle>
              <a:p>
                <a:r>
                  <a:rPr lang="zh-CN" altLang="en-US" sz="2000" dirty="0">
                    <a:sym typeface="+mn-ea"/>
                  </a:rPr>
                  <a:t>海杂波干扰下</a:t>
                </a:r>
                <a:endParaRPr lang="zh-CN" altLang="en-US" sz="2000" b="1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r>
                  <a:rPr lang="zh-CN" altLang="en-US" sz="2000" dirty="0"/>
                  <a:t>微弱电磁频谱信号传播规律分析与提取</a:t>
                </a:r>
                <a:endParaRPr lang="zh-CN" altLang="en-US" sz="2000" dirty="0"/>
              </a:p>
            </p:txBody>
          </p:sp>
        </p:grpSp>
        <p:sp>
          <p:nvSpPr>
            <p:cNvPr id="364" name="矩形: 圆角 1197"/>
            <p:cNvSpPr/>
            <p:nvPr/>
          </p:nvSpPr>
          <p:spPr>
            <a:xfrm>
              <a:off x="964" y="3161"/>
              <a:ext cx="1442" cy="2862"/>
            </a:xfrm>
            <a:prstGeom prst="roundRect">
              <a:avLst>
                <a:gd name="adj" fmla="val 0"/>
              </a:avLst>
            </a:prstGeom>
            <a:solidFill>
              <a:srgbClr val="2E54A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mongolianVert" rtlCol="0" anchor="ctr" anchorCtr="0"/>
            <a:lstStyle/>
            <a:p>
              <a:pPr lvl="0" indent="0" algn="l" fontAlgn="ctr">
                <a:lnSpc>
                  <a:spcPct val="80000"/>
                </a:lnSpc>
                <a:spcBef>
                  <a:spcPts val="1200"/>
                </a:spcBef>
                <a:spcAft>
                  <a:spcPts val="1200"/>
                </a:spcAft>
              </a:pPr>
              <a:endParaRPr kumimoji="0" lang="zh-CN" altLang="en-US" sz="2400" b="1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365" name="文本框 364"/>
            <p:cNvSpPr txBox="1"/>
            <p:nvPr/>
          </p:nvSpPr>
          <p:spPr>
            <a:xfrm>
              <a:off x="1277" y="3161"/>
              <a:ext cx="843" cy="286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zh-CN" altLang="en-US" sz="3200">
                  <a:solidFill>
                    <a:schemeClr val="bg1"/>
                  </a:solidFill>
                  <a:latin typeface="优设标题黑" panose="00000500000000000000" charset="-122"/>
                  <a:ea typeface="优设标题黑" panose="00000500000000000000" charset="-122"/>
                </a:rPr>
                <a:t>怎么</a:t>
              </a:r>
              <a:r>
                <a:rPr lang="zh-CN" altLang="en-US" sz="3200">
                  <a:solidFill>
                    <a:schemeClr val="bg1"/>
                  </a:solidFill>
                  <a:latin typeface="优设标题黑" panose="00000500000000000000" charset="-122"/>
                  <a:ea typeface="优设标题黑" panose="00000500000000000000" charset="-122"/>
                </a:rPr>
                <a:t>验证</a:t>
              </a:r>
              <a:endParaRPr lang="zh-CN" altLang="en-US" sz="3200">
                <a:solidFill>
                  <a:schemeClr val="bg1"/>
                </a:solidFill>
                <a:latin typeface="优设标题黑" panose="00000500000000000000" charset="-122"/>
                <a:ea typeface="优设标题黑" panose="00000500000000000000" charset="-122"/>
              </a:endParaRPr>
            </a:p>
          </p:txBody>
        </p:sp>
      </p:grpSp>
      <p:cxnSp>
        <p:nvCxnSpPr>
          <p:cNvPr id="367" name="直接箭头连接符 366"/>
          <p:cNvCxnSpPr/>
          <p:nvPr/>
        </p:nvCxnSpPr>
        <p:spPr>
          <a:xfrm>
            <a:off x="8114030" y="5751195"/>
            <a:ext cx="519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同侧圆角矩形 367"/>
          <p:cNvSpPr/>
          <p:nvPr/>
        </p:nvSpPr>
        <p:spPr>
          <a:xfrm>
            <a:off x="5837555" y="4781550"/>
            <a:ext cx="2813685" cy="629920"/>
          </a:xfrm>
          <a:prstGeom prst="round2Same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9" name="文本框 368"/>
          <p:cNvSpPr txBox="1"/>
          <p:nvPr/>
        </p:nvSpPr>
        <p:spPr>
          <a:xfrm>
            <a:off x="5939790" y="483298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2.1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事件驱动的频谱数据价值评估模型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任意多边形: 形状 371"/>
          <p:cNvSpPr/>
          <p:nvPr/>
        </p:nvSpPr>
        <p:spPr>
          <a:xfrm>
            <a:off x="11275695" y="5226050"/>
            <a:ext cx="151130" cy="224155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99" name="同侧圆角矩形 398"/>
          <p:cNvSpPr/>
          <p:nvPr/>
        </p:nvSpPr>
        <p:spPr>
          <a:xfrm>
            <a:off x="9011920" y="4781550"/>
            <a:ext cx="2813685" cy="629920"/>
          </a:xfrm>
          <a:prstGeom prst="round2Same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0" name="文本框 399"/>
          <p:cNvSpPr txBox="1"/>
          <p:nvPr/>
        </p:nvSpPr>
        <p:spPr>
          <a:xfrm>
            <a:off x="9141460" y="483298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2.2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基于表征压缩的频谱向量数据库存储优化方法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2" name="任意多边形: 形状 371"/>
          <p:cNvSpPr/>
          <p:nvPr/>
        </p:nvSpPr>
        <p:spPr>
          <a:xfrm>
            <a:off x="14491335" y="5202555"/>
            <a:ext cx="151130" cy="224155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17" name="同侧圆角矩形 416"/>
          <p:cNvSpPr/>
          <p:nvPr/>
        </p:nvSpPr>
        <p:spPr>
          <a:xfrm>
            <a:off x="12227560" y="4758055"/>
            <a:ext cx="2813685" cy="629920"/>
          </a:xfrm>
          <a:prstGeom prst="round2Same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8" name="文本框 417"/>
          <p:cNvSpPr txBox="1"/>
          <p:nvPr/>
        </p:nvSpPr>
        <p:spPr>
          <a:xfrm>
            <a:off x="12357100" y="4809490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2.3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向量库协同的频谱数据可信管理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2" name="组合 431"/>
          <p:cNvGrpSpPr/>
          <p:nvPr/>
        </p:nvGrpSpPr>
        <p:grpSpPr>
          <a:xfrm>
            <a:off x="9044940" y="2736850"/>
            <a:ext cx="2780665" cy="1162050"/>
            <a:chOff x="9193" y="4310"/>
            <a:chExt cx="4379" cy="1830"/>
          </a:xfrm>
        </p:grpSpPr>
        <p:cxnSp>
          <p:nvCxnSpPr>
            <p:cNvPr id="433" name="直接箭头连接符 432"/>
            <p:cNvCxnSpPr/>
            <p:nvPr/>
          </p:nvCxnSpPr>
          <p:spPr>
            <a:xfrm>
              <a:off x="12754" y="4845"/>
              <a:ext cx="8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" name="矩形 433"/>
            <p:cNvSpPr/>
            <p:nvPr/>
          </p:nvSpPr>
          <p:spPr>
            <a:xfrm>
              <a:off x="9193" y="4310"/>
              <a:ext cx="4379" cy="18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5" name="矩形: 圆角 1197"/>
            <p:cNvSpPr/>
            <p:nvPr/>
          </p:nvSpPr>
          <p:spPr>
            <a:xfrm>
              <a:off x="9522" y="4473"/>
              <a:ext cx="3721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36" name="文本框 435"/>
            <p:cNvSpPr txBox="1"/>
            <p:nvPr/>
          </p:nvSpPr>
          <p:spPr>
            <a:xfrm>
              <a:off x="9854" y="4442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多通道采集与处理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37" name="任意多边形: 形状 371"/>
            <p:cNvSpPr/>
            <p:nvPr/>
          </p:nvSpPr>
          <p:spPr>
            <a:xfrm>
              <a:off x="9522" y="4475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38" name="矩形: 圆角 1197"/>
            <p:cNvSpPr/>
            <p:nvPr/>
          </p:nvSpPr>
          <p:spPr>
            <a:xfrm>
              <a:off x="9524" y="5006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39" name="文本框 438"/>
            <p:cNvSpPr txBox="1"/>
            <p:nvPr/>
          </p:nvSpPr>
          <p:spPr>
            <a:xfrm>
              <a:off x="9854" y="4975"/>
              <a:ext cx="3381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自适应干扰对调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0" name="任意多边形: 形状 371"/>
            <p:cNvSpPr/>
            <p:nvPr/>
          </p:nvSpPr>
          <p:spPr>
            <a:xfrm>
              <a:off x="9522" y="500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41" name="矩形: 圆角 1197"/>
            <p:cNvSpPr/>
            <p:nvPr/>
          </p:nvSpPr>
          <p:spPr>
            <a:xfrm>
              <a:off x="9525" y="5554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42" name="文本框 441"/>
            <p:cNvSpPr txBox="1"/>
            <p:nvPr/>
          </p:nvSpPr>
          <p:spPr>
            <a:xfrm>
              <a:off x="9844" y="5523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信号频谱增强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3" name="任意多边形: 形状 371"/>
            <p:cNvSpPr/>
            <p:nvPr/>
          </p:nvSpPr>
          <p:spPr>
            <a:xfrm>
              <a:off x="9526" y="555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444" name="组合 443"/>
          <p:cNvGrpSpPr/>
          <p:nvPr/>
        </p:nvGrpSpPr>
        <p:grpSpPr>
          <a:xfrm>
            <a:off x="12260580" y="2736850"/>
            <a:ext cx="2780665" cy="1162050"/>
            <a:chOff x="9193" y="4310"/>
            <a:chExt cx="4379" cy="1830"/>
          </a:xfrm>
        </p:grpSpPr>
        <p:cxnSp>
          <p:nvCxnSpPr>
            <p:cNvPr id="445" name="直接箭头连接符 444"/>
            <p:cNvCxnSpPr/>
            <p:nvPr/>
          </p:nvCxnSpPr>
          <p:spPr>
            <a:xfrm>
              <a:off x="12754" y="4845"/>
              <a:ext cx="8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矩形 445"/>
            <p:cNvSpPr/>
            <p:nvPr/>
          </p:nvSpPr>
          <p:spPr>
            <a:xfrm>
              <a:off x="9193" y="4310"/>
              <a:ext cx="4379" cy="18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7" name="矩形: 圆角 1197"/>
            <p:cNvSpPr/>
            <p:nvPr/>
          </p:nvSpPr>
          <p:spPr>
            <a:xfrm>
              <a:off x="9522" y="4473"/>
              <a:ext cx="3721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49" name="文本框 448"/>
            <p:cNvSpPr txBox="1"/>
            <p:nvPr/>
          </p:nvSpPr>
          <p:spPr>
            <a:xfrm>
              <a:off x="9854" y="4442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信号多维变换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0" name="任意多边形: 形状 371"/>
            <p:cNvSpPr/>
            <p:nvPr/>
          </p:nvSpPr>
          <p:spPr>
            <a:xfrm>
              <a:off x="9522" y="4475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51" name="矩形: 圆角 1197"/>
            <p:cNvSpPr/>
            <p:nvPr/>
          </p:nvSpPr>
          <p:spPr>
            <a:xfrm>
              <a:off x="9524" y="5006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52" name="文本框 451"/>
            <p:cNvSpPr txBox="1"/>
            <p:nvPr/>
          </p:nvSpPr>
          <p:spPr>
            <a:xfrm>
              <a:off x="9854" y="4975"/>
              <a:ext cx="3381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特征精确提取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6" name="任意多边形: 形状 371"/>
            <p:cNvSpPr/>
            <p:nvPr/>
          </p:nvSpPr>
          <p:spPr>
            <a:xfrm>
              <a:off x="9522" y="500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457" name="矩形: 圆角 1197"/>
            <p:cNvSpPr/>
            <p:nvPr/>
          </p:nvSpPr>
          <p:spPr>
            <a:xfrm>
              <a:off x="9525" y="5554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458" name="文本框 457"/>
            <p:cNvSpPr txBox="1"/>
            <p:nvPr/>
          </p:nvSpPr>
          <p:spPr>
            <a:xfrm>
              <a:off x="9844" y="5523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结构化数据表征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9" name="任意多边形: 形状 371"/>
            <p:cNvSpPr/>
            <p:nvPr/>
          </p:nvSpPr>
          <p:spPr>
            <a:xfrm>
              <a:off x="9526" y="555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cxnSp>
        <p:nvCxnSpPr>
          <p:cNvPr id="461" name="直接箭头连接符 460"/>
          <p:cNvCxnSpPr/>
          <p:nvPr/>
        </p:nvCxnSpPr>
        <p:spPr>
          <a:xfrm>
            <a:off x="8116570" y="5732780"/>
            <a:ext cx="519430" cy="0"/>
          </a:xfrm>
          <a:prstGeom prst="straightConnector1">
            <a:avLst/>
          </a:prstGeom>
          <a:ln w="38100">
            <a:solidFill>
              <a:srgbClr val="2E54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矩形 461"/>
          <p:cNvSpPr/>
          <p:nvPr/>
        </p:nvSpPr>
        <p:spPr>
          <a:xfrm>
            <a:off x="5855335" y="5393055"/>
            <a:ext cx="2780665" cy="1162685"/>
          </a:xfrm>
          <a:prstGeom prst="rect">
            <a:avLst/>
          </a:prstGeom>
          <a:solidFill>
            <a:schemeClr val="bg1"/>
          </a:solidFill>
          <a:ln w="28575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3" name="矩形: 圆角 1197"/>
          <p:cNvSpPr/>
          <p:nvPr/>
        </p:nvSpPr>
        <p:spPr>
          <a:xfrm>
            <a:off x="6064250" y="5496560"/>
            <a:ext cx="2362835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64" name="文本框 463"/>
          <p:cNvSpPr txBox="1"/>
          <p:nvPr/>
        </p:nvSpPr>
        <p:spPr>
          <a:xfrm>
            <a:off x="6275070" y="5476875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事件窗口构建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5" name="任意多边形: 形状 371"/>
          <p:cNvSpPr/>
          <p:nvPr/>
        </p:nvSpPr>
        <p:spPr>
          <a:xfrm>
            <a:off x="6064250" y="5497830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66" name="矩形: 圆角 1197"/>
          <p:cNvSpPr/>
          <p:nvPr/>
        </p:nvSpPr>
        <p:spPr>
          <a:xfrm>
            <a:off x="6065520" y="583501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67" name="文本框 466"/>
          <p:cNvSpPr txBox="1"/>
          <p:nvPr/>
        </p:nvSpPr>
        <p:spPr>
          <a:xfrm>
            <a:off x="6275070" y="5815330"/>
            <a:ext cx="214693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存储价值筛选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8" name="任意多边形: 形状 371"/>
          <p:cNvSpPr/>
          <p:nvPr/>
        </p:nvSpPr>
        <p:spPr>
          <a:xfrm>
            <a:off x="6064250" y="583501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69" name="矩形: 圆角 1197"/>
          <p:cNvSpPr/>
          <p:nvPr/>
        </p:nvSpPr>
        <p:spPr>
          <a:xfrm>
            <a:off x="6066155" y="618299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70" name="文本框 469"/>
          <p:cNvSpPr txBox="1"/>
          <p:nvPr/>
        </p:nvSpPr>
        <p:spPr>
          <a:xfrm>
            <a:off x="6268720" y="6163310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数据价值评估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任意多边形: 形状 371"/>
          <p:cNvSpPr/>
          <p:nvPr/>
        </p:nvSpPr>
        <p:spPr>
          <a:xfrm>
            <a:off x="6066790" y="618426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cxnSp>
        <p:nvCxnSpPr>
          <p:cNvPr id="472" name="直接箭头连接符 471"/>
          <p:cNvCxnSpPr/>
          <p:nvPr/>
        </p:nvCxnSpPr>
        <p:spPr>
          <a:xfrm>
            <a:off x="11287760" y="5768975"/>
            <a:ext cx="519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直接箭头连接符 472"/>
          <p:cNvCxnSpPr/>
          <p:nvPr/>
        </p:nvCxnSpPr>
        <p:spPr>
          <a:xfrm>
            <a:off x="11290300" y="5750560"/>
            <a:ext cx="519430" cy="0"/>
          </a:xfrm>
          <a:prstGeom prst="straightConnector1">
            <a:avLst/>
          </a:prstGeom>
          <a:ln w="38100">
            <a:solidFill>
              <a:srgbClr val="2E54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矩形 473"/>
          <p:cNvSpPr/>
          <p:nvPr/>
        </p:nvSpPr>
        <p:spPr>
          <a:xfrm>
            <a:off x="9017635" y="5399405"/>
            <a:ext cx="2780665" cy="1162685"/>
          </a:xfrm>
          <a:prstGeom prst="rect">
            <a:avLst/>
          </a:prstGeom>
          <a:solidFill>
            <a:schemeClr val="bg1"/>
          </a:solidFill>
          <a:ln w="28575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5" name="矩形: 圆角 1197"/>
          <p:cNvSpPr/>
          <p:nvPr/>
        </p:nvSpPr>
        <p:spPr>
          <a:xfrm>
            <a:off x="9237980" y="5514340"/>
            <a:ext cx="2362835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9448800" y="5494655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表征量化压缩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任意多边形: 形状 371"/>
          <p:cNvSpPr/>
          <p:nvPr/>
        </p:nvSpPr>
        <p:spPr>
          <a:xfrm>
            <a:off x="9237980" y="5515610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81" name="矩形: 圆角 1197"/>
          <p:cNvSpPr/>
          <p:nvPr/>
        </p:nvSpPr>
        <p:spPr>
          <a:xfrm>
            <a:off x="9239250" y="585279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82" name="文本框 481"/>
          <p:cNvSpPr txBox="1"/>
          <p:nvPr/>
        </p:nvSpPr>
        <p:spPr>
          <a:xfrm>
            <a:off x="9448800" y="5833110"/>
            <a:ext cx="214693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磁盘高局部性索引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3" name="任意多边形: 形状 371"/>
          <p:cNvSpPr/>
          <p:nvPr/>
        </p:nvSpPr>
        <p:spPr>
          <a:xfrm>
            <a:off x="9237980" y="585279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84" name="矩形: 圆角 1197"/>
          <p:cNvSpPr/>
          <p:nvPr/>
        </p:nvSpPr>
        <p:spPr>
          <a:xfrm>
            <a:off x="9239885" y="620077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85" name="文本框 484"/>
          <p:cNvSpPr txBox="1"/>
          <p:nvPr/>
        </p:nvSpPr>
        <p:spPr>
          <a:xfrm>
            <a:off x="9442450" y="6181090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向量无缓冲插入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任意多边形: 形状 371"/>
          <p:cNvSpPr/>
          <p:nvPr/>
        </p:nvSpPr>
        <p:spPr>
          <a:xfrm>
            <a:off x="9240520" y="620204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cxnSp>
        <p:nvCxnSpPr>
          <p:cNvPr id="488" name="直接箭头连接符 487"/>
          <p:cNvCxnSpPr/>
          <p:nvPr/>
        </p:nvCxnSpPr>
        <p:spPr>
          <a:xfrm>
            <a:off x="14519275" y="5765800"/>
            <a:ext cx="519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直接箭头连接符 488"/>
          <p:cNvCxnSpPr/>
          <p:nvPr/>
        </p:nvCxnSpPr>
        <p:spPr>
          <a:xfrm>
            <a:off x="14521815" y="5747385"/>
            <a:ext cx="519430" cy="0"/>
          </a:xfrm>
          <a:prstGeom prst="straightConnector1">
            <a:avLst/>
          </a:prstGeom>
          <a:ln w="38100">
            <a:solidFill>
              <a:srgbClr val="2E54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矩形 495"/>
          <p:cNvSpPr/>
          <p:nvPr/>
        </p:nvSpPr>
        <p:spPr>
          <a:xfrm>
            <a:off x="12249150" y="5396230"/>
            <a:ext cx="2780665" cy="1162685"/>
          </a:xfrm>
          <a:prstGeom prst="rect">
            <a:avLst/>
          </a:prstGeom>
          <a:solidFill>
            <a:schemeClr val="bg1"/>
          </a:solidFill>
          <a:ln w="28575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7" name="矩形: 圆角 1197"/>
          <p:cNvSpPr/>
          <p:nvPr/>
        </p:nvSpPr>
        <p:spPr>
          <a:xfrm>
            <a:off x="12469495" y="5511165"/>
            <a:ext cx="2362835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12680315" y="5491480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链上链下可信存证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任意多边形: 形状 371"/>
          <p:cNvSpPr/>
          <p:nvPr/>
        </p:nvSpPr>
        <p:spPr>
          <a:xfrm>
            <a:off x="12469495" y="551243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00" name="矩形: 圆角 1197"/>
          <p:cNvSpPr/>
          <p:nvPr/>
        </p:nvSpPr>
        <p:spPr>
          <a:xfrm>
            <a:off x="12470765" y="5849620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12680315" y="5829935"/>
            <a:ext cx="214693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可验证分级协同索引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8" name="任意多边形: 形状 371"/>
          <p:cNvSpPr/>
          <p:nvPr/>
        </p:nvSpPr>
        <p:spPr>
          <a:xfrm>
            <a:off x="12469495" y="5849620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09" name="矩形: 圆角 1197"/>
          <p:cNvSpPr/>
          <p:nvPr/>
        </p:nvSpPr>
        <p:spPr>
          <a:xfrm>
            <a:off x="12471400" y="6197600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10" name="文本框 509"/>
          <p:cNvSpPr txBox="1"/>
          <p:nvPr/>
        </p:nvSpPr>
        <p:spPr>
          <a:xfrm>
            <a:off x="12673965" y="6177915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链上可学习索引加速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1" name="任意多边形: 形状 371"/>
          <p:cNvSpPr/>
          <p:nvPr/>
        </p:nvSpPr>
        <p:spPr>
          <a:xfrm>
            <a:off x="12472035" y="6198870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5066665" y="4177665"/>
            <a:ext cx="2392045" cy="345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多维频谱数据流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2" name="直接箭头连接符 511"/>
          <p:cNvCxnSpPr/>
          <p:nvPr/>
        </p:nvCxnSpPr>
        <p:spPr>
          <a:xfrm>
            <a:off x="9088920" y="7492239"/>
            <a:ext cx="5195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同侧圆角矩形 512"/>
          <p:cNvSpPr/>
          <p:nvPr/>
        </p:nvSpPr>
        <p:spPr>
          <a:xfrm>
            <a:off x="5831840" y="7412355"/>
            <a:ext cx="2813685" cy="629920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4" name="文本框 513"/>
          <p:cNvSpPr txBox="1"/>
          <p:nvPr/>
        </p:nvSpPr>
        <p:spPr>
          <a:xfrm>
            <a:off x="5961380" y="7463790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3.1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面向电磁态势的频谱知识图谱构建与动态演化方法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15" name="组合 514"/>
          <p:cNvGrpSpPr/>
          <p:nvPr/>
        </p:nvGrpSpPr>
        <p:grpSpPr>
          <a:xfrm>
            <a:off x="5847080" y="8042275"/>
            <a:ext cx="2780665" cy="1162050"/>
            <a:chOff x="9193" y="4310"/>
            <a:chExt cx="4379" cy="1830"/>
          </a:xfrm>
        </p:grpSpPr>
        <p:cxnSp>
          <p:nvCxnSpPr>
            <p:cNvPr id="516" name="直接箭头连接符 515"/>
            <p:cNvCxnSpPr/>
            <p:nvPr/>
          </p:nvCxnSpPr>
          <p:spPr>
            <a:xfrm>
              <a:off x="12754" y="4845"/>
              <a:ext cx="8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8" name="矩形 517"/>
            <p:cNvSpPr/>
            <p:nvPr/>
          </p:nvSpPr>
          <p:spPr>
            <a:xfrm>
              <a:off x="9193" y="4310"/>
              <a:ext cx="4379" cy="18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9" name="矩形: 圆角 1197"/>
            <p:cNvSpPr/>
            <p:nvPr/>
          </p:nvSpPr>
          <p:spPr>
            <a:xfrm>
              <a:off x="9522" y="4473"/>
              <a:ext cx="3721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20" name="文本框 519"/>
            <p:cNvSpPr txBox="1"/>
            <p:nvPr/>
          </p:nvSpPr>
          <p:spPr>
            <a:xfrm>
              <a:off x="9854" y="4442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多源频谱数据表征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1" name="任意多边形: 形状 371"/>
            <p:cNvSpPr/>
            <p:nvPr/>
          </p:nvSpPr>
          <p:spPr>
            <a:xfrm>
              <a:off x="9522" y="4475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22" name="矩形: 圆角 1197"/>
            <p:cNvSpPr/>
            <p:nvPr/>
          </p:nvSpPr>
          <p:spPr>
            <a:xfrm>
              <a:off x="9524" y="5006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23" name="文本框 522"/>
            <p:cNvSpPr txBox="1"/>
            <p:nvPr/>
          </p:nvSpPr>
          <p:spPr>
            <a:xfrm>
              <a:off x="9854" y="4975"/>
              <a:ext cx="3381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态势知识图谱构建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4" name="任意多边形: 形状 371"/>
            <p:cNvSpPr/>
            <p:nvPr/>
          </p:nvSpPr>
          <p:spPr>
            <a:xfrm>
              <a:off x="9522" y="500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25" name="矩形: 圆角 1197"/>
            <p:cNvSpPr/>
            <p:nvPr/>
          </p:nvSpPr>
          <p:spPr>
            <a:xfrm>
              <a:off x="9525" y="5554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26" name="文本框 525"/>
            <p:cNvSpPr txBox="1"/>
            <p:nvPr/>
          </p:nvSpPr>
          <p:spPr>
            <a:xfrm>
              <a:off x="9844" y="5523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知识图谱增量更新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7" name="任意多边形: 形状 371"/>
            <p:cNvSpPr/>
            <p:nvPr/>
          </p:nvSpPr>
          <p:spPr>
            <a:xfrm>
              <a:off x="9526" y="555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528" name="同侧圆角矩形 527"/>
          <p:cNvSpPr/>
          <p:nvPr/>
        </p:nvSpPr>
        <p:spPr>
          <a:xfrm>
            <a:off x="9038590" y="7412355"/>
            <a:ext cx="2813685" cy="629920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9" name="文本框 528"/>
          <p:cNvSpPr txBox="1"/>
          <p:nvPr/>
        </p:nvSpPr>
        <p:spPr>
          <a:xfrm>
            <a:off x="9168130" y="7463790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3.2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基于混合专家模型的轻量化目标检测与轨迹分析方法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0" name="同侧圆角矩形 529"/>
          <p:cNvSpPr/>
          <p:nvPr/>
        </p:nvSpPr>
        <p:spPr>
          <a:xfrm>
            <a:off x="12253595" y="7412990"/>
            <a:ext cx="2813685" cy="629920"/>
          </a:xfrm>
          <a:prstGeom prst="round2Same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1" name="文本框 530"/>
          <p:cNvSpPr txBox="1"/>
          <p:nvPr/>
        </p:nvSpPr>
        <p:spPr>
          <a:xfrm>
            <a:off x="12383135" y="746442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3.3 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基于轻量安全传输与低延时确权的可信协同决策方法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FontTx/>
            </a:pP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32" name="组合 531"/>
          <p:cNvGrpSpPr/>
          <p:nvPr/>
        </p:nvGrpSpPr>
        <p:grpSpPr>
          <a:xfrm>
            <a:off x="9054465" y="8042275"/>
            <a:ext cx="2780665" cy="1162050"/>
            <a:chOff x="9193" y="4310"/>
            <a:chExt cx="4379" cy="1830"/>
          </a:xfrm>
        </p:grpSpPr>
        <p:cxnSp>
          <p:nvCxnSpPr>
            <p:cNvPr id="533" name="直接箭头连接符 532"/>
            <p:cNvCxnSpPr/>
            <p:nvPr/>
          </p:nvCxnSpPr>
          <p:spPr>
            <a:xfrm>
              <a:off x="12754" y="4845"/>
              <a:ext cx="8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4" name="矩形 533"/>
            <p:cNvSpPr/>
            <p:nvPr/>
          </p:nvSpPr>
          <p:spPr>
            <a:xfrm>
              <a:off x="9193" y="4310"/>
              <a:ext cx="4379" cy="18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5" name="矩形: 圆角 1197"/>
            <p:cNvSpPr/>
            <p:nvPr/>
          </p:nvSpPr>
          <p:spPr>
            <a:xfrm>
              <a:off x="9522" y="4473"/>
              <a:ext cx="3721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36" name="文本框 535"/>
            <p:cNvSpPr txBox="1"/>
            <p:nvPr/>
          </p:nvSpPr>
          <p:spPr>
            <a:xfrm>
              <a:off x="9854" y="4442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信号检测专家模型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7" name="任意多边形: 形状 371"/>
            <p:cNvSpPr/>
            <p:nvPr/>
          </p:nvSpPr>
          <p:spPr>
            <a:xfrm>
              <a:off x="9522" y="4475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38" name="矩形: 圆角 1197"/>
            <p:cNvSpPr/>
            <p:nvPr/>
          </p:nvSpPr>
          <p:spPr>
            <a:xfrm>
              <a:off x="9524" y="5006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39" name="文本框 538"/>
            <p:cNvSpPr txBox="1"/>
            <p:nvPr/>
          </p:nvSpPr>
          <p:spPr>
            <a:xfrm>
              <a:off x="9854" y="4975"/>
              <a:ext cx="3381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小样本识别专家模型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0" name="任意多边形: 形状 371"/>
            <p:cNvSpPr/>
            <p:nvPr/>
          </p:nvSpPr>
          <p:spPr>
            <a:xfrm>
              <a:off x="9522" y="500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41" name="矩形: 圆角 1197"/>
            <p:cNvSpPr/>
            <p:nvPr/>
          </p:nvSpPr>
          <p:spPr>
            <a:xfrm>
              <a:off x="9525" y="5554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42" name="文本框 541"/>
            <p:cNvSpPr txBox="1"/>
            <p:nvPr/>
          </p:nvSpPr>
          <p:spPr>
            <a:xfrm>
              <a:off x="9844" y="5523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轨迹分析专家模型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3" name="任意多边形: 形状 371"/>
            <p:cNvSpPr/>
            <p:nvPr/>
          </p:nvSpPr>
          <p:spPr>
            <a:xfrm>
              <a:off x="9526" y="555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grpSp>
        <p:nvGrpSpPr>
          <p:cNvPr id="544" name="组合 543"/>
          <p:cNvGrpSpPr/>
          <p:nvPr/>
        </p:nvGrpSpPr>
        <p:grpSpPr>
          <a:xfrm>
            <a:off x="12270105" y="8042275"/>
            <a:ext cx="2780665" cy="1162050"/>
            <a:chOff x="9193" y="4310"/>
            <a:chExt cx="4379" cy="1830"/>
          </a:xfrm>
        </p:grpSpPr>
        <p:cxnSp>
          <p:nvCxnSpPr>
            <p:cNvPr id="545" name="直接箭头连接符 544"/>
            <p:cNvCxnSpPr/>
            <p:nvPr/>
          </p:nvCxnSpPr>
          <p:spPr>
            <a:xfrm>
              <a:off x="12754" y="4845"/>
              <a:ext cx="8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6" name="矩形 545"/>
            <p:cNvSpPr/>
            <p:nvPr/>
          </p:nvSpPr>
          <p:spPr>
            <a:xfrm>
              <a:off x="9193" y="4310"/>
              <a:ext cx="4379" cy="183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7" name="矩形: 圆角 1197"/>
            <p:cNvSpPr/>
            <p:nvPr/>
          </p:nvSpPr>
          <p:spPr>
            <a:xfrm>
              <a:off x="9522" y="4473"/>
              <a:ext cx="3721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48" name="文本框 547"/>
            <p:cNvSpPr txBox="1"/>
            <p:nvPr/>
          </p:nvSpPr>
          <p:spPr>
            <a:xfrm>
              <a:off x="9854" y="4442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决策结果一致性确权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9" name="任意多边形: 形状 371"/>
            <p:cNvSpPr/>
            <p:nvPr/>
          </p:nvSpPr>
          <p:spPr>
            <a:xfrm>
              <a:off x="9522" y="4475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50" name="矩形: 圆角 1197"/>
            <p:cNvSpPr/>
            <p:nvPr/>
          </p:nvSpPr>
          <p:spPr>
            <a:xfrm>
              <a:off x="9524" y="5006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51" name="文本框 550"/>
            <p:cNvSpPr txBox="1"/>
            <p:nvPr/>
          </p:nvSpPr>
          <p:spPr>
            <a:xfrm>
              <a:off x="9854" y="4975"/>
              <a:ext cx="3381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分布式可信协同决策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2" name="任意多边形: 形状 371"/>
            <p:cNvSpPr/>
            <p:nvPr/>
          </p:nvSpPr>
          <p:spPr>
            <a:xfrm>
              <a:off x="9522" y="500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553" name="矩形: 圆角 1197"/>
            <p:cNvSpPr/>
            <p:nvPr/>
          </p:nvSpPr>
          <p:spPr>
            <a:xfrm>
              <a:off x="9525" y="5554"/>
              <a:ext cx="3710" cy="433"/>
            </a:xfrm>
            <a:prstGeom prst="roundRect">
              <a:avLst>
                <a:gd name="adj" fmla="val 27564"/>
              </a:avLst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p>
              <a:pPr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sz="1400" b="1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554" name="文本框 553"/>
            <p:cNvSpPr txBox="1"/>
            <p:nvPr/>
          </p:nvSpPr>
          <p:spPr>
            <a:xfrm>
              <a:off x="9844" y="5523"/>
              <a:ext cx="3390" cy="43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轻量级安全传输方法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5" name="任意多边形: 形状 371"/>
            <p:cNvSpPr/>
            <p:nvPr/>
          </p:nvSpPr>
          <p:spPr>
            <a:xfrm>
              <a:off x="9526" y="5556"/>
              <a:ext cx="328" cy="432"/>
            </a:xfrm>
            <a:custGeom>
              <a:avLst/>
              <a:gdLst>
                <a:gd name="csX0" fmla="*/ 61719 w 269842"/>
                <a:gd name="csY0" fmla="*/ 0 h 223913"/>
                <a:gd name="csX1" fmla="*/ 269842 w 269842"/>
                <a:gd name="csY1" fmla="*/ 0 h 223913"/>
                <a:gd name="csX2" fmla="*/ 269842 w 269842"/>
                <a:gd name="csY2" fmla="*/ 223913 h 223913"/>
                <a:gd name="csX3" fmla="*/ 61719 w 269842"/>
                <a:gd name="csY3" fmla="*/ 223913 h 223913"/>
                <a:gd name="csX4" fmla="*/ 0 w 269842"/>
                <a:gd name="csY4" fmla="*/ 162194 h 223913"/>
                <a:gd name="csX5" fmla="*/ 0 w 269842"/>
                <a:gd name="csY5" fmla="*/ 61719 h 223913"/>
                <a:gd name="csX6" fmla="*/ 61719 w 269842"/>
                <a:gd name="csY6" fmla="*/ 0 h 223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69842" h="223913">
                  <a:moveTo>
                    <a:pt x="61719" y="0"/>
                  </a:moveTo>
                  <a:lnTo>
                    <a:pt x="269842" y="0"/>
                  </a:lnTo>
                  <a:lnTo>
                    <a:pt x="269842" y="223913"/>
                  </a:lnTo>
                  <a:lnTo>
                    <a:pt x="61719" y="223913"/>
                  </a:lnTo>
                  <a:cubicBezTo>
                    <a:pt x="27633" y="223913"/>
                    <a:pt x="0" y="196280"/>
                    <a:pt x="0" y="162194"/>
                  </a:cubicBezTo>
                  <a:lnTo>
                    <a:pt x="0" y="61719"/>
                  </a:lnTo>
                  <a:cubicBezTo>
                    <a:pt x="0" y="27633"/>
                    <a:pt x="27633" y="0"/>
                    <a:pt x="61719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cxnSp>
        <p:nvCxnSpPr>
          <p:cNvPr id="556" name="直接箭头连接符 555"/>
          <p:cNvCxnSpPr/>
          <p:nvPr/>
        </p:nvCxnSpPr>
        <p:spPr>
          <a:xfrm>
            <a:off x="8131810" y="11090275"/>
            <a:ext cx="519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同侧圆角矩形 556"/>
          <p:cNvSpPr/>
          <p:nvPr/>
        </p:nvSpPr>
        <p:spPr>
          <a:xfrm>
            <a:off x="5855335" y="10120630"/>
            <a:ext cx="2813685" cy="629920"/>
          </a:xfrm>
          <a:prstGeom prst="round2Same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8" name="文本框 557"/>
          <p:cNvSpPr txBox="1"/>
          <p:nvPr/>
        </p:nvSpPr>
        <p:spPr>
          <a:xfrm>
            <a:off x="5957570" y="1017206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  <a:spcBef>
                <a:spcPts val="1800"/>
              </a:spcBef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场景环境模拟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9" name="任意多边形: 形状 371"/>
          <p:cNvSpPr/>
          <p:nvPr/>
        </p:nvSpPr>
        <p:spPr>
          <a:xfrm>
            <a:off x="11293475" y="10565130"/>
            <a:ext cx="151130" cy="224155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60" name="同侧圆角矩形 559"/>
          <p:cNvSpPr/>
          <p:nvPr/>
        </p:nvSpPr>
        <p:spPr>
          <a:xfrm>
            <a:off x="9029700" y="10120630"/>
            <a:ext cx="2813685" cy="629920"/>
          </a:xfrm>
          <a:prstGeom prst="round2Same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1" name="文本框 560"/>
          <p:cNvSpPr txBox="1"/>
          <p:nvPr/>
        </p:nvSpPr>
        <p:spPr>
          <a:xfrm>
            <a:off x="9159240" y="1017206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原型系统验证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2" name="任意多边形: 形状 371"/>
          <p:cNvSpPr/>
          <p:nvPr/>
        </p:nvSpPr>
        <p:spPr>
          <a:xfrm>
            <a:off x="14509115" y="10565130"/>
            <a:ext cx="151130" cy="224155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63" name="同侧圆角矩形 562"/>
          <p:cNvSpPr/>
          <p:nvPr/>
        </p:nvSpPr>
        <p:spPr>
          <a:xfrm>
            <a:off x="12245340" y="10120630"/>
            <a:ext cx="2813685" cy="629920"/>
          </a:xfrm>
          <a:prstGeom prst="round2Same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4" name="文本框 563"/>
          <p:cNvSpPr txBox="1"/>
          <p:nvPr/>
        </p:nvSpPr>
        <p:spPr>
          <a:xfrm>
            <a:off x="12374880" y="10172065"/>
            <a:ext cx="2608580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原型系统部署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65" name="直接箭头连接符 564"/>
          <p:cNvCxnSpPr/>
          <p:nvPr/>
        </p:nvCxnSpPr>
        <p:spPr>
          <a:xfrm>
            <a:off x="8134350" y="11071860"/>
            <a:ext cx="519430" cy="0"/>
          </a:xfrm>
          <a:prstGeom prst="straightConnector1">
            <a:avLst/>
          </a:prstGeom>
          <a:ln w="38100">
            <a:solidFill>
              <a:srgbClr val="2E54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6" name="矩形 565"/>
          <p:cNvSpPr/>
          <p:nvPr/>
        </p:nvSpPr>
        <p:spPr>
          <a:xfrm>
            <a:off x="5873115" y="10732135"/>
            <a:ext cx="2780665" cy="1162685"/>
          </a:xfrm>
          <a:prstGeom prst="rect">
            <a:avLst/>
          </a:prstGeom>
          <a:solidFill>
            <a:schemeClr val="bg1"/>
          </a:solidFill>
          <a:ln w="28575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7" name="矩形: 圆角 1197"/>
          <p:cNvSpPr/>
          <p:nvPr/>
        </p:nvSpPr>
        <p:spPr>
          <a:xfrm>
            <a:off x="6082030" y="10835640"/>
            <a:ext cx="2362835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68" name="文本框 567"/>
          <p:cNvSpPr txBox="1"/>
          <p:nvPr/>
        </p:nvSpPr>
        <p:spPr>
          <a:xfrm>
            <a:off x="6292850" y="10815955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海杂波模拟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9" name="任意多边形: 形状 371"/>
          <p:cNvSpPr/>
          <p:nvPr/>
        </p:nvSpPr>
        <p:spPr>
          <a:xfrm>
            <a:off x="6082030" y="10836910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70" name="矩形: 圆角 1197"/>
          <p:cNvSpPr/>
          <p:nvPr/>
        </p:nvSpPr>
        <p:spPr>
          <a:xfrm>
            <a:off x="6083300" y="1117409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71" name="文本框 570"/>
          <p:cNvSpPr txBox="1"/>
          <p:nvPr/>
        </p:nvSpPr>
        <p:spPr>
          <a:xfrm>
            <a:off x="6292850" y="11154410"/>
            <a:ext cx="214693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目标辐射特性模拟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任意多边形: 形状 371"/>
          <p:cNvSpPr/>
          <p:nvPr/>
        </p:nvSpPr>
        <p:spPr>
          <a:xfrm>
            <a:off x="6082030" y="1117409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73" name="矩形: 圆角 1197"/>
          <p:cNvSpPr/>
          <p:nvPr/>
        </p:nvSpPr>
        <p:spPr>
          <a:xfrm>
            <a:off x="6083935" y="1152207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74" name="文本框 573"/>
          <p:cNvSpPr txBox="1"/>
          <p:nvPr/>
        </p:nvSpPr>
        <p:spPr>
          <a:xfrm>
            <a:off x="6286500" y="11502390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电磁干扰模拟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5" name="任意多边形: 形状 371"/>
          <p:cNvSpPr/>
          <p:nvPr/>
        </p:nvSpPr>
        <p:spPr>
          <a:xfrm>
            <a:off x="6084570" y="1152334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cxnSp>
        <p:nvCxnSpPr>
          <p:cNvPr id="576" name="直接箭头连接符 575"/>
          <p:cNvCxnSpPr/>
          <p:nvPr/>
        </p:nvCxnSpPr>
        <p:spPr>
          <a:xfrm>
            <a:off x="11305540" y="11108055"/>
            <a:ext cx="519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直接箭头连接符 576"/>
          <p:cNvCxnSpPr/>
          <p:nvPr/>
        </p:nvCxnSpPr>
        <p:spPr>
          <a:xfrm>
            <a:off x="11308080" y="11089640"/>
            <a:ext cx="519430" cy="0"/>
          </a:xfrm>
          <a:prstGeom prst="straightConnector1">
            <a:avLst/>
          </a:prstGeom>
          <a:ln w="38100">
            <a:solidFill>
              <a:srgbClr val="2E54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8" name="矩形 577"/>
          <p:cNvSpPr/>
          <p:nvPr/>
        </p:nvSpPr>
        <p:spPr>
          <a:xfrm>
            <a:off x="9035415" y="10738485"/>
            <a:ext cx="2780665" cy="1162685"/>
          </a:xfrm>
          <a:prstGeom prst="rect">
            <a:avLst/>
          </a:prstGeom>
          <a:solidFill>
            <a:schemeClr val="bg1"/>
          </a:solidFill>
          <a:ln w="28575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9" name="矩形: 圆角 1197"/>
          <p:cNvSpPr/>
          <p:nvPr/>
        </p:nvSpPr>
        <p:spPr>
          <a:xfrm>
            <a:off x="9255760" y="10853420"/>
            <a:ext cx="2362835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80" name="文本框 579"/>
          <p:cNvSpPr txBox="1"/>
          <p:nvPr/>
        </p:nvSpPr>
        <p:spPr>
          <a:xfrm>
            <a:off x="9466580" y="10833735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电磁信号传播规律验证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1" name="任意多边形: 形状 371"/>
          <p:cNvSpPr/>
          <p:nvPr/>
        </p:nvSpPr>
        <p:spPr>
          <a:xfrm>
            <a:off x="9255760" y="10854690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82" name="矩形: 圆角 1197"/>
          <p:cNvSpPr/>
          <p:nvPr/>
        </p:nvSpPr>
        <p:spPr>
          <a:xfrm>
            <a:off x="9257030" y="1119187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83" name="文本框 582"/>
          <p:cNvSpPr txBox="1"/>
          <p:nvPr/>
        </p:nvSpPr>
        <p:spPr>
          <a:xfrm>
            <a:off x="9466580" y="11172190"/>
            <a:ext cx="214693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轻量存储和可信管理验证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任意多边形: 形状 371"/>
          <p:cNvSpPr/>
          <p:nvPr/>
        </p:nvSpPr>
        <p:spPr>
          <a:xfrm>
            <a:off x="9255760" y="1119187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85" name="矩形: 圆角 1197"/>
          <p:cNvSpPr/>
          <p:nvPr/>
        </p:nvSpPr>
        <p:spPr>
          <a:xfrm>
            <a:off x="9257665" y="1153985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86" name="文本框 585"/>
          <p:cNvSpPr txBox="1"/>
          <p:nvPr/>
        </p:nvSpPr>
        <p:spPr>
          <a:xfrm>
            <a:off x="9460230" y="11520170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目标识别与可信协同验证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7" name="任意多边形: 形状 371"/>
          <p:cNvSpPr/>
          <p:nvPr/>
        </p:nvSpPr>
        <p:spPr>
          <a:xfrm>
            <a:off x="9258300" y="1154112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cxnSp>
        <p:nvCxnSpPr>
          <p:cNvPr id="588" name="直接箭头连接符 587"/>
          <p:cNvCxnSpPr/>
          <p:nvPr/>
        </p:nvCxnSpPr>
        <p:spPr>
          <a:xfrm>
            <a:off x="14537055" y="11261725"/>
            <a:ext cx="5194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直接箭头连接符 588"/>
          <p:cNvCxnSpPr/>
          <p:nvPr/>
        </p:nvCxnSpPr>
        <p:spPr>
          <a:xfrm>
            <a:off x="14539595" y="11243310"/>
            <a:ext cx="519430" cy="0"/>
          </a:xfrm>
          <a:prstGeom prst="straightConnector1">
            <a:avLst/>
          </a:prstGeom>
          <a:ln w="38100">
            <a:solidFill>
              <a:srgbClr val="2E54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0" name="矩形 589"/>
          <p:cNvSpPr/>
          <p:nvPr/>
        </p:nvSpPr>
        <p:spPr>
          <a:xfrm>
            <a:off x="12266930" y="10758805"/>
            <a:ext cx="2780665" cy="1162685"/>
          </a:xfrm>
          <a:prstGeom prst="rect">
            <a:avLst/>
          </a:prstGeom>
          <a:solidFill>
            <a:schemeClr val="bg1"/>
          </a:solidFill>
          <a:ln w="28575">
            <a:solidFill>
              <a:srgbClr val="2E54A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1" name="矩形: 圆角 1197"/>
          <p:cNvSpPr/>
          <p:nvPr/>
        </p:nvSpPr>
        <p:spPr>
          <a:xfrm>
            <a:off x="12487275" y="11007090"/>
            <a:ext cx="2362835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92" name="文本框 591"/>
          <p:cNvSpPr txBox="1"/>
          <p:nvPr/>
        </p:nvSpPr>
        <p:spPr>
          <a:xfrm>
            <a:off x="12698095" y="10987405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内场平台验证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3" name="任意多边形: 形状 371"/>
          <p:cNvSpPr/>
          <p:nvPr/>
        </p:nvSpPr>
        <p:spPr>
          <a:xfrm>
            <a:off x="12487275" y="11008360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97" name="矩形: 圆角 1197"/>
          <p:cNvSpPr/>
          <p:nvPr/>
        </p:nvSpPr>
        <p:spPr>
          <a:xfrm>
            <a:off x="12489180" y="11445875"/>
            <a:ext cx="2355850" cy="274955"/>
          </a:xfrm>
          <a:prstGeom prst="roundRect">
            <a:avLst>
              <a:gd name="adj" fmla="val 27564"/>
            </a:avLst>
          </a:prstGeom>
          <a:solidFill>
            <a:schemeClr val="bg1"/>
          </a:solidFill>
          <a:ln w="19050"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endParaRPr kumimoji="0" lang="zh-CN" altLang="en-US" sz="1400" b="1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598" name="文本框 597"/>
          <p:cNvSpPr txBox="1"/>
          <p:nvPr/>
        </p:nvSpPr>
        <p:spPr>
          <a:xfrm>
            <a:off x="12691745" y="11426190"/>
            <a:ext cx="215265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外场平台验证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9" name="任意多边形: 形状 371"/>
          <p:cNvSpPr/>
          <p:nvPr/>
        </p:nvSpPr>
        <p:spPr>
          <a:xfrm>
            <a:off x="12489815" y="11447145"/>
            <a:ext cx="208280" cy="274320"/>
          </a:xfrm>
          <a:custGeom>
            <a:avLst/>
            <a:gdLst>
              <a:gd name="csX0" fmla="*/ 61719 w 269842"/>
              <a:gd name="csY0" fmla="*/ 0 h 223913"/>
              <a:gd name="csX1" fmla="*/ 269842 w 269842"/>
              <a:gd name="csY1" fmla="*/ 0 h 223913"/>
              <a:gd name="csX2" fmla="*/ 269842 w 269842"/>
              <a:gd name="csY2" fmla="*/ 223913 h 223913"/>
              <a:gd name="csX3" fmla="*/ 61719 w 269842"/>
              <a:gd name="csY3" fmla="*/ 223913 h 223913"/>
              <a:gd name="csX4" fmla="*/ 0 w 269842"/>
              <a:gd name="csY4" fmla="*/ 162194 h 223913"/>
              <a:gd name="csX5" fmla="*/ 0 w 269842"/>
              <a:gd name="csY5" fmla="*/ 61719 h 223913"/>
              <a:gd name="csX6" fmla="*/ 61719 w 269842"/>
              <a:gd name="csY6" fmla="*/ 0 h 22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9842" h="223913">
                <a:moveTo>
                  <a:pt x="61719" y="0"/>
                </a:moveTo>
                <a:lnTo>
                  <a:pt x="269842" y="0"/>
                </a:lnTo>
                <a:lnTo>
                  <a:pt x="269842" y="223913"/>
                </a:lnTo>
                <a:lnTo>
                  <a:pt x="61719" y="223913"/>
                </a:lnTo>
                <a:cubicBezTo>
                  <a:pt x="27633" y="223913"/>
                  <a:pt x="0" y="196280"/>
                  <a:pt x="0" y="162194"/>
                </a:cubicBezTo>
                <a:lnTo>
                  <a:pt x="0" y="61719"/>
                </a:lnTo>
                <a:cubicBezTo>
                  <a:pt x="0" y="27633"/>
                  <a:pt x="27633" y="0"/>
                  <a:pt x="61719" y="0"/>
                </a:cubicBezTo>
                <a:close/>
              </a:path>
            </a:pathLst>
          </a:custGeom>
          <a:solidFill>
            <a:srgbClr val="2E54A1"/>
          </a:solidFill>
          <a:ln>
            <a:solidFill>
              <a:srgbClr val="2E5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cxnSp>
        <p:nvCxnSpPr>
          <p:cNvPr id="677" name="直接连接符 676"/>
          <p:cNvCxnSpPr/>
          <p:nvPr/>
        </p:nvCxnSpPr>
        <p:spPr>
          <a:xfrm flipH="1">
            <a:off x="5382929" y="3183340"/>
            <a:ext cx="369570" cy="0"/>
          </a:xfrm>
          <a:prstGeom prst="line">
            <a:avLst/>
          </a:prstGeom>
          <a:ln w="82550" cap="sq" cmpd="sng">
            <a:solidFill>
              <a:schemeClr val="tx1"/>
            </a:solidFill>
            <a:prstDash val="solid"/>
            <a:miter lim="800000"/>
            <a:headEnd type="none"/>
            <a:tailEnd type="non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8" name="直接连接符 677"/>
          <p:cNvCxnSpPr/>
          <p:nvPr/>
        </p:nvCxnSpPr>
        <p:spPr>
          <a:xfrm>
            <a:off x="5382903" y="3201119"/>
            <a:ext cx="0" cy="8058150"/>
          </a:xfrm>
          <a:prstGeom prst="line">
            <a:avLst/>
          </a:prstGeom>
          <a:ln w="7620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9" name="直接连接符 678"/>
          <p:cNvCxnSpPr/>
          <p:nvPr/>
        </p:nvCxnSpPr>
        <p:spPr>
          <a:xfrm flipH="1">
            <a:off x="5382903" y="11282415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3" name="直接连接符 682"/>
          <p:cNvCxnSpPr/>
          <p:nvPr/>
        </p:nvCxnSpPr>
        <p:spPr>
          <a:xfrm flipH="1">
            <a:off x="5382929" y="5980515"/>
            <a:ext cx="369570" cy="0"/>
          </a:xfrm>
          <a:prstGeom prst="line">
            <a:avLst/>
          </a:prstGeom>
          <a:ln w="82550" cap="sq" cmpd="sng">
            <a:solidFill>
              <a:schemeClr val="tx1"/>
            </a:solidFill>
            <a:prstDash val="solid"/>
            <a:miter lim="800000"/>
            <a:headEnd type="none"/>
            <a:tailEnd type="non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4" name="直接连接符 683"/>
          <p:cNvCxnSpPr/>
          <p:nvPr/>
        </p:nvCxnSpPr>
        <p:spPr>
          <a:xfrm flipH="1">
            <a:off x="5440714" y="8601795"/>
            <a:ext cx="369570" cy="0"/>
          </a:xfrm>
          <a:prstGeom prst="line">
            <a:avLst/>
          </a:prstGeom>
          <a:ln w="82550" cap="sq" cmpd="sng">
            <a:solidFill>
              <a:schemeClr val="tx1"/>
            </a:solidFill>
            <a:prstDash val="solid"/>
            <a:miter lim="800000"/>
            <a:headEnd type="none"/>
            <a:tailEnd type="non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5" name="直接连接符 684"/>
          <p:cNvCxnSpPr/>
          <p:nvPr/>
        </p:nvCxnSpPr>
        <p:spPr>
          <a:xfrm flipH="1">
            <a:off x="8711573" y="11281780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6" name="直接连接符 685"/>
          <p:cNvCxnSpPr/>
          <p:nvPr/>
        </p:nvCxnSpPr>
        <p:spPr>
          <a:xfrm flipH="1">
            <a:off x="11876413" y="11282415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7" name="直接连接符 686"/>
          <p:cNvCxnSpPr/>
          <p:nvPr/>
        </p:nvCxnSpPr>
        <p:spPr>
          <a:xfrm flipH="1">
            <a:off x="8677283" y="8601445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8" name="直接连接符 687"/>
          <p:cNvCxnSpPr/>
          <p:nvPr/>
        </p:nvCxnSpPr>
        <p:spPr>
          <a:xfrm flipH="1">
            <a:off x="11883398" y="8611605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9" name="直接连接符 688"/>
          <p:cNvCxnSpPr/>
          <p:nvPr/>
        </p:nvCxnSpPr>
        <p:spPr>
          <a:xfrm flipH="1">
            <a:off x="8682998" y="5919840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0" name="直接连接符 689"/>
          <p:cNvCxnSpPr/>
          <p:nvPr/>
        </p:nvCxnSpPr>
        <p:spPr>
          <a:xfrm flipH="1">
            <a:off x="11883398" y="5943335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1" name="直接连接符 690"/>
          <p:cNvCxnSpPr/>
          <p:nvPr/>
        </p:nvCxnSpPr>
        <p:spPr>
          <a:xfrm flipH="1">
            <a:off x="8667758" y="3158860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2" name="直接连接符 691"/>
          <p:cNvCxnSpPr/>
          <p:nvPr/>
        </p:nvCxnSpPr>
        <p:spPr>
          <a:xfrm flipH="1">
            <a:off x="11882128" y="3182355"/>
            <a:ext cx="377207" cy="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3" name="直接连接符 692"/>
          <p:cNvCxnSpPr/>
          <p:nvPr/>
        </p:nvCxnSpPr>
        <p:spPr>
          <a:xfrm flipV="1">
            <a:off x="7180605" y="4221850"/>
            <a:ext cx="0" cy="610870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4" name="直接连接符 693"/>
          <p:cNvCxnSpPr/>
          <p:nvPr/>
        </p:nvCxnSpPr>
        <p:spPr>
          <a:xfrm>
            <a:off x="7180588" y="4196164"/>
            <a:ext cx="6476365" cy="0"/>
          </a:xfrm>
          <a:prstGeom prst="line">
            <a:avLst/>
          </a:prstGeom>
          <a:ln w="7620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5" name="直接连接符 694"/>
          <p:cNvCxnSpPr/>
          <p:nvPr/>
        </p:nvCxnSpPr>
        <p:spPr>
          <a:xfrm flipV="1">
            <a:off x="13651264" y="3994235"/>
            <a:ext cx="0" cy="183515"/>
          </a:xfrm>
          <a:prstGeom prst="line">
            <a:avLst/>
          </a:prstGeom>
          <a:ln w="82550" cap="sq" cmpd="sng">
            <a:solidFill>
              <a:schemeClr val="tx1"/>
            </a:solidFill>
            <a:prstDash val="solid"/>
            <a:miter lim="800000"/>
            <a:headEnd type="none"/>
            <a:tailEnd type="non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6" name="直接连接符 695"/>
          <p:cNvCxnSpPr/>
          <p:nvPr/>
        </p:nvCxnSpPr>
        <p:spPr>
          <a:xfrm>
            <a:off x="7847973" y="4359994"/>
            <a:ext cx="5834380" cy="0"/>
          </a:xfrm>
          <a:prstGeom prst="line">
            <a:avLst/>
          </a:prstGeom>
          <a:ln w="7620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7" name="直接连接符 696"/>
          <p:cNvCxnSpPr/>
          <p:nvPr/>
        </p:nvCxnSpPr>
        <p:spPr>
          <a:xfrm flipV="1">
            <a:off x="7847999" y="4402540"/>
            <a:ext cx="0" cy="360045"/>
          </a:xfrm>
          <a:prstGeom prst="line">
            <a:avLst/>
          </a:prstGeom>
          <a:ln w="82550" cap="sq" cmpd="sng">
            <a:solidFill>
              <a:schemeClr val="tx1"/>
            </a:solidFill>
            <a:prstDash val="solid"/>
            <a:miter lim="800000"/>
            <a:headEnd type="none"/>
            <a:tailEnd type="non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8" name="直接连接符 697"/>
          <p:cNvCxnSpPr/>
          <p:nvPr/>
        </p:nvCxnSpPr>
        <p:spPr>
          <a:xfrm flipV="1">
            <a:off x="13682370" y="4360280"/>
            <a:ext cx="0" cy="421005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9" name="直接连接符 698"/>
          <p:cNvCxnSpPr/>
          <p:nvPr/>
        </p:nvCxnSpPr>
        <p:spPr>
          <a:xfrm flipV="1">
            <a:off x="10407675" y="6991085"/>
            <a:ext cx="0" cy="421005"/>
          </a:xfrm>
          <a:prstGeom prst="line">
            <a:avLst/>
          </a:prstGeom>
          <a:ln w="76200" cap="rnd">
            <a:solidFill>
              <a:schemeClr val="tx1"/>
            </a:solidFill>
            <a:round/>
            <a:headEnd type="triangl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0" name="直接连接符 699"/>
          <p:cNvCxnSpPr/>
          <p:nvPr/>
        </p:nvCxnSpPr>
        <p:spPr>
          <a:xfrm>
            <a:off x="7364738" y="6991434"/>
            <a:ext cx="3042920" cy="0"/>
          </a:xfrm>
          <a:prstGeom prst="line">
            <a:avLst/>
          </a:prstGeom>
          <a:ln w="76200" cap="rnd">
            <a:solidFill>
              <a:schemeClr val="tx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1" name="直接连接符 700"/>
          <p:cNvCxnSpPr/>
          <p:nvPr/>
        </p:nvCxnSpPr>
        <p:spPr>
          <a:xfrm flipV="1">
            <a:off x="7369209" y="6594560"/>
            <a:ext cx="0" cy="349885"/>
          </a:xfrm>
          <a:prstGeom prst="line">
            <a:avLst/>
          </a:prstGeom>
          <a:ln w="82550" cap="sq" cmpd="sng">
            <a:solidFill>
              <a:schemeClr val="tx1"/>
            </a:solidFill>
            <a:prstDash val="solid"/>
            <a:miter lim="800000"/>
            <a:headEnd type="none"/>
            <a:tailEnd type="none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WPS 演示</Application>
  <PresentationFormat>宽屏</PresentationFormat>
  <Paragraphs>145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优设标题黑</vt:lpstr>
      <vt:lpstr>苹方-简</vt:lpstr>
      <vt:lpstr>Arial Unicode MS</vt:lpstr>
      <vt:lpstr>KSOFF858BB8C</vt:lpstr>
      <vt:lpstr>苹方护眼艺术黑体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咚咚咚</cp:lastModifiedBy>
  <cp:revision>169</cp:revision>
  <dcterms:created xsi:type="dcterms:W3CDTF">2026-06-23T06:04:00Z</dcterms:created>
  <dcterms:modified xsi:type="dcterms:W3CDTF">2026-06-23T06:09:12Z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7F4E48D49026448E945906192419F854_13</vt:lpwstr>
  </property>
</Properties>
</file>