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0" userDrawn="1">
          <p15:clr>
            <a:srgbClr val="A4A3A4"/>
          </p15:clr>
        </p15:guide>
        <p15:guide id="2" pos="38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2E54A1"/>
    <a:srgbClr val="DAE3F5"/>
    <a:srgbClr val="FFFFFF"/>
    <a:srgbClr val="4874CB"/>
    <a:srgbClr val="FADBDF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20"/>
        <p:guide pos="389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66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9" Type="http://schemas.openxmlformats.org/officeDocument/2006/relationships/slideLayout" Target="../slideLayouts/slideLayout2.xml"/><Relationship Id="rId18" Type="http://schemas.openxmlformats.org/officeDocument/2006/relationships/tags" Target="../tags/tag65.xml"/><Relationship Id="rId17" Type="http://schemas.openxmlformats.org/officeDocument/2006/relationships/image" Target="../media/image15.png"/><Relationship Id="rId16" Type="http://schemas.openxmlformats.org/officeDocument/2006/relationships/image" Target="../media/image14.png"/><Relationship Id="rId15" Type="http://schemas.openxmlformats.org/officeDocument/2006/relationships/image" Target="../media/image13.png"/><Relationship Id="rId14" Type="http://schemas.openxmlformats.org/officeDocument/2006/relationships/image" Target="../media/image12.png"/><Relationship Id="rId13" Type="http://schemas.openxmlformats.org/officeDocument/2006/relationships/image" Target="../media/image11.svg"/><Relationship Id="rId12" Type="http://schemas.openxmlformats.org/officeDocument/2006/relationships/image" Target="../media/image10.png"/><Relationship Id="rId11" Type="http://schemas.openxmlformats.org/officeDocument/2006/relationships/tags" Target="../tags/tag64.xml"/><Relationship Id="rId10" Type="http://schemas.openxmlformats.org/officeDocument/2006/relationships/tags" Target="../tags/tag63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矩形 31"/>
          <p:cNvSpPr/>
          <p:nvPr/>
        </p:nvSpPr>
        <p:spPr>
          <a:xfrm>
            <a:off x="8581465" y="1902460"/>
            <a:ext cx="2447925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圆角矩形 39"/>
          <p:cNvSpPr/>
          <p:nvPr/>
        </p:nvSpPr>
        <p:spPr>
          <a:xfrm>
            <a:off x="876720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4" name="文本框 123"/>
          <p:cNvSpPr txBox="1"/>
          <p:nvPr/>
        </p:nvSpPr>
        <p:spPr>
          <a:xfrm>
            <a:off x="9509760" y="4064635"/>
            <a:ext cx="63817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 b="1"/>
              <a:t>流式</a:t>
            </a:r>
            <a:endParaRPr lang="zh-CN" altLang="en-US" sz="1000" b="1"/>
          </a:p>
          <a:p>
            <a:pPr algn="ctr"/>
            <a:endParaRPr lang="zh-CN" altLang="en-US" sz="1000" b="1"/>
          </a:p>
          <a:p>
            <a:pPr algn="ctr"/>
            <a:r>
              <a:rPr lang="zh-CN" altLang="en-US" sz="1000" b="1"/>
              <a:t>贪心</a:t>
            </a:r>
            <a:endParaRPr lang="zh-CN" altLang="en-US" sz="1000" b="1"/>
          </a:p>
          <a:p>
            <a:pPr algn="ctr"/>
            <a:r>
              <a:rPr lang="zh-CN" altLang="en-US" sz="1000" b="1"/>
              <a:t>选择</a:t>
            </a:r>
            <a:endParaRPr lang="zh-CN" altLang="en-US" sz="1000" b="1"/>
          </a:p>
        </p:txBody>
      </p:sp>
      <p:sp>
        <p:nvSpPr>
          <p:cNvPr id="81" name="圆角矩形 80"/>
          <p:cNvSpPr/>
          <p:nvPr/>
        </p:nvSpPr>
        <p:spPr>
          <a:xfrm>
            <a:off x="1158875" y="645160"/>
            <a:ext cx="10075545" cy="5528945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3"/>
          <p:cNvSpPr/>
          <p:nvPr/>
        </p:nvSpPr>
        <p:spPr>
          <a:xfrm>
            <a:off x="2731453" y="375285"/>
            <a:ext cx="672909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i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事件窗口驱动的频谱数据价值评估模型</a:t>
            </a:r>
            <a:endParaRPr lang="zh-CN" altLang="en-US" b="1" i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82700" y="1069340"/>
            <a:ext cx="1287145" cy="4862195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1230630" y="1712595"/>
            <a:ext cx="1391920" cy="3743325"/>
            <a:chOff x="1938" y="2937"/>
            <a:chExt cx="2192" cy="4802"/>
          </a:xfrm>
        </p:grpSpPr>
        <p:sp>
          <p:nvSpPr>
            <p:cNvPr id="6" name="圆角矩形 5"/>
            <p:cNvSpPr/>
            <p:nvPr/>
          </p:nvSpPr>
          <p:spPr>
            <a:xfrm>
              <a:off x="2193" y="2937"/>
              <a:ext cx="1682" cy="4802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938" y="3094"/>
              <a:ext cx="2192" cy="1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连续监测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宽频段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频谱流</a:t>
              </a:r>
              <a:endParaRPr lang="zh-CN" altLang="en-US" sz="1600" b="1"/>
            </a:p>
          </p:txBody>
        </p:sp>
        <p:pic>
          <p:nvPicPr>
            <p:cNvPr id="5" name="图片 4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2375" y="4271"/>
              <a:ext cx="1317" cy="623"/>
            </a:xfrm>
            <a:prstGeom prst="rect">
              <a:avLst/>
            </a:prstGeom>
          </p:spPr>
        </p:pic>
        <p:pic>
          <p:nvPicPr>
            <p:cNvPr id="7" name="图片 6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2375" y="5438"/>
              <a:ext cx="1315" cy="623"/>
            </a:xfrm>
            <a:prstGeom prst="rect">
              <a:avLst/>
            </a:prstGeom>
          </p:spPr>
        </p:pic>
        <p:pic>
          <p:nvPicPr>
            <p:cNvPr id="9" name="图片 8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375" y="6605"/>
              <a:ext cx="1315" cy="623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2670" y="5045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70" y="6159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15" name="矩形 14"/>
          <p:cNvSpPr/>
          <p:nvPr/>
        </p:nvSpPr>
        <p:spPr>
          <a:xfrm>
            <a:off x="2957830" y="1069975"/>
            <a:ext cx="2448000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基于流式变点检测的事件证据窗口构建</a:t>
            </a:r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2957830" y="1903095"/>
            <a:ext cx="2448000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2957830" y="5236845"/>
            <a:ext cx="8067675" cy="69469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5768415" y="1069340"/>
            <a:ext cx="2447925" cy="833120"/>
          </a:xfrm>
          <a:prstGeom prst="rect">
            <a:avLst/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</a:t>
            </a:r>
            <a:r>
              <a:rPr lang="en-US" altLang="zh-CN"/>
              <a:t> PU </a:t>
            </a:r>
            <a:r>
              <a:rPr lang="zh-CN" altLang="en-US"/>
              <a:t>风险估计的高召回</a:t>
            </a:r>
            <a:r>
              <a:rPr lang="zh-CN" altLang="en-US"/>
              <a:t>可疑事件识别</a:t>
            </a:r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5769685" y="1902460"/>
            <a:ext cx="2447925" cy="3217545"/>
          </a:xfrm>
          <a:prstGeom prst="rect">
            <a:avLst/>
          </a:prstGeom>
          <a:solidFill>
            <a:srgbClr val="DAE3F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8578925" y="1069340"/>
            <a:ext cx="2447925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基于子模覆盖增益的事件</a:t>
            </a:r>
            <a:r>
              <a:rPr lang="zh-CN" altLang="en-US"/>
              <a:t>向量入库判别</a:t>
            </a:r>
            <a:endParaRPr lang="zh-CN" altLang="en-US"/>
          </a:p>
        </p:txBody>
      </p:sp>
      <p:sp>
        <p:nvSpPr>
          <p:cNvPr id="1072" name="箭头: 燕尾形 1071"/>
          <p:cNvSpPr/>
          <p:nvPr/>
        </p:nvSpPr>
        <p:spPr>
          <a:xfrm>
            <a:off x="2570480" y="3162300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箭头: 燕尾形 1071"/>
          <p:cNvSpPr/>
          <p:nvPr/>
        </p:nvSpPr>
        <p:spPr>
          <a:xfrm>
            <a:off x="5371465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燕尾形 1071"/>
          <p:cNvSpPr/>
          <p:nvPr/>
        </p:nvSpPr>
        <p:spPr>
          <a:xfrm>
            <a:off x="8204200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圆角矩形 34"/>
          <p:cNvSpPr/>
          <p:nvPr/>
        </p:nvSpPr>
        <p:spPr>
          <a:xfrm>
            <a:off x="3143605" y="20815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3143605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圆角矩形 36"/>
          <p:cNvSpPr/>
          <p:nvPr/>
        </p:nvSpPr>
        <p:spPr>
          <a:xfrm>
            <a:off x="595542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圆角矩形 37"/>
          <p:cNvSpPr/>
          <p:nvPr/>
        </p:nvSpPr>
        <p:spPr>
          <a:xfrm>
            <a:off x="595542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圆角矩形 38"/>
          <p:cNvSpPr/>
          <p:nvPr/>
        </p:nvSpPr>
        <p:spPr>
          <a:xfrm>
            <a:off x="876720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34670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可疑事件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815721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候选事件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4" name="文本框 3"/>
          <p:cNvSpPr txBox="1"/>
          <p:nvPr/>
        </p:nvSpPr>
        <p:spPr>
          <a:xfrm>
            <a:off x="3030258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连续变点检测机制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785" y="2496185"/>
            <a:ext cx="504825" cy="504825"/>
          </a:xfrm>
          <a:prstGeom prst="rect">
            <a:avLst/>
          </a:prstGeom>
        </p:spPr>
      </p:pic>
      <p:sp>
        <p:nvSpPr>
          <p:cNvPr id="14" name="右箭头 13"/>
          <p:cNvSpPr/>
          <p:nvPr/>
        </p:nvSpPr>
        <p:spPr>
          <a:xfrm>
            <a:off x="3979545" y="2887980"/>
            <a:ext cx="1096645" cy="7556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40220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24434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44665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4676873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4882515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上箭头 24"/>
          <p:cNvSpPr/>
          <p:nvPr/>
        </p:nvSpPr>
        <p:spPr>
          <a:xfrm>
            <a:off x="4669790" y="3001010"/>
            <a:ext cx="54000" cy="221615"/>
          </a:xfrm>
          <a:prstGeom prst="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/>
          <p:nvPr/>
        </p:nvPicPr>
        <p:blipFill>
          <a:blip r:embed="rId5"/>
          <a:stretch>
            <a:fillRect/>
          </a:stretch>
        </p:blipFill>
        <p:spPr>
          <a:xfrm>
            <a:off x="3923030" y="2483485"/>
            <a:ext cx="234000" cy="23400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5"/>
          <a:stretch>
            <a:fillRect/>
          </a:stretch>
        </p:blipFill>
        <p:spPr>
          <a:xfrm>
            <a:off x="4577715" y="2483485"/>
            <a:ext cx="234000" cy="23400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 rot="5400000">
            <a:off x="4244340" y="2455545"/>
            <a:ext cx="268605" cy="2832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41" name="文本框 40"/>
          <p:cNvSpPr txBox="1"/>
          <p:nvPr/>
        </p:nvSpPr>
        <p:spPr>
          <a:xfrm>
            <a:off x="423735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变点</a:t>
            </a:r>
            <a:endParaRPr lang="zh-CN" altLang="en-US" sz="1200" b="1"/>
          </a:p>
        </p:txBody>
      </p:sp>
      <p:sp>
        <p:nvSpPr>
          <p:cNvPr id="42" name="文本框 41"/>
          <p:cNvSpPr txBox="1"/>
          <p:nvPr/>
        </p:nvSpPr>
        <p:spPr>
          <a:xfrm>
            <a:off x="323278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时序</a:t>
            </a:r>
            <a:endParaRPr lang="zh-CN" altLang="en-US" sz="1200" b="1"/>
          </a:p>
        </p:txBody>
      </p:sp>
      <p:sp>
        <p:nvSpPr>
          <p:cNvPr id="43" name="文本框 42"/>
          <p:cNvSpPr txBox="1"/>
          <p:nvPr/>
        </p:nvSpPr>
        <p:spPr>
          <a:xfrm>
            <a:off x="3030258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自适应窗口</a:t>
            </a:r>
            <a:r>
              <a:rPr lang="zh-CN" altLang="en-US" sz="1600" b="1">
                <a:solidFill>
                  <a:srgbClr val="C00000"/>
                </a:solidFill>
              </a:rPr>
              <a:t>生成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0" y="4046855"/>
            <a:ext cx="288000" cy="288000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4135" y="4341985"/>
            <a:ext cx="288000" cy="28765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135" y="4623925"/>
            <a:ext cx="288000" cy="287655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3096895" y="4053205"/>
            <a:ext cx="8064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持续时间</a:t>
            </a:r>
            <a:endParaRPr lang="zh-CN" altLang="en-US" sz="1200" b="1"/>
          </a:p>
        </p:txBody>
      </p:sp>
      <p:sp>
        <p:nvSpPr>
          <p:cNvPr id="50" name="文本框 49"/>
          <p:cNvSpPr txBox="1"/>
          <p:nvPr/>
        </p:nvSpPr>
        <p:spPr>
          <a:xfrm>
            <a:off x="3059430" y="4347845"/>
            <a:ext cx="8813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漂移范围</a:t>
            </a:r>
            <a:endParaRPr lang="zh-CN" altLang="en-US" sz="1200" b="1"/>
          </a:p>
        </p:txBody>
      </p:sp>
      <p:sp>
        <p:nvSpPr>
          <p:cNvPr id="51" name="文本框 50"/>
          <p:cNvSpPr txBox="1"/>
          <p:nvPr/>
        </p:nvSpPr>
        <p:spPr>
          <a:xfrm>
            <a:off x="3177540" y="4629785"/>
            <a:ext cx="645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稳定性</a:t>
            </a:r>
            <a:endParaRPr lang="zh-CN" altLang="en-US" sz="1200" b="1"/>
          </a:p>
        </p:txBody>
      </p:sp>
      <p:sp>
        <p:nvSpPr>
          <p:cNvPr id="52" name="文本框 51"/>
          <p:cNvSpPr txBox="1"/>
          <p:nvPr/>
        </p:nvSpPr>
        <p:spPr>
          <a:xfrm>
            <a:off x="4471670" y="403542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短时突发</a:t>
            </a:r>
            <a:endParaRPr lang="zh-CN" altLang="en-US" sz="1200" b="1"/>
          </a:p>
        </p:txBody>
      </p:sp>
      <p:sp>
        <p:nvSpPr>
          <p:cNvPr id="53" name="文本框 52"/>
          <p:cNvSpPr txBox="1"/>
          <p:nvPr/>
        </p:nvSpPr>
        <p:spPr>
          <a:xfrm>
            <a:off x="4471670" y="423672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窄带持续</a:t>
            </a:r>
            <a:endParaRPr lang="zh-CN" altLang="en-US" sz="1200" b="1"/>
          </a:p>
        </p:txBody>
      </p:sp>
      <p:sp>
        <p:nvSpPr>
          <p:cNvPr id="54" name="文本框 53"/>
          <p:cNvSpPr txBox="1"/>
          <p:nvPr/>
        </p:nvSpPr>
        <p:spPr>
          <a:xfrm>
            <a:off x="4471670" y="443801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间歇重复</a:t>
            </a:r>
            <a:endParaRPr lang="zh-CN" altLang="en-US" sz="1200" b="1"/>
          </a:p>
        </p:txBody>
      </p:sp>
      <p:sp>
        <p:nvSpPr>
          <p:cNvPr id="55" name="文本框 54"/>
          <p:cNvSpPr txBox="1"/>
          <p:nvPr/>
        </p:nvSpPr>
        <p:spPr>
          <a:xfrm>
            <a:off x="4471670" y="463931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频点迁移</a:t>
            </a:r>
            <a:endParaRPr lang="zh-CN" altLang="en-US" sz="1200" b="1"/>
          </a:p>
        </p:txBody>
      </p:sp>
      <p:cxnSp>
        <p:nvCxnSpPr>
          <p:cNvPr id="56" name="直接箭头连接符 55"/>
          <p:cNvCxnSpPr/>
          <p:nvPr/>
        </p:nvCxnSpPr>
        <p:spPr>
          <a:xfrm flipV="1">
            <a:off x="4218305" y="4150360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218305" y="4467225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圆角矩形 57"/>
          <p:cNvSpPr/>
          <p:nvPr/>
        </p:nvSpPr>
        <p:spPr>
          <a:xfrm>
            <a:off x="3420428" y="5315585"/>
            <a:ext cx="7142480" cy="5372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面向高价值频谱事件的</a:t>
            </a:r>
            <a:r>
              <a:rPr lang="en-US" altLang="zh-CN" b="1">
                <a:solidFill>
                  <a:schemeClr val="tx1"/>
                </a:solidFill>
              </a:rPr>
              <a:t>AI</a:t>
            </a:r>
            <a:r>
              <a:rPr lang="zh-CN" altLang="en-US" b="1">
                <a:solidFill>
                  <a:schemeClr val="tx1"/>
                </a:solidFill>
              </a:rPr>
              <a:t>精判和相似</a:t>
            </a:r>
            <a:r>
              <a:rPr lang="zh-CN" altLang="en-US" b="1">
                <a:solidFill>
                  <a:schemeClr val="tx1"/>
                </a:solidFill>
              </a:rPr>
              <a:t>性检索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9" name="下箭头 58"/>
          <p:cNvSpPr/>
          <p:nvPr/>
        </p:nvSpPr>
        <p:spPr>
          <a:xfrm>
            <a:off x="4127855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5842075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事件级轻量表征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9960" y="2414270"/>
            <a:ext cx="459988" cy="414000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6005" y="2520315"/>
            <a:ext cx="459988" cy="414000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2050" y="2626360"/>
            <a:ext cx="459988" cy="414000"/>
          </a:xfrm>
          <a:prstGeom prst="rect">
            <a:avLst/>
          </a:prstGeom>
        </p:spPr>
      </p:pic>
      <p:sp>
        <p:nvSpPr>
          <p:cNvPr id="65" name="文本框 64"/>
          <p:cNvSpPr txBox="1"/>
          <p:nvPr/>
        </p:nvSpPr>
        <p:spPr>
          <a:xfrm>
            <a:off x="5981065" y="304609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证据</a:t>
            </a:r>
            <a:r>
              <a:rPr lang="zh-CN" altLang="en-US" sz="1200" b="1"/>
              <a:t>窗口</a:t>
            </a:r>
            <a:endParaRPr lang="zh-CN" altLang="en-US" sz="1200" b="1"/>
          </a:p>
        </p:txBody>
      </p:sp>
      <p:sp>
        <p:nvSpPr>
          <p:cNvPr id="66" name="梯形 65"/>
          <p:cNvSpPr/>
          <p:nvPr/>
        </p:nvSpPr>
        <p:spPr>
          <a:xfrm rot="5400000">
            <a:off x="6882130" y="2590800"/>
            <a:ext cx="511810" cy="321945"/>
          </a:xfrm>
          <a:prstGeom prst="trapezoid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0" name="组合 79"/>
          <p:cNvGrpSpPr/>
          <p:nvPr/>
        </p:nvGrpSpPr>
        <p:grpSpPr>
          <a:xfrm>
            <a:off x="7562850" y="2463165"/>
            <a:ext cx="408183" cy="546662"/>
            <a:chOff x="11770" y="3305"/>
            <a:chExt cx="795" cy="973"/>
          </a:xfrm>
        </p:grpSpPr>
        <p:sp>
          <p:nvSpPr>
            <p:cNvPr id="67" name="矩形 66"/>
            <p:cNvSpPr/>
            <p:nvPr/>
          </p:nvSpPr>
          <p:spPr>
            <a:xfrm>
              <a:off x="11770" y="3305"/>
              <a:ext cx="265" cy="11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12035" y="3305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12300" y="3305"/>
              <a:ext cx="265" cy="11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11770" y="363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矩形 71"/>
            <p:cNvSpPr/>
            <p:nvPr/>
          </p:nvSpPr>
          <p:spPr>
            <a:xfrm>
              <a:off x="12035" y="3639"/>
              <a:ext cx="265" cy="11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12300" y="3639"/>
              <a:ext cx="265" cy="1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11770" y="4159"/>
              <a:ext cx="265" cy="119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5" name="矩形 74"/>
            <p:cNvSpPr/>
            <p:nvPr/>
          </p:nvSpPr>
          <p:spPr>
            <a:xfrm>
              <a:off x="12035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6" name="矩形 75"/>
            <p:cNvSpPr/>
            <p:nvPr/>
          </p:nvSpPr>
          <p:spPr>
            <a:xfrm>
              <a:off x="12300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1941" y="3731"/>
              <a:ext cx="452" cy="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78" name="文本框 77"/>
          <p:cNvSpPr txBox="1"/>
          <p:nvPr/>
        </p:nvSpPr>
        <p:spPr>
          <a:xfrm>
            <a:off x="6797040" y="3053080"/>
            <a:ext cx="6515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表征</a:t>
            </a:r>
            <a:r>
              <a:rPr lang="zh-CN" altLang="en-US" sz="1200" b="1"/>
              <a:t>器</a:t>
            </a:r>
            <a:endParaRPr lang="zh-CN" altLang="en-US" sz="1200" b="1"/>
          </a:p>
        </p:txBody>
      </p:sp>
      <p:sp>
        <p:nvSpPr>
          <p:cNvPr id="79" name="文本框 78"/>
          <p:cNvSpPr txBox="1"/>
          <p:nvPr/>
        </p:nvSpPr>
        <p:spPr>
          <a:xfrm>
            <a:off x="7472680" y="3046095"/>
            <a:ext cx="6019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82" name="下箭头 81"/>
          <p:cNvSpPr/>
          <p:nvPr/>
        </p:nvSpPr>
        <p:spPr>
          <a:xfrm rot="16200000">
            <a:off x="68008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3" name="下箭头 82"/>
          <p:cNvSpPr/>
          <p:nvPr/>
        </p:nvSpPr>
        <p:spPr>
          <a:xfrm rot="16200000">
            <a:off x="73977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下箭头 83"/>
          <p:cNvSpPr/>
          <p:nvPr/>
        </p:nvSpPr>
        <p:spPr>
          <a:xfrm>
            <a:off x="693967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5842075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非负</a:t>
            </a:r>
            <a:r>
              <a:rPr lang="en-US" altLang="zh-CN" sz="1600" b="1">
                <a:solidFill>
                  <a:srgbClr val="C00000"/>
                </a:solidFill>
              </a:rPr>
              <a:t>PU</a:t>
            </a:r>
            <a:r>
              <a:rPr lang="zh-CN" altLang="en-US" sz="1600" b="1">
                <a:solidFill>
                  <a:srgbClr val="C00000"/>
                </a:solidFill>
              </a:rPr>
              <a:t>风险学</a:t>
            </a:r>
            <a:r>
              <a:rPr lang="zh-CN" altLang="en-US" sz="1600" b="1">
                <a:solidFill>
                  <a:srgbClr val="C00000"/>
                </a:solidFill>
              </a:rPr>
              <a:t>习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6" name="圆角矩形 85"/>
          <p:cNvSpPr>
            <a:spLocks noChangeAspect="1"/>
          </p:cNvSpPr>
          <p:nvPr/>
        </p:nvSpPr>
        <p:spPr>
          <a:xfrm>
            <a:off x="6170930" y="405066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7" name="圆角矩形 86"/>
          <p:cNvSpPr>
            <a:spLocks noChangeAspect="1"/>
          </p:cNvSpPr>
          <p:nvPr/>
        </p:nvSpPr>
        <p:spPr>
          <a:xfrm>
            <a:off x="6220460" y="4107180"/>
            <a:ext cx="216000" cy="216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P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8" name="圆角矩形 87"/>
          <p:cNvSpPr>
            <a:spLocks noChangeAspect="1"/>
          </p:cNvSpPr>
          <p:nvPr/>
        </p:nvSpPr>
        <p:spPr>
          <a:xfrm>
            <a:off x="6563360" y="4107180"/>
            <a:ext cx="216000" cy="216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U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9" name="圆角矩形 88"/>
          <p:cNvSpPr>
            <a:spLocks noChangeAspect="1"/>
          </p:cNvSpPr>
          <p:nvPr/>
        </p:nvSpPr>
        <p:spPr>
          <a:xfrm>
            <a:off x="6220460" y="4448175"/>
            <a:ext cx="216000" cy="216000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0" name="圆角矩形 89"/>
          <p:cNvSpPr>
            <a:spLocks noChangeAspect="1"/>
          </p:cNvSpPr>
          <p:nvPr/>
        </p:nvSpPr>
        <p:spPr>
          <a:xfrm>
            <a:off x="6563360" y="4448175"/>
            <a:ext cx="216000" cy="21600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1" name="文本框 90"/>
          <p:cNvSpPr txBox="1"/>
          <p:nvPr/>
        </p:nvSpPr>
        <p:spPr>
          <a:xfrm>
            <a:off x="618617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2" name="文本框 91"/>
          <p:cNvSpPr txBox="1"/>
          <p:nvPr/>
        </p:nvSpPr>
        <p:spPr>
          <a:xfrm>
            <a:off x="652780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3" name="文本框 92"/>
          <p:cNvSpPr txBox="1"/>
          <p:nvPr/>
        </p:nvSpPr>
        <p:spPr>
          <a:xfrm rot="5400000">
            <a:off x="6348730" y="447345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4" name="文本框 93"/>
          <p:cNvSpPr txBox="1"/>
          <p:nvPr/>
        </p:nvSpPr>
        <p:spPr>
          <a:xfrm>
            <a:off x="606806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PU</a:t>
            </a:r>
            <a:r>
              <a:rPr lang="zh-CN" altLang="en-US" sz="1200" b="1"/>
              <a:t>对数</a:t>
            </a:r>
            <a:endParaRPr lang="zh-CN" altLang="en-US" sz="1200" b="1"/>
          </a:p>
        </p:txBody>
      </p:sp>
      <p:sp>
        <p:nvSpPr>
          <p:cNvPr id="95" name="下箭头 94"/>
          <p:cNvSpPr/>
          <p:nvPr/>
        </p:nvSpPr>
        <p:spPr>
          <a:xfrm rot="16200000">
            <a:off x="7001695" y="4250175"/>
            <a:ext cx="108000" cy="288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6" name="表格 95"/>
          <p:cNvGraphicFramePr/>
          <p:nvPr>
            <p:custDataLst>
              <p:tags r:id="rId10"/>
            </p:custDataLst>
          </p:nvPr>
        </p:nvGraphicFramePr>
        <p:xfrm>
          <a:off x="7237095" y="4036060"/>
          <a:ext cx="673735" cy="66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165"/>
                <a:gridCol w="496570"/>
              </a:tblGrid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1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2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3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4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714121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TopK</a:t>
            </a:r>
            <a:r>
              <a:rPr lang="zh-CN" altLang="en-US" sz="1200" b="1"/>
              <a:t>过滤</a:t>
            </a:r>
            <a:endParaRPr lang="zh-CN" altLang="en-US" sz="1200" b="1"/>
          </a:p>
        </p:txBody>
      </p:sp>
      <p:sp>
        <p:nvSpPr>
          <p:cNvPr id="99" name="文本框 98"/>
          <p:cNvSpPr txBox="1"/>
          <p:nvPr/>
        </p:nvSpPr>
        <p:spPr>
          <a:xfrm>
            <a:off x="8654490" y="206883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覆盖增益</a:t>
            </a:r>
            <a:r>
              <a:rPr lang="zh-CN" altLang="en-US" sz="1600" b="1">
                <a:solidFill>
                  <a:srgbClr val="C00000"/>
                </a:solidFill>
              </a:rPr>
              <a:t>评估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773160" y="3022600"/>
            <a:ext cx="9664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向量索引库</a:t>
            </a:r>
            <a:endParaRPr lang="zh-CN" altLang="en-US" sz="1200" b="1"/>
          </a:p>
        </p:txBody>
      </p:sp>
      <p:pic>
        <p:nvPicPr>
          <p:cNvPr id="101" name="图片 100" descr="数据库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33485" y="2440940"/>
            <a:ext cx="777600" cy="572701"/>
          </a:xfrm>
          <a:prstGeom prst="rect">
            <a:avLst/>
          </a:prstGeom>
        </p:spPr>
      </p:pic>
      <p:pic>
        <p:nvPicPr>
          <p:cNvPr id="102" name="图片 10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89160" y="2376805"/>
            <a:ext cx="252000" cy="252000"/>
          </a:xfrm>
          <a:prstGeom prst="rect">
            <a:avLst/>
          </a:prstGeom>
        </p:spPr>
      </p:pic>
      <p:pic>
        <p:nvPicPr>
          <p:cNvPr id="103" name="图片 10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89160" y="2689765"/>
            <a:ext cx="252000" cy="251460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89160" y="3002185"/>
            <a:ext cx="252000" cy="251460"/>
          </a:xfrm>
          <a:prstGeom prst="rect">
            <a:avLst/>
          </a:prstGeom>
        </p:spPr>
      </p:pic>
      <p:sp>
        <p:nvSpPr>
          <p:cNvPr id="106" name="文本框 105"/>
          <p:cNvSpPr txBox="1"/>
          <p:nvPr/>
        </p:nvSpPr>
        <p:spPr>
          <a:xfrm>
            <a:off x="10040620" y="237172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空间</a:t>
            </a:r>
            <a:r>
              <a:rPr lang="zh-CN" altLang="en-US" sz="1200" b="1"/>
              <a:t>覆盖</a:t>
            </a:r>
            <a:endParaRPr lang="zh-CN" altLang="en-US" sz="1200" b="1"/>
          </a:p>
        </p:txBody>
      </p:sp>
      <p:sp>
        <p:nvSpPr>
          <p:cNvPr id="107" name="文本框 106"/>
          <p:cNvSpPr txBox="1"/>
          <p:nvPr/>
        </p:nvSpPr>
        <p:spPr>
          <a:xfrm>
            <a:off x="10040620" y="268414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稀缺波形</a:t>
            </a:r>
            <a:endParaRPr lang="zh-CN" altLang="en-US" sz="1200" b="1"/>
          </a:p>
        </p:txBody>
      </p:sp>
      <p:sp>
        <p:nvSpPr>
          <p:cNvPr id="108" name="文本框 107"/>
          <p:cNvSpPr txBox="1"/>
          <p:nvPr/>
        </p:nvSpPr>
        <p:spPr>
          <a:xfrm>
            <a:off x="10041890" y="2996565"/>
            <a:ext cx="8020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边界</a:t>
            </a:r>
            <a:r>
              <a:rPr lang="zh-CN" altLang="en-US" sz="1200" b="1"/>
              <a:t>扩展</a:t>
            </a:r>
            <a:endParaRPr lang="zh-CN" altLang="en-US" sz="1200" b="1"/>
          </a:p>
        </p:txBody>
      </p:sp>
      <p:sp>
        <p:nvSpPr>
          <p:cNvPr id="109" name="下箭头 108"/>
          <p:cNvSpPr/>
          <p:nvPr/>
        </p:nvSpPr>
        <p:spPr>
          <a:xfrm>
            <a:off x="975145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0" name="文本框 109"/>
          <p:cNvSpPr txBox="1"/>
          <p:nvPr/>
        </p:nvSpPr>
        <p:spPr>
          <a:xfrm>
            <a:off x="8578925" y="373380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索引约束</a:t>
            </a:r>
            <a:r>
              <a:rPr lang="zh-CN" altLang="en-US" sz="1600" b="1">
                <a:solidFill>
                  <a:srgbClr val="C00000"/>
                </a:solidFill>
              </a:rPr>
              <a:t>优化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11" name="圆角矩形 110"/>
          <p:cNvSpPr>
            <a:spLocks noChangeAspect="1"/>
          </p:cNvSpPr>
          <p:nvPr/>
        </p:nvSpPr>
        <p:spPr>
          <a:xfrm>
            <a:off x="8929370" y="407098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2" name="文本框 111"/>
          <p:cNvSpPr txBox="1"/>
          <p:nvPr/>
        </p:nvSpPr>
        <p:spPr>
          <a:xfrm>
            <a:off x="8836660" y="4701540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多元</a:t>
            </a:r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113" name="椭圆 112"/>
          <p:cNvSpPr>
            <a:spLocks noChangeAspect="1"/>
          </p:cNvSpPr>
          <p:nvPr/>
        </p:nvSpPr>
        <p:spPr>
          <a:xfrm>
            <a:off x="9039225" y="4172585"/>
            <a:ext cx="107289" cy="10800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椭圆 114"/>
          <p:cNvSpPr>
            <a:spLocks noChangeAspect="1"/>
          </p:cNvSpPr>
          <p:nvPr/>
        </p:nvSpPr>
        <p:spPr>
          <a:xfrm>
            <a:off x="9353550" y="4172585"/>
            <a:ext cx="107289" cy="10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椭圆 115"/>
          <p:cNvSpPr>
            <a:spLocks noChangeAspect="1"/>
          </p:cNvSpPr>
          <p:nvPr/>
        </p:nvSpPr>
        <p:spPr>
          <a:xfrm>
            <a:off x="9039225" y="4364673"/>
            <a:ext cx="107289" cy="108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椭圆 116"/>
          <p:cNvSpPr>
            <a:spLocks noChangeAspect="1"/>
          </p:cNvSpPr>
          <p:nvPr/>
        </p:nvSpPr>
        <p:spPr>
          <a:xfrm>
            <a:off x="9353550" y="4364673"/>
            <a:ext cx="107289" cy="108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18" name="直接箭头连接符 117"/>
          <p:cNvCxnSpPr/>
          <p:nvPr/>
        </p:nvCxnSpPr>
        <p:spPr>
          <a:xfrm>
            <a:off x="9139555" y="4229100"/>
            <a:ext cx="212090" cy="1905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9139555" y="4418965"/>
            <a:ext cx="215265" cy="254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17" idx="1"/>
          </p:cNvCxnSpPr>
          <p:nvPr/>
        </p:nvCxnSpPr>
        <p:spPr>
          <a:xfrm>
            <a:off x="9139555" y="4239260"/>
            <a:ext cx="229870" cy="14097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1" name="文本框 120"/>
          <p:cNvSpPr txBox="1"/>
          <p:nvPr/>
        </p:nvSpPr>
        <p:spPr>
          <a:xfrm>
            <a:off x="9120038" y="4433515"/>
            <a:ext cx="232074" cy="283163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122" name="下箭头 121"/>
          <p:cNvSpPr/>
          <p:nvPr/>
        </p:nvSpPr>
        <p:spPr>
          <a:xfrm rot="16200000">
            <a:off x="9776865" y="4215030"/>
            <a:ext cx="108000" cy="324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5" name="下箭头 124"/>
          <p:cNvSpPr/>
          <p:nvPr/>
        </p:nvSpPr>
        <p:spPr>
          <a:xfrm>
            <a:off x="693967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6" name="下箭头 125"/>
          <p:cNvSpPr/>
          <p:nvPr/>
        </p:nvSpPr>
        <p:spPr>
          <a:xfrm>
            <a:off x="975145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文本框 126"/>
          <p:cNvSpPr txBox="1"/>
          <p:nvPr/>
        </p:nvSpPr>
        <p:spPr>
          <a:xfrm>
            <a:off x="3580803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事件</a:t>
            </a:r>
            <a:r>
              <a:rPr lang="en-US" altLang="zh-CN" sz="1200" b="1"/>
              <a:t>   </a:t>
            </a:r>
            <a:r>
              <a:rPr lang="zh-CN" altLang="en-US" sz="1200" b="1"/>
              <a:t>触发</a:t>
            </a:r>
            <a:endParaRPr lang="zh-CN" altLang="en-US" sz="1200" b="1"/>
          </a:p>
        </p:txBody>
      </p:sp>
      <p:sp>
        <p:nvSpPr>
          <p:cNvPr id="128" name="文本框 127"/>
          <p:cNvSpPr txBox="1"/>
          <p:nvPr/>
        </p:nvSpPr>
        <p:spPr>
          <a:xfrm>
            <a:off x="6392620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候选</a:t>
            </a:r>
            <a:r>
              <a:rPr lang="en-US" altLang="zh-CN" sz="1200" b="1"/>
              <a:t>   </a:t>
            </a:r>
            <a:r>
              <a:rPr lang="zh-CN" altLang="en-US" sz="1200" b="1"/>
              <a:t>排序</a:t>
            </a:r>
            <a:endParaRPr lang="zh-CN" altLang="en-US" sz="1200" b="1"/>
          </a:p>
        </p:txBody>
      </p:sp>
      <p:sp>
        <p:nvSpPr>
          <p:cNvPr id="129" name="文本框 128"/>
          <p:cNvSpPr txBox="1"/>
          <p:nvPr/>
        </p:nvSpPr>
        <p:spPr>
          <a:xfrm>
            <a:off x="9204400" y="3386455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优化</a:t>
            </a:r>
            <a:r>
              <a:rPr lang="en-US" altLang="zh-CN" sz="1200" b="1"/>
              <a:t>   </a:t>
            </a:r>
            <a:r>
              <a:rPr lang="zh-CN" altLang="en-US" sz="1200" b="1"/>
              <a:t>求解</a:t>
            </a:r>
            <a:endParaRPr lang="zh-CN" altLang="en-US" sz="1200" b="1"/>
          </a:p>
        </p:txBody>
      </p:sp>
      <p:sp>
        <p:nvSpPr>
          <p:cNvPr id="130" name="箭头: 燕尾形 1071"/>
          <p:cNvSpPr/>
          <p:nvPr/>
        </p:nvSpPr>
        <p:spPr>
          <a:xfrm>
            <a:off x="5393690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箭头: 燕尾形 1071"/>
          <p:cNvSpPr/>
          <p:nvPr/>
        </p:nvSpPr>
        <p:spPr>
          <a:xfrm>
            <a:off x="8216265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13010" y="4070985"/>
            <a:ext cx="576000" cy="576000"/>
          </a:xfrm>
          <a:prstGeom prst="rect">
            <a:avLst/>
          </a:prstGeom>
        </p:spPr>
      </p:pic>
      <p:sp>
        <p:nvSpPr>
          <p:cNvPr id="46" name="文本框 45"/>
          <p:cNvSpPr txBox="1"/>
          <p:nvPr/>
        </p:nvSpPr>
        <p:spPr>
          <a:xfrm>
            <a:off x="9838055" y="4702810"/>
            <a:ext cx="11703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索引</a:t>
            </a:r>
            <a:r>
              <a:rPr lang="zh-CN" altLang="en-US" sz="1200" b="1"/>
              <a:t>子集</a:t>
            </a:r>
            <a:endParaRPr lang="zh-CN" altLang="en-US" sz="1200" b="1"/>
          </a:p>
        </p:txBody>
      </p:sp>
    </p:spTree>
    <p:custDataLst>
      <p:tags r:id="rId1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*52"/>
  <p:tag name="TABLE_ENDDRAG_RECT" val="567*282*53*52"/>
</p:tagLst>
</file>

<file path=ppt/tags/tag64.xml><?xml version="1.0" encoding="utf-8"?>
<p:tagLst xmlns:p="http://schemas.openxmlformats.org/presentationml/2006/main">
  <p:tag name="KSO_DOCER_RESOURCE_TRACE_INFO" val="{&quot;id&quot;:&quot;50062581&quot;,&quot;origin&quot;:0,&quot;type&quot;:&quot;icons&quot;,&quot;user&quot;:&quot;402383365&quot;}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581],&quot;65&quot;:[20205081]}"/>
</p:tagLst>
</file>

<file path=ppt/tags/tag66.xml><?xml version="1.0" encoding="utf-8"?>
<p:tagLst xmlns:p="http://schemas.openxmlformats.org/presentationml/2006/main">
  <p:tag name="resource_record_key" val="{&quot;10&quot;:[50062581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</Words>
  <Application>WPS 演示</Application>
  <PresentationFormat>宽屏</PresentationFormat>
  <Paragraphs>139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我要凹凸曼</cp:lastModifiedBy>
  <cp:revision>160</cp:revision>
  <dcterms:created xsi:type="dcterms:W3CDTF">2019-06-19T02:08:00Z</dcterms:created>
  <dcterms:modified xsi:type="dcterms:W3CDTF">2026-06-15T03:55:46Z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882259FAE66E44A7964F29318055E758_11</vt:lpwstr>
  </property>
</Properties>
</file>