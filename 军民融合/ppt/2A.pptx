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1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7" r:id="rId3"/>
  </p:sldIdLst>
  <p:sldSz cx="12192000" cy="6858000"/>
  <p:notesSz cx="6858000" cy="9144000"/>
  <p:custDataLst>
    <p:tags r:id="rId7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20" userDrawn="1">
          <p15:clr>
            <a:srgbClr val="A4A3A4"/>
          </p15:clr>
        </p15:guide>
        <p15:guide id="2" pos="3897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00000"/>
    <a:srgbClr val="2E54A1"/>
    <a:srgbClr val="DAE3F5"/>
    <a:srgbClr val="FFFFFF"/>
    <a:srgbClr val="4874CB"/>
    <a:srgbClr val="FADBDF"/>
    <a:srgbClr val="DCDCDC"/>
    <a:srgbClr val="F0F0F0"/>
    <a:srgbClr val="E6E6E6"/>
    <a:srgbClr val="C8C8C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2220"/>
        <p:guide pos="3897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7" Type="http://schemas.openxmlformats.org/officeDocument/2006/relationships/tags" Target="tags/tag67.xml"/><Relationship Id="rId6" Type="http://schemas.openxmlformats.org/officeDocument/2006/relationships/tableStyles" Target="tableStyles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单击此处编辑母版副标题样式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tags" Target="../tags/tag62.xml"/><Relationship Id="rId16" Type="http://schemas.openxmlformats.org/officeDocument/2006/relationships/tags" Target="../tags/tag61.xml"/><Relationship Id="rId15" Type="http://schemas.openxmlformats.org/officeDocument/2006/relationships/tags" Target="../tags/tag60.xml"/><Relationship Id="rId14" Type="http://schemas.openxmlformats.org/officeDocument/2006/relationships/tags" Target="../tags/tag59.xml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image" Target="../media/image9.png"/><Relationship Id="rId8" Type="http://schemas.openxmlformats.org/officeDocument/2006/relationships/image" Target="../media/image8.png"/><Relationship Id="rId7" Type="http://schemas.openxmlformats.org/officeDocument/2006/relationships/image" Target="../media/image7.png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9" Type="http://schemas.openxmlformats.org/officeDocument/2006/relationships/slideLayout" Target="../slideLayouts/slideLayout2.xml"/><Relationship Id="rId18" Type="http://schemas.openxmlformats.org/officeDocument/2006/relationships/tags" Target="../tags/tag66.xml"/><Relationship Id="rId17" Type="http://schemas.openxmlformats.org/officeDocument/2006/relationships/tags" Target="../tags/tag65.xml"/><Relationship Id="rId16" Type="http://schemas.openxmlformats.org/officeDocument/2006/relationships/image" Target="../media/image14.png"/><Relationship Id="rId15" Type="http://schemas.openxmlformats.org/officeDocument/2006/relationships/image" Target="../media/image13.png"/><Relationship Id="rId14" Type="http://schemas.openxmlformats.org/officeDocument/2006/relationships/image" Target="../media/image12.png"/><Relationship Id="rId13" Type="http://schemas.openxmlformats.org/officeDocument/2006/relationships/image" Target="../media/image11.svg"/><Relationship Id="rId12" Type="http://schemas.openxmlformats.org/officeDocument/2006/relationships/image" Target="../media/image10.png"/><Relationship Id="rId11" Type="http://schemas.openxmlformats.org/officeDocument/2006/relationships/tags" Target="../tags/tag64.xml"/><Relationship Id="rId10" Type="http://schemas.openxmlformats.org/officeDocument/2006/relationships/tags" Target="../tags/tag63.xml"/><Relationship Id="rId1" Type="http://schemas.openxmlformats.org/officeDocument/2006/relationships/image" Target="../media/image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2" name="矩形 31"/>
          <p:cNvSpPr/>
          <p:nvPr/>
        </p:nvSpPr>
        <p:spPr>
          <a:xfrm>
            <a:off x="8581465" y="1902460"/>
            <a:ext cx="2447925" cy="3217545"/>
          </a:xfrm>
          <a:prstGeom prst="rect">
            <a:avLst/>
          </a:prstGeom>
          <a:solidFill>
            <a:srgbClr val="FADBDF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0" name="圆角矩形 39"/>
          <p:cNvSpPr/>
          <p:nvPr/>
        </p:nvSpPr>
        <p:spPr>
          <a:xfrm>
            <a:off x="8767203" y="3709670"/>
            <a:ext cx="2076450" cy="1260000"/>
          </a:xfrm>
          <a:prstGeom prst="roundRect">
            <a:avLst/>
          </a:prstGeom>
          <a:solidFill>
            <a:schemeClr val="bg1"/>
          </a:solidFill>
          <a:ln w="34925" cmpd="sng">
            <a:solidFill>
              <a:srgbClr val="C00000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24" name="文本框 123"/>
          <p:cNvSpPr txBox="1"/>
          <p:nvPr/>
        </p:nvSpPr>
        <p:spPr>
          <a:xfrm>
            <a:off x="9495790" y="4064635"/>
            <a:ext cx="638175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000" b="1"/>
              <a:t>流式</a:t>
            </a:r>
            <a:endParaRPr lang="zh-CN" altLang="en-US" sz="1000" b="1"/>
          </a:p>
          <a:p>
            <a:pPr algn="ctr"/>
            <a:endParaRPr lang="zh-CN" altLang="en-US" sz="1000" b="1"/>
          </a:p>
          <a:p>
            <a:pPr algn="ctr"/>
            <a:r>
              <a:rPr lang="zh-CN" altLang="en-US" sz="1000" b="1"/>
              <a:t>贪心</a:t>
            </a:r>
            <a:endParaRPr lang="zh-CN" altLang="en-US" sz="1000" b="1"/>
          </a:p>
          <a:p>
            <a:pPr algn="ctr"/>
            <a:r>
              <a:rPr lang="zh-CN" altLang="en-US" sz="1000" b="1"/>
              <a:t>策略</a:t>
            </a:r>
            <a:endParaRPr lang="zh-CN" altLang="en-US" sz="1000" b="1"/>
          </a:p>
        </p:txBody>
      </p:sp>
      <p:sp>
        <p:nvSpPr>
          <p:cNvPr id="81" name="圆角矩形 80"/>
          <p:cNvSpPr/>
          <p:nvPr/>
        </p:nvSpPr>
        <p:spPr>
          <a:xfrm>
            <a:off x="1158875" y="645160"/>
            <a:ext cx="10075545" cy="5528945"/>
          </a:xfrm>
          <a:prstGeom prst="roundRect">
            <a:avLst>
              <a:gd name="adj" fmla="val 3556"/>
            </a:avLst>
          </a:prstGeom>
          <a:noFill/>
          <a:ln w="25400" cmpd="sng">
            <a:solidFill>
              <a:schemeClr val="accent1">
                <a:shade val="50000"/>
              </a:schemeClr>
            </a:solidFill>
            <a:prstDash val="dash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矩形: 圆角 3"/>
          <p:cNvSpPr/>
          <p:nvPr/>
        </p:nvSpPr>
        <p:spPr>
          <a:xfrm>
            <a:off x="2731453" y="375285"/>
            <a:ext cx="6729095" cy="477520"/>
          </a:xfrm>
          <a:prstGeom prst="roundRect">
            <a:avLst>
              <a:gd name="adj" fmla="val 50000"/>
            </a:avLst>
          </a:prstGeom>
          <a:solidFill>
            <a:srgbClr val="2E54A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i="0" dirty="0">
                <a:effectLst/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事件窗口驱动的频谱数据价值评估模型</a:t>
            </a:r>
            <a:endParaRPr lang="zh-CN" altLang="en-US" b="1" i="0" dirty="0">
              <a:effectLst/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矩形 9"/>
          <p:cNvSpPr/>
          <p:nvPr/>
        </p:nvSpPr>
        <p:spPr>
          <a:xfrm>
            <a:off x="1282700" y="1069340"/>
            <a:ext cx="1287145" cy="4862195"/>
          </a:xfrm>
          <a:prstGeom prst="rect">
            <a:avLst/>
          </a:prstGeom>
          <a:solidFill>
            <a:srgbClr val="DAE3F5"/>
          </a:solidFill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grpSp>
        <p:nvGrpSpPr>
          <p:cNvPr id="19" name="组合 18"/>
          <p:cNvGrpSpPr/>
          <p:nvPr/>
        </p:nvGrpSpPr>
        <p:grpSpPr>
          <a:xfrm>
            <a:off x="1230630" y="1712595"/>
            <a:ext cx="1391920" cy="3743325"/>
            <a:chOff x="1938" y="2937"/>
            <a:chExt cx="2192" cy="4802"/>
          </a:xfrm>
        </p:grpSpPr>
        <p:sp>
          <p:nvSpPr>
            <p:cNvPr id="6" name="圆角矩形 5"/>
            <p:cNvSpPr/>
            <p:nvPr/>
          </p:nvSpPr>
          <p:spPr>
            <a:xfrm>
              <a:off x="2193" y="2937"/>
              <a:ext cx="1682" cy="4802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7" name="文本框 16"/>
            <p:cNvSpPr txBox="1"/>
            <p:nvPr/>
          </p:nvSpPr>
          <p:spPr>
            <a:xfrm>
              <a:off x="1938" y="3094"/>
              <a:ext cx="2192" cy="10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zh-CN" altLang="en-US" sz="1600" b="1"/>
                <a:t>连续监测</a:t>
              </a:r>
              <a:endParaRPr lang="zh-CN" altLang="en-US" sz="1600" b="1"/>
            </a:p>
            <a:p>
              <a:pPr algn="ctr"/>
              <a:r>
                <a:rPr lang="zh-CN" altLang="en-US" sz="1600" b="1"/>
                <a:t>宽频段</a:t>
              </a:r>
              <a:endParaRPr lang="zh-CN" altLang="en-US" sz="1600" b="1"/>
            </a:p>
            <a:p>
              <a:pPr algn="ctr"/>
              <a:r>
                <a:rPr lang="zh-CN" altLang="en-US" sz="1600" b="1"/>
                <a:t>频谱流</a:t>
              </a:r>
              <a:endParaRPr lang="zh-CN" altLang="en-US" sz="1600" b="1"/>
            </a:p>
          </p:txBody>
        </p:sp>
        <p:pic>
          <p:nvPicPr>
            <p:cNvPr id="5" name="图片 4"/>
            <p:cNvPicPr/>
            <p:nvPr/>
          </p:nvPicPr>
          <p:blipFill>
            <a:blip r:embed="rId1"/>
            <a:stretch>
              <a:fillRect/>
            </a:stretch>
          </p:blipFill>
          <p:spPr>
            <a:xfrm>
              <a:off x="2375" y="4271"/>
              <a:ext cx="1317" cy="623"/>
            </a:xfrm>
            <a:prstGeom prst="rect">
              <a:avLst/>
            </a:prstGeom>
          </p:spPr>
        </p:pic>
        <p:pic>
          <p:nvPicPr>
            <p:cNvPr id="7" name="图片 6"/>
            <p:cNvPicPr/>
            <p:nvPr/>
          </p:nvPicPr>
          <p:blipFill>
            <a:blip r:embed="rId2"/>
            <a:stretch>
              <a:fillRect/>
            </a:stretch>
          </p:blipFill>
          <p:spPr>
            <a:xfrm>
              <a:off x="2375" y="5438"/>
              <a:ext cx="1315" cy="623"/>
            </a:xfrm>
            <a:prstGeom prst="rect">
              <a:avLst/>
            </a:prstGeom>
          </p:spPr>
        </p:pic>
        <p:pic>
          <p:nvPicPr>
            <p:cNvPr id="9" name="图片 8"/>
            <p:cNvPicPr/>
            <p:nvPr/>
          </p:nvPicPr>
          <p:blipFill>
            <a:blip r:embed="rId3"/>
            <a:stretch>
              <a:fillRect/>
            </a:stretch>
          </p:blipFill>
          <p:spPr>
            <a:xfrm>
              <a:off x="2375" y="6605"/>
              <a:ext cx="1315" cy="623"/>
            </a:xfrm>
            <a:prstGeom prst="rect">
              <a:avLst/>
            </a:prstGeom>
          </p:spPr>
        </p:pic>
        <p:sp>
          <p:nvSpPr>
            <p:cNvPr id="12" name="文本框 11"/>
            <p:cNvSpPr txBox="1"/>
            <p:nvPr/>
          </p:nvSpPr>
          <p:spPr>
            <a:xfrm>
              <a:off x="2670" y="5045"/>
              <a:ext cx="452" cy="3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indent="0" fontAlgn="auto">
                <a:lnSpc>
                  <a:spcPts val="500"/>
                </a:lnSpc>
              </a:pPr>
              <a:r>
                <a:rPr lang="en-US" altLang="zh-CN"/>
                <a:t>.</a:t>
              </a:r>
              <a:endParaRPr lang="en-US" altLang="zh-CN"/>
            </a:p>
            <a:p>
              <a:pPr indent="0" fontAlgn="auto">
                <a:lnSpc>
                  <a:spcPts val="500"/>
                </a:lnSpc>
              </a:pPr>
              <a:r>
                <a:rPr lang="en-US" altLang="zh-CN"/>
                <a:t>.</a:t>
              </a:r>
              <a:endParaRPr lang="en-US" altLang="zh-CN"/>
            </a:p>
            <a:p>
              <a:pPr indent="0" fontAlgn="auto">
                <a:lnSpc>
                  <a:spcPts val="500"/>
                </a:lnSpc>
              </a:pPr>
              <a:r>
                <a:rPr lang="en-US" altLang="zh-CN"/>
                <a:t>.</a:t>
              </a:r>
              <a:endParaRPr lang="en-US" altLang="zh-CN"/>
            </a:p>
          </p:txBody>
        </p:sp>
        <p:sp>
          <p:nvSpPr>
            <p:cNvPr id="13" name="文本框 12"/>
            <p:cNvSpPr txBox="1"/>
            <p:nvPr/>
          </p:nvSpPr>
          <p:spPr>
            <a:xfrm>
              <a:off x="2670" y="6159"/>
              <a:ext cx="452" cy="3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indent="0" fontAlgn="auto">
                <a:lnSpc>
                  <a:spcPts val="500"/>
                </a:lnSpc>
              </a:pPr>
              <a:r>
                <a:rPr lang="en-US" altLang="zh-CN"/>
                <a:t>.</a:t>
              </a:r>
              <a:endParaRPr lang="en-US" altLang="zh-CN"/>
            </a:p>
            <a:p>
              <a:pPr indent="0" fontAlgn="auto">
                <a:lnSpc>
                  <a:spcPts val="500"/>
                </a:lnSpc>
              </a:pPr>
              <a:r>
                <a:rPr lang="en-US" altLang="zh-CN"/>
                <a:t>.</a:t>
              </a:r>
              <a:endParaRPr lang="en-US" altLang="zh-CN"/>
            </a:p>
            <a:p>
              <a:pPr indent="0" fontAlgn="auto">
                <a:lnSpc>
                  <a:spcPts val="500"/>
                </a:lnSpc>
              </a:pPr>
              <a:r>
                <a:rPr lang="en-US" altLang="zh-CN"/>
                <a:t>.</a:t>
              </a:r>
              <a:endParaRPr lang="en-US" altLang="zh-CN"/>
            </a:p>
          </p:txBody>
        </p:sp>
      </p:grpSp>
      <p:sp>
        <p:nvSpPr>
          <p:cNvPr id="15" name="矩形 14"/>
          <p:cNvSpPr/>
          <p:nvPr/>
        </p:nvSpPr>
        <p:spPr>
          <a:xfrm>
            <a:off x="2957830" y="1069975"/>
            <a:ext cx="2448000" cy="833120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基于流式变点检测的事件证据窗口构建</a:t>
            </a:r>
            <a:endParaRPr lang="zh-CN" altLang="en-US"/>
          </a:p>
        </p:txBody>
      </p:sp>
      <p:sp>
        <p:nvSpPr>
          <p:cNvPr id="16" name="矩形 15"/>
          <p:cNvSpPr/>
          <p:nvPr/>
        </p:nvSpPr>
        <p:spPr>
          <a:xfrm>
            <a:off x="2957830" y="1903095"/>
            <a:ext cx="2448000" cy="3217545"/>
          </a:xfrm>
          <a:prstGeom prst="rect">
            <a:avLst/>
          </a:prstGeom>
          <a:solidFill>
            <a:srgbClr val="FADBDF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8" name="矩形 17"/>
          <p:cNvSpPr/>
          <p:nvPr/>
        </p:nvSpPr>
        <p:spPr>
          <a:xfrm>
            <a:off x="2957830" y="5236845"/>
            <a:ext cx="8067675" cy="694690"/>
          </a:xfrm>
          <a:prstGeom prst="rect">
            <a:avLst/>
          </a:prstGeom>
          <a:solidFill>
            <a:srgbClr val="DAE3F5"/>
          </a:solidFill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9" name="矩形 28"/>
          <p:cNvSpPr/>
          <p:nvPr/>
        </p:nvSpPr>
        <p:spPr>
          <a:xfrm>
            <a:off x="5768415" y="1069340"/>
            <a:ext cx="2447925" cy="833120"/>
          </a:xfrm>
          <a:prstGeom prst="rect">
            <a:avLst/>
          </a:prstGeom>
          <a:solidFill>
            <a:srgbClr val="2E54A1"/>
          </a:solidFill>
          <a:ln>
            <a:solidFill>
              <a:srgbClr val="2E54A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基于</a:t>
            </a:r>
            <a:r>
              <a:rPr lang="en-US" altLang="zh-CN"/>
              <a:t> PU </a:t>
            </a:r>
            <a:r>
              <a:rPr lang="zh-CN" altLang="en-US"/>
              <a:t>风险估计的高召回</a:t>
            </a:r>
            <a:r>
              <a:rPr lang="zh-CN" altLang="en-US"/>
              <a:t>频谱事件识别</a:t>
            </a:r>
            <a:endParaRPr lang="zh-CN" altLang="en-US"/>
          </a:p>
        </p:txBody>
      </p:sp>
      <p:sp>
        <p:nvSpPr>
          <p:cNvPr id="30" name="矩形 29"/>
          <p:cNvSpPr/>
          <p:nvPr/>
        </p:nvSpPr>
        <p:spPr>
          <a:xfrm>
            <a:off x="5769685" y="1902460"/>
            <a:ext cx="2447925" cy="3217545"/>
          </a:xfrm>
          <a:prstGeom prst="rect">
            <a:avLst/>
          </a:prstGeom>
          <a:solidFill>
            <a:srgbClr val="DAE3F5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1" name="矩形 30"/>
          <p:cNvSpPr/>
          <p:nvPr/>
        </p:nvSpPr>
        <p:spPr>
          <a:xfrm>
            <a:off x="8578925" y="1069340"/>
            <a:ext cx="2447925" cy="833120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基于子模覆盖增益的频谱事件入库判别</a:t>
            </a:r>
            <a:endParaRPr lang="zh-CN" altLang="en-US"/>
          </a:p>
        </p:txBody>
      </p:sp>
      <p:sp>
        <p:nvSpPr>
          <p:cNvPr id="1072" name="箭头: 燕尾形 1071"/>
          <p:cNvSpPr/>
          <p:nvPr/>
        </p:nvSpPr>
        <p:spPr>
          <a:xfrm>
            <a:off x="2570480" y="3162300"/>
            <a:ext cx="375920" cy="443230"/>
          </a:xfrm>
          <a:prstGeom prst="notchedRightArrow">
            <a:avLst>
              <a:gd name="adj1" fmla="val 33809"/>
              <a:gd name="adj2" fmla="val 52390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0"/>
                </a:schemeClr>
              </a:gs>
              <a:gs pos="74000">
                <a:srgbClr val="2E54A1"/>
              </a:gs>
              <a:gs pos="100000">
                <a:srgbClr val="2E54A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" name="箭头: 燕尾形 1071"/>
          <p:cNvSpPr/>
          <p:nvPr/>
        </p:nvSpPr>
        <p:spPr>
          <a:xfrm>
            <a:off x="5371465" y="3162300"/>
            <a:ext cx="374400" cy="443230"/>
          </a:xfrm>
          <a:prstGeom prst="notchedRightArrow">
            <a:avLst>
              <a:gd name="adj1" fmla="val 33809"/>
              <a:gd name="adj2" fmla="val 52390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0"/>
                </a:schemeClr>
              </a:gs>
              <a:gs pos="74000">
                <a:srgbClr val="2E54A1"/>
              </a:gs>
              <a:gs pos="100000">
                <a:srgbClr val="2E54A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" name="箭头: 燕尾形 1071"/>
          <p:cNvSpPr/>
          <p:nvPr/>
        </p:nvSpPr>
        <p:spPr>
          <a:xfrm>
            <a:off x="8204200" y="3162300"/>
            <a:ext cx="374400" cy="443230"/>
          </a:xfrm>
          <a:prstGeom prst="notchedRightArrow">
            <a:avLst>
              <a:gd name="adj1" fmla="val 33809"/>
              <a:gd name="adj2" fmla="val 52390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0"/>
                </a:schemeClr>
              </a:gs>
              <a:gs pos="74000">
                <a:srgbClr val="2E54A1"/>
              </a:gs>
              <a:gs pos="100000">
                <a:srgbClr val="2E54A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5" name="圆角矩形 34"/>
          <p:cNvSpPr/>
          <p:nvPr/>
        </p:nvSpPr>
        <p:spPr>
          <a:xfrm>
            <a:off x="3143605" y="2081530"/>
            <a:ext cx="2076450" cy="1260000"/>
          </a:xfrm>
          <a:prstGeom prst="roundRect">
            <a:avLst/>
          </a:prstGeom>
          <a:solidFill>
            <a:schemeClr val="bg1"/>
          </a:solidFill>
          <a:ln w="34925" cmpd="sng">
            <a:solidFill>
              <a:srgbClr val="C00000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6" name="圆角矩形 35"/>
          <p:cNvSpPr/>
          <p:nvPr/>
        </p:nvSpPr>
        <p:spPr>
          <a:xfrm>
            <a:off x="3143605" y="3709670"/>
            <a:ext cx="2076450" cy="1260000"/>
          </a:xfrm>
          <a:prstGeom prst="roundRect">
            <a:avLst/>
          </a:prstGeom>
          <a:solidFill>
            <a:schemeClr val="bg1"/>
          </a:solidFill>
          <a:ln w="34925" cmpd="sng">
            <a:solidFill>
              <a:srgbClr val="C00000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7" name="圆角矩形 36"/>
          <p:cNvSpPr/>
          <p:nvPr/>
        </p:nvSpPr>
        <p:spPr>
          <a:xfrm>
            <a:off x="5955423" y="2068830"/>
            <a:ext cx="2076450" cy="1260000"/>
          </a:xfrm>
          <a:prstGeom prst="roundRect">
            <a:avLst/>
          </a:prstGeom>
          <a:solidFill>
            <a:schemeClr val="bg1"/>
          </a:solidFill>
          <a:ln w="34925" cmpd="sng">
            <a:solidFill>
              <a:srgbClr val="2E54A1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8" name="圆角矩形 37"/>
          <p:cNvSpPr/>
          <p:nvPr/>
        </p:nvSpPr>
        <p:spPr>
          <a:xfrm>
            <a:off x="5955423" y="3709670"/>
            <a:ext cx="2076450" cy="1260000"/>
          </a:xfrm>
          <a:prstGeom prst="roundRect">
            <a:avLst/>
          </a:prstGeom>
          <a:solidFill>
            <a:schemeClr val="bg1"/>
          </a:solidFill>
          <a:ln w="34925" cmpd="sng">
            <a:solidFill>
              <a:srgbClr val="2E54A1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9" name="圆角矩形 38"/>
          <p:cNvSpPr/>
          <p:nvPr/>
        </p:nvSpPr>
        <p:spPr>
          <a:xfrm>
            <a:off x="8767203" y="2068830"/>
            <a:ext cx="2076450" cy="1260000"/>
          </a:xfrm>
          <a:prstGeom prst="roundRect">
            <a:avLst/>
          </a:prstGeom>
          <a:solidFill>
            <a:schemeClr val="bg1"/>
          </a:solidFill>
          <a:ln w="34925" cmpd="sng">
            <a:solidFill>
              <a:srgbClr val="C00000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" name="文本框 1"/>
          <p:cNvSpPr txBox="1"/>
          <p:nvPr/>
        </p:nvSpPr>
        <p:spPr>
          <a:xfrm>
            <a:off x="5346700" y="2794635"/>
            <a:ext cx="567055" cy="11988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200" b="1"/>
              <a:t>候选事件</a:t>
            </a:r>
            <a:endParaRPr lang="zh-CN" altLang="en-US" sz="1200" b="1"/>
          </a:p>
          <a:p>
            <a:endParaRPr lang="zh-CN" altLang="en-US" sz="1200" b="1"/>
          </a:p>
          <a:p>
            <a:endParaRPr lang="zh-CN" altLang="en-US" sz="1200" b="1"/>
          </a:p>
          <a:p>
            <a:r>
              <a:rPr lang="zh-CN" altLang="en-US" sz="1200" b="1"/>
              <a:t>证据窗口</a:t>
            </a:r>
            <a:endParaRPr lang="zh-CN" altLang="en-US" sz="1200" b="1"/>
          </a:p>
        </p:txBody>
      </p:sp>
      <p:sp>
        <p:nvSpPr>
          <p:cNvPr id="3" name="文本框 2"/>
          <p:cNvSpPr txBox="1"/>
          <p:nvPr/>
        </p:nvSpPr>
        <p:spPr>
          <a:xfrm>
            <a:off x="8157210" y="2794635"/>
            <a:ext cx="567055" cy="11988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200" b="1"/>
              <a:t>可疑事件</a:t>
            </a:r>
            <a:endParaRPr lang="zh-CN" altLang="en-US" sz="1200" b="1"/>
          </a:p>
          <a:p>
            <a:endParaRPr lang="zh-CN" altLang="en-US" sz="1200" b="1"/>
          </a:p>
          <a:p>
            <a:endParaRPr lang="zh-CN" altLang="en-US" sz="1200" b="1"/>
          </a:p>
          <a:p>
            <a:r>
              <a:rPr lang="zh-CN" altLang="en-US" sz="1200" b="1"/>
              <a:t>证据窗口</a:t>
            </a:r>
            <a:endParaRPr lang="zh-CN" altLang="en-US" sz="1200" b="1"/>
          </a:p>
        </p:txBody>
      </p:sp>
      <p:sp>
        <p:nvSpPr>
          <p:cNvPr id="4" name="文本框 3"/>
          <p:cNvSpPr txBox="1"/>
          <p:nvPr/>
        </p:nvSpPr>
        <p:spPr>
          <a:xfrm>
            <a:off x="3030258" y="2084705"/>
            <a:ext cx="2303145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600" b="1">
                <a:solidFill>
                  <a:srgbClr val="C00000"/>
                </a:solidFill>
              </a:rPr>
              <a:t>连续变点检测机制</a:t>
            </a:r>
            <a:endParaRPr lang="zh-CN" altLang="en-US" sz="1600" b="1">
              <a:solidFill>
                <a:srgbClr val="C00000"/>
              </a:solidFill>
            </a:endParaRPr>
          </a:p>
        </p:txBody>
      </p:sp>
      <p:pic>
        <p:nvPicPr>
          <p:cNvPr id="11" name="图片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32785" y="2496185"/>
            <a:ext cx="504825" cy="504825"/>
          </a:xfrm>
          <a:prstGeom prst="rect">
            <a:avLst/>
          </a:prstGeom>
        </p:spPr>
      </p:pic>
      <p:sp>
        <p:nvSpPr>
          <p:cNvPr id="14" name="右箭头 13"/>
          <p:cNvSpPr/>
          <p:nvPr/>
        </p:nvSpPr>
        <p:spPr>
          <a:xfrm>
            <a:off x="3979545" y="2887980"/>
            <a:ext cx="1096645" cy="7556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0" name="矩形 19"/>
          <p:cNvSpPr/>
          <p:nvPr/>
        </p:nvSpPr>
        <p:spPr>
          <a:xfrm>
            <a:off x="4022090" y="2832100"/>
            <a:ext cx="36000" cy="7200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1" name="矩形 20"/>
          <p:cNvSpPr/>
          <p:nvPr/>
        </p:nvSpPr>
        <p:spPr>
          <a:xfrm>
            <a:off x="4244340" y="2832100"/>
            <a:ext cx="36000" cy="7200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2" name="矩形 21"/>
          <p:cNvSpPr/>
          <p:nvPr/>
        </p:nvSpPr>
        <p:spPr>
          <a:xfrm>
            <a:off x="4466590" y="2832100"/>
            <a:ext cx="36000" cy="7200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3" name="矩形 22"/>
          <p:cNvSpPr/>
          <p:nvPr/>
        </p:nvSpPr>
        <p:spPr>
          <a:xfrm>
            <a:off x="4676873" y="2724150"/>
            <a:ext cx="36000" cy="180000"/>
          </a:xfrm>
          <a:prstGeom prst="rect">
            <a:avLst/>
          </a:prstGeom>
          <a:solidFill>
            <a:srgbClr val="4874CB"/>
          </a:solidFill>
          <a:ln w="12700" cmpd="sng">
            <a:solidFill>
              <a:schemeClr val="accent1">
                <a:shade val="50000"/>
              </a:scheme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4" name="矩形 23"/>
          <p:cNvSpPr/>
          <p:nvPr/>
        </p:nvSpPr>
        <p:spPr>
          <a:xfrm>
            <a:off x="4882515" y="2724150"/>
            <a:ext cx="36000" cy="180000"/>
          </a:xfrm>
          <a:prstGeom prst="rect">
            <a:avLst/>
          </a:prstGeom>
          <a:solidFill>
            <a:srgbClr val="4874CB"/>
          </a:solidFill>
          <a:ln w="12700" cmpd="sng">
            <a:solidFill>
              <a:schemeClr val="accent1">
                <a:shade val="50000"/>
              </a:scheme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5" name="上箭头 24"/>
          <p:cNvSpPr/>
          <p:nvPr/>
        </p:nvSpPr>
        <p:spPr>
          <a:xfrm>
            <a:off x="4669790" y="3001010"/>
            <a:ext cx="54000" cy="221615"/>
          </a:xfrm>
          <a:prstGeom prst="upArrow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26" name="图片 25"/>
          <p:cNvPicPr/>
          <p:nvPr/>
        </p:nvPicPr>
        <p:blipFill>
          <a:blip r:embed="rId5"/>
          <a:stretch>
            <a:fillRect/>
          </a:stretch>
        </p:blipFill>
        <p:spPr>
          <a:xfrm>
            <a:off x="3923030" y="2483485"/>
            <a:ext cx="234000" cy="234000"/>
          </a:xfrm>
          <a:prstGeom prst="rect">
            <a:avLst/>
          </a:prstGeom>
        </p:spPr>
      </p:pic>
      <p:pic>
        <p:nvPicPr>
          <p:cNvPr id="27" name="图片 26"/>
          <p:cNvPicPr/>
          <p:nvPr/>
        </p:nvPicPr>
        <p:blipFill>
          <a:blip r:embed="rId5"/>
          <a:stretch>
            <a:fillRect/>
          </a:stretch>
        </p:blipFill>
        <p:spPr>
          <a:xfrm>
            <a:off x="4577715" y="2483485"/>
            <a:ext cx="234000" cy="234000"/>
          </a:xfrm>
          <a:prstGeom prst="rect">
            <a:avLst/>
          </a:prstGeom>
        </p:spPr>
      </p:pic>
      <p:sp>
        <p:nvSpPr>
          <p:cNvPr id="28" name="文本框 27"/>
          <p:cNvSpPr txBox="1"/>
          <p:nvPr/>
        </p:nvSpPr>
        <p:spPr>
          <a:xfrm rot="5400000">
            <a:off x="4244340" y="2455545"/>
            <a:ext cx="268605" cy="2832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indent="0" fontAlgn="auto">
              <a:lnSpc>
                <a:spcPts val="500"/>
              </a:lnSpc>
            </a:pPr>
            <a:r>
              <a:rPr lang="en-US" altLang="zh-CN"/>
              <a:t>.</a:t>
            </a:r>
            <a:endParaRPr lang="en-US" altLang="zh-CN"/>
          </a:p>
          <a:p>
            <a:pPr indent="0" fontAlgn="auto">
              <a:lnSpc>
                <a:spcPts val="500"/>
              </a:lnSpc>
            </a:pPr>
            <a:r>
              <a:rPr lang="en-US" altLang="zh-CN"/>
              <a:t>.</a:t>
            </a:r>
            <a:endParaRPr lang="en-US" altLang="zh-CN"/>
          </a:p>
          <a:p>
            <a:pPr indent="0" fontAlgn="auto">
              <a:lnSpc>
                <a:spcPts val="500"/>
              </a:lnSpc>
            </a:pPr>
            <a:r>
              <a:rPr lang="en-US" altLang="zh-CN"/>
              <a:t>.</a:t>
            </a:r>
            <a:endParaRPr lang="en-US" altLang="zh-CN"/>
          </a:p>
        </p:txBody>
      </p:sp>
      <p:sp>
        <p:nvSpPr>
          <p:cNvPr id="41" name="文本框 40"/>
          <p:cNvSpPr txBox="1"/>
          <p:nvPr/>
        </p:nvSpPr>
        <p:spPr>
          <a:xfrm>
            <a:off x="4237355" y="3001010"/>
            <a:ext cx="54102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200" b="1"/>
              <a:t>变点</a:t>
            </a:r>
            <a:endParaRPr lang="zh-CN" altLang="en-US" sz="1200" b="1"/>
          </a:p>
        </p:txBody>
      </p:sp>
      <p:sp>
        <p:nvSpPr>
          <p:cNvPr id="42" name="文本框 41"/>
          <p:cNvSpPr txBox="1"/>
          <p:nvPr/>
        </p:nvSpPr>
        <p:spPr>
          <a:xfrm>
            <a:off x="3232785" y="3001010"/>
            <a:ext cx="54102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200" b="1"/>
              <a:t>时序</a:t>
            </a:r>
            <a:endParaRPr lang="zh-CN" altLang="en-US" sz="1200" b="1"/>
          </a:p>
        </p:txBody>
      </p:sp>
      <p:sp>
        <p:nvSpPr>
          <p:cNvPr id="43" name="文本框 42"/>
          <p:cNvSpPr txBox="1"/>
          <p:nvPr/>
        </p:nvSpPr>
        <p:spPr>
          <a:xfrm>
            <a:off x="3030258" y="3709670"/>
            <a:ext cx="2303145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600" b="1">
                <a:solidFill>
                  <a:srgbClr val="C00000"/>
                </a:solidFill>
              </a:rPr>
              <a:t>自适应窗口</a:t>
            </a:r>
            <a:r>
              <a:rPr lang="zh-CN" altLang="en-US" sz="1600" b="1">
                <a:solidFill>
                  <a:srgbClr val="C00000"/>
                </a:solidFill>
              </a:rPr>
              <a:t>生成</a:t>
            </a:r>
            <a:endParaRPr lang="zh-CN" altLang="en-US" sz="1600" b="1">
              <a:solidFill>
                <a:srgbClr val="C00000"/>
              </a:solidFill>
            </a:endParaRPr>
          </a:p>
        </p:txBody>
      </p:sp>
      <p:pic>
        <p:nvPicPr>
          <p:cNvPr id="45" name="图片 4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92550" y="4046855"/>
            <a:ext cx="288000" cy="288000"/>
          </a:xfrm>
          <a:prstGeom prst="rect">
            <a:avLst/>
          </a:prstGeom>
        </p:spPr>
      </p:pic>
      <p:pic>
        <p:nvPicPr>
          <p:cNvPr id="47" name="图片 46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74135" y="4341985"/>
            <a:ext cx="288000" cy="287655"/>
          </a:xfrm>
          <a:prstGeom prst="rect">
            <a:avLst/>
          </a:prstGeom>
        </p:spPr>
      </p:pic>
      <p:pic>
        <p:nvPicPr>
          <p:cNvPr id="48" name="图片 47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74135" y="4623925"/>
            <a:ext cx="288000" cy="287655"/>
          </a:xfrm>
          <a:prstGeom prst="rect">
            <a:avLst/>
          </a:prstGeom>
        </p:spPr>
      </p:pic>
      <p:sp>
        <p:nvSpPr>
          <p:cNvPr id="49" name="文本框 48"/>
          <p:cNvSpPr txBox="1"/>
          <p:nvPr/>
        </p:nvSpPr>
        <p:spPr>
          <a:xfrm>
            <a:off x="3096895" y="4053205"/>
            <a:ext cx="80645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200" b="1"/>
              <a:t>持续时间</a:t>
            </a:r>
            <a:endParaRPr lang="zh-CN" altLang="en-US" sz="1200" b="1"/>
          </a:p>
        </p:txBody>
      </p:sp>
      <p:sp>
        <p:nvSpPr>
          <p:cNvPr id="50" name="文本框 49"/>
          <p:cNvSpPr txBox="1"/>
          <p:nvPr/>
        </p:nvSpPr>
        <p:spPr>
          <a:xfrm>
            <a:off x="3059430" y="4347845"/>
            <a:ext cx="88138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200" b="1"/>
              <a:t>漂移范围</a:t>
            </a:r>
            <a:endParaRPr lang="zh-CN" altLang="en-US" sz="1200" b="1"/>
          </a:p>
        </p:txBody>
      </p:sp>
      <p:sp>
        <p:nvSpPr>
          <p:cNvPr id="51" name="文本框 50"/>
          <p:cNvSpPr txBox="1"/>
          <p:nvPr/>
        </p:nvSpPr>
        <p:spPr>
          <a:xfrm>
            <a:off x="3177540" y="4629785"/>
            <a:ext cx="64516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200" b="1"/>
              <a:t>稳定性</a:t>
            </a:r>
            <a:endParaRPr lang="zh-CN" altLang="en-US" sz="1200" b="1"/>
          </a:p>
        </p:txBody>
      </p:sp>
      <p:sp>
        <p:nvSpPr>
          <p:cNvPr id="52" name="文本框 51"/>
          <p:cNvSpPr txBox="1"/>
          <p:nvPr/>
        </p:nvSpPr>
        <p:spPr>
          <a:xfrm>
            <a:off x="4471670" y="4035425"/>
            <a:ext cx="83756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200" b="1"/>
              <a:t>短时突发</a:t>
            </a:r>
            <a:endParaRPr lang="zh-CN" altLang="en-US" sz="1200" b="1"/>
          </a:p>
        </p:txBody>
      </p:sp>
      <p:sp>
        <p:nvSpPr>
          <p:cNvPr id="53" name="文本框 52"/>
          <p:cNvSpPr txBox="1"/>
          <p:nvPr/>
        </p:nvSpPr>
        <p:spPr>
          <a:xfrm>
            <a:off x="4471670" y="4236720"/>
            <a:ext cx="83756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200" b="1"/>
              <a:t>窄带持续</a:t>
            </a:r>
            <a:endParaRPr lang="zh-CN" altLang="en-US" sz="1200" b="1"/>
          </a:p>
        </p:txBody>
      </p:sp>
      <p:sp>
        <p:nvSpPr>
          <p:cNvPr id="54" name="文本框 53"/>
          <p:cNvSpPr txBox="1"/>
          <p:nvPr/>
        </p:nvSpPr>
        <p:spPr>
          <a:xfrm>
            <a:off x="4471670" y="4438015"/>
            <a:ext cx="83756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200" b="1"/>
              <a:t>间歇重复</a:t>
            </a:r>
            <a:endParaRPr lang="zh-CN" altLang="en-US" sz="1200" b="1"/>
          </a:p>
        </p:txBody>
      </p:sp>
      <p:sp>
        <p:nvSpPr>
          <p:cNvPr id="55" name="文本框 54"/>
          <p:cNvSpPr txBox="1"/>
          <p:nvPr/>
        </p:nvSpPr>
        <p:spPr>
          <a:xfrm>
            <a:off x="4471670" y="4639310"/>
            <a:ext cx="83756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200" b="1"/>
              <a:t>频点迁移</a:t>
            </a:r>
            <a:endParaRPr lang="zh-CN" altLang="en-US" sz="1200" b="1"/>
          </a:p>
        </p:txBody>
      </p:sp>
      <p:cxnSp>
        <p:nvCxnSpPr>
          <p:cNvPr id="56" name="直接箭头连接符 55"/>
          <p:cNvCxnSpPr/>
          <p:nvPr/>
        </p:nvCxnSpPr>
        <p:spPr>
          <a:xfrm flipV="1">
            <a:off x="4218305" y="4150360"/>
            <a:ext cx="266700" cy="304800"/>
          </a:xfrm>
          <a:prstGeom prst="straightConnector1">
            <a:avLst/>
          </a:prstGeom>
          <a:ln>
            <a:bevel/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7" name="直接箭头连接符 56"/>
          <p:cNvCxnSpPr/>
          <p:nvPr/>
        </p:nvCxnSpPr>
        <p:spPr>
          <a:xfrm>
            <a:off x="4218305" y="4467225"/>
            <a:ext cx="266700" cy="304800"/>
          </a:xfrm>
          <a:prstGeom prst="straightConnector1">
            <a:avLst/>
          </a:prstGeom>
          <a:ln>
            <a:bevel/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58" name="圆角矩形 57"/>
          <p:cNvSpPr/>
          <p:nvPr/>
        </p:nvSpPr>
        <p:spPr>
          <a:xfrm>
            <a:off x="3420428" y="5315585"/>
            <a:ext cx="7142480" cy="537210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b="1">
                <a:solidFill>
                  <a:schemeClr val="tx1"/>
                </a:solidFill>
              </a:rPr>
              <a:t>面向高价值频谱事件的精判触发和相似检索支撑</a:t>
            </a:r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59" name="下箭头 58"/>
          <p:cNvSpPr/>
          <p:nvPr/>
        </p:nvSpPr>
        <p:spPr>
          <a:xfrm>
            <a:off x="4127855" y="3341370"/>
            <a:ext cx="107950" cy="320040"/>
          </a:xfrm>
          <a:prstGeom prst="downArrow">
            <a:avLst>
              <a:gd name="adj1" fmla="val 31764"/>
              <a:gd name="adj2" fmla="val 80588"/>
            </a:avLst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0" name="文本框 59"/>
          <p:cNvSpPr txBox="1"/>
          <p:nvPr/>
        </p:nvSpPr>
        <p:spPr>
          <a:xfrm>
            <a:off x="5842075" y="2084705"/>
            <a:ext cx="2303145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600" b="1">
                <a:solidFill>
                  <a:srgbClr val="C00000"/>
                </a:solidFill>
              </a:rPr>
              <a:t>轻量视频编码</a:t>
            </a:r>
            <a:r>
              <a:rPr lang="zh-CN" altLang="en-US" sz="1600" b="1">
                <a:solidFill>
                  <a:srgbClr val="C00000"/>
                </a:solidFill>
              </a:rPr>
              <a:t>器</a:t>
            </a:r>
            <a:endParaRPr lang="zh-CN" altLang="en-US" sz="1600" b="1">
              <a:solidFill>
                <a:srgbClr val="C00000"/>
              </a:solidFill>
            </a:endParaRPr>
          </a:p>
        </p:txBody>
      </p:sp>
      <p:pic>
        <p:nvPicPr>
          <p:cNvPr id="61" name="图片 60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29960" y="2414270"/>
            <a:ext cx="459988" cy="414000"/>
          </a:xfrm>
          <a:prstGeom prst="rect">
            <a:avLst/>
          </a:prstGeom>
        </p:spPr>
      </p:pic>
      <p:pic>
        <p:nvPicPr>
          <p:cNvPr id="63" name="图片 62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36005" y="2520315"/>
            <a:ext cx="459988" cy="414000"/>
          </a:xfrm>
          <a:prstGeom prst="rect">
            <a:avLst/>
          </a:prstGeom>
        </p:spPr>
      </p:pic>
      <p:pic>
        <p:nvPicPr>
          <p:cNvPr id="64" name="图片 63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42050" y="2626360"/>
            <a:ext cx="459988" cy="414000"/>
          </a:xfrm>
          <a:prstGeom prst="rect">
            <a:avLst/>
          </a:prstGeom>
        </p:spPr>
      </p:pic>
      <p:sp>
        <p:nvSpPr>
          <p:cNvPr id="65" name="文本框 64"/>
          <p:cNvSpPr txBox="1"/>
          <p:nvPr/>
        </p:nvSpPr>
        <p:spPr>
          <a:xfrm>
            <a:off x="5981065" y="3046095"/>
            <a:ext cx="87693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200" b="1"/>
              <a:t>证据</a:t>
            </a:r>
            <a:r>
              <a:rPr lang="zh-CN" altLang="en-US" sz="1200" b="1"/>
              <a:t>窗口</a:t>
            </a:r>
            <a:endParaRPr lang="zh-CN" altLang="en-US" sz="1200" b="1"/>
          </a:p>
        </p:txBody>
      </p:sp>
      <p:sp>
        <p:nvSpPr>
          <p:cNvPr id="66" name="梯形 65"/>
          <p:cNvSpPr/>
          <p:nvPr/>
        </p:nvSpPr>
        <p:spPr>
          <a:xfrm rot="5400000">
            <a:off x="6882130" y="2590800"/>
            <a:ext cx="511810" cy="321945"/>
          </a:xfrm>
          <a:prstGeom prst="trapezoid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grpSp>
        <p:nvGrpSpPr>
          <p:cNvPr id="80" name="组合 79"/>
          <p:cNvGrpSpPr/>
          <p:nvPr/>
        </p:nvGrpSpPr>
        <p:grpSpPr>
          <a:xfrm>
            <a:off x="7562850" y="2463165"/>
            <a:ext cx="408183" cy="546662"/>
            <a:chOff x="11770" y="3305"/>
            <a:chExt cx="795" cy="973"/>
          </a:xfrm>
        </p:grpSpPr>
        <p:sp>
          <p:nvSpPr>
            <p:cNvPr id="67" name="矩形 66"/>
            <p:cNvSpPr/>
            <p:nvPr/>
          </p:nvSpPr>
          <p:spPr>
            <a:xfrm>
              <a:off x="11770" y="3305"/>
              <a:ext cx="265" cy="119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69" name="矩形 68"/>
            <p:cNvSpPr/>
            <p:nvPr/>
          </p:nvSpPr>
          <p:spPr>
            <a:xfrm>
              <a:off x="12035" y="3305"/>
              <a:ext cx="265" cy="119"/>
            </a:xfrm>
            <a:prstGeom prst="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0" name="矩形 69"/>
            <p:cNvSpPr/>
            <p:nvPr/>
          </p:nvSpPr>
          <p:spPr>
            <a:xfrm>
              <a:off x="12300" y="3305"/>
              <a:ext cx="265" cy="119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1" name="矩形 70"/>
            <p:cNvSpPr/>
            <p:nvPr/>
          </p:nvSpPr>
          <p:spPr>
            <a:xfrm>
              <a:off x="11770" y="3639"/>
              <a:ext cx="265" cy="119"/>
            </a:xfrm>
            <a:prstGeom prst="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2" name="矩形 71"/>
            <p:cNvSpPr/>
            <p:nvPr/>
          </p:nvSpPr>
          <p:spPr>
            <a:xfrm>
              <a:off x="12035" y="3639"/>
              <a:ext cx="265" cy="119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3" name="矩形 72"/>
            <p:cNvSpPr/>
            <p:nvPr/>
          </p:nvSpPr>
          <p:spPr>
            <a:xfrm>
              <a:off x="12300" y="3639"/>
              <a:ext cx="265" cy="119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4" name="矩形 73"/>
            <p:cNvSpPr/>
            <p:nvPr/>
          </p:nvSpPr>
          <p:spPr>
            <a:xfrm>
              <a:off x="11770" y="4159"/>
              <a:ext cx="265" cy="119"/>
            </a:xfrm>
            <a:prstGeom prst="rect">
              <a:avLst/>
            </a:prstGeom>
            <a:solidFill>
              <a:schemeClr val="tx2">
                <a:lumMod val="60000"/>
                <a:lumOff val="40000"/>
              </a:schemeClr>
            </a:solidFill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5" name="矩形 74"/>
            <p:cNvSpPr/>
            <p:nvPr/>
          </p:nvSpPr>
          <p:spPr>
            <a:xfrm>
              <a:off x="12035" y="4159"/>
              <a:ext cx="265" cy="119"/>
            </a:xfrm>
            <a:prstGeom prst="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6" name="矩形 75"/>
            <p:cNvSpPr/>
            <p:nvPr/>
          </p:nvSpPr>
          <p:spPr>
            <a:xfrm>
              <a:off x="12300" y="4159"/>
              <a:ext cx="265" cy="119"/>
            </a:xfrm>
            <a:prstGeom prst="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7" name="文本框 76"/>
            <p:cNvSpPr txBox="1"/>
            <p:nvPr/>
          </p:nvSpPr>
          <p:spPr>
            <a:xfrm>
              <a:off x="11941" y="3731"/>
              <a:ext cx="452" cy="50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indent="0" algn="ctr" fontAlgn="auto">
                <a:lnSpc>
                  <a:spcPts val="500"/>
                </a:lnSpc>
              </a:pPr>
              <a:r>
                <a:rPr lang="en-US" altLang="zh-CN"/>
                <a:t>.</a:t>
              </a:r>
              <a:endParaRPr lang="en-US" altLang="zh-CN"/>
            </a:p>
            <a:p>
              <a:pPr indent="0" algn="ctr" fontAlgn="auto">
                <a:lnSpc>
                  <a:spcPts val="500"/>
                </a:lnSpc>
              </a:pPr>
              <a:r>
                <a:rPr lang="en-US" altLang="zh-CN"/>
                <a:t>.</a:t>
              </a:r>
              <a:endParaRPr lang="en-US" altLang="zh-CN"/>
            </a:p>
            <a:p>
              <a:pPr indent="0" algn="ctr" fontAlgn="auto">
                <a:lnSpc>
                  <a:spcPts val="500"/>
                </a:lnSpc>
              </a:pPr>
              <a:r>
                <a:rPr lang="en-US" altLang="zh-CN"/>
                <a:t>.</a:t>
              </a:r>
              <a:endParaRPr lang="en-US" altLang="zh-CN"/>
            </a:p>
          </p:txBody>
        </p:sp>
      </p:grpSp>
      <p:sp>
        <p:nvSpPr>
          <p:cNvPr id="78" name="文本框 77"/>
          <p:cNvSpPr txBox="1"/>
          <p:nvPr/>
        </p:nvSpPr>
        <p:spPr>
          <a:xfrm>
            <a:off x="6797040" y="3053080"/>
            <a:ext cx="65151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200" b="1"/>
              <a:t>编码器</a:t>
            </a:r>
            <a:endParaRPr lang="zh-CN" altLang="en-US" sz="1200" b="1"/>
          </a:p>
        </p:txBody>
      </p:sp>
      <p:sp>
        <p:nvSpPr>
          <p:cNvPr id="79" name="文本框 78"/>
          <p:cNvSpPr txBox="1"/>
          <p:nvPr/>
        </p:nvSpPr>
        <p:spPr>
          <a:xfrm>
            <a:off x="7472680" y="3046095"/>
            <a:ext cx="60198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200" b="1"/>
              <a:t>向量</a:t>
            </a:r>
            <a:endParaRPr lang="zh-CN" altLang="en-US" sz="1200" b="1"/>
          </a:p>
        </p:txBody>
      </p:sp>
      <p:sp>
        <p:nvSpPr>
          <p:cNvPr id="82" name="下箭头 81"/>
          <p:cNvSpPr/>
          <p:nvPr/>
        </p:nvSpPr>
        <p:spPr>
          <a:xfrm rot="16200000">
            <a:off x="6800815" y="2659525"/>
            <a:ext cx="72000" cy="216000"/>
          </a:xfrm>
          <a:prstGeom prst="downArrow">
            <a:avLst>
              <a:gd name="adj1" fmla="val 31764"/>
              <a:gd name="adj2" fmla="val 80588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3" name="下箭头 82"/>
          <p:cNvSpPr/>
          <p:nvPr/>
        </p:nvSpPr>
        <p:spPr>
          <a:xfrm rot="16200000">
            <a:off x="7397715" y="2659525"/>
            <a:ext cx="72000" cy="216000"/>
          </a:xfrm>
          <a:prstGeom prst="downArrow">
            <a:avLst>
              <a:gd name="adj1" fmla="val 31764"/>
              <a:gd name="adj2" fmla="val 80588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4" name="下箭头 83"/>
          <p:cNvSpPr/>
          <p:nvPr/>
        </p:nvSpPr>
        <p:spPr>
          <a:xfrm>
            <a:off x="6939673" y="3341370"/>
            <a:ext cx="107950" cy="320040"/>
          </a:xfrm>
          <a:prstGeom prst="downArrow">
            <a:avLst>
              <a:gd name="adj1" fmla="val 31764"/>
              <a:gd name="adj2" fmla="val 80588"/>
            </a:avLst>
          </a:prstGeom>
          <a:solidFill>
            <a:srgbClr val="2E54A1"/>
          </a:solidFill>
          <a:ln>
            <a:solidFill>
              <a:srgbClr val="2E54A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5" name="文本框 84"/>
          <p:cNvSpPr txBox="1"/>
          <p:nvPr/>
        </p:nvSpPr>
        <p:spPr>
          <a:xfrm>
            <a:off x="5842075" y="3709670"/>
            <a:ext cx="2303145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600" b="1">
                <a:solidFill>
                  <a:srgbClr val="C00000"/>
                </a:solidFill>
              </a:rPr>
              <a:t>非负</a:t>
            </a:r>
            <a:r>
              <a:rPr lang="en-US" altLang="zh-CN" sz="1600" b="1">
                <a:solidFill>
                  <a:srgbClr val="C00000"/>
                </a:solidFill>
              </a:rPr>
              <a:t>PU</a:t>
            </a:r>
            <a:r>
              <a:rPr lang="zh-CN" altLang="en-US" sz="1600" b="1">
                <a:solidFill>
                  <a:srgbClr val="C00000"/>
                </a:solidFill>
              </a:rPr>
              <a:t>风险学</a:t>
            </a:r>
            <a:r>
              <a:rPr lang="zh-CN" altLang="en-US" sz="1600" b="1">
                <a:solidFill>
                  <a:srgbClr val="C00000"/>
                </a:solidFill>
              </a:rPr>
              <a:t>习</a:t>
            </a:r>
            <a:endParaRPr lang="zh-CN" altLang="en-US" sz="1600" b="1">
              <a:solidFill>
                <a:srgbClr val="C00000"/>
              </a:solidFill>
            </a:endParaRPr>
          </a:p>
        </p:txBody>
      </p:sp>
      <p:sp>
        <p:nvSpPr>
          <p:cNvPr id="86" name="圆角矩形 85"/>
          <p:cNvSpPr>
            <a:spLocks noChangeAspect="1"/>
          </p:cNvSpPr>
          <p:nvPr/>
        </p:nvSpPr>
        <p:spPr>
          <a:xfrm>
            <a:off x="6170930" y="4050665"/>
            <a:ext cx="666000" cy="666000"/>
          </a:xfrm>
          <a:prstGeom prst="roundRect">
            <a:avLst/>
          </a:prstGeom>
          <a:solidFill>
            <a:schemeClr val="bg1"/>
          </a:solidFill>
          <a:ln w="22225"/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7" name="圆角矩形 86"/>
          <p:cNvSpPr>
            <a:spLocks noChangeAspect="1"/>
          </p:cNvSpPr>
          <p:nvPr/>
        </p:nvSpPr>
        <p:spPr>
          <a:xfrm>
            <a:off x="6220460" y="4107180"/>
            <a:ext cx="216000" cy="216000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200">
                <a:solidFill>
                  <a:schemeClr val="tx1"/>
                </a:solidFill>
              </a:rPr>
              <a:t>P</a:t>
            </a:r>
            <a:endParaRPr lang="en-US" altLang="zh-CN" sz="1200">
              <a:solidFill>
                <a:schemeClr val="tx1"/>
              </a:solidFill>
            </a:endParaRPr>
          </a:p>
        </p:txBody>
      </p:sp>
      <p:sp>
        <p:nvSpPr>
          <p:cNvPr id="88" name="圆角矩形 87"/>
          <p:cNvSpPr>
            <a:spLocks noChangeAspect="1"/>
          </p:cNvSpPr>
          <p:nvPr/>
        </p:nvSpPr>
        <p:spPr>
          <a:xfrm>
            <a:off x="6563360" y="4107180"/>
            <a:ext cx="216000" cy="216000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200">
                <a:solidFill>
                  <a:schemeClr val="tx1"/>
                </a:solidFill>
              </a:rPr>
              <a:t>U</a:t>
            </a:r>
            <a:endParaRPr lang="en-US" altLang="zh-CN" sz="1200">
              <a:solidFill>
                <a:schemeClr val="tx1"/>
              </a:solidFill>
            </a:endParaRPr>
          </a:p>
        </p:txBody>
      </p:sp>
      <p:sp>
        <p:nvSpPr>
          <p:cNvPr id="89" name="圆角矩形 88"/>
          <p:cNvSpPr>
            <a:spLocks noChangeAspect="1"/>
          </p:cNvSpPr>
          <p:nvPr/>
        </p:nvSpPr>
        <p:spPr>
          <a:xfrm>
            <a:off x="6220460" y="4448175"/>
            <a:ext cx="216000" cy="216000"/>
          </a:xfrm>
          <a:prstGeom prst="roundRect">
            <a:avLst/>
          </a:prstGeom>
          <a:solidFill>
            <a:schemeClr val="tx2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0" name="圆角矩形 89"/>
          <p:cNvSpPr>
            <a:spLocks noChangeAspect="1"/>
          </p:cNvSpPr>
          <p:nvPr/>
        </p:nvSpPr>
        <p:spPr>
          <a:xfrm>
            <a:off x="6563360" y="4448175"/>
            <a:ext cx="216000" cy="216000"/>
          </a:xfrm>
          <a:prstGeom prst="round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1" name="文本框 90"/>
          <p:cNvSpPr txBox="1"/>
          <p:nvPr/>
        </p:nvSpPr>
        <p:spPr>
          <a:xfrm>
            <a:off x="6186170" y="4309624"/>
            <a:ext cx="287020" cy="1682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indent="0" algn="ctr" fontAlgn="auto">
              <a:lnSpc>
                <a:spcPts val="200"/>
              </a:lnSpc>
            </a:pPr>
            <a:r>
              <a:rPr lang="en-US" altLang="zh-CN" sz="1000" b="1"/>
              <a:t>.</a:t>
            </a:r>
            <a:endParaRPr lang="en-US" altLang="zh-CN" sz="1000" b="1"/>
          </a:p>
          <a:p>
            <a:pPr indent="0" algn="ctr" fontAlgn="auto">
              <a:lnSpc>
                <a:spcPts val="200"/>
              </a:lnSpc>
            </a:pPr>
            <a:r>
              <a:rPr lang="en-US" altLang="zh-CN" sz="1000" b="1"/>
              <a:t>.</a:t>
            </a:r>
            <a:endParaRPr lang="en-US" altLang="zh-CN" sz="1000" b="1"/>
          </a:p>
          <a:p>
            <a:pPr indent="0" algn="ctr" fontAlgn="auto">
              <a:lnSpc>
                <a:spcPts val="200"/>
              </a:lnSpc>
            </a:pPr>
            <a:r>
              <a:rPr lang="en-US" altLang="zh-CN" sz="1000" b="1"/>
              <a:t>.</a:t>
            </a:r>
            <a:endParaRPr lang="en-US" altLang="zh-CN" sz="1000" b="1"/>
          </a:p>
        </p:txBody>
      </p:sp>
      <p:sp>
        <p:nvSpPr>
          <p:cNvPr id="92" name="文本框 91"/>
          <p:cNvSpPr txBox="1"/>
          <p:nvPr/>
        </p:nvSpPr>
        <p:spPr>
          <a:xfrm>
            <a:off x="6527800" y="4309624"/>
            <a:ext cx="287020" cy="1682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indent="0" algn="ctr" fontAlgn="auto">
              <a:lnSpc>
                <a:spcPts val="200"/>
              </a:lnSpc>
            </a:pPr>
            <a:r>
              <a:rPr lang="en-US" altLang="zh-CN" sz="1000" b="1"/>
              <a:t>.</a:t>
            </a:r>
            <a:endParaRPr lang="en-US" altLang="zh-CN" sz="1000" b="1"/>
          </a:p>
          <a:p>
            <a:pPr indent="0" algn="ctr" fontAlgn="auto">
              <a:lnSpc>
                <a:spcPts val="200"/>
              </a:lnSpc>
            </a:pPr>
            <a:r>
              <a:rPr lang="en-US" altLang="zh-CN" sz="1000" b="1"/>
              <a:t>.</a:t>
            </a:r>
            <a:endParaRPr lang="en-US" altLang="zh-CN" sz="1000" b="1"/>
          </a:p>
          <a:p>
            <a:pPr indent="0" algn="ctr" fontAlgn="auto">
              <a:lnSpc>
                <a:spcPts val="200"/>
              </a:lnSpc>
            </a:pPr>
            <a:r>
              <a:rPr lang="en-US" altLang="zh-CN" sz="1000" b="1"/>
              <a:t>.</a:t>
            </a:r>
            <a:endParaRPr lang="en-US" altLang="zh-CN" sz="1000" b="1"/>
          </a:p>
        </p:txBody>
      </p:sp>
      <p:sp>
        <p:nvSpPr>
          <p:cNvPr id="93" name="文本框 92"/>
          <p:cNvSpPr txBox="1"/>
          <p:nvPr/>
        </p:nvSpPr>
        <p:spPr>
          <a:xfrm rot="5400000">
            <a:off x="6348730" y="4473454"/>
            <a:ext cx="287020" cy="1682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indent="0" algn="ctr" fontAlgn="auto">
              <a:lnSpc>
                <a:spcPts val="200"/>
              </a:lnSpc>
            </a:pPr>
            <a:r>
              <a:rPr lang="en-US" altLang="zh-CN" sz="1000" b="1"/>
              <a:t>.</a:t>
            </a:r>
            <a:endParaRPr lang="en-US" altLang="zh-CN" sz="1000" b="1"/>
          </a:p>
          <a:p>
            <a:pPr indent="0" algn="ctr" fontAlgn="auto">
              <a:lnSpc>
                <a:spcPts val="200"/>
              </a:lnSpc>
            </a:pPr>
            <a:r>
              <a:rPr lang="en-US" altLang="zh-CN" sz="1000" b="1"/>
              <a:t>.</a:t>
            </a:r>
            <a:endParaRPr lang="en-US" altLang="zh-CN" sz="1000" b="1"/>
          </a:p>
          <a:p>
            <a:pPr indent="0" algn="ctr" fontAlgn="auto">
              <a:lnSpc>
                <a:spcPts val="200"/>
              </a:lnSpc>
            </a:pPr>
            <a:r>
              <a:rPr lang="en-US" altLang="zh-CN" sz="1000" b="1"/>
              <a:t>.</a:t>
            </a:r>
            <a:endParaRPr lang="en-US" altLang="zh-CN" sz="1000" b="1"/>
          </a:p>
        </p:txBody>
      </p:sp>
      <p:sp>
        <p:nvSpPr>
          <p:cNvPr id="94" name="文本框 93"/>
          <p:cNvSpPr txBox="1"/>
          <p:nvPr/>
        </p:nvSpPr>
        <p:spPr>
          <a:xfrm>
            <a:off x="6068060" y="4686935"/>
            <a:ext cx="87693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1200" b="1"/>
              <a:t>PU</a:t>
            </a:r>
            <a:r>
              <a:rPr lang="zh-CN" altLang="en-US" sz="1200" b="1"/>
              <a:t>对数</a:t>
            </a:r>
            <a:endParaRPr lang="zh-CN" altLang="en-US" sz="1200" b="1"/>
          </a:p>
        </p:txBody>
      </p:sp>
      <p:sp>
        <p:nvSpPr>
          <p:cNvPr id="95" name="下箭头 94"/>
          <p:cNvSpPr/>
          <p:nvPr/>
        </p:nvSpPr>
        <p:spPr>
          <a:xfrm rot="16200000">
            <a:off x="7001695" y="4250175"/>
            <a:ext cx="108000" cy="288000"/>
          </a:xfrm>
          <a:prstGeom prst="downArrow">
            <a:avLst>
              <a:gd name="adj1" fmla="val 31764"/>
              <a:gd name="adj2" fmla="val 80588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graphicFrame>
        <p:nvGraphicFramePr>
          <p:cNvPr id="96" name="表格 95"/>
          <p:cNvGraphicFramePr/>
          <p:nvPr>
            <p:custDataLst>
              <p:tags r:id="rId10"/>
            </p:custDataLst>
          </p:nvPr>
        </p:nvGraphicFramePr>
        <p:xfrm>
          <a:off x="7237095" y="4036060"/>
          <a:ext cx="673735" cy="665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165"/>
                <a:gridCol w="496570"/>
              </a:tblGrid>
              <a:tr h="16637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600"/>
                        <a:t>1</a:t>
                      </a:r>
                      <a:endParaRPr lang="en-US" altLang="zh-CN" sz="6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600"/>
                        <a:t>候选事件</a:t>
                      </a:r>
                      <a:endParaRPr lang="zh-CN" altLang="en-US" sz="600"/>
                    </a:p>
                  </a:txBody>
                  <a:tcPr marL="0" marR="0" marT="0" marB="0" anchor="ctr" anchorCtr="0"/>
                </a:tc>
              </a:tr>
              <a:tr h="16637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600"/>
                        <a:t>2</a:t>
                      </a:r>
                      <a:endParaRPr lang="en-US" altLang="zh-CN" sz="6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600"/>
                        <a:t>候选事件</a:t>
                      </a:r>
                      <a:endParaRPr lang="zh-CN" altLang="en-US" sz="600"/>
                    </a:p>
                  </a:txBody>
                  <a:tcPr marL="0" marR="0" marT="0" marB="0" anchor="ctr" anchorCtr="0"/>
                </a:tc>
              </a:tr>
              <a:tr h="16637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600"/>
                        <a:t>3</a:t>
                      </a:r>
                      <a:endParaRPr lang="en-US" altLang="zh-CN" sz="6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600"/>
                        <a:t>...</a:t>
                      </a:r>
                      <a:endParaRPr lang="en-US" altLang="zh-CN" sz="600"/>
                    </a:p>
                  </a:txBody>
                  <a:tcPr marL="0" marR="0" marT="0" marB="0" anchor="ctr" anchorCtr="0"/>
                </a:tc>
              </a:tr>
              <a:tr h="16637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600"/>
                        <a:t>4</a:t>
                      </a:r>
                      <a:endParaRPr lang="en-US" altLang="zh-CN" sz="6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600"/>
                        <a:t>...</a:t>
                      </a:r>
                      <a:endParaRPr lang="en-US" altLang="zh-CN" sz="600"/>
                    </a:p>
                  </a:txBody>
                  <a:tcPr marL="0" marR="0" marT="0" marB="0" anchor="ctr" anchorCtr="0"/>
                </a:tc>
              </a:tr>
            </a:tbl>
          </a:graphicData>
        </a:graphic>
      </p:graphicFrame>
      <p:sp>
        <p:nvSpPr>
          <p:cNvPr id="97" name="文本框 96"/>
          <p:cNvSpPr txBox="1"/>
          <p:nvPr/>
        </p:nvSpPr>
        <p:spPr>
          <a:xfrm>
            <a:off x="7141210" y="4686935"/>
            <a:ext cx="87693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1200" b="1"/>
              <a:t>TopK</a:t>
            </a:r>
            <a:r>
              <a:rPr lang="zh-CN" altLang="en-US" sz="1200" b="1"/>
              <a:t>过滤</a:t>
            </a:r>
            <a:endParaRPr lang="zh-CN" altLang="en-US" sz="1200" b="1"/>
          </a:p>
        </p:txBody>
      </p:sp>
      <p:sp>
        <p:nvSpPr>
          <p:cNvPr id="99" name="文本框 98"/>
          <p:cNvSpPr txBox="1"/>
          <p:nvPr/>
        </p:nvSpPr>
        <p:spPr>
          <a:xfrm>
            <a:off x="8654490" y="2068830"/>
            <a:ext cx="2303145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600" b="1">
                <a:solidFill>
                  <a:srgbClr val="C00000"/>
                </a:solidFill>
              </a:rPr>
              <a:t>覆盖增益</a:t>
            </a:r>
            <a:r>
              <a:rPr lang="zh-CN" altLang="en-US" sz="1600" b="1">
                <a:solidFill>
                  <a:srgbClr val="C00000"/>
                </a:solidFill>
              </a:rPr>
              <a:t>评估</a:t>
            </a:r>
            <a:endParaRPr lang="zh-CN" altLang="en-US" sz="1600" b="1">
              <a:solidFill>
                <a:srgbClr val="C00000"/>
              </a:solidFill>
            </a:endParaRPr>
          </a:p>
        </p:txBody>
      </p:sp>
      <p:sp>
        <p:nvSpPr>
          <p:cNvPr id="100" name="文本框 99"/>
          <p:cNvSpPr txBox="1"/>
          <p:nvPr/>
        </p:nvSpPr>
        <p:spPr>
          <a:xfrm>
            <a:off x="8773160" y="3022600"/>
            <a:ext cx="96647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200" b="1"/>
              <a:t>向量</a:t>
            </a:r>
            <a:r>
              <a:rPr lang="zh-CN" altLang="en-US" sz="1200" b="1"/>
              <a:t>数据库</a:t>
            </a:r>
            <a:endParaRPr lang="zh-CN" altLang="en-US" sz="1200" b="1"/>
          </a:p>
        </p:txBody>
      </p:sp>
      <p:pic>
        <p:nvPicPr>
          <p:cNvPr id="101" name="图片 100" descr="数据库"/>
          <p:cNvPicPr>
            <a:picLocks noChangeAspect="1"/>
          </p:cNvPicPr>
          <p:nvPr>
            <p:custDataLst>
              <p:tags r:id="rId11"/>
            </p:custDataLst>
          </p:nvPr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8833485" y="2440940"/>
            <a:ext cx="777600" cy="572701"/>
          </a:xfrm>
          <a:prstGeom prst="rect">
            <a:avLst/>
          </a:prstGeom>
        </p:spPr>
      </p:pic>
      <p:pic>
        <p:nvPicPr>
          <p:cNvPr id="102" name="图片 101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789160" y="2376805"/>
            <a:ext cx="252000" cy="252000"/>
          </a:xfrm>
          <a:prstGeom prst="rect">
            <a:avLst/>
          </a:prstGeom>
        </p:spPr>
      </p:pic>
      <p:pic>
        <p:nvPicPr>
          <p:cNvPr id="103" name="图片 102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789160" y="2689765"/>
            <a:ext cx="252000" cy="251460"/>
          </a:xfrm>
          <a:prstGeom prst="rect">
            <a:avLst/>
          </a:prstGeom>
        </p:spPr>
      </p:pic>
      <p:pic>
        <p:nvPicPr>
          <p:cNvPr id="104" name="图片 103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789160" y="3002185"/>
            <a:ext cx="252000" cy="251460"/>
          </a:xfrm>
          <a:prstGeom prst="rect">
            <a:avLst/>
          </a:prstGeom>
        </p:spPr>
      </p:pic>
      <p:sp>
        <p:nvSpPr>
          <p:cNvPr id="105" name="文本框 104"/>
          <p:cNvSpPr txBox="1"/>
          <p:nvPr/>
        </p:nvSpPr>
        <p:spPr>
          <a:xfrm>
            <a:off x="9916795" y="4683125"/>
            <a:ext cx="104076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200" b="1"/>
              <a:t>向量</a:t>
            </a:r>
            <a:r>
              <a:rPr lang="zh-CN" altLang="en-US" sz="1200" b="1"/>
              <a:t>数据库</a:t>
            </a:r>
            <a:endParaRPr lang="zh-CN" altLang="en-US" sz="1200" b="1"/>
          </a:p>
        </p:txBody>
      </p:sp>
      <p:sp>
        <p:nvSpPr>
          <p:cNvPr id="106" name="文本框 105"/>
          <p:cNvSpPr txBox="1"/>
          <p:nvPr/>
        </p:nvSpPr>
        <p:spPr>
          <a:xfrm>
            <a:off x="10040620" y="2371725"/>
            <a:ext cx="80327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200" b="1"/>
              <a:t>空间</a:t>
            </a:r>
            <a:r>
              <a:rPr lang="zh-CN" altLang="en-US" sz="1200" b="1"/>
              <a:t>覆盖</a:t>
            </a:r>
            <a:endParaRPr lang="zh-CN" altLang="en-US" sz="1200" b="1"/>
          </a:p>
        </p:txBody>
      </p:sp>
      <p:sp>
        <p:nvSpPr>
          <p:cNvPr id="107" name="文本框 106"/>
          <p:cNvSpPr txBox="1"/>
          <p:nvPr/>
        </p:nvSpPr>
        <p:spPr>
          <a:xfrm>
            <a:off x="10040620" y="2684145"/>
            <a:ext cx="80327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200" b="1"/>
              <a:t>稀缺波形</a:t>
            </a:r>
            <a:endParaRPr lang="zh-CN" altLang="en-US" sz="1200" b="1"/>
          </a:p>
        </p:txBody>
      </p:sp>
      <p:sp>
        <p:nvSpPr>
          <p:cNvPr id="108" name="文本框 107"/>
          <p:cNvSpPr txBox="1"/>
          <p:nvPr/>
        </p:nvSpPr>
        <p:spPr>
          <a:xfrm>
            <a:off x="10041890" y="2996565"/>
            <a:ext cx="80200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200" b="1"/>
              <a:t>边界</a:t>
            </a:r>
            <a:r>
              <a:rPr lang="zh-CN" altLang="en-US" sz="1200" b="1"/>
              <a:t>扩展</a:t>
            </a:r>
            <a:endParaRPr lang="zh-CN" altLang="en-US" sz="1200" b="1"/>
          </a:p>
        </p:txBody>
      </p:sp>
      <p:sp>
        <p:nvSpPr>
          <p:cNvPr id="109" name="下箭头 108"/>
          <p:cNvSpPr/>
          <p:nvPr/>
        </p:nvSpPr>
        <p:spPr>
          <a:xfrm>
            <a:off x="9751453" y="3341370"/>
            <a:ext cx="107950" cy="320040"/>
          </a:xfrm>
          <a:prstGeom prst="downArrow">
            <a:avLst>
              <a:gd name="adj1" fmla="val 31764"/>
              <a:gd name="adj2" fmla="val 80588"/>
            </a:avLst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0" name="文本框 109"/>
          <p:cNvSpPr txBox="1"/>
          <p:nvPr/>
        </p:nvSpPr>
        <p:spPr>
          <a:xfrm>
            <a:off x="8578925" y="3733800"/>
            <a:ext cx="2303145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600" b="1">
                <a:solidFill>
                  <a:srgbClr val="C00000"/>
                </a:solidFill>
              </a:rPr>
              <a:t>索引约束</a:t>
            </a:r>
            <a:r>
              <a:rPr lang="zh-CN" altLang="en-US" sz="1600" b="1">
                <a:solidFill>
                  <a:srgbClr val="C00000"/>
                </a:solidFill>
              </a:rPr>
              <a:t>优化</a:t>
            </a:r>
            <a:endParaRPr lang="zh-CN" altLang="en-US" sz="1600" b="1">
              <a:solidFill>
                <a:srgbClr val="C00000"/>
              </a:solidFill>
            </a:endParaRPr>
          </a:p>
        </p:txBody>
      </p:sp>
      <p:sp>
        <p:nvSpPr>
          <p:cNvPr id="111" name="圆角矩形 110"/>
          <p:cNvSpPr>
            <a:spLocks noChangeAspect="1"/>
          </p:cNvSpPr>
          <p:nvPr/>
        </p:nvSpPr>
        <p:spPr>
          <a:xfrm>
            <a:off x="8929370" y="4070985"/>
            <a:ext cx="666000" cy="666000"/>
          </a:xfrm>
          <a:prstGeom prst="roundRect">
            <a:avLst/>
          </a:prstGeom>
          <a:solidFill>
            <a:schemeClr val="bg1"/>
          </a:solidFill>
          <a:ln w="22225"/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2" name="文本框 111"/>
          <p:cNvSpPr txBox="1"/>
          <p:nvPr/>
        </p:nvSpPr>
        <p:spPr>
          <a:xfrm>
            <a:off x="8836660" y="4701540"/>
            <a:ext cx="87693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200" b="1"/>
              <a:t>多元</a:t>
            </a:r>
            <a:r>
              <a:rPr lang="zh-CN" altLang="en-US" sz="1200" b="1"/>
              <a:t>向量</a:t>
            </a:r>
            <a:endParaRPr lang="zh-CN" altLang="en-US" sz="1200" b="1"/>
          </a:p>
        </p:txBody>
      </p:sp>
      <p:sp>
        <p:nvSpPr>
          <p:cNvPr id="113" name="椭圆 112"/>
          <p:cNvSpPr>
            <a:spLocks noChangeAspect="1"/>
          </p:cNvSpPr>
          <p:nvPr/>
        </p:nvSpPr>
        <p:spPr>
          <a:xfrm>
            <a:off x="9039225" y="4172585"/>
            <a:ext cx="107289" cy="108000"/>
          </a:xfrm>
          <a:prstGeom prst="ellipse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5" name="椭圆 114"/>
          <p:cNvSpPr>
            <a:spLocks noChangeAspect="1"/>
          </p:cNvSpPr>
          <p:nvPr/>
        </p:nvSpPr>
        <p:spPr>
          <a:xfrm>
            <a:off x="9353550" y="4172585"/>
            <a:ext cx="107289" cy="108000"/>
          </a:xfrm>
          <a:prstGeom prst="ellipse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6" name="椭圆 115"/>
          <p:cNvSpPr>
            <a:spLocks noChangeAspect="1"/>
          </p:cNvSpPr>
          <p:nvPr/>
        </p:nvSpPr>
        <p:spPr>
          <a:xfrm>
            <a:off x="9039225" y="4364673"/>
            <a:ext cx="107289" cy="108000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7" name="椭圆 116"/>
          <p:cNvSpPr>
            <a:spLocks noChangeAspect="1"/>
          </p:cNvSpPr>
          <p:nvPr/>
        </p:nvSpPr>
        <p:spPr>
          <a:xfrm>
            <a:off x="9353550" y="4364673"/>
            <a:ext cx="107289" cy="108000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cxnSp>
        <p:nvCxnSpPr>
          <p:cNvPr id="118" name="直接箭头连接符 117"/>
          <p:cNvCxnSpPr/>
          <p:nvPr/>
        </p:nvCxnSpPr>
        <p:spPr>
          <a:xfrm>
            <a:off x="9139555" y="4229100"/>
            <a:ext cx="212090" cy="1905"/>
          </a:xfrm>
          <a:prstGeom prst="straightConnector1">
            <a:avLst/>
          </a:prstGeom>
          <a:ln>
            <a:bevel/>
            <a:tailEnd type="triangle" w="med" len="sm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19" name="直接箭头连接符 118"/>
          <p:cNvCxnSpPr/>
          <p:nvPr/>
        </p:nvCxnSpPr>
        <p:spPr>
          <a:xfrm>
            <a:off x="9139555" y="4418965"/>
            <a:ext cx="215265" cy="2540"/>
          </a:xfrm>
          <a:prstGeom prst="straightConnector1">
            <a:avLst/>
          </a:prstGeom>
          <a:ln>
            <a:bevel/>
            <a:tailEnd type="triangle" w="med" len="sm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20" name="直接箭头连接符 119"/>
          <p:cNvCxnSpPr>
            <a:endCxn id="117" idx="1"/>
          </p:cNvCxnSpPr>
          <p:nvPr/>
        </p:nvCxnSpPr>
        <p:spPr>
          <a:xfrm>
            <a:off x="9139555" y="4239260"/>
            <a:ext cx="229870" cy="140970"/>
          </a:xfrm>
          <a:prstGeom prst="straightConnector1">
            <a:avLst/>
          </a:prstGeom>
          <a:ln>
            <a:bevel/>
            <a:tailEnd type="triangle" w="med" len="sm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21" name="文本框 120"/>
          <p:cNvSpPr txBox="1"/>
          <p:nvPr/>
        </p:nvSpPr>
        <p:spPr>
          <a:xfrm>
            <a:off x="9120038" y="4433515"/>
            <a:ext cx="232074" cy="283163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indent="0" algn="ctr" fontAlgn="auto">
              <a:lnSpc>
                <a:spcPts val="500"/>
              </a:lnSpc>
            </a:pPr>
            <a:r>
              <a:rPr lang="en-US" altLang="zh-CN"/>
              <a:t>.</a:t>
            </a:r>
            <a:endParaRPr lang="en-US" altLang="zh-CN"/>
          </a:p>
          <a:p>
            <a:pPr indent="0" algn="ctr" fontAlgn="auto">
              <a:lnSpc>
                <a:spcPts val="500"/>
              </a:lnSpc>
            </a:pPr>
            <a:r>
              <a:rPr lang="en-US" altLang="zh-CN"/>
              <a:t>.</a:t>
            </a:r>
            <a:endParaRPr lang="en-US" altLang="zh-CN"/>
          </a:p>
          <a:p>
            <a:pPr indent="0" algn="ctr" fontAlgn="auto">
              <a:lnSpc>
                <a:spcPts val="500"/>
              </a:lnSpc>
            </a:pPr>
            <a:r>
              <a:rPr lang="en-US" altLang="zh-CN"/>
              <a:t>.</a:t>
            </a:r>
            <a:endParaRPr lang="en-US" altLang="zh-CN"/>
          </a:p>
        </p:txBody>
      </p:sp>
      <p:sp>
        <p:nvSpPr>
          <p:cNvPr id="122" name="下箭头 121"/>
          <p:cNvSpPr/>
          <p:nvPr/>
        </p:nvSpPr>
        <p:spPr>
          <a:xfrm rot="16200000">
            <a:off x="9776865" y="4215030"/>
            <a:ext cx="108000" cy="324000"/>
          </a:xfrm>
          <a:prstGeom prst="downArrow">
            <a:avLst>
              <a:gd name="adj1" fmla="val 31764"/>
              <a:gd name="adj2" fmla="val 80588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123" name="图片 122" descr="数据库"/>
          <p:cNvPicPr>
            <a:picLocks noChangeAspect="1"/>
          </p:cNvPicPr>
          <p:nvPr>
            <p:custDataLst>
              <p:tags r:id="rId17"/>
            </p:custDataLst>
          </p:nvPr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0001250" y="4070985"/>
            <a:ext cx="775970" cy="630555"/>
          </a:xfrm>
          <a:prstGeom prst="rect">
            <a:avLst/>
          </a:prstGeom>
        </p:spPr>
      </p:pic>
      <p:sp>
        <p:nvSpPr>
          <p:cNvPr id="125" name="下箭头 124"/>
          <p:cNvSpPr/>
          <p:nvPr/>
        </p:nvSpPr>
        <p:spPr>
          <a:xfrm>
            <a:off x="6939673" y="4997450"/>
            <a:ext cx="107950" cy="270000"/>
          </a:xfrm>
          <a:prstGeom prst="downArrow">
            <a:avLst>
              <a:gd name="adj1" fmla="val 31764"/>
              <a:gd name="adj2" fmla="val 80588"/>
            </a:avLst>
          </a:prstGeom>
          <a:solidFill>
            <a:srgbClr val="2E54A1"/>
          </a:solidFill>
          <a:ln>
            <a:solidFill>
              <a:srgbClr val="2E54A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26" name="下箭头 125"/>
          <p:cNvSpPr/>
          <p:nvPr/>
        </p:nvSpPr>
        <p:spPr>
          <a:xfrm>
            <a:off x="9751453" y="4997450"/>
            <a:ext cx="107950" cy="270000"/>
          </a:xfrm>
          <a:prstGeom prst="downArrow">
            <a:avLst>
              <a:gd name="adj1" fmla="val 31764"/>
              <a:gd name="adj2" fmla="val 80588"/>
            </a:avLst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27" name="文本框 126"/>
          <p:cNvSpPr txBox="1"/>
          <p:nvPr/>
        </p:nvSpPr>
        <p:spPr>
          <a:xfrm>
            <a:off x="3580803" y="3362960"/>
            <a:ext cx="120205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200" b="1"/>
              <a:t>事件</a:t>
            </a:r>
            <a:r>
              <a:rPr lang="en-US" altLang="zh-CN" sz="1200" b="1"/>
              <a:t>   </a:t>
            </a:r>
            <a:r>
              <a:rPr lang="zh-CN" altLang="en-US" sz="1200" b="1"/>
              <a:t>触发</a:t>
            </a:r>
            <a:endParaRPr lang="zh-CN" altLang="en-US" sz="1200" b="1"/>
          </a:p>
        </p:txBody>
      </p:sp>
      <p:sp>
        <p:nvSpPr>
          <p:cNvPr id="128" name="文本框 127"/>
          <p:cNvSpPr txBox="1"/>
          <p:nvPr/>
        </p:nvSpPr>
        <p:spPr>
          <a:xfrm>
            <a:off x="6392620" y="3362960"/>
            <a:ext cx="120205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200" b="1"/>
              <a:t>候选</a:t>
            </a:r>
            <a:r>
              <a:rPr lang="en-US" altLang="zh-CN" sz="1200" b="1"/>
              <a:t>   </a:t>
            </a:r>
            <a:r>
              <a:rPr lang="zh-CN" altLang="en-US" sz="1200" b="1"/>
              <a:t>排序</a:t>
            </a:r>
            <a:endParaRPr lang="zh-CN" altLang="en-US" sz="1200" b="1"/>
          </a:p>
        </p:txBody>
      </p:sp>
      <p:sp>
        <p:nvSpPr>
          <p:cNvPr id="129" name="文本框 128"/>
          <p:cNvSpPr txBox="1"/>
          <p:nvPr/>
        </p:nvSpPr>
        <p:spPr>
          <a:xfrm>
            <a:off x="9204400" y="3386455"/>
            <a:ext cx="120205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200" b="1"/>
              <a:t>优化</a:t>
            </a:r>
            <a:r>
              <a:rPr lang="en-US" altLang="zh-CN" sz="1200" b="1"/>
              <a:t>   </a:t>
            </a:r>
            <a:r>
              <a:rPr lang="zh-CN" altLang="en-US" sz="1200" b="1"/>
              <a:t>求解</a:t>
            </a:r>
            <a:endParaRPr lang="zh-CN" altLang="en-US" sz="1200" b="1"/>
          </a:p>
        </p:txBody>
      </p:sp>
      <p:sp>
        <p:nvSpPr>
          <p:cNvPr id="130" name="箭头: 燕尾形 1071"/>
          <p:cNvSpPr/>
          <p:nvPr/>
        </p:nvSpPr>
        <p:spPr>
          <a:xfrm>
            <a:off x="5393690" y="1269365"/>
            <a:ext cx="375920" cy="443230"/>
          </a:xfrm>
          <a:prstGeom prst="notchedRightArrow">
            <a:avLst>
              <a:gd name="adj1" fmla="val 33809"/>
              <a:gd name="adj2" fmla="val 52390"/>
            </a:avLst>
          </a:prstGeom>
          <a:gradFill>
            <a:gsLst>
              <a:gs pos="0">
                <a:schemeClr val="bg1"/>
              </a:gs>
              <a:gs pos="9900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1" name="箭头: 燕尾形 1071"/>
          <p:cNvSpPr/>
          <p:nvPr/>
        </p:nvSpPr>
        <p:spPr>
          <a:xfrm>
            <a:off x="8216265" y="1269365"/>
            <a:ext cx="375920" cy="443230"/>
          </a:xfrm>
          <a:prstGeom prst="notchedRightArrow">
            <a:avLst>
              <a:gd name="adj1" fmla="val 33809"/>
              <a:gd name="adj2" fmla="val 52390"/>
            </a:avLst>
          </a:prstGeom>
          <a:gradFill>
            <a:gsLst>
              <a:gs pos="0">
                <a:schemeClr val="bg1"/>
              </a:gs>
              <a:gs pos="9900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custDataLst>
      <p:tags r:id="rId18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3.xml><?xml version="1.0" encoding="utf-8"?>
<p:tagLst xmlns:p="http://schemas.openxmlformats.org/presentationml/2006/main">
  <p:tag name="TABLE_ENDDRAG_ORIGIN_RECT" val="53*52"/>
  <p:tag name="TABLE_ENDDRAG_RECT" val="567*282*53*52"/>
</p:tagLst>
</file>

<file path=ppt/tags/tag64.xml><?xml version="1.0" encoding="utf-8"?>
<p:tagLst xmlns:p="http://schemas.openxmlformats.org/presentationml/2006/main">
  <p:tag name="KSO_DOCER_RESOURCE_TRACE_INFO" val="{&quot;id&quot;:&quot;50062581&quot;,&quot;origin&quot;:0,&quot;type&quot;:&quot;icons&quot;,&quot;user&quot;:&quot;402383365&quot;}"/>
</p:tagLst>
</file>

<file path=ppt/tags/tag65.xml><?xml version="1.0" encoding="utf-8"?>
<p:tagLst xmlns:p="http://schemas.openxmlformats.org/presentationml/2006/main">
  <p:tag name="KSO_DOCER_RESOURCE_TRACE_INFO" val="{&quot;id&quot;:&quot;50062581&quot;,&quot;origin&quot;:0,&quot;type&quot;:&quot;icons&quot;,&quot;user&quot;:&quot;402383365&quot;}"/>
</p:tagLst>
</file>

<file path=ppt/tags/tag66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  <p:tag name="resource_record_key" val="{&quot;10&quot;:[50062581],&quot;65&quot;:[20205081]}"/>
</p:tagLst>
</file>

<file path=ppt/tags/tag67.xml><?xml version="1.0" encoding="utf-8"?>
<p:tagLst xmlns:p="http://schemas.openxmlformats.org/presentationml/2006/main">
  <p:tag name="resource_record_key" val="{&quot;10&quot;:[50062581],&quot;65&quot;:[20205081]}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307</Words>
  <Application>WPS 演示</Application>
  <PresentationFormat>宽屏</PresentationFormat>
  <Paragraphs>139</Paragraphs>
  <Slides>1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9" baseType="lpstr">
      <vt:lpstr>Arial</vt:lpstr>
      <vt:lpstr>宋体</vt:lpstr>
      <vt:lpstr>Wingdings</vt:lpstr>
      <vt:lpstr>Wingdings</vt:lpstr>
      <vt:lpstr>微软雅黑</vt:lpstr>
      <vt:lpstr>Arial Unicode MS</vt:lpstr>
      <vt:lpstr>Calibri</vt:lpstr>
      <vt:lpstr>WPS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/>
  <cp:lastModifiedBy>我要凹凸曼</cp:lastModifiedBy>
  <cp:revision>159</cp:revision>
  <dcterms:created xsi:type="dcterms:W3CDTF">2019-06-19T02:08:00Z</dcterms:created>
  <dcterms:modified xsi:type="dcterms:W3CDTF">2026-06-15T03:23:33Z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2052-12.1.0.26895</vt:lpwstr>
  </property>
  <property fmtid="{D5CDD505-2E9C-101B-9397-08002B2CF9AE}" pid="3" name="ICV">
    <vt:lpwstr>882259FAE66E44A7964F29318055E758_11</vt:lpwstr>
  </property>
</Properties>
</file>