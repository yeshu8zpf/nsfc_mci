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0" userDrawn="1">
          <p15:clr>
            <a:srgbClr val="A4A3A4"/>
          </p15:clr>
        </p15:guide>
        <p15:guide id="2" pos="382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FFFFF"/>
    <a:srgbClr val="DAE3F5"/>
    <a:srgbClr val="2E54A1"/>
    <a:srgbClr val="FADBDF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80"/>
        <p:guide pos="382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63.xml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圆角矩形 80"/>
          <p:cNvSpPr/>
          <p:nvPr/>
        </p:nvSpPr>
        <p:spPr>
          <a:xfrm>
            <a:off x="1118870" y="199390"/>
            <a:ext cx="9996170" cy="62020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1282700" y="1097915"/>
            <a:ext cx="6120765" cy="236520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-704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面向端地协同的频谱数据存传耦合价值评估方法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68730" y="3541395"/>
            <a:ext cx="6106795" cy="268224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7993380" y="578485"/>
            <a:ext cx="2955925" cy="4394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地面</a:t>
            </a:r>
            <a:r>
              <a:rPr lang="zh-CN" altLang="en-US"/>
              <a:t>端</a:t>
            </a:r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7993380" y="1097280"/>
            <a:ext cx="2955925" cy="2364740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7993380" y="3859530"/>
            <a:ext cx="2955290" cy="56832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/>
              <a:t>端地协同反馈驱动的价值动态</a:t>
            </a:r>
            <a:r>
              <a:rPr lang="zh-CN" altLang="en-US" sz="1400"/>
              <a:t>校准</a:t>
            </a:r>
            <a:endParaRPr lang="zh-CN" altLang="en-US" sz="1400"/>
          </a:p>
        </p:txBody>
      </p:sp>
      <p:sp>
        <p:nvSpPr>
          <p:cNvPr id="15" name="矩形 14"/>
          <p:cNvSpPr/>
          <p:nvPr/>
        </p:nvSpPr>
        <p:spPr>
          <a:xfrm>
            <a:off x="7993380" y="4428490"/>
            <a:ext cx="2955600" cy="17951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1275715" y="580390"/>
            <a:ext cx="6120765" cy="439420"/>
          </a:xfrm>
          <a:prstGeom prst="rect">
            <a:avLst/>
          </a:prstGeom>
          <a:solidFill>
            <a:srgbClr val="2E54A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无人机</a:t>
            </a:r>
            <a:r>
              <a:rPr lang="zh-CN" altLang="en-US"/>
              <a:t>端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277110" y="1129665"/>
            <a:ext cx="41179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/>
              <a:t>面向事件证据窗口的多维价值表征方法</a:t>
            </a:r>
            <a:endParaRPr lang="zh-CN" altLang="en-US" sz="1400" b="1"/>
          </a:p>
        </p:txBody>
      </p:sp>
      <p:sp>
        <p:nvSpPr>
          <p:cNvPr id="18" name="文本框 17"/>
          <p:cNvSpPr txBox="1"/>
          <p:nvPr/>
        </p:nvSpPr>
        <p:spPr>
          <a:xfrm>
            <a:off x="2277110" y="3560445"/>
            <a:ext cx="411797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400" b="1"/>
              <a:t>存传耦合驱动的轻量化频谱价值计算方法</a:t>
            </a:r>
            <a:endParaRPr lang="zh-CN" altLang="en-US" sz="1400" b="1"/>
          </a:p>
        </p:txBody>
      </p:sp>
      <p:pic>
        <p:nvPicPr>
          <p:cNvPr id="19" name="图片 18"/>
          <p:cNvPicPr/>
          <p:nvPr/>
        </p:nvPicPr>
        <p:blipFill>
          <a:blip r:embed="rId1"/>
          <a:stretch>
            <a:fillRect/>
          </a:stretch>
        </p:blipFill>
        <p:spPr>
          <a:xfrm>
            <a:off x="1407478" y="1955800"/>
            <a:ext cx="615950" cy="55943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240155" y="2538730"/>
            <a:ext cx="9505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连续频谱流</a:t>
            </a:r>
            <a:endParaRPr lang="zh-CN" altLang="en-US" sz="1200" b="1"/>
          </a:p>
        </p:txBody>
      </p:sp>
      <p:sp>
        <p:nvSpPr>
          <p:cNvPr id="21" name="圆角矩形 20"/>
          <p:cNvSpPr/>
          <p:nvPr/>
        </p:nvSpPr>
        <p:spPr>
          <a:xfrm>
            <a:off x="2299176" y="1499235"/>
            <a:ext cx="1290955" cy="1802130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2544604" y="1499235"/>
            <a:ext cx="8001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sym typeface="+mn-ea"/>
              </a:rPr>
              <a:t>证据单元</a:t>
            </a:r>
            <a:endParaRPr lang="zh-CN" altLang="en-US" sz="1200" b="1">
              <a:solidFill>
                <a:srgbClr val="C00000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690495" y="2056130"/>
            <a:ext cx="99314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触发</a:t>
            </a:r>
            <a:r>
              <a:rPr lang="zh-CN" altLang="en-US" sz="1200" b="1"/>
              <a:t>前上文</a:t>
            </a:r>
            <a:endParaRPr lang="zh-CN" altLang="en-US" sz="1200" b="1"/>
          </a:p>
        </p:txBody>
      </p:sp>
      <p:sp>
        <p:nvSpPr>
          <p:cNvPr id="24" name="文本框 23"/>
          <p:cNvSpPr txBox="1"/>
          <p:nvPr/>
        </p:nvSpPr>
        <p:spPr>
          <a:xfrm>
            <a:off x="2690178" y="1744345"/>
            <a:ext cx="8001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事件</a:t>
            </a:r>
            <a:r>
              <a:rPr lang="zh-CN" altLang="en-US" sz="1200" b="1"/>
              <a:t>主体</a:t>
            </a:r>
            <a:endParaRPr lang="zh-CN" altLang="en-US" sz="1200" b="1"/>
          </a:p>
        </p:txBody>
      </p:sp>
      <p:sp>
        <p:nvSpPr>
          <p:cNvPr id="25" name="文本框 24"/>
          <p:cNvSpPr txBox="1"/>
          <p:nvPr/>
        </p:nvSpPr>
        <p:spPr>
          <a:xfrm>
            <a:off x="2690178" y="2679700"/>
            <a:ext cx="8001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频域</a:t>
            </a:r>
            <a:r>
              <a:rPr lang="zh-CN" altLang="en-US" sz="1200" b="1"/>
              <a:t>领域</a:t>
            </a:r>
            <a:endParaRPr lang="zh-CN" altLang="en-US" sz="1200" b="1"/>
          </a:p>
        </p:txBody>
      </p:sp>
      <p:sp>
        <p:nvSpPr>
          <p:cNvPr id="26" name="文本框 25"/>
          <p:cNvSpPr txBox="1"/>
          <p:nvPr/>
        </p:nvSpPr>
        <p:spPr>
          <a:xfrm>
            <a:off x="2690495" y="2367915"/>
            <a:ext cx="99314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触发</a:t>
            </a:r>
            <a:r>
              <a:rPr lang="zh-CN" altLang="en-US" sz="1200" b="1"/>
              <a:t>后下文</a:t>
            </a:r>
            <a:endParaRPr lang="zh-CN" altLang="en-US" sz="1200" b="1"/>
          </a:p>
        </p:txBody>
      </p:sp>
      <p:sp>
        <p:nvSpPr>
          <p:cNvPr id="27" name="文本框 26"/>
          <p:cNvSpPr txBox="1"/>
          <p:nvPr/>
        </p:nvSpPr>
        <p:spPr>
          <a:xfrm>
            <a:off x="2690178" y="2991485"/>
            <a:ext cx="8001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任务</a:t>
            </a:r>
            <a:r>
              <a:rPr lang="zh-CN" altLang="en-US" sz="1200" b="1"/>
              <a:t>语境</a:t>
            </a:r>
            <a:endParaRPr lang="zh-CN" altLang="en-US" sz="1200" b="1"/>
          </a:p>
        </p:txBody>
      </p:sp>
      <p:pic>
        <p:nvPicPr>
          <p:cNvPr id="31" name="图片 30" descr="-ontology_m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760855"/>
            <a:ext cx="252000" cy="252000"/>
          </a:xfrm>
          <a:prstGeom prst="rect">
            <a:avLst/>
          </a:prstGeom>
        </p:spPr>
      </p:pic>
      <p:pic>
        <p:nvPicPr>
          <p:cNvPr id="32" name="图片 31" descr="绩效考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2061750"/>
            <a:ext cx="252000" cy="251460"/>
          </a:xfrm>
          <a:prstGeom prst="rect">
            <a:avLst/>
          </a:prstGeom>
        </p:spPr>
      </p:pic>
      <p:pic>
        <p:nvPicPr>
          <p:cNvPr id="33" name="图片 32" descr="图表数据_走向_下降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2362105"/>
            <a:ext cx="252000" cy="251460"/>
          </a:xfrm>
          <a:prstGeom prst="rect">
            <a:avLst/>
          </a:prstGeom>
        </p:spPr>
      </p:pic>
      <p:pic>
        <p:nvPicPr>
          <p:cNvPr id="34" name="图片 33" descr="neighborhoo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2200" y="2662460"/>
            <a:ext cx="252000" cy="251460"/>
          </a:xfrm>
          <a:prstGeom prst="rect">
            <a:avLst/>
          </a:prstGeom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62200" y="2962815"/>
            <a:ext cx="252000" cy="251460"/>
          </a:xfrm>
          <a:prstGeom prst="rect">
            <a:avLst/>
          </a:prstGeom>
        </p:spPr>
      </p:pic>
      <p:sp>
        <p:nvSpPr>
          <p:cNvPr id="1072" name="箭头: 燕尾形 1071"/>
          <p:cNvSpPr/>
          <p:nvPr/>
        </p:nvSpPr>
        <p:spPr>
          <a:xfrm>
            <a:off x="1995170" y="2084388"/>
            <a:ext cx="276860" cy="3924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圆角矩形 37"/>
          <p:cNvSpPr/>
          <p:nvPr/>
        </p:nvSpPr>
        <p:spPr>
          <a:xfrm>
            <a:off x="3886835" y="1499235"/>
            <a:ext cx="1463675" cy="1802130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4144645" y="1499235"/>
            <a:ext cx="948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端侧</a:t>
            </a:r>
            <a:r>
              <a:rPr lang="zh-CN" altLang="en-US" sz="1200" b="1">
                <a:solidFill>
                  <a:srgbClr val="C00000"/>
                </a:solidFill>
              </a:rPr>
              <a:t>知识库</a:t>
            </a:r>
            <a:endParaRPr lang="zh-CN" altLang="en-US" sz="1200" b="1">
              <a:solidFill>
                <a:srgbClr val="C00000"/>
              </a:solidFill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277995" y="2056130"/>
            <a:ext cx="12592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历史背景</a:t>
            </a:r>
            <a:r>
              <a:rPr lang="zh-CN" altLang="en-US" sz="1200" b="1"/>
              <a:t>基线</a:t>
            </a:r>
            <a:endParaRPr lang="zh-CN" altLang="en-US" sz="1200" b="1"/>
          </a:p>
        </p:txBody>
      </p:sp>
      <p:sp>
        <p:nvSpPr>
          <p:cNvPr id="41" name="文本框 40"/>
          <p:cNvSpPr txBox="1"/>
          <p:nvPr/>
        </p:nvSpPr>
        <p:spPr>
          <a:xfrm>
            <a:off x="4277678" y="1744345"/>
            <a:ext cx="80010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任务</a:t>
            </a:r>
            <a:r>
              <a:rPr lang="zh-CN" altLang="en-US" sz="1200" b="1"/>
              <a:t>频段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4277995" y="2679700"/>
            <a:ext cx="11798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已知信号</a:t>
            </a:r>
            <a:r>
              <a:rPr lang="zh-CN" altLang="en-US" sz="1200" b="1"/>
              <a:t>模式</a:t>
            </a:r>
            <a:endParaRPr lang="zh-CN" altLang="en-US" sz="1200" b="1"/>
          </a:p>
        </p:txBody>
      </p:sp>
      <p:sp>
        <p:nvSpPr>
          <p:cNvPr id="43" name="文本框 42"/>
          <p:cNvSpPr txBox="1"/>
          <p:nvPr/>
        </p:nvSpPr>
        <p:spPr>
          <a:xfrm>
            <a:off x="4277995" y="2367915"/>
            <a:ext cx="11156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常见干扰</a:t>
            </a:r>
            <a:r>
              <a:rPr lang="zh-CN" altLang="en-US" sz="1200" b="1"/>
              <a:t>模板</a:t>
            </a:r>
            <a:endParaRPr lang="zh-CN" altLang="en-US" sz="1200" b="1"/>
          </a:p>
        </p:txBody>
      </p:sp>
      <p:sp>
        <p:nvSpPr>
          <p:cNvPr id="44" name="文本框 43"/>
          <p:cNvSpPr txBox="1"/>
          <p:nvPr/>
        </p:nvSpPr>
        <p:spPr>
          <a:xfrm>
            <a:off x="4277995" y="2991485"/>
            <a:ext cx="9588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已</a:t>
            </a:r>
            <a:r>
              <a:rPr lang="zh-CN" altLang="en-US" sz="1200" b="1"/>
              <a:t>复核原型</a:t>
            </a:r>
            <a:endParaRPr lang="zh-CN" altLang="en-US" sz="1200" b="1"/>
          </a:p>
        </p:txBody>
      </p:sp>
      <p:sp>
        <p:nvSpPr>
          <p:cNvPr id="50" name="箭头: 燕尾形 1071"/>
          <p:cNvSpPr/>
          <p:nvPr/>
        </p:nvSpPr>
        <p:spPr>
          <a:xfrm>
            <a:off x="3582670" y="2084388"/>
            <a:ext cx="276860" cy="3924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圆角矩形 50"/>
          <p:cNvSpPr/>
          <p:nvPr/>
        </p:nvSpPr>
        <p:spPr>
          <a:xfrm>
            <a:off x="5626735" y="1499235"/>
            <a:ext cx="1463675" cy="1802130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5798185" y="1499235"/>
            <a:ext cx="11785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多维价值</a:t>
            </a:r>
            <a:r>
              <a:rPr lang="zh-CN" altLang="en-US" sz="1200" b="1">
                <a:solidFill>
                  <a:srgbClr val="C00000"/>
                </a:solidFill>
              </a:rPr>
              <a:t>刻画</a:t>
            </a:r>
            <a:endParaRPr lang="zh-CN" altLang="en-US" sz="1200" b="1">
              <a:solidFill>
                <a:srgbClr val="C00000"/>
              </a:solidFill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6017895" y="2056130"/>
            <a:ext cx="12592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任务相关</a:t>
            </a:r>
            <a:r>
              <a:rPr lang="zh-CN" altLang="en-US" sz="1200" b="1"/>
              <a:t>性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6017895" y="1744345"/>
            <a:ext cx="9588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电磁异常</a:t>
            </a:r>
            <a:r>
              <a:rPr lang="zh-CN" altLang="en-US" sz="1200" b="1"/>
              <a:t>性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6017895" y="2679700"/>
            <a:ext cx="11798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证据</a:t>
            </a:r>
            <a:r>
              <a:rPr lang="zh-CN" altLang="en-US" sz="1200" b="1"/>
              <a:t>完整性</a:t>
            </a:r>
            <a:endParaRPr lang="zh-CN" altLang="en-US" sz="1200" b="1"/>
          </a:p>
        </p:txBody>
      </p:sp>
      <p:sp>
        <p:nvSpPr>
          <p:cNvPr id="56" name="文本框 55"/>
          <p:cNvSpPr txBox="1"/>
          <p:nvPr/>
        </p:nvSpPr>
        <p:spPr>
          <a:xfrm>
            <a:off x="6017895" y="2367915"/>
            <a:ext cx="11156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历史稀缺</a:t>
            </a:r>
            <a:r>
              <a:rPr lang="zh-CN" altLang="en-US" sz="1200" b="1"/>
              <a:t>性</a:t>
            </a:r>
            <a:endParaRPr lang="zh-CN" altLang="en-US" sz="1200" b="1"/>
          </a:p>
        </p:txBody>
      </p:sp>
      <p:sp>
        <p:nvSpPr>
          <p:cNvPr id="57" name="文本框 56"/>
          <p:cNvSpPr txBox="1"/>
          <p:nvPr/>
        </p:nvSpPr>
        <p:spPr>
          <a:xfrm>
            <a:off x="6017895" y="2991485"/>
            <a:ext cx="9588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 sz="1200" b="1"/>
              <a:t>时效敏感性</a:t>
            </a:r>
            <a:endParaRPr lang="zh-CN" altLang="en-US" sz="1200" b="1"/>
          </a:p>
        </p:txBody>
      </p:sp>
      <p:sp>
        <p:nvSpPr>
          <p:cNvPr id="63" name="箭头: 燕尾形 1071"/>
          <p:cNvSpPr/>
          <p:nvPr/>
        </p:nvSpPr>
        <p:spPr>
          <a:xfrm>
            <a:off x="5322570" y="2084388"/>
            <a:ext cx="276860" cy="3924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700" y="1774825"/>
            <a:ext cx="252000" cy="252000"/>
          </a:xfrm>
          <a:prstGeom prst="rect">
            <a:avLst/>
          </a:prstGeom>
        </p:spPr>
      </p:pic>
      <p:pic>
        <p:nvPicPr>
          <p:cNvPr id="65" name="图片 6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49840" y="2097545"/>
            <a:ext cx="252000" cy="252000"/>
          </a:xfrm>
          <a:prstGeom prst="rect">
            <a:avLst/>
          </a:prstGeom>
        </p:spPr>
      </p:pic>
      <p:pic>
        <p:nvPicPr>
          <p:cNvPr id="66" name="图片 6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49700" y="2374900"/>
            <a:ext cx="252000" cy="252000"/>
          </a:xfrm>
          <a:prstGeom prst="rect">
            <a:avLst/>
          </a:prstGeom>
        </p:spPr>
      </p:pic>
      <p:pic>
        <p:nvPicPr>
          <p:cNvPr id="67" name="图片 6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9728" y="2679728"/>
            <a:ext cx="252000" cy="252000"/>
          </a:xfrm>
          <a:prstGeom prst="rect">
            <a:avLst/>
          </a:prstGeom>
        </p:spPr>
      </p:pic>
      <p:pic>
        <p:nvPicPr>
          <p:cNvPr id="68" name="图片 6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49700" y="2991485"/>
            <a:ext cx="252000" cy="252000"/>
          </a:xfrm>
          <a:prstGeom prst="rect">
            <a:avLst/>
          </a:prstGeom>
        </p:spPr>
      </p:pic>
      <p:pic>
        <p:nvPicPr>
          <p:cNvPr id="69" name="图片 6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046" y="1760601"/>
            <a:ext cx="252000" cy="252000"/>
          </a:xfrm>
          <a:prstGeom prst="rect">
            <a:avLst/>
          </a:prstGeom>
        </p:spPr>
      </p:pic>
      <p:pic>
        <p:nvPicPr>
          <p:cNvPr id="70" name="图片 6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2300" y="2084705"/>
            <a:ext cx="252000" cy="252000"/>
          </a:xfrm>
          <a:prstGeom prst="rect">
            <a:avLst/>
          </a:prstGeom>
        </p:spPr>
      </p:pic>
      <p:pic>
        <p:nvPicPr>
          <p:cNvPr id="71" name="图片 7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02300" y="2374900"/>
            <a:ext cx="252000" cy="252000"/>
          </a:xfrm>
          <a:prstGeom prst="rect">
            <a:avLst/>
          </a:prstGeom>
        </p:spPr>
      </p:pic>
      <p:pic>
        <p:nvPicPr>
          <p:cNvPr id="72" name="图片 7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01665" y="2661920"/>
            <a:ext cx="252000" cy="252000"/>
          </a:xfrm>
          <a:prstGeom prst="rect">
            <a:avLst/>
          </a:prstGeom>
        </p:spPr>
      </p:pic>
      <p:pic>
        <p:nvPicPr>
          <p:cNvPr id="73" name="图片 72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02300" y="2991485"/>
            <a:ext cx="252000" cy="252000"/>
          </a:xfrm>
          <a:prstGeom prst="rect">
            <a:avLst/>
          </a:prstGeom>
        </p:spPr>
      </p:pic>
      <p:sp>
        <p:nvSpPr>
          <p:cNvPr id="74" name="圆角矩形 73"/>
          <p:cNvSpPr/>
          <p:nvPr/>
        </p:nvSpPr>
        <p:spPr>
          <a:xfrm>
            <a:off x="1367790" y="5287010"/>
            <a:ext cx="4805680" cy="829310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5" name="圆角矩形 74"/>
          <p:cNvSpPr/>
          <p:nvPr/>
        </p:nvSpPr>
        <p:spPr>
          <a:xfrm>
            <a:off x="1367790" y="3964940"/>
            <a:ext cx="2682240" cy="1246505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6" name="圆角矩形 75"/>
          <p:cNvSpPr/>
          <p:nvPr/>
        </p:nvSpPr>
        <p:spPr>
          <a:xfrm>
            <a:off x="4278630" y="3964940"/>
            <a:ext cx="1895475" cy="1245870"/>
          </a:xfrm>
          <a:prstGeom prst="roundRect">
            <a:avLst/>
          </a:prstGeom>
          <a:solidFill>
            <a:schemeClr val="bg1"/>
          </a:solidFill>
          <a:extLst>
            <a:ext uri="{909E8E84-426E-40DD-AFC4-6F175D3DCCD1}">
              <a14:hiddenFill xmlns:a14="http://schemas.microsoft.com/office/drawing/2010/main">
                <a:solidFill>
                  <a:srgbClr val="2E54A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7" name="箭头: 燕尾形 1071"/>
          <p:cNvSpPr/>
          <p:nvPr/>
        </p:nvSpPr>
        <p:spPr>
          <a:xfrm>
            <a:off x="4001770" y="4351973"/>
            <a:ext cx="276860" cy="3924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/>
          <p:cNvSpPr txBox="1"/>
          <p:nvPr/>
        </p:nvSpPr>
        <p:spPr>
          <a:xfrm>
            <a:off x="1923415" y="4006215"/>
            <a:ext cx="14706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sym typeface="+mn-ea"/>
              </a:rPr>
              <a:t>端侧增量状态</a:t>
            </a:r>
            <a:r>
              <a:rPr lang="zh-CN" altLang="en-US" sz="1200" b="1">
                <a:solidFill>
                  <a:srgbClr val="C00000"/>
                </a:solidFill>
                <a:sym typeface="+mn-ea"/>
              </a:rPr>
              <a:t>更新</a:t>
            </a:r>
            <a:endParaRPr lang="zh-CN" altLang="en-US" sz="1200" b="1">
              <a:solidFill>
                <a:srgbClr val="C00000"/>
              </a:solidFill>
              <a:sym typeface="+mn-ea"/>
            </a:endParaRPr>
          </a:p>
        </p:txBody>
      </p:sp>
      <p:pic>
        <p:nvPicPr>
          <p:cNvPr id="79" name="图片 78"/>
          <p:cNvPicPr/>
          <p:nvPr/>
        </p:nvPicPr>
        <p:blipFill>
          <a:blip r:embed="rId17"/>
          <a:stretch>
            <a:fillRect/>
          </a:stretch>
        </p:blipFill>
        <p:spPr>
          <a:xfrm>
            <a:off x="2234565" y="4352290"/>
            <a:ext cx="720000" cy="648000"/>
          </a:xfrm>
          <a:prstGeom prst="rect">
            <a:avLst/>
          </a:prstGeom>
        </p:spPr>
      </p:pic>
      <p:sp>
        <p:nvSpPr>
          <p:cNvPr id="82" name="文本框 81"/>
          <p:cNvSpPr txBox="1"/>
          <p:nvPr/>
        </p:nvSpPr>
        <p:spPr>
          <a:xfrm>
            <a:off x="1325880" y="4352290"/>
            <a:ext cx="12534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背景基线</a:t>
            </a:r>
            <a:endParaRPr lang="zh-CN" altLang="en-US" sz="1200" b="1"/>
          </a:p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频段占用</a:t>
            </a:r>
            <a:endParaRPr lang="zh-CN" altLang="en-US" sz="1200" b="1"/>
          </a:p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链路状态</a:t>
            </a:r>
            <a:endParaRPr lang="zh-CN" altLang="en-US" sz="1200" b="1"/>
          </a:p>
        </p:txBody>
      </p:sp>
      <p:sp>
        <p:nvSpPr>
          <p:cNvPr id="83" name="文本框 82"/>
          <p:cNvSpPr txBox="1"/>
          <p:nvPr/>
        </p:nvSpPr>
        <p:spPr>
          <a:xfrm>
            <a:off x="2856865" y="4352290"/>
            <a:ext cx="12877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事件频次</a:t>
            </a:r>
            <a:endParaRPr lang="zh-CN" altLang="en-US" sz="1200" b="1"/>
          </a:p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历史稀缺度</a:t>
            </a:r>
            <a:endParaRPr lang="zh-CN" altLang="en-US" sz="1200" b="1"/>
          </a:p>
          <a:p>
            <a:pPr marL="171450" indent="-171450">
              <a:buFont typeface="Wingdings" panose="05000000000000000000" charset="0"/>
              <a:buChar char="l"/>
            </a:pPr>
            <a:r>
              <a:rPr lang="zh-CN" altLang="en-US" sz="1200" b="1"/>
              <a:t>任务频段命中</a:t>
            </a:r>
            <a:endParaRPr lang="zh-CN" altLang="en-US" sz="1200" b="1"/>
          </a:p>
        </p:txBody>
      </p:sp>
      <p:pic>
        <p:nvPicPr>
          <p:cNvPr id="84" name="图片 83"/>
          <p:cNvPicPr/>
          <p:nvPr/>
        </p:nvPicPr>
        <p:blipFill>
          <a:blip r:embed="rId18"/>
          <a:stretch>
            <a:fillRect/>
          </a:stretch>
        </p:blipFill>
        <p:spPr>
          <a:xfrm>
            <a:off x="4829810" y="4401185"/>
            <a:ext cx="793115" cy="556260"/>
          </a:xfrm>
          <a:prstGeom prst="rect">
            <a:avLst/>
          </a:prstGeom>
        </p:spPr>
      </p:pic>
      <p:sp>
        <p:nvSpPr>
          <p:cNvPr id="85" name="文本框 84"/>
          <p:cNvSpPr txBox="1"/>
          <p:nvPr/>
        </p:nvSpPr>
        <p:spPr>
          <a:xfrm>
            <a:off x="4491038" y="4006215"/>
            <a:ext cx="14706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sym typeface="+mn-ea"/>
              </a:rPr>
              <a:t>价值计算</a:t>
            </a:r>
            <a:endParaRPr lang="zh-CN" altLang="en-US" sz="1200" b="1">
              <a:solidFill>
                <a:srgbClr val="C00000"/>
              </a:solidFill>
              <a:sym typeface="+mn-ea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4301490" y="4744720"/>
            <a:ext cx="51435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预期</a:t>
            </a:r>
            <a:endParaRPr lang="zh-CN" altLang="en-US" sz="1200" b="1"/>
          </a:p>
          <a:p>
            <a:pPr algn="ctr"/>
            <a:r>
              <a:rPr lang="zh-CN" altLang="en-US" sz="1200" b="1"/>
              <a:t>收益</a:t>
            </a:r>
            <a:endParaRPr lang="zh-CN" altLang="en-US" sz="1200" b="1"/>
          </a:p>
        </p:txBody>
      </p:sp>
      <p:sp>
        <p:nvSpPr>
          <p:cNvPr id="87" name="文本框 86"/>
          <p:cNvSpPr txBox="1"/>
          <p:nvPr/>
        </p:nvSpPr>
        <p:spPr>
          <a:xfrm>
            <a:off x="5659755" y="4744720"/>
            <a:ext cx="4965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新增</a:t>
            </a:r>
            <a:r>
              <a:rPr lang="zh-CN" altLang="en-US" sz="1200" b="1"/>
              <a:t>开销</a:t>
            </a:r>
            <a:endParaRPr lang="zh-CN" altLang="en-US" sz="1200" b="1"/>
          </a:p>
        </p:txBody>
      </p:sp>
      <p:pic>
        <p:nvPicPr>
          <p:cNvPr id="89" name="图片 8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96665" y="4338320"/>
            <a:ext cx="324000" cy="324000"/>
          </a:xfrm>
          <a:prstGeom prst="rect">
            <a:avLst/>
          </a:prstGeom>
        </p:spPr>
      </p:pic>
      <p:pic>
        <p:nvPicPr>
          <p:cNvPr id="90" name="图片 8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46115" y="4338320"/>
            <a:ext cx="324000" cy="324000"/>
          </a:xfrm>
          <a:prstGeom prst="rect">
            <a:avLst/>
          </a:prstGeom>
        </p:spPr>
      </p:pic>
      <p:sp>
        <p:nvSpPr>
          <p:cNvPr id="91" name="文本框 90"/>
          <p:cNvSpPr txBox="1"/>
          <p:nvPr/>
        </p:nvSpPr>
        <p:spPr>
          <a:xfrm>
            <a:off x="2887663" y="5297170"/>
            <a:ext cx="1765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sym typeface="+mn-ea"/>
              </a:rPr>
              <a:t>有限动作集快速</a:t>
            </a:r>
            <a:r>
              <a:rPr lang="zh-CN" altLang="en-US" sz="1200" b="1">
                <a:solidFill>
                  <a:srgbClr val="C00000"/>
                </a:solidFill>
                <a:sym typeface="+mn-ea"/>
              </a:rPr>
              <a:t>决策</a:t>
            </a:r>
            <a:endParaRPr lang="zh-CN" altLang="en-US" sz="1200" b="1">
              <a:solidFill>
                <a:srgbClr val="C00000"/>
              </a:solidFill>
              <a:sym typeface="+mn-ea"/>
            </a:endParaRPr>
          </a:p>
        </p:txBody>
      </p:sp>
    </p:spTree>
    <p:custDataLst>
      <p:tags r:id="rId2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</Words>
  <Application>WPS 演示</Application>
  <PresentationFormat>宽屏</PresentationFormat>
  <Paragraphs>69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157</cp:revision>
  <dcterms:created xsi:type="dcterms:W3CDTF">2019-06-19T02:08:00Z</dcterms:created>
  <dcterms:modified xsi:type="dcterms:W3CDTF">2026-06-10T09:52:55Z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882259FAE66E44A7964F29318055E758_11</vt:lpwstr>
  </property>
</Properties>
</file>