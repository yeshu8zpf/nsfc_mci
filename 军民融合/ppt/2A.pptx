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8" r:id="rId3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43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0000"/>
    <a:srgbClr val="2E54A1"/>
    <a:srgbClr val="DAE3F5"/>
    <a:srgbClr val="FFFFFF"/>
    <a:srgbClr val="4874CB"/>
    <a:srgbClr val="FADBDF"/>
    <a:srgbClr val="DCDCDC"/>
    <a:srgbClr val="F0F0F0"/>
    <a:srgbClr val="E6E6E6"/>
    <a:srgbClr val="C8C8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243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65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7" Type="http://schemas.openxmlformats.org/officeDocument/2006/relationships/slideLayout" Target="../slideLayouts/slideLayout2.xml"/><Relationship Id="rId16" Type="http://schemas.openxmlformats.org/officeDocument/2006/relationships/tags" Target="../tags/tag64.xml"/><Relationship Id="rId15" Type="http://schemas.openxmlformats.org/officeDocument/2006/relationships/image" Target="../media/image14.png"/><Relationship Id="rId14" Type="http://schemas.openxmlformats.org/officeDocument/2006/relationships/image" Target="../media/image13.png"/><Relationship Id="rId13" Type="http://schemas.openxmlformats.org/officeDocument/2006/relationships/image" Target="../media/image12.png"/><Relationship Id="rId12" Type="http://schemas.openxmlformats.org/officeDocument/2006/relationships/image" Target="../media/image11.svg"/><Relationship Id="rId11" Type="http://schemas.openxmlformats.org/officeDocument/2006/relationships/image" Target="../media/image10.png"/><Relationship Id="rId10" Type="http://schemas.openxmlformats.org/officeDocument/2006/relationships/tags" Target="../tags/tag63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" name="矩形 15"/>
          <p:cNvSpPr/>
          <p:nvPr/>
        </p:nvSpPr>
        <p:spPr>
          <a:xfrm>
            <a:off x="2706370" y="1069340"/>
            <a:ext cx="7546340" cy="4860290"/>
          </a:xfrm>
          <a:prstGeom prst="rect">
            <a:avLst/>
          </a:prstGeom>
          <a:solidFill>
            <a:srgbClr val="FADBDF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圆角矩形 38"/>
          <p:cNvSpPr/>
          <p:nvPr/>
        </p:nvSpPr>
        <p:spPr>
          <a:xfrm>
            <a:off x="5945505" y="1351280"/>
            <a:ext cx="3943350" cy="2051685"/>
          </a:xfrm>
          <a:prstGeom prst="roundRect">
            <a:avLst/>
          </a:prstGeom>
          <a:solidFill>
            <a:schemeClr val="bg1"/>
          </a:solidFill>
          <a:ln w="34925" cmpd="sng">
            <a:solidFill>
              <a:srgbClr val="2E54A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3" name="圆角矩形 132"/>
          <p:cNvSpPr/>
          <p:nvPr/>
        </p:nvSpPr>
        <p:spPr>
          <a:xfrm>
            <a:off x="5945505" y="3687445"/>
            <a:ext cx="3943350" cy="2051685"/>
          </a:xfrm>
          <a:prstGeom prst="roundRect">
            <a:avLst/>
          </a:prstGeom>
          <a:solidFill>
            <a:schemeClr val="bg1"/>
          </a:solidFill>
          <a:ln w="34925" cmpd="sng">
            <a:solidFill>
              <a:srgbClr val="2E54A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5" name="圆角矩形 104"/>
          <p:cNvSpPr/>
          <p:nvPr/>
        </p:nvSpPr>
        <p:spPr>
          <a:xfrm>
            <a:off x="3061335" y="1351280"/>
            <a:ext cx="2505075" cy="4404360"/>
          </a:xfrm>
          <a:prstGeom prst="roundRect">
            <a:avLst/>
          </a:prstGeom>
          <a:solidFill>
            <a:schemeClr val="bg1"/>
          </a:solidFill>
          <a:ln w="34925" cmpd="sng">
            <a:solidFill>
              <a:srgbClr val="C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1" name="圆角矩形 80"/>
          <p:cNvSpPr/>
          <p:nvPr/>
        </p:nvSpPr>
        <p:spPr>
          <a:xfrm>
            <a:off x="1158875" y="645160"/>
            <a:ext cx="10278110" cy="5528945"/>
          </a:xfrm>
          <a:prstGeom prst="roundRect">
            <a:avLst>
              <a:gd name="adj" fmla="val 3556"/>
            </a:avLst>
          </a:prstGeom>
          <a:noFill/>
          <a:ln w="25400" cmpd="sng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3"/>
          <p:cNvSpPr/>
          <p:nvPr/>
        </p:nvSpPr>
        <p:spPr>
          <a:xfrm>
            <a:off x="2731453" y="375285"/>
            <a:ext cx="6729095" cy="477520"/>
          </a:xfrm>
          <a:prstGeom prst="roundRect">
            <a:avLst>
              <a:gd name="adj" fmla="val 50000"/>
            </a:avLst>
          </a:prstGeom>
          <a:solidFill>
            <a:srgbClr val="2E54A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i="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事件驱动的频谱数据价值评估模型</a:t>
            </a:r>
            <a:endParaRPr lang="zh-CN" altLang="en-US" b="1" i="0" dirty="0"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282700" y="1069340"/>
            <a:ext cx="1260000" cy="4860000"/>
          </a:xfrm>
          <a:prstGeom prst="rect">
            <a:avLst/>
          </a:prstGeom>
          <a:solidFill>
            <a:srgbClr val="DAE3F5"/>
          </a:solidFill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19" name="组合 18"/>
          <p:cNvGrpSpPr/>
          <p:nvPr/>
        </p:nvGrpSpPr>
        <p:grpSpPr>
          <a:xfrm>
            <a:off x="1230630" y="1712595"/>
            <a:ext cx="1404000" cy="3743325"/>
            <a:chOff x="1938" y="2937"/>
            <a:chExt cx="2192" cy="4802"/>
          </a:xfrm>
        </p:grpSpPr>
        <p:sp>
          <p:nvSpPr>
            <p:cNvPr id="6" name="圆角矩形 5"/>
            <p:cNvSpPr/>
            <p:nvPr/>
          </p:nvSpPr>
          <p:spPr>
            <a:xfrm>
              <a:off x="2193" y="2937"/>
              <a:ext cx="1686" cy="4802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1938" y="3094"/>
              <a:ext cx="2192" cy="10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1600" b="1"/>
                <a:t>连续监测</a:t>
              </a:r>
              <a:endParaRPr lang="zh-CN" altLang="en-US" sz="1600" b="1"/>
            </a:p>
            <a:p>
              <a:pPr algn="ctr"/>
              <a:r>
                <a:rPr lang="zh-CN" altLang="en-US" sz="1600" b="1"/>
                <a:t>宽频段</a:t>
              </a:r>
              <a:endParaRPr lang="zh-CN" altLang="en-US" sz="1600" b="1"/>
            </a:p>
            <a:p>
              <a:pPr algn="ctr"/>
              <a:r>
                <a:rPr lang="zh-CN" altLang="en-US" sz="1600" b="1"/>
                <a:t>频谱流</a:t>
              </a:r>
              <a:endParaRPr lang="zh-CN" altLang="en-US" sz="1600" b="1"/>
            </a:p>
          </p:txBody>
        </p:sp>
        <p:pic>
          <p:nvPicPr>
            <p:cNvPr id="5" name="图片 4"/>
            <p:cNvPicPr/>
            <p:nvPr/>
          </p:nvPicPr>
          <p:blipFill>
            <a:blip r:embed="rId1"/>
            <a:stretch>
              <a:fillRect/>
            </a:stretch>
          </p:blipFill>
          <p:spPr>
            <a:xfrm>
              <a:off x="2375" y="4271"/>
              <a:ext cx="1317" cy="623"/>
            </a:xfrm>
            <a:prstGeom prst="rect">
              <a:avLst/>
            </a:prstGeom>
          </p:spPr>
        </p:pic>
        <p:pic>
          <p:nvPicPr>
            <p:cNvPr id="7" name="图片 6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2375" y="5438"/>
              <a:ext cx="1315" cy="623"/>
            </a:xfrm>
            <a:prstGeom prst="rect">
              <a:avLst/>
            </a:prstGeom>
          </p:spPr>
        </p:pic>
        <p:pic>
          <p:nvPicPr>
            <p:cNvPr id="9" name="图片 8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2375" y="6605"/>
              <a:ext cx="1315" cy="623"/>
            </a:xfrm>
            <a:prstGeom prst="rect">
              <a:avLst/>
            </a:prstGeom>
          </p:spPr>
        </p:pic>
        <p:sp>
          <p:nvSpPr>
            <p:cNvPr id="12" name="文本框 11"/>
            <p:cNvSpPr txBox="1"/>
            <p:nvPr/>
          </p:nvSpPr>
          <p:spPr>
            <a:xfrm>
              <a:off x="2670" y="5045"/>
              <a:ext cx="452" cy="3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indent="0" fontAlgn="auto">
                <a:lnSpc>
                  <a:spcPts val="500"/>
                </a:lnSpc>
              </a:pPr>
              <a:r>
                <a:rPr lang="en-US" altLang="zh-CN"/>
                <a:t>.</a:t>
              </a:r>
              <a:endParaRPr lang="en-US" altLang="zh-CN"/>
            </a:p>
            <a:p>
              <a:pPr indent="0" fontAlgn="auto">
                <a:lnSpc>
                  <a:spcPts val="500"/>
                </a:lnSpc>
              </a:pPr>
              <a:r>
                <a:rPr lang="en-US" altLang="zh-CN"/>
                <a:t>.</a:t>
              </a:r>
              <a:endParaRPr lang="en-US" altLang="zh-CN"/>
            </a:p>
            <a:p>
              <a:pPr indent="0" fontAlgn="auto">
                <a:lnSpc>
                  <a:spcPts val="500"/>
                </a:lnSpc>
              </a:pPr>
              <a:r>
                <a:rPr lang="en-US" altLang="zh-CN"/>
                <a:t>.</a:t>
              </a:r>
              <a:endParaRPr lang="en-US" altLang="zh-CN"/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2670" y="6159"/>
              <a:ext cx="452" cy="3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indent="0" fontAlgn="auto">
                <a:lnSpc>
                  <a:spcPts val="500"/>
                </a:lnSpc>
              </a:pPr>
              <a:r>
                <a:rPr lang="en-US" altLang="zh-CN"/>
                <a:t>.</a:t>
              </a:r>
              <a:endParaRPr lang="en-US" altLang="zh-CN"/>
            </a:p>
            <a:p>
              <a:pPr indent="0" fontAlgn="auto">
                <a:lnSpc>
                  <a:spcPts val="500"/>
                </a:lnSpc>
              </a:pPr>
              <a:r>
                <a:rPr lang="en-US" altLang="zh-CN"/>
                <a:t>.</a:t>
              </a:r>
              <a:endParaRPr lang="en-US" altLang="zh-CN"/>
            </a:p>
            <a:p>
              <a:pPr indent="0" fontAlgn="auto">
                <a:lnSpc>
                  <a:spcPts val="500"/>
                </a:lnSpc>
              </a:pPr>
              <a:r>
                <a:rPr lang="en-US" altLang="zh-CN"/>
                <a:t>.</a:t>
              </a:r>
              <a:endParaRPr lang="en-US" altLang="zh-CN"/>
            </a:p>
          </p:txBody>
        </p:sp>
      </p:grpSp>
      <p:sp>
        <p:nvSpPr>
          <p:cNvPr id="1072" name="箭头: 燕尾形 1071"/>
          <p:cNvSpPr/>
          <p:nvPr/>
        </p:nvSpPr>
        <p:spPr>
          <a:xfrm>
            <a:off x="2357120" y="3367405"/>
            <a:ext cx="744855" cy="443230"/>
          </a:xfrm>
          <a:prstGeom prst="notchedRightArrow">
            <a:avLst>
              <a:gd name="adj1" fmla="val 33809"/>
              <a:gd name="adj2" fmla="val 52390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4000">
                <a:srgbClr val="2E54A1"/>
              </a:gs>
              <a:gs pos="100000">
                <a:srgbClr val="2E54A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9822815" y="4205605"/>
            <a:ext cx="56705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 b="1"/>
              <a:t>目标识别</a:t>
            </a:r>
            <a:endParaRPr lang="zh-CN" altLang="en-US" sz="1200" b="1"/>
          </a:p>
          <a:p>
            <a:endParaRPr lang="zh-CN" altLang="en-US" sz="1200" b="1"/>
          </a:p>
          <a:p>
            <a:r>
              <a:rPr lang="zh-CN" altLang="en-US" sz="1200" b="1"/>
              <a:t>证据窗口</a:t>
            </a:r>
            <a:endParaRPr lang="zh-CN" altLang="en-US" sz="1200" b="1"/>
          </a:p>
        </p:txBody>
      </p:sp>
      <p:sp>
        <p:nvSpPr>
          <p:cNvPr id="35" name="圆角矩形 34"/>
          <p:cNvSpPr/>
          <p:nvPr/>
        </p:nvSpPr>
        <p:spPr>
          <a:xfrm>
            <a:off x="3197872" y="1958340"/>
            <a:ext cx="2232000" cy="1530000"/>
          </a:xfrm>
          <a:prstGeom prst="roundRect">
            <a:avLst/>
          </a:prstGeom>
          <a:solidFill>
            <a:schemeClr val="bg1"/>
          </a:solidFill>
          <a:ln w="34925" cmpd="sng">
            <a:solidFill>
              <a:srgbClr val="C00000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061335" y="1962150"/>
            <a:ext cx="25558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600" b="1">
                <a:solidFill>
                  <a:srgbClr val="C00000"/>
                </a:solidFill>
              </a:rPr>
              <a:t>连续变点检测</a:t>
            </a:r>
            <a:endParaRPr lang="zh-CN" altLang="en-US" sz="1600" b="1">
              <a:solidFill>
                <a:srgbClr val="C00000"/>
              </a:solidFill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6125" y="2456815"/>
            <a:ext cx="560070" cy="607060"/>
          </a:xfrm>
          <a:prstGeom prst="rect">
            <a:avLst/>
          </a:prstGeom>
        </p:spPr>
      </p:pic>
      <p:sp>
        <p:nvSpPr>
          <p:cNvPr id="14" name="右箭头 13"/>
          <p:cNvSpPr/>
          <p:nvPr/>
        </p:nvSpPr>
        <p:spPr>
          <a:xfrm>
            <a:off x="4114800" y="2927985"/>
            <a:ext cx="1217295" cy="9080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4161790" y="2860675"/>
            <a:ext cx="40005" cy="8636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4408805" y="2860675"/>
            <a:ext cx="40005" cy="8636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4655185" y="2860675"/>
            <a:ext cx="40005" cy="8636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4888865" y="2731135"/>
            <a:ext cx="40005" cy="216535"/>
          </a:xfrm>
          <a:prstGeom prst="rect">
            <a:avLst/>
          </a:prstGeom>
          <a:solidFill>
            <a:srgbClr val="4874CB"/>
          </a:solidFill>
          <a:ln w="12700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5116830" y="2731135"/>
            <a:ext cx="40005" cy="216535"/>
          </a:xfrm>
          <a:prstGeom prst="rect">
            <a:avLst/>
          </a:prstGeom>
          <a:solidFill>
            <a:srgbClr val="4874CB"/>
          </a:solidFill>
          <a:ln w="12700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上箭头 24"/>
          <p:cNvSpPr/>
          <p:nvPr/>
        </p:nvSpPr>
        <p:spPr>
          <a:xfrm>
            <a:off x="4880610" y="3063875"/>
            <a:ext cx="59690" cy="266700"/>
          </a:xfrm>
          <a:prstGeom prst="upArrow">
            <a:avLst>
              <a:gd name="adj1" fmla="val 50000"/>
              <a:gd name="adj2" fmla="val 100000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6" name="图片 25"/>
          <p:cNvPicPr/>
          <p:nvPr/>
        </p:nvPicPr>
        <p:blipFill>
          <a:blip r:embed="rId5"/>
          <a:stretch>
            <a:fillRect/>
          </a:stretch>
        </p:blipFill>
        <p:spPr>
          <a:xfrm>
            <a:off x="4051935" y="2441575"/>
            <a:ext cx="259715" cy="281305"/>
          </a:xfrm>
          <a:prstGeom prst="rect">
            <a:avLst/>
          </a:prstGeom>
        </p:spPr>
      </p:pic>
      <p:pic>
        <p:nvPicPr>
          <p:cNvPr id="27" name="图片 26"/>
          <p:cNvPicPr/>
          <p:nvPr/>
        </p:nvPicPr>
        <p:blipFill>
          <a:blip r:embed="rId5"/>
          <a:stretch>
            <a:fillRect/>
          </a:stretch>
        </p:blipFill>
        <p:spPr>
          <a:xfrm>
            <a:off x="4778375" y="2441575"/>
            <a:ext cx="259715" cy="281305"/>
          </a:xfrm>
          <a:prstGeom prst="rect">
            <a:avLst/>
          </a:prstGeom>
        </p:spPr>
      </p:pic>
      <p:sp>
        <p:nvSpPr>
          <p:cNvPr id="28" name="文本框 27"/>
          <p:cNvSpPr txBox="1"/>
          <p:nvPr/>
        </p:nvSpPr>
        <p:spPr>
          <a:xfrm rot="5400000">
            <a:off x="4396105" y="2422525"/>
            <a:ext cx="323215" cy="2832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ts val="500"/>
              </a:lnSpc>
            </a:pPr>
            <a:r>
              <a:rPr lang="en-US" altLang="zh-CN"/>
              <a:t>.</a:t>
            </a:r>
            <a:endParaRPr lang="en-US" altLang="zh-CN"/>
          </a:p>
          <a:p>
            <a:pPr indent="0" fontAlgn="auto">
              <a:lnSpc>
                <a:spcPts val="500"/>
              </a:lnSpc>
            </a:pPr>
            <a:r>
              <a:rPr lang="en-US" altLang="zh-CN"/>
              <a:t>.</a:t>
            </a:r>
            <a:endParaRPr lang="en-US" altLang="zh-CN"/>
          </a:p>
          <a:p>
            <a:pPr indent="0" fontAlgn="auto">
              <a:lnSpc>
                <a:spcPts val="500"/>
              </a:lnSpc>
            </a:pPr>
            <a:r>
              <a:rPr lang="en-US" altLang="zh-CN"/>
              <a:t>.</a:t>
            </a:r>
            <a:endParaRPr lang="en-US" altLang="zh-CN"/>
          </a:p>
        </p:txBody>
      </p:sp>
      <p:sp>
        <p:nvSpPr>
          <p:cNvPr id="41" name="文本框 40"/>
          <p:cNvSpPr txBox="1"/>
          <p:nvPr/>
        </p:nvSpPr>
        <p:spPr>
          <a:xfrm>
            <a:off x="4401185" y="3063875"/>
            <a:ext cx="5022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 b="1"/>
              <a:t>变点</a:t>
            </a:r>
            <a:endParaRPr lang="zh-CN" altLang="en-US" sz="1200" b="1"/>
          </a:p>
        </p:txBody>
      </p:sp>
      <p:sp>
        <p:nvSpPr>
          <p:cNvPr id="42" name="文本框 41"/>
          <p:cNvSpPr txBox="1"/>
          <p:nvPr/>
        </p:nvSpPr>
        <p:spPr>
          <a:xfrm>
            <a:off x="3286125" y="3063875"/>
            <a:ext cx="60007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 b="1"/>
              <a:t>时序</a:t>
            </a:r>
            <a:endParaRPr lang="zh-CN" altLang="en-US" sz="1200" b="1"/>
          </a:p>
        </p:txBody>
      </p:sp>
      <p:sp>
        <p:nvSpPr>
          <p:cNvPr id="36" name="圆角矩形 35"/>
          <p:cNvSpPr/>
          <p:nvPr/>
        </p:nvSpPr>
        <p:spPr>
          <a:xfrm>
            <a:off x="3197872" y="4035425"/>
            <a:ext cx="2232000" cy="1530350"/>
          </a:xfrm>
          <a:prstGeom prst="roundRect">
            <a:avLst/>
          </a:prstGeom>
          <a:solidFill>
            <a:schemeClr val="bg1"/>
          </a:solidFill>
          <a:ln w="34925" cmpd="sng">
            <a:solidFill>
              <a:srgbClr val="C00000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文本框 42"/>
          <p:cNvSpPr txBox="1"/>
          <p:nvPr/>
        </p:nvSpPr>
        <p:spPr>
          <a:xfrm>
            <a:off x="3030220" y="4035425"/>
            <a:ext cx="247142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600" b="1">
                <a:solidFill>
                  <a:srgbClr val="C00000"/>
                </a:solidFill>
              </a:rPr>
              <a:t>自适应窗口</a:t>
            </a:r>
            <a:r>
              <a:rPr lang="zh-CN" altLang="en-US" sz="1600" b="1">
                <a:solidFill>
                  <a:srgbClr val="C00000"/>
                </a:solidFill>
              </a:rPr>
              <a:t>生成</a:t>
            </a:r>
            <a:endParaRPr lang="zh-CN" altLang="en-US" sz="1600" b="1">
              <a:solidFill>
                <a:srgbClr val="C00000"/>
              </a:solidFill>
            </a:endParaRPr>
          </a:p>
        </p:txBody>
      </p:sp>
      <p:pic>
        <p:nvPicPr>
          <p:cNvPr id="45" name="图片 4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55415" y="4445000"/>
            <a:ext cx="309245" cy="349885"/>
          </a:xfrm>
          <a:prstGeom prst="rect">
            <a:avLst/>
          </a:prstGeom>
        </p:spPr>
      </p:pic>
      <p:pic>
        <p:nvPicPr>
          <p:cNvPr id="47" name="图片 4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35730" y="4803775"/>
            <a:ext cx="309245" cy="349250"/>
          </a:xfrm>
          <a:prstGeom prst="rect">
            <a:avLst/>
          </a:prstGeom>
        </p:spPr>
      </p:pic>
      <p:pic>
        <p:nvPicPr>
          <p:cNvPr id="48" name="图片 4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35730" y="5146040"/>
            <a:ext cx="309245" cy="349250"/>
          </a:xfrm>
          <a:prstGeom prst="rect">
            <a:avLst/>
          </a:prstGeom>
        </p:spPr>
      </p:pic>
      <p:sp>
        <p:nvSpPr>
          <p:cNvPr id="49" name="文本框 48"/>
          <p:cNvSpPr txBox="1"/>
          <p:nvPr/>
        </p:nvSpPr>
        <p:spPr>
          <a:xfrm>
            <a:off x="3101975" y="4452620"/>
            <a:ext cx="86550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 b="1"/>
              <a:t>持续时间</a:t>
            </a:r>
            <a:endParaRPr lang="zh-CN" altLang="en-US" sz="1200" b="1"/>
          </a:p>
        </p:txBody>
      </p:sp>
      <p:sp>
        <p:nvSpPr>
          <p:cNvPr id="50" name="文本框 49"/>
          <p:cNvSpPr txBox="1"/>
          <p:nvPr/>
        </p:nvSpPr>
        <p:spPr>
          <a:xfrm>
            <a:off x="3061335" y="4810760"/>
            <a:ext cx="94551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 b="1"/>
              <a:t>漂移范围</a:t>
            </a:r>
            <a:endParaRPr lang="zh-CN" altLang="en-US" sz="1200" b="1"/>
          </a:p>
        </p:txBody>
      </p:sp>
      <p:sp>
        <p:nvSpPr>
          <p:cNvPr id="51" name="文本框 50"/>
          <p:cNvSpPr txBox="1"/>
          <p:nvPr/>
        </p:nvSpPr>
        <p:spPr>
          <a:xfrm>
            <a:off x="3188335" y="5153025"/>
            <a:ext cx="6921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 b="1"/>
              <a:t>稳定性</a:t>
            </a:r>
            <a:endParaRPr lang="zh-CN" altLang="en-US" sz="1200" b="1"/>
          </a:p>
        </p:txBody>
      </p:sp>
      <p:sp>
        <p:nvSpPr>
          <p:cNvPr id="52" name="文本框 51"/>
          <p:cNvSpPr txBox="1"/>
          <p:nvPr/>
        </p:nvSpPr>
        <p:spPr>
          <a:xfrm>
            <a:off x="4577080" y="4431030"/>
            <a:ext cx="89852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 b="1"/>
              <a:t>短时突发</a:t>
            </a:r>
            <a:endParaRPr lang="zh-CN" altLang="en-US" sz="1200" b="1"/>
          </a:p>
        </p:txBody>
      </p:sp>
      <p:sp>
        <p:nvSpPr>
          <p:cNvPr id="53" name="文本框 52"/>
          <p:cNvSpPr txBox="1"/>
          <p:nvPr/>
        </p:nvSpPr>
        <p:spPr>
          <a:xfrm>
            <a:off x="4577080" y="4675505"/>
            <a:ext cx="89852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 b="1"/>
              <a:t>窄带持续</a:t>
            </a:r>
            <a:endParaRPr lang="zh-CN" altLang="en-US" sz="1200" b="1"/>
          </a:p>
        </p:txBody>
      </p:sp>
      <p:sp>
        <p:nvSpPr>
          <p:cNvPr id="54" name="文本框 53"/>
          <p:cNvSpPr txBox="1"/>
          <p:nvPr/>
        </p:nvSpPr>
        <p:spPr>
          <a:xfrm>
            <a:off x="4577080" y="4919980"/>
            <a:ext cx="89852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 b="1"/>
              <a:t>间歇重复</a:t>
            </a:r>
            <a:endParaRPr lang="zh-CN" altLang="en-US" sz="1200" b="1"/>
          </a:p>
        </p:txBody>
      </p:sp>
      <p:sp>
        <p:nvSpPr>
          <p:cNvPr id="55" name="文本框 54"/>
          <p:cNvSpPr txBox="1"/>
          <p:nvPr/>
        </p:nvSpPr>
        <p:spPr>
          <a:xfrm>
            <a:off x="4577080" y="5164455"/>
            <a:ext cx="89852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 b="1"/>
              <a:t>频点迁移</a:t>
            </a:r>
            <a:endParaRPr lang="zh-CN" altLang="en-US" sz="1200" b="1"/>
          </a:p>
        </p:txBody>
      </p:sp>
      <p:cxnSp>
        <p:nvCxnSpPr>
          <p:cNvPr id="56" name="直接箭头连接符 55"/>
          <p:cNvCxnSpPr/>
          <p:nvPr/>
        </p:nvCxnSpPr>
        <p:spPr>
          <a:xfrm flipV="1">
            <a:off x="4305300" y="4570730"/>
            <a:ext cx="286385" cy="370205"/>
          </a:xfrm>
          <a:prstGeom prst="straightConnector1">
            <a:avLst/>
          </a:prstGeom>
          <a:ln>
            <a:bevel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7" name="直接箭头连接符 56"/>
          <p:cNvCxnSpPr/>
          <p:nvPr/>
        </p:nvCxnSpPr>
        <p:spPr>
          <a:xfrm>
            <a:off x="4305300" y="4955540"/>
            <a:ext cx="286385" cy="370205"/>
          </a:xfrm>
          <a:prstGeom prst="straightConnector1">
            <a:avLst/>
          </a:prstGeom>
          <a:ln>
            <a:bevel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 rot="5400000">
            <a:off x="8417560" y="3044825"/>
            <a:ext cx="4860290" cy="909320"/>
          </a:xfrm>
          <a:prstGeom prst="rect">
            <a:avLst/>
          </a:prstGeom>
          <a:solidFill>
            <a:srgbClr val="DAE3F5"/>
          </a:solidFill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8" name="圆角矩形 57"/>
          <p:cNvSpPr/>
          <p:nvPr/>
        </p:nvSpPr>
        <p:spPr>
          <a:xfrm rot="5400000">
            <a:off x="8992235" y="3201398"/>
            <a:ext cx="3710940" cy="72000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vert270"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降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低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推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理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与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检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索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开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销</a:t>
            </a:r>
            <a:endParaRPr lang="zh-CN" altLang="en-US" b="1">
              <a:solidFill>
                <a:schemeClr val="tx1"/>
              </a:solidFill>
            </a:endParaRPr>
          </a:p>
        </p:txBody>
      </p:sp>
      <p:grpSp>
        <p:nvGrpSpPr>
          <p:cNvPr id="144" name="组合 143"/>
          <p:cNvGrpSpPr>
            <a:grpSpLocks noChangeAspect="1"/>
          </p:cNvGrpSpPr>
          <p:nvPr/>
        </p:nvGrpSpPr>
        <p:grpSpPr>
          <a:xfrm>
            <a:off x="6617335" y="1931035"/>
            <a:ext cx="544586" cy="504000"/>
            <a:chOff x="9718" y="7273"/>
            <a:chExt cx="1058" cy="986"/>
          </a:xfrm>
        </p:grpSpPr>
        <p:pic>
          <p:nvPicPr>
            <p:cNvPr id="61" name="图片 6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718" y="7273"/>
              <a:ext cx="724" cy="652"/>
            </a:xfrm>
            <a:prstGeom prst="rect">
              <a:avLst/>
            </a:prstGeom>
          </p:spPr>
        </p:pic>
        <p:pic>
          <p:nvPicPr>
            <p:cNvPr id="63" name="图片 62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885" y="7440"/>
              <a:ext cx="724" cy="652"/>
            </a:xfrm>
            <a:prstGeom prst="rect">
              <a:avLst/>
            </a:prstGeom>
          </p:spPr>
        </p:pic>
        <p:pic>
          <p:nvPicPr>
            <p:cNvPr id="64" name="图片 63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0052" y="7607"/>
              <a:ext cx="724" cy="652"/>
            </a:xfrm>
            <a:prstGeom prst="rect">
              <a:avLst/>
            </a:prstGeom>
          </p:spPr>
        </p:pic>
      </p:grpSp>
      <p:sp>
        <p:nvSpPr>
          <p:cNvPr id="65" name="文本框 64"/>
          <p:cNvSpPr txBox="1"/>
          <p:nvPr/>
        </p:nvSpPr>
        <p:spPr>
          <a:xfrm>
            <a:off x="5948680" y="4897120"/>
            <a:ext cx="5454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 b="1"/>
              <a:t>证据</a:t>
            </a:r>
            <a:r>
              <a:rPr lang="zh-CN" altLang="en-US" sz="1200" b="1"/>
              <a:t>窗口</a:t>
            </a:r>
            <a:endParaRPr lang="zh-CN" altLang="en-US" sz="1200" b="1"/>
          </a:p>
        </p:txBody>
      </p:sp>
      <p:grpSp>
        <p:nvGrpSpPr>
          <p:cNvPr id="80" name="组合 79"/>
          <p:cNvGrpSpPr/>
          <p:nvPr/>
        </p:nvGrpSpPr>
        <p:grpSpPr>
          <a:xfrm>
            <a:off x="7570470" y="4917440"/>
            <a:ext cx="408305" cy="450631"/>
            <a:chOff x="11770" y="3305"/>
            <a:chExt cx="795" cy="1147"/>
          </a:xfrm>
        </p:grpSpPr>
        <p:sp>
          <p:nvSpPr>
            <p:cNvPr id="67" name="矩形 66"/>
            <p:cNvSpPr/>
            <p:nvPr/>
          </p:nvSpPr>
          <p:spPr>
            <a:xfrm>
              <a:off x="11770" y="3305"/>
              <a:ext cx="265" cy="119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9" name="矩形 68"/>
            <p:cNvSpPr/>
            <p:nvPr/>
          </p:nvSpPr>
          <p:spPr>
            <a:xfrm>
              <a:off x="12035" y="3305"/>
              <a:ext cx="265" cy="119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0" name="矩形 69"/>
            <p:cNvSpPr/>
            <p:nvPr/>
          </p:nvSpPr>
          <p:spPr>
            <a:xfrm>
              <a:off x="12300" y="3305"/>
              <a:ext cx="265" cy="11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1" name="矩形 70"/>
            <p:cNvSpPr/>
            <p:nvPr/>
          </p:nvSpPr>
          <p:spPr>
            <a:xfrm>
              <a:off x="11770" y="3639"/>
              <a:ext cx="265" cy="119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2" name="矩形 71"/>
            <p:cNvSpPr/>
            <p:nvPr/>
          </p:nvSpPr>
          <p:spPr>
            <a:xfrm>
              <a:off x="12035" y="3639"/>
              <a:ext cx="265" cy="119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3" name="矩形 72"/>
            <p:cNvSpPr/>
            <p:nvPr/>
          </p:nvSpPr>
          <p:spPr>
            <a:xfrm>
              <a:off x="12300" y="3639"/>
              <a:ext cx="265" cy="119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4" name="矩形 73"/>
            <p:cNvSpPr/>
            <p:nvPr/>
          </p:nvSpPr>
          <p:spPr>
            <a:xfrm>
              <a:off x="11770" y="4159"/>
              <a:ext cx="265" cy="119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5" name="矩形 74"/>
            <p:cNvSpPr/>
            <p:nvPr/>
          </p:nvSpPr>
          <p:spPr>
            <a:xfrm>
              <a:off x="12035" y="4159"/>
              <a:ext cx="265" cy="119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6" name="矩形 75"/>
            <p:cNvSpPr/>
            <p:nvPr/>
          </p:nvSpPr>
          <p:spPr>
            <a:xfrm>
              <a:off x="12300" y="4159"/>
              <a:ext cx="265" cy="119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7" name="文本框 76"/>
            <p:cNvSpPr txBox="1"/>
            <p:nvPr/>
          </p:nvSpPr>
          <p:spPr>
            <a:xfrm>
              <a:off x="11941" y="3731"/>
              <a:ext cx="452" cy="7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indent="0" algn="ctr" fontAlgn="auto">
                <a:lnSpc>
                  <a:spcPts val="500"/>
                </a:lnSpc>
              </a:pPr>
              <a:r>
                <a:rPr lang="en-US" altLang="zh-CN"/>
                <a:t>.</a:t>
              </a:r>
              <a:endParaRPr lang="en-US" altLang="zh-CN"/>
            </a:p>
            <a:p>
              <a:pPr indent="0" algn="ctr" fontAlgn="auto">
                <a:lnSpc>
                  <a:spcPts val="500"/>
                </a:lnSpc>
              </a:pPr>
              <a:r>
                <a:rPr lang="en-US" altLang="zh-CN"/>
                <a:t>.</a:t>
              </a:r>
              <a:endParaRPr lang="en-US" altLang="zh-CN"/>
            </a:p>
            <a:p>
              <a:pPr indent="0" algn="ctr" fontAlgn="auto">
                <a:lnSpc>
                  <a:spcPts val="500"/>
                </a:lnSpc>
              </a:pPr>
              <a:r>
                <a:rPr lang="en-US" altLang="zh-CN"/>
                <a:t>.</a:t>
              </a:r>
              <a:endParaRPr lang="en-US" altLang="zh-CN"/>
            </a:p>
          </p:txBody>
        </p:sp>
      </p:grpSp>
      <p:sp>
        <p:nvSpPr>
          <p:cNvPr id="78" name="文本框 77"/>
          <p:cNvSpPr txBox="1"/>
          <p:nvPr/>
        </p:nvSpPr>
        <p:spPr>
          <a:xfrm>
            <a:off x="7034530" y="4898708"/>
            <a:ext cx="65151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 b="1"/>
              <a:t>编码</a:t>
            </a:r>
            <a:endParaRPr lang="zh-CN" altLang="en-US" sz="1200" b="1"/>
          </a:p>
        </p:txBody>
      </p:sp>
      <p:sp>
        <p:nvSpPr>
          <p:cNvPr id="79" name="文本框 78"/>
          <p:cNvSpPr txBox="1"/>
          <p:nvPr/>
        </p:nvSpPr>
        <p:spPr>
          <a:xfrm>
            <a:off x="7506970" y="5368290"/>
            <a:ext cx="60198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 b="1"/>
              <a:t>向量</a:t>
            </a:r>
            <a:endParaRPr lang="zh-CN" altLang="en-US" sz="1200" b="1"/>
          </a:p>
        </p:txBody>
      </p:sp>
      <p:sp>
        <p:nvSpPr>
          <p:cNvPr id="83" name="下箭头 82"/>
          <p:cNvSpPr/>
          <p:nvPr/>
        </p:nvSpPr>
        <p:spPr>
          <a:xfrm rot="16200000">
            <a:off x="7252312" y="5018428"/>
            <a:ext cx="121285" cy="360000"/>
          </a:xfrm>
          <a:prstGeom prst="downArrow">
            <a:avLst>
              <a:gd name="adj1" fmla="val 31764"/>
              <a:gd name="adj2" fmla="val 80588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Ins="36195" rtlCol="0" anchor="ctr"/>
          <a:p>
            <a:pPr algn="ctr"/>
            <a:endParaRPr lang="zh-CN" altLang="en-US"/>
          </a:p>
        </p:txBody>
      </p:sp>
      <p:grpSp>
        <p:nvGrpSpPr>
          <p:cNvPr id="135" name="组合 134"/>
          <p:cNvGrpSpPr>
            <a:grpSpLocks noChangeAspect="1"/>
          </p:cNvGrpSpPr>
          <p:nvPr/>
        </p:nvGrpSpPr>
        <p:grpSpPr>
          <a:xfrm>
            <a:off x="6817995" y="4170680"/>
            <a:ext cx="736600" cy="536202"/>
            <a:chOff x="13654" y="7066"/>
            <a:chExt cx="1049" cy="1049"/>
          </a:xfrm>
        </p:grpSpPr>
        <p:sp>
          <p:nvSpPr>
            <p:cNvPr id="86" name="圆角矩形 85"/>
            <p:cNvSpPr>
              <a:spLocks noChangeAspect="1"/>
            </p:cNvSpPr>
            <p:nvPr/>
          </p:nvSpPr>
          <p:spPr>
            <a:xfrm>
              <a:off x="13654" y="7066"/>
              <a:ext cx="1049" cy="1049"/>
            </a:xfrm>
            <a:prstGeom prst="roundRect">
              <a:avLst/>
            </a:prstGeom>
            <a:solidFill>
              <a:schemeClr val="bg1"/>
            </a:solidFill>
            <a:ln w="22225"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7" name="圆角矩形 86"/>
            <p:cNvSpPr>
              <a:spLocks noChangeAspect="1"/>
            </p:cNvSpPr>
            <p:nvPr/>
          </p:nvSpPr>
          <p:spPr>
            <a:xfrm>
              <a:off x="13732" y="7155"/>
              <a:ext cx="340" cy="340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200">
                  <a:solidFill>
                    <a:schemeClr val="tx1"/>
                  </a:solidFill>
                </a:rPr>
                <a:t>P</a:t>
              </a:r>
              <a:endParaRPr lang="en-US" altLang="zh-CN" sz="1200">
                <a:solidFill>
                  <a:schemeClr val="tx1"/>
                </a:solidFill>
              </a:endParaRPr>
            </a:p>
          </p:txBody>
        </p:sp>
        <p:sp>
          <p:nvSpPr>
            <p:cNvPr id="88" name="圆角矩形 87"/>
            <p:cNvSpPr>
              <a:spLocks noChangeAspect="1"/>
            </p:cNvSpPr>
            <p:nvPr/>
          </p:nvSpPr>
          <p:spPr>
            <a:xfrm>
              <a:off x="14272" y="7155"/>
              <a:ext cx="340" cy="340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200">
                  <a:solidFill>
                    <a:schemeClr val="tx1"/>
                  </a:solidFill>
                </a:rPr>
                <a:t>U</a:t>
              </a:r>
              <a:endParaRPr lang="en-US" altLang="zh-CN" sz="1200">
                <a:solidFill>
                  <a:schemeClr val="tx1"/>
                </a:solidFill>
              </a:endParaRPr>
            </a:p>
          </p:txBody>
        </p:sp>
        <p:sp>
          <p:nvSpPr>
            <p:cNvPr id="89" name="圆角矩形 88"/>
            <p:cNvSpPr>
              <a:spLocks noChangeAspect="1"/>
            </p:cNvSpPr>
            <p:nvPr/>
          </p:nvSpPr>
          <p:spPr>
            <a:xfrm>
              <a:off x="13732" y="7692"/>
              <a:ext cx="340" cy="340"/>
            </a:xfrm>
            <a:prstGeom prst="roundRect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0" name="圆角矩形 89"/>
            <p:cNvSpPr>
              <a:spLocks noChangeAspect="1"/>
            </p:cNvSpPr>
            <p:nvPr/>
          </p:nvSpPr>
          <p:spPr>
            <a:xfrm>
              <a:off x="14272" y="7692"/>
              <a:ext cx="340" cy="340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1" name="文本框 90"/>
            <p:cNvSpPr txBox="1"/>
            <p:nvPr/>
          </p:nvSpPr>
          <p:spPr>
            <a:xfrm>
              <a:off x="13678" y="7474"/>
              <a:ext cx="452" cy="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indent="0" algn="ctr" fontAlgn="auto">
                <a:lnSpc>
                  <a:spcPts val="200"/>
                </a:lnSpc>
              </a:pPr>
              <a:r>
                <a:rPr lang="en-US" altLang="zh-CN" sz="1000" b="1"/>
                <a:t>.</a:t>
              </a:r>
              <a:endParaRPr lang="en-US" altLang="zh-CN" sz="1000" b="1"/>
            </a:p>
            <a:p>
              <a:pPr indent="0" algn="ctr" fontAlgn="auto">
                <a:lnSpc>
                  <a:spcPts val="200"/>
                </a:lnSpc>
              </a:pPr>
              <a:r>
                <a:rPr lang="en-US" altLang="zh-CN" sz="1000" b="1"/>
                <a:t>.</a:t>
              </a:r>
              <a:endParaRPr lang="en-US" altLang="zh-CN" sz="1000" b="1"/>
            </a:p>
            <a:p>
              <a:pPr indent="0" algn="ctr" fontAlgn="auto">
                <a:lnSpc>
                  <a:spcPts val="200"/>
                </a:lnSpc>
              </a:pPr>
              <a:r>
                <a:rPr lang="en-US" altLang="zh-CN" sz="1000" b="1"/>
                <a:t>.</a:t>
              </a:r>
              <a:endParaRPr lang="en-US" altLang="zh-CN" sz="1000" b="1"/>
            </a:p>
          </p:txBody>
        </p:sp>
        <p:sp>
          <p:nvSpPr>
            <p:cNvPr id="92" name="文本框 91"/>
            <p:cNvSpPr txBox="1"/>
            <p:nvPr/>
          </p:nvSpPr>
          <p:spPr>
            <a:xfrm>
              <a:off x="14216" y="7474"/>
              <a:ext cx="452" cy="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indent="0" algn="ctr" fontAlgn="auto">
                <a:lnSpc>
                  <a:spcPts val="200"/>
                </a:lnSpc>
              </a:pPr>
              <a:r>
                <a:rPr lang="en-US" altLang="zh-CN" sz="1000" b="1"/>
                <a:t>.</a:t>
              </a:r>
              <a:endParaRPr lang="en-US" altLang="zh-CN" sz="1000" b="1"/>
            </a:p>
            <a:p>
              <a:pPr indent="0" algn="ctr" fontAlgn="auto">
                <a:lnSpc>
                  <a:spcPts val="200"/>
                </a:lnSpc>
              </a:pPr>
              <a:r>
                <a:rPr lang="en-US" altLang="zh-CN" sz="1000" b="1"/>
                <a:t>.</a:t>
              </a:r>
              <a:endParaRPr lang="en-US" altLang="zh-CN" sz="1000" b="1"/>
            </a:p>
            <a:p>
              <a:pPr indent="0" algn="ctr" fontAlgn="auto">
                <a:lnSpc>
                  <a:spcPts val="200"/>
                </a:lnSpc>
              </a:pPr>
              <a:r>
                <a:rPr lang="en-US" altLang="zh-CN" sz="1000" b="1"/>
                <a:t>.</a:t>
              </a:r>
              <a:endParaRPr lang="en-US" altLang="zh-CN" sz="1000" b="1"/>
            </a:p>
          </p:txBody>
        </p:sp>
        <p:sp>
          <p:nvSpPr>
            <p:cNvPr id="93" name="文本框 92"/>
            <p:cNvSpPr txBox="1"/>
            <p:nvPr/>
          </p:nvSpPr>
          <p:spPr>
            <a:xfrm rot="5400000">
              <a:off x="13934" y="7715"/>
              <a:ext cx="452" cy="2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indent="0" algn="ctr" fontAlgn="auto">
                <a:lnSpc>
                  <a:spcPts val="200"/>
                </a:lnSpc>
              </a:pPr>
              <a:r>
                <a:rPr lang="en-US" altLang="zh-CN" sz="1000" b="1"/>
                <a:t>.</a:t>
              </a:r>
              <a:endParaRPr lang="en-US" altLang="zh-CN" sz="1000" b="1"/>
            </a:p>
            <a:p>
              <a:pPr indent="0" algn="ctr" fontAlgn="auto">
                <a:lnSpc>
                  <a:spcPts val="200"/>
                </a:lnSpc>
              </a:pPr>
              <a:r>
                <a:rPr lang="en-US" altLang="zh-CN" sz="1000" b="1"/>
                <a:t>.</a:t>
              </a:r>
              <a:endParaRPr lang="en-US" altLang="zh-CN" sz="1000" b="1"/>
            </a:p>
            <a:p>
              <a:pPr indent="0" algn="ctr" fontAlgn="auto">
                <a:lnSpc>
                  <a:spcPts val="200"/>
                </a:lnSpc>
              </a:pPr>
              <a:r>
                <a:rPr lang="en-US" altLang="zh-CN" sz="1000" b="1"/>
                <a:t>.</a:t>
              </a:r>
              <a:endParaRPr lang="en-US" altLang="zh-CN" sz="1000" b="1"/>
            </a:p>
          </p:txBody>
        </p:sp>
      </p:grpSp>
      <p:sp>
        <p:nvSpPr>
          <p:cNvPr id="100" name="文本框 99"/>
          <p:cNvSpPr txBox="1"/>
          <p:nvPr/>
        </p:nvSpPr>
        <p:spPr>
          <a:xfrm>
            <a:off x="6036310" y="2790190"/>
            <a:ext cx="66421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 b="1"/>
              <a:t>向量库</a:t>
            </a:r>
            <a:endParaRPr lang="zh-CN" altLang="en-US" sz="1200" b="1"/>
          </a:p>
        </p:txBody>
      </p:sp>
      <p:pic>
        <p:nvPicPr>
          <p:cNvPr id="101" name="图片 100" descr="数据库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65595" y="2803525"/>
            <a:ext cx="542290" cy="274955"/>
          </a:xfrm>
          <a:prstGeom prst="rect">
            <a:avLst/>
          </a:prstGeom>
        </p:spPr>
      </p:pic>
      <p:sp>
        <p:nvSpPr>
          <p:cNvPr id="130" name="箭头: 燕尾形 1071"/>
          <p:cNvSpPr/>
          <p:nvPr/>
        </p:nvSpPr>
        <p:spPr>
          <a:xfrm>
            <a:off x="5429885" y="2196465"/>
            <a:ext cx="506095" cy="443230"/>
          </a:xfrm>
          <a:prstGeom prst="notchedRightArrow">
            <a:avLst>
              <a:gd name="adj1" fmla="val 33809"/>
              <a:gd name="adj2" fmla="val 52390"/>
            </a:avLst>
          </a:prstGeom>
          <a:gradFill>
            <a:gsLst>
              <a:gs pos="0">
                <a:schemeClr val="bg1"/>
              </a:gs>
              <a:gs pos="99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4" name="图片 4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843010" y="2125345"/>
            <a:ext cx="540000" cy="540000"/>
          </a:xfrm>
          <a:prstGeom prst="rect">
            <a:avLst/>
          </a:prstGeom>
        </p:spPr>
      </p:pic>
      <p:sp>
        <p:nvSpPr>
          <p:cNvPr id="114" name="文本框 113"/>
          <p:cNvSpPr txBox="1"/>
          <p:nvPr/>
        </p:nvSpPr>
        <p:spPr>
          <a:xfrm>
            <a:off x="3030220" y="1438275"/>
            <a:ext cx="25558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600" b="1">
                <a:solidFill>
                  <a:srgbClr val="C00000"/>
                </a:solidFill>
              </a:rPr>
              <a:t>事件窗口构建</a:t>
            </a:r>
            <a:endParaRPr lang="zh-CN" altLang="en-US" sz="1600" b="1">
              <a:solidFill>
                <a:srgbClr val="C00000"/>
              </a:solidFill>
            </a:endParaRPr>
          </a:p>
        </p:txBody>
      </p:sp>
      <p:sp>
        <p:nvSpPr>
          <p:cNvPr id="123" name="文本框 122"/>
          <p:cNvSpPr txBox="1"/>
          <p:nvPr/>
        </p:nvSpPr>
        <p:spPr>
          <a:xfrm>
            <a:off x="6639243" y="1443990"/>
            <a:ext cx="25558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存储价值</a:t>
            </a:r>
            <a:r>
              <a:rPr lang="zh-CN" altLang="en-US" sz="1600" b="1">
                <a:solidFill>
                  <a:schemeClr val="tx1"/>
                </a:solidFill>
              </a:rPr>
              <a:t>评估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134" name="文本框 133"/>
          <p:cNvSpPr txBox="1"/>
          <p:nvPr/>
        </p:nvSpPr>
        <p:spPr>
          <a:xfrm>
            <a:off x="6639243" y="3810635"/>
            <a:ext cx="25558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数据价值</a:t>
            </a:r>
            <a:r>
              <a:rPr lang="zh-CN" altLang="en-US" sz="1600" b="1">
                <a:solidFill>
                  <a:schemeClr val="tx1"/>
                </a:solidFill>
              </a:rPr>
              <a:t>评估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138" name="箭头: 燕尾形 1071"/>
          <p:cNvSpPr/>
          <p:nvPr/>
        </p:nvSpPr>
        <p:spPr>
          <a:xfrm>
            <a:off x="9530715" y="4508500"/>
            <a:ext cx="957580" cy="443230"/>
          </a:xfrm>
          <a:prstGeom prst="notchedRightArrow">
            <a:avLst>
              <a:gd name="adj1" fmla="val 33809"/>
              <a:gd name="adj2" fmla="val 52390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4000">
                <a:srgbClr val="2E54A1"/>
              </a:gs>
              <a:gs pos="100000">
                <a:srgbClr val="2E54A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9" name="箭头: 燕尾形 1071"/>
          <p:cNvSpPr/>
          <p:nvPr/>
        </p:nvSpPr>
        <p:spPr>
          <a:xfrm>
            <a:off x="9530080" y="2155825"/>
            <a:ext cx="958215" cy="443230"/>
          </a:xfrm>
          <a:prstGeom prst="notchedRightArrow">
            <a:avLst>
              <a:gd name="adj1" fmla="val 33809"/>
              <a:gd name="adj2" fmla="val 52390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4000">
                <a:srgbClr val="2E54A1"/>
              </a:gs>
              <a:gs pos="100000">
                <a:srgbClr val="2E54A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0" name="文本框 139"/>
          <p:cNvSpPr txBox="1"/>
          <p:nvPr/>
        </p:nvSpPr>
        <p:spPr>
          <a:xfrm>
            <a:off x="9822815" y="1845945"/>
            <a:ext cx="56705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 b="1"/>
              <a:t>存储</a:t>
            </a:r>
            <a:r>
              <a:rPr lang="zh-CN" altLang="en-US" sz="1200" b="1"/>
              <a:t>利用</a:t>
            </a:r>
            <a:endParaRPr lang="zh-CN" altLang="en-US" sz="1200" b="1"/>
          </a:p>
          <a:p>
            <a:endParaRPr lang="zh-CN" altLang="en-US" sz="1200" b="1"/>
          </a:p>
          <a:p>
            <a:r>
              <a:rPr lang="zh-CN" altLang="en-US" sz="1200" b="1"/>
              <a:t>证据窗口</a:t>
            </a:r>
            <a:endParaRPr lang="zh-CN" altLang="en-US" sz="1200" b="1"/>
          </a:p>
        </p:txBody>
      </p:sp>
      <p:sp>
        <p:nvSpPr>
          <p:cNvPr id="141" name="箭头: 燕尾形 1071"/>
          <p:cNvSpPr/>
          <p:nvPr/>
        </p:nvSpPr>
        <p:spPr>
          <a:xfrm>
            <a:off x="5429885" y="4589145"/>
            <a:ext cx="515620" cy="443230"/>
          </a:xfrm>
          <a:prstGeom prst="notchedRightArrow">
            <a:avLst>
              <a:gd name="adj1" fmla="val 33809"/>
              <a:gd name="adj2" fmla="val 52390"/>
            </a:avLst>
          </a:prstGeom>
          <a:gradFill>
            <a:gsLst>
              <a:gs pos="0">
                <a:schemeClr val="bg1"/>
              </a:gs>
              <a:gs pos="99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2" name="文本框 141"/>
          <p:cNvSpPr txBox="1"/>
          <p:nvPr/>
        </p:nvSpPr>
        <p:spPr>
          <a:xfrm>
            <a:off x="5525453" y="1835785"/>
            <a:ext cx="5670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 b="1"/>
              <a:t>证据窗口</a:t>
            </a:r>
            <a:endParaRPr lang="zh-CN" altLang="en-US" sz="1200" b="1"/>
          </a:p>
        </p:txBody>
      </p:sp>
      <p:sp>
        <p:nvSpPr>
          <p:cNvPr id="143" name="文本框 142"/>
          <p:cNvSpPr txBox="1"/>
          <p:nvPr/>
        </p:nvSpPr>
        <p:spPr>
          <a:xfrm>
            <a:off x="5525453" y="4205605"/>
            <a:ext cx="5670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 b="1"/>
              <a:t>证据窗口</a:t>
            </a:r>
            <a:endParaRPr lang="zh-CN" altLang="en-US" sz="1200" b="1"/>
          </a:p>
        </p:txBody>
      </p:sp>
      <p:grpSp>
        <p:nvGrpSpPr>
          <p:cNvPr id="149" name="组合 148"/>
          <p:cNvGrpSpPr/>
          <p:nvPr/>
        </p:nvGrpSpPr>
        <p:grpSpPr>
          <a:xfrm>
            <a:off x="6468110" y="4918075"/>
            <a:ext cx="543600" cy="504000"/>
            <a:chOff x="9718" y="7273"/>
            <a:chExt cx="1058" cy="986"/>
          </a:xfrm>
        </p:grpSpPr>
        <p:pic>
          <p:nvPicPr>
            <p:cNvPr id="150" name="图片 149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718" y="7273"/>
              <a:ext cx="724" cy="652"/>
            </a:xfrm>
            <a:prstGeom prst="rect">
              <a:avLst/>
            </a:prstGeom>
          </p:spPr>
        </p:pic>
        <p:pic>
          <p:nvPicPr>
            <p:cNvPr id="151" name="图片 15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885" y="7440"/>
              <a:ext cx="724" cy="652"/>
            </a:xfrm>
            <a:prstGeom prst="rect">
              <a:avLst/>
            </a:prstGeom>
          </p:spPr>
        </p:pic>
        <p:pic>
          <p:nvPicPr>
            <p:cNvPr id="152" name="图片 151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0052" y="7607"/>
              <a:ext cx="724" cy="652"/>
            </a:xfrm>
            <a:prstGeom prst="rect">
              <a:avLst/>
            </a:prstGeom>
          </p:spPr>
        </p:pic>
      </p:grpSp>
      <p:sp>
        <p:nvSpPr>
          <p:cNvPr id="154" name="文本框 153"/>
          <p:cNvSpPr txBox="1"/>
          <p:nvPr/>
        </p:nvSpPr>
        <p:spPr>
          <a:xfrm>
            <a:off x="6001385" y="1896110"/>
            <a:ext cx="6642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 b="1"/>
              <a:t>证据</a:t>
            </a:r>
            <a:endParaRPr lang="zh-CN" altLang="en-US" sz="1200" b="1"/>
          </a:p>
          <a:p>
            <a:pPr algn="ctr"/>
            <a:r>
              <a:rPr lang="zh-CN" altLang="en-US" sz="1200" b="1"/>
              <a:t>窗口</a:t>
            </a:r>
            <a:endParaRPr lang="zh-CN" altLang="en-US" sz="1200" b="1"/>
          </a:p>
        </p:txBody>
      </p:sp>
      <p:pic>
        <p:nvPicPr>
          <p:cNvPr id="155" name="图片 15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757160" y="2105660"/>
            <a:ext cx="540000" cy="540000"/>
          </a:xfrm>
          <a:prstGeom prst="rect">
            <a:avLst/>
          </a:prstGeom>
        </p:spPr>
      </p:pic>
      <p:sp>
        <p:nvSpPr>
          <p:cNvPr id="156" name="文本框 155"/>
          <p:cNvSpPr txBox="1"/>
          <p:nvPr/>
        </p:nvSpPr>
        <p:spPr>
          <a:xfrm>
            <a:off x="7592060" y="2677160"/>
            <a:ext cx="87693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 b="1"/>
              <a:t>证据增益</a:t>
            </a:r>
            <a:endParaRPr lang="zh-CN" altLang="en-US" sz="1200" b="1"/>
          </a:p>
        </p:txBody>
      </p:sp>
      <p:sp>
        <p:nvSpPr>
          <p:cNvPr id="159" name="文本框 158"/>
          <p:cNvSpPr txBox="1"/>
          <p:nvPr/>
        </p:nvSpPr>
        <p:spPr>
          <a:xfrm>
            <a:off x="5834380" y="4215130"/>
            <a:ext cx="10915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 b="1"/>
              <a:t>PU</a:t>
            </a:r>
            <a:r>
              <a:rPr lang="zh-CN" altLang="en-US" sz="1200" b="1"/>
              <a:t>风险</a:t>
            </a:r>
            <a:endParaRPr lang="zh-CN" altLang="en-US" sz="1200" b="1"/>
          </a:p>
          <a:p>
            <a:pPr algn="ctr"/>
            <a:r>
              <a:rPr lang="zh-CN" altLang="en-US" sz="1200" b="1"/>
              <a:t>学习</a:t>
            </a:r>
            <a:endParaRPr lang="zh-CN" altLang="en-US" sz="1200" b="1"/>
          </a:p>
        </p:txBody>
      </p:sp>
      <p:sp>
        <p:nvSpPr>
          <p:cNvPr id="164" name="文本框 163"/>
          <p:cNvSpPr txBox="1"/>
          <p:nvPr/>
        </p:nvSpPr>
        <p:spPr>
          <a:xfrm>
            <a:off x="8363585" y="4524693"/>
            <a:ext cx="65151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 b="1"/>
              <a:t>评估</a:t>
            </a:r>
            <a:endParaRPr lang="zh-CN" altLang="en-US" sz="1200" b="1"/>
          </a:p>
        </p:txBody>
      </p:sp>
      <p:sp>
        <p:nvSpPr>
          <p:cNvPr id="165" name="下箭头 164"/>
          <p:cNvSpPr/>
          <p:nvPr/>
        </p:nvSpPr>
        <p:spPr>
          <a:xfrm rot="16200000">
            <a:off x="8558910" y="4613020"/>
            <a:ext cx="90000" cy="360000"/>
          </a:xfrm>
          <a:prstGeom prst="downArrow">
            <a:avLst>
              <a:gd name="adj1" fmla="val 31764"/>
              <a:gd name="adj2" fmla="val 15376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Ins="36195" rtlCol="0" anchor="ctr"/>
          <a:p>
            <a:pPr algn="ctr"/>
            <a:endParaRPr lang="zh-CN" altLang="en-US"/>
          </a:p>
        </p:txBody>
      </p:sp>
      <p:pic>
        <p:nvPicPr>
          <p:cNvPr id="166" name="图片 165"/>
          <p:cNvPicPr/>
          <p:nvPr/>
        </p:nvPicPr>
        <p:blipFill>
          <a:blip r:embed="rId15"/>
          <a:stretch>
            <a:fillRect/>
          </a:stretch>
        </p:blipFill>
        <p:spPr>
          <a:xfrm>
            <a:off x="8849995" y="4368800"/>
            <a:ext cx="540000" cy="540000"/>
          </a:xfrm>
          <a:prstGeom prst="rect">
            <a:avLst/>
          </a:prstGeom>
        </p:spPr>
      </p:pic>
      <p:sp>
        <p:nvSpPr>
          <p:cNvPr id="167" name="文本框 166"/>
          <p:cNvSpPr txBox="1"/>
          <p:nvPr/>
        </p:nvSpPr>
        <p:spPr>
          <a:xfrm>
            <a:off x="8719820" y="4935855"/>
            <a:ext cx="87693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 b="1"/>
              <a:t>数据价值</a:t>
            </a:r>
            <a:endParaRPr lang="zh-CN" altLang="en-US" sz="1200" b="1"/>
          </a:p>
        </p:txBody>
      </p:sp>
      <p:sp>
        <p:nvSpPr>
          <p:cNvPr id="168" name="矩形 167"/>
          <p:cNvSpPr/>
          <p:nvPr/>
        </p:nvSpPr>
        <p:spPr>
          <a:xfrm>
            <a:off x="7847035" y="4374515"/>
            <a:ext cx="576000" cy="36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9" name="矩形 168"/>
          <p:cNvSpPr/>
          <p:nvPr/>
        </p:nvSpPr>
        <p:spPr>
          <a:xfrm>
            <a:off x="8027035" y="5166360"/>
            <a:ext cx="396000" cy="36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0" name="矩形 169"/>
          <p:cNvSpPr/>
          <p:nvPr/>
        </p:nvSpPr>
        <p:spPr>
          <a:xfrm rot="16200000">
            <a:off x="8009035" y="4775020"/>
            <a:ext cx="792000" cy="36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1" name="文本框 170"/>
          <p:cNvSpPr txBox="1"/>
          <p:nvPr/>
        </p:nvSpPr>
        <p:spPr>
          <a:xfrm>
            <a:off x="8606155" y="2677160"/>
            <a:ext cx="114173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 b="1"/>
              <a:t>联合约束</a:t>
            </a:r>
            <a:r>
              <a:rPr lang="zh-CN" altLang="en-US" sz="1200" b="1"/>
              <a:t>优化</a:t>
            </a:r>
            <a:endParaRPr lang="zh-CN" altLang="en-US" sz="1200" b="1"/>
          </a:p>
        </p:txBody>
      </p:sp>
      <p:sp>
        <p:nvSpPr>
          <p:cNvPr id="172" name="矩形 171"/>
          <p:cNvSpPr/>
          <p:nvPr/>
        </p:nvSpPr>
        <p:spPr>
          <a:xfrm>
            <a:off x="7216480" y="2075180"/>
            <a:ext cx="180000" cy="36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3" name="矩形 172"/>
          <p:cNvSpPr/>
          <p:nvPr/>
        </p:nvSpPr>
        <p:spPr>
          <a:xfrm>
            <a:off x="7216480" y="2927985"/>
            <a:ext cx="180000" cy="36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4" name="矩形 173"/>
          <p:cNvSpPr/>
          <p:nvPr/>
        </p:nvSpPr>
        <p:spPr>
          <a:xfrm rot="16200000">
            <a:off x="6964480" y="2485625"/>
            <a:ext cx="828000" cy="36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7" name="文本框 176"/>
          <p:cNvSpPr txBox="1"/>
          <p:nvPr/>
        </p:nvSpPr>
        <p:spPr>
          <a:xfrm>
            <a:off x="7327265" y="2208848"/>
            <a:ext cx="65151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 b="1"/>
              <a:t>评估</a:t>
            </a:r>
            <a:endParaRPr lang="zh-CN" altLang="en-US" sz="1200" b="1"/>
          </a:p>
        </p:txBody>
      </p:sp>
      <p:sp>
        <p:nvSpPr>
          <p:cNvPr id="178" name="下箭头 177"/>
          <p:cNvSpPr/>
          <p:nvPr/>
        </p:nvSpPr>
        <p:spPr>
          <a:xfrm rot="16200000">
            <a:off x="7536560" y="2323625"/>
            <a:ext cx="90000" cy="360000"/>
          </a:xfrm>
          <a:prstGeom prst="downArrow">
            <a:avLst>
              <a:gd name="adj1" fmla="val 31764"/>
              <a:gd name="adj2" fmla="val 80588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Ins="36195" rtlCol="0" anchor="ctr"/>
          <a:p>
            <a:pPr algn="ctr"/>
            <a:endParaRPr lang="zh-CN" altLang="en-US"/>
          </a:p>
        </p:txBody>
      </p:sp>
      <p:sp>
        <p:nvSpPr>
          <p:cNvPr id="179" name="下箭头 178"/>
          <p:cNvSpPr/>
          <p:nvPr/>
        </p:nvSpPr>
        <p:spPr>
          <a:xfrm rot="16200000">
            <a:off x="8484615" y="2323625"/>
            <a:ext cx="90000" cy="360000"/>
          </a:xfrm>
          <a:prstGeom prst="downArrow">
            <a:avLst>
              <a:gd name="adj1" fmla="val 31764"/>
              <a:gd name="adj2" fmla="val 136827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Ins="36195" rtlCol="0" anchor="ctr"/>
          <a:p>
            <a:pPr algn="ctr"/>
            <a:endParaRPr lang="zh-CN" altLang="en-US"/>
          </a:p>
        </p:txBody>
      </p:sp>
      <p:sp>
        <p:nvSpPr>
          <p:cNvPr id="180" name="下箭头 179"/>
          <p:cNvSpPr/>
          <p:nvPr/>
        </p:nvSpPr>
        <p:spPr>
          <a:xfrm rot="10800000">
            <a:off x="9059925" y="3018940"/>
            <a:ext cx="90000" cy="1296000"/>
          </a:xfrm>
          <a:prstGeom prst="downArrow">
            <a:avLst>
              <a:gd name="adj1" fmla="val 31764"/>
              <a:gd name="adj2" fmla="val 251011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Ins="36195" rtlCol="0" anchor="ctr"/>
          <a:p>
            <a:pPr algn="ctr"/>
            <a:endParaRPr lang="zh-CN" altLang="en-US"/>
          </a:p>
        </p:txBody>
      </p:sp>
      <p:sp>
        <p:nvSpPr>
          <p:cNvPr id="183" name="箭头: 燕尾形 1071"/>
          <p:cNvSpPr/>
          <p:nvPr/>
        </p:nvSpPr>
        <p:spPr>
          <a:xfrm rot="5400000">
            <a:off x="4062095" y="3540125"/>
            <a:ext cx="548005" cy="443230"/>
          </a:xfrm>
          <a:prstGeom prst="notchedRightArrow">
            <a:avLst>
              <a:gd name="adj1" fmla="val 33809"/>
              <a:gd name="adj2" fmla="val 52390"/>
            </a:avLst>
          </a:prstGeom>
          <a:gradFill>
            <a:gsLst>
              <a:gs pos="0">
                <a:schemeClr val="bg1"/>
              </a:gs>
              <a:gs pos="99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6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DOCER_RESOURCE_TRACE_INFO" val="{&quot;id&quot;:&quot;50062581&quot;,&quot;origin&quot;:0,&quot;type&quot;:&quot;icons&quot;,&quot;user&quot;:&quot;402383365&quot;}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10&quot;:[50062581],&quot;65&quot;:[20205081]}"/>
</p:tagLst>
</file>

<file path=ppt/tags/tag65.xml><?xml version="1.0" encoding="utf-8"?>
<p:tagLst xmlns:p="http://schemas.openxmlformats.org/presentationml/2006/main">
  <p:tag name="resource_record_key" val="{&quot;10&quot;:[50062581],&quot;65&quot;:[20205081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182</Words>
  <Application>WPS 演示</Application>
  <PresentationFormat>宽屏</PresentationFormat>
  <Paragraphs>112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我要凹凸曼</cp:lastModifiedBy>
  <cp:revision>164</cp:revision>
  <dcterms:created xsi:type="dcterms:W3CDTF">2019-06-19T02:08:00Z</dcterms:created>
  <dcterms:modified xsi:type="dcterms:W3CDTF">2026-06-18T12:05:06Z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882259FAE66E44A7964F29318055E758_11</vt:lpwstr>
  </property>
</Properties>
</file>