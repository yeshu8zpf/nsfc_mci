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8" r:id="rId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3" name="outer-dashed-frame"/>
          <p:cNvSpPr>
            <a:spLocks noGrp="1"/>
          </p:cNvSpPr>
          <p:nvPr/>
        </p:nvSpPr>
        <p:spPr>
          <a:xfrm>
            <a:off x="323850" y="361950"/>
            <a:ext cx="11544300" cy="6436995"/>
          </a:xfrm>
          <a:prstGeom prst="roundRect">
            <a:avLst>
              <a:gd name="adj" fmla="val 2477"/>
            </a:avLst>
          </a:prstGeom>
          <a:solidFill>
            <a:srgbClr val="FFFFFF"/>
          </a:solidFill>
          <a:ln w="28575">
            <a:solidFill>
              <a:srgbClr val="2E54A1"/>
            </a:solidFill>
            <a:prstDash val="dash"/>
          </a:ln>
        </p:spPr>
      </p:sp>
      <p:sp>
        <p:nvSpPr>
          <p:cNvPr id="5" name="scenario-shadow"/>
          <p:cNvSpPr>
            <a:spLocks noGrp="1"/>
          </p:cNvSpPr>
          <p:nvPr/>
        </p:nvSpPr>
        <p:spPr>
          <a:xfrm>
            <a:off x="695325" y="863600"/>
            <a:ext cx="10744200" cy="1788795"/>
          </a:xfrm>
          <a:prstGeom prst="roundRect">
            <a:avLst>
              <a:gd name="adj" fmla="val 10526"/>
            </a:avLst>
          </a:prstGeom>
          <a:solidFill>
            <a:srgbClr val="D6DCEA"/>
          </a:solidFill>
          <a:ln w="0">
            <a:solidFill>
              <a:srgbClr val="D6DCEA"/>
            </a:solidFill>
            <a:prstDash val="solid"/>
          </a:ln>
        </p:spPr>
      </p:sp>
      <p:sp>
        <p:nvSpPr>
          <p:cNvPr id="3" name="title-bar"/>
          <p:cNvSpPr>
            <a:spLocks noGrp="1"/>
          </p:cNvSpPr>
          <p:nvPr/>
        </p:nvSpPr>
        <p:spPr>
          <a:xfrm>
            <a:off x="2609850" y="123190"/>
            <a:ext cx="6972300" cy="514350"/>
          </a:xfrm>
          <a:prstGeom prst="roundRect">
            <a:avLst>
              <a:gd name="adj" fmla="val 50000"/>
            </a:avLst>
          </a:prstGeom>
          <a:solidFill>
            <a:srgbClr val="2E54A1"/>
          </a:solidFill>
          <a:ln w="0">
            <a:solidFill>
              <a:srgbClr val="2E54A1"/>
            </a:solidFill>
            <a:prstDash val="solid"/>
          </a:ln>
        </p:spPr>
      </p:sp>
      <p:sp>
        <p:nvSpPr>
          <p:cNvPr id="4" name="main-title"/>
          <p:cNvSpPr>
            <a:spLocks noGrp="1"/>
          </p:cNvSpPr>
          <p:nvPr/>
        </p:nvSpPr>
        <p:spPr>
          <a:xfrm>
            <a:off x="2857500" y="17526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复杂海洋环境下电磁频谱信号时空耦合传播规律建模</a:t>
            </a:r>
            <a:endParaRPr sz="1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cenario-label-bar"/>
          <p:cNvSpPr>
            <a:spLocks noGrp="1"/>
          </p:cNvSpPr>
          <p:nvPr/>
        </p:nvSpPr>
        <p:spPr>
          <a:xfrm>
            <a:off x="951230" y="1277620"/>
            <a:ext cx="1714500" cy="361950"/>
          </a:xfrm>
          <a:prstGeom prst="roundRect">
            <a:avLst>
              <a:gd name="adj" fmla="val 50000"/>
            </a:avLst>
          </a:prstGeom>
          <a:solidFill>
            <a:srgbClr val="2E54A1"/>
          </a:solidFill>
          <a:ln w="0">
            <a:solidFill>
              <a:srgbClr val="2E54A1"/>
            </a:solidFill>
            <a:prstDash val="solid"/>
          </a:ln>
        </p:spPr>
      </p:sp>
      <p:sp>
        <p:nvSpPr>
          <p:cNvPr id="9" name="scenario-label"/>
          <p:cNvSpPr>
            <a:spLocks noGrp="1"/>
          </p:cNvSpPr>
          <p:nvPr/>
        </p:nvSpPr>
        <p:spPr>
          <a:xfrm>
            <a:off x="1119505" y="1356995"/>
            <a:ext cx="1371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应用观测场景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1" name="coast-guard-ship-hull"/>
          <p:cNvSpPr>
            <a:spLocks noGrp="1"/>
          </p:cNvSpPr>
          <p:nvPr/>
        </p:nvSpPr>
        <p:spPr>
          <a:xfrm>
            <a:off x="1209675" y="2202815"/>
            <a:ext cx="900113" cy="320040"/>
          </a:xfrm>
          <a:custGeom>
            <a:avLst/>
            <a:gdLst/>
            <a:ahLst/>
            <a:cxnLst/>
            <a:pathLst>
              <a:path w="900113" h="320040">
                <a:moveTo>
                  <a:pt x="0" y="0"/>
                </a:moveTo>
                <a:lnTo>
                  <a:pt x="800100" y="0"/>
                </a:lnTo>
                <a:lnTo>
                  <a:pt x="660083" y="240030"/>
                </a:lnTo>
                <a:lnTo>
                  <a:pt x="140018" y="240030"/>
                </a:lnTo>
                <a:close/>
              </a:path>
            </a:pathLst>
          </a:custGeom>
          <a:solidFill>
            <a:srgbClr val="2E54A1"/>
          </a:solidFill>
          <a:ln w="9525">
            <a:solidFill>
              <a:srgbClr val="2E54A1"/>
            </a:solidFill>
            <a:prstDash val="solid"/>
          </a:ln>
        </p:spPr>
      </p:sp>
      <p:sp>
        <p:nvSpPr>
          <p:cNvPr id="222" name="coast-guard-ship-cabin"/>
          <p:cNvSpPr>
            <a:spLocks noGrp="1"/>
          </p:cNvSpPr>
          <p:nvPr/>
        </p:nvSpPr>
        <p:spPr>
          <a:xfrm>
            <a:off x="1499235" y="1922780"/>
            <a:ext cx="317500" cy="388620"/>
          </a:xfrm>
          <a:prstGeom prst="rect">
            <a:avLst/>
          </a:prstGeom>
          <a:noFill/>
          <a:ln w="19050">
            <a:solidFill>
              <a:srgbClr val="2E54A1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246" name="suspect-boat-hull"/>
          <p:cNvSpPr>
            <a:spLocks noGrp="1"/>
          </p:cNvSpPr>
          <p:nvPr/>
        </p:nvSpPr>
        <p:spPr>
          <a:xfrm>
            <a:off x="9984740" y="2202815"/>
            <a:ext cx="754380" cy="268224"/>
          </a:xfrm>
          <a:custGeom>
            <a:avLst/>
            <a:gdLst/>
            <a:ahLst/>
            <a:cxnLst/>
            <a:pathLst>
              <a:path w="754380" h="268224">
                <a:moveTo>
                  <a:pt x="0" y="0"/>
                </a:moveTo>
                <a:lnTo>
                  <a:pt x="670560" y="0"/>
                </a:lnTo>
                <a:lnTo>
                  <a:pt x="553212" y="201168"/>
                </a:lnTo>
                <a:lnTo>
                  <a:pt x="117348" y="201168"/>
                </a:lnTo>
                <a:close/>
              </a:path>
            </a:pathLst>
          </a:custGeom>
          <a:solidFill>
            <a:srgbClr val="C00000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247" name="suspect-boat-cabin"/>
          <p:cNvSpPr>
            <a:spLocks noGrp="1"/>
          </p:cNvSpPr>
          <p:nvPr/>
        </p:nvSpPr>
        <p:spPr>
          <a:xfrm>
            <a:off x="10268204" y="1983740"/>
            <a:ext cx="217932" cy="293370"/>
          </a:xfrm>
          <a:prstGeom prst="rect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248" name="suspect-boat-mast"/>
          <p:cNvSpPr>
            <a:spLocks noGrp="1"/>
          </p:cNvSpPr>
          <p:nvPr/>
        </p:nvSpPr>
        <p:spPr>
          <a:xfrm>
            <a:off x="10488041" y="1772285"/>
            <a:ext cx="0" cy="29337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249" name="suspect-boat-antenna"/>
          <p:cNvSpPr>
            <a:spLocks noGrp="1"/>
          </p:cNvSpPr>
          <p:nvPr/>
        </p:nvSpPr>
        <p:spPr>
          <a:xfrm>
            <a:off x="10457053" y="1704848"/>
            <a:ext cx="67056" cy="67056"/>
          </a:xfrm>
          <a:prstGeom prst="ellipse">
            <a:avLst/>
          </a:prstGeom>
          <a:solidFill>
            <a:srgbClr val="C00000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340" name="scatter-label"/>
          <p:cNvSpPr>
            <a:spLocks noGrp="1"/>
          </p:cNvSpPr>
          <p:nvPr/>
        </p:nvSpPr>
        <p:spPr>
          <a:xfrm>
            <a:off x="4008120" y="1316990"/>
            <a:ext cx="31400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粗糙海面散射与海杂波起伏</a:t>
            </a:r>
            <a:endParaRPr sz="1600" b="1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6" name="modeling-panel"/>
          <p:cNvSpPr>
            <a:spLocks noGrp="1"/>
          </p:cNvSpPr>
          <p:nvPr/>
        </p:nvSpPr>
        <p:spPr>
          <a:xfrm>
            <a:off x="685800" y="2914650"/>
            <a:ext cx="10744200" cy="1828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4C73C7"/>
            </a:solidFill>
            <a:prstDash val="solid"/>
          </a:ln>
        </p:spPr>
      </p:sp>
      <p:sp>
        <p:nvSpPr>
          <p:cNvPr id="347" name="modeling-label-bar"/>
          <p:cNvSpPr>
            <a:spLocks noGrp="1"/>
          </p:cNvSpPr>
          <p:nvPr/>
        </p:nvSpPr>
        <p:spPr>
          <a:xfrm>
            <a:off x="876300" y="3105150"/>
            <a:ext cx="1962150" cy="361950"/>
          </a:xfrm>
          <a:prstGeom prst="roundRect">
            <a:avLst>
              <a:gd name="adj" fmla="val 50000"/>
            </a:avLst>
          </a:prstGeom>
          <a:solidFill>
            <a:srgbClr val="2E54A1"/>
          </a:solidFill>
          <a:ln w="0">
            <a:solidFill>
              <a:srgbClr val="2E54A1"/>
            </a:solidFill>
            <a:prstDash val="solid"/>
          </a:ln>
        </p:spPr>
      </p:sp>
      <p:sp>
        <p:nvSpPr>
          <p:cNvPr id="348" name="modeling-label"/>
          <p:cNvSpPr>
            <a:spLocks noGrp="1"/>
          </p:cNvSpPr>
          <p:nvPr/>
        </p:nvSpPr>
        <p:spPr>
          <a:xfrm>
            <a:off x="1066800" y="3181350"/>
            <a:ext cx="1600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时空耦合建模主链路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9" name="card-env-card"/>
          <p:cNvSpPr>
            <a:spLocks noGrp="1"/>
          </p:cNvSpPr>
          <p:nvPr/>
        </p:nvSpPr>
        <p:spPr>
          <a:xfrm>
            <a:off x="1028700" y="3657600"/>
            <a:ext cx="2133600" cy="1181100"/>
          </a:xfrm>
          <a:prstGeom prst="roundRect">
            <a:avLst>
              <a:gd name="adj" fmla="val 9677"/>
            </a:avLst>
          </a:prstGeom>
          <a:solidFill>
            <a:srgbClr val="F4F8FF"/>
          </a:solidFill>
          <a:ln w="19050">
            <a:solidFill>
              <a:srgbClr val="2E54A1"/>
            </a:solidFill>
            <a:prstDash val="solid"/>
          </a:ln>
        </p:spPr>
      </p:sp>
      <p:sp>
        <p:nvSpPr>
          <p:cNvPr id="350" name="card-env-header"/>
          <p:cNvSpPr>
            <a:spLocks noGrp="1"/>
          </p:cNvSpPr>
          <p:nvPr/>
        </p:nvSpPr>
        <p:spPr>
          <a:xfrm>
            <a:off x="1162050" y="3790950"/>
            <a:ext cx="1866900" cy="295275"/>
          </a:xfrm>
          <a:prstGeom prst="roundRect">
            <a:avLst>
              <a:gd name="adj" fmla="val 25806"/>
            </a:avLst>
          </a:prstGeom>
          <a:solidFill>
            <a:srgbClr val="2E54A1"/>
          </a:solidFill>
          <a:ln w="0">
            <a:solidFill>
              <a:srgbClr val="2E54A1"/>
            </a:solidFill>
            <a:prstDash val="solid"/>
          </a:ln>
        </p:spPr>
      </p:sp>
      <p:sp>
        <p:nvSpPr>
          <p:cNvPr id="351" name="card-env-title"/>
          <p:cNvSpPr>
            <a:spLocks noGrp="1"/>
          </p:cNvSpPr>
          <p:nvPr/>
        </p:nvSpPr>
        <p:spPr>
          <a:xfrm>
            <a:off x="1200150" y="3819525"/>
            <a:ext cx="1790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环境状态统一表征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2" name="card-env-body"/>
          <p:cNvSpPr>
            <a:spLocks noGrp="1"/>
          </p:cNvSpPr>
          <p:nvPr/>
        </p:nvSpPr>
        <p:spPr>
          <a:xfrm>
            <a:off x="1295400" y="4181475"/>
            <a:ext cx="168211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>
                <a:solidFill>
                  <a:srgbClr val="1218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1218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海况气象、风浪参数</a:t>
            </a:r>
            <a:endParaRPr sz="1200">
              <a:solidFill>
                <a:srgbClr val="12182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00">
                <a:solidFill>
                  <a:srgbClr val="1218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1218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蒸发波导/温湿压廓线</a:t>
            </a:r>
            <a:endParaRPr sz="1200">
              <a:solidFill>
                <a:srgbClr val="12182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3" name="card-clutter-card"/>
          <p:cNvSpPr>
            <a:spLocks noGrp="1"/>
          </p:cNvSpPr>
          <p:nvPr/>
        </p:nvSpPr>
        <p:spPr>
          <a:xfrm>
            <a:off x="3667125" y="3657600"/>
            <a:ext cx="2133600" cy="118110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2E54A1"/>
            </a:solidFill>
            <a:prstDash val="solid"/>
          </a:ln>
        </p:spPr>
      </p:sp>
      <p:sp>
        <p:nvSpPr>
          <p:cNvPr id="354" name="card-clutter-header"/>
          <p:cNvSpPr>
            <a:spLocks noGrp="1"/>
          </p:cNvSpPr>
          <p:nvPr/>
        </p:nvSpPr>
        <p:spPr>
          <a:xfrm>
            <a:off x="3800475" y="3790950"/>
            <a:ext cx="1866900" cy="295275"/>
          </a:xfrm>
          <a:prstGeom prst="roundRect">
            <a:avLst>
              <a:gd name="adj" fmla="val 25806"/>
            </a:avLst>
          </a:prstGeom>
          <a:solidFill>
            <a:srgbClr val="2E54A1"/>
          </a:solidFill>
          <a:ln w="0">
            <a:solidFill>
              <a:srgbClr val="2E54A1"/>
            </a:solidFill>
            <a:prstDash val="solid"/>
          </a:ln>
        </p:spPr>
      </p:sp>
      <p:sp>
        <p:nvSpPr>
          <p:cNvPr id="355" name="card-clutter-title"/>
          <p:cNvSpPr>
            <a:spLocks noGrp="1"/>
          </p:cNvSpPr>
          <p:nvPr/>
        </p:nvSpPr>
        <p:spPr>
          <a:xfrm>
            <a:off x="3838575" y="3819525"/>
            <a:ext cx="1790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海杂波散射谱建模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6" name="card-clutter-body"/>
          <p:cNvSpPr>
            <a:spLocks noGrp="1"/>
          </p:cNvSpPr>
          <p:nvPr/>
        </p:nvSpPr>
        <p:spPr>
          <a:xfrm>
            <a:off x="3780790" y="4181475"/>
            <a:ext cx="188658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>
                <a:solidFill>
                  <a:srgbClr val="1218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1218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Bragg散射与后向散射</a:t>
            </a:r>
            <a:endParaRPr sz="1200">
              <a:solidFill>
                <a:srgbClr val="12182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00">
                <a:solidFill>
                  <a:srgbClr val="1218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1218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多普勒频移与谱展宽</a:t>
            </a:r>
            <a:endParaRPr sz="1200">
              <a:solidFill>
                <a:srgbClr val="12182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00">
                <a:solidFill>
                  <a:srgbClr val="1218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00">
              <a:solidFill>
                <a:srgbClr val="12182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7" name="card-multipath-card"/>
          <p:cNvSpPr>
            <a:spLocks noGrp="1"/>
          </p:cNvSpPr>
          <p:nvPr/>
        </p:nvSpPr>
        <p:spPr>
          <a:xfrm>
            <a:off x="6305550" y="3657600"/>
            <a:ext cx="2133600" cy="118110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2E54A1"/>
            </a:solidFill>
            <a:prstDash val="solid"/>
          </a:ln>
        </p:spPr>
      </p:sp>
      <p:sp>
        <p:nvSpPr>
          <p:cNvPr id="358" name="card-multipath-header"/>
          <p:cNvSpPr>
            <a:spLocks noGrp="1"/>
          </p:cNvSpPr>
          <p:nvPr/>
        </p:nvSpPr>
        <p:spPr>
          <a:xfrm>
            <a:off x="6438900" y="3790950"/>
            <a:ext cx="1866900" cy="295275"/>
          </a:xfrm>
          <a:prstGeom prst="roundRect">
            <a:avLst>
              <a:gd name="adj" fmla="val 25806"/>
            </a:avLst>
          </a:prstGeom>
          <a:solidFill>
            <a:srgbClr val="2E54A1"/>
          </a:solidFill>
          <a:ln w="0">
            <a:solidFill>
              <a:srgbClr val="2E54A1"/>
            </a:solidFill>
            <a:prstDash val="solid"/>
          </a:ln>
        </p:spPr>
      </p:sp>
      <p:sp>
        <p:nvSpPr>
          <p:cNvPr id="359" name="card-multipath-title"/>
          <p:cNvSpPr>
            <a:spLocks noGrp="1"/>
          </p:cNvSpPr>
          <p:nvPr/>
        </p:nvSpPr>
        <p:spPr>
          <a:xfrm>
            <a:off x="6477000" y="3819525"/>
            <a:ext cx="1790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多径折射传播建模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0" name="card-multipath-body"/>
          <p:cNvSpPr>
            <a:spLocks noGrp="1"/>
          </p:cNvSpPr>
          <p:nvPr/>
        </p:nvSpPr>
        <p:spPr>
          <a:xfrm>
            <a:off x="6572250" y="4181475"/>
            <a:ext cx="16002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>
                <a:solidFill>
                  <a:srgbClr val="1218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1218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直达波、海面反射波</a:t>
            </a:r>
            <a:endParaRPr sz="1200">
              <a:solidFill>
                <a:srgbClr val="12182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00">
                <a:solidFill>
                  <a:srgbClr val="1218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1218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波导异常传播与遮蔽</a:t>
            </a:r>
            <a:endParaRPr sz="1200">
              <a:solidFill>
                <a:srgbClr val="12182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00">
                <a:solidFill>
                  <a:srgbClr val="1218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00">
              <a:solidFill>
                <a:srgbClr val="12182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1" name="card-output-map-card"/>
          <p:cNvSpPr>
            <a:spLocks noGrp="1"/>
          </p:cNvSpPr>
          <p:nvPr/>
        </p:nvSpPr>
        <p:spPr>
          <a:xfrm>
            <a:off x="8943975" y="3657600"/>
            <a:ext cx="2133600" cy="1181100"/>
          </a:xfrm>
          <a:prstGeom prst="roundRect">
            <a:avLst>
              <a:gd name="adj" fmla="val 9677"/>
            </a:avLst>
          </a:prstGeom>
          <a:solidFill>
            <a:srgbClr val="F4F8FF"/>
          </a:solidFill>
          <a:ln w="19050">
            <a:solidFill>
              <a:srgbClr val="2E54A1"/>
            </a:solidFill>
            <a:prstDash val="solid"/>
          </a:ln>
        </p:spPr>
      </p:sp>
      <p:sp>
        <p:nvSpPr>
          <p:cNvPr id="362" name="card-output-map-header"/>
          <p:cNvSpPr>
            <a:spLocks noGrp="1"/>
          </p:cNvSpPr>
          <p:nvPr/>
        </p:nvSpPr>
        <p:spPr>
          <a:xfrm>
            <a:off x="9077325" y="3790950"/>
            <a:ext cx="1866900" cy="295275"/>
          </a:xfrm>
          <a:prstGeom prst="roundRect">
            <a:avLst>
              <a:gd name="adj" fmla="val 25806"/>
            </a:avLst>
          </a:prstGeom>
          <a:solidFill>
            <a:srgbClr val="2E54A1"/>
          </a:solidFill>
          <a:ln w="0">
            <a:solidFill>
              <a:srgbClr val="2E54A1"/>
            </a:solidFill>
            <a:prstDash val="solid"/>
          </a:ln>
        </p:spPr>
      </p:sp>
      <p:sp>
        <p:nvSpPr>
          <p:cNvPr id="363" name="card-output-map-title"/>
          <p:cNvSpPr>
            <a:spLocks noGrp="1"/>
          </p:cNvSpPr>
          <p:nvPr/>
        </p:nvSpPr>
        <p:spPr>
          <a:xfrm>
            <a:off x="9115425" y="3819525"/>
            <a:ext cx="1790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传播规律图谱反演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4" name="card-output-map-body"/>
          <p:cNvSpPr>
            <a:spLocks noGrp="1"/>
          </p:cNvSpPr>
          <p:nvPr/>
        </p:nvSpPr>
        <p:spPr>
          <a:xfrm>
            <a:off x="9103360" y="4181475"/>
            <a:ext cx="1873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>
                <a:solidFill>
                  <a:srgbClr val="1218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1218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距离-频率-时间损耗场</a:t>
            </a:r>
            <a:endParaRPr sz="1200">
              <a:solidFill>
                <a:srgbClr val="12182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00">
                <a:solidFill>
                  <a:srgbClr val="1218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1218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频谱扰动变化范围</a:t>
            </a:r>
            <a:endParaRPr sz="1200">
              <a:solidFill>
                <a:srgbClr val="12182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00">
                <a:solidFill>
                  <a:srgbClr val="1218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00">
              <a:solidFill>
                <a:srgbClr val="12182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5" name="process-arrow-1"/>
          <p:cNvSpPr>
            <a:spLocks noGrp="1"/>
          </p:cNvSpPr>
          <p:nvPr/>
        </p:nvSpPr>
        <p:spPr>
          <a:xfrm>
            <a:off x="3238500" y="4143375"/>
            <a:ext cx="342900" cy="266700"/>
          </a:xfrm>
          <a:prstGeom prst="rightArrow">
            <a:avLst/>
          </a:prstGeom>
          <a:solidFill>
            <a:srgbClr val="2E54A1"/>
          </a:solidFill>
          <a:ln w="0">
            <a:solidFill>
              <a:srgbClr val="2E54A1"/>
            </a:solidFill>
            <a:prstDash val="solid"/>
          </a:ln>
        </p:spPr>
      </p:sp>
      <p:sp>
        <p:nvSpPr>
          <p:cNvPr id="366" name="process-arrow-2"/>
          <p:cNvSpPr>
            <a:spLocks noGrp="1"/>
          </p:cNvSpPr>
          <p:nvPr/>
        </p:nvSpPr>
        <p:spPr>
          <a:xfrm>
            <a:off x="5876925" y="4143375"/>
            <a:ext cx="342900" cy="266700"/>
          </a:xfrm>
          <a:prstGeom prst="rightArrow">
            <a:avLst/>
          </a:prstGeom>
          <a:solidFill>
            <a:srgbClr val="2E54A1"/>
          </a:solidFill>
          <a:ln w="0">
            <a:solidFill>
              <a:srgbClr val="2E54A1"/>
            </a:solidFill>
            <a:prstDash val="solid"/>
          </a:ln>
        </p:spPr>
      </p:sp>
      <p:sp>
        <p:nvSpPr>
          <p:cNvPr id="367" name="process-arrow-3"/>
          <p:cNvSpPr>
            <a:spLocks noGrp="1"/>
          </p:cNvSpPr>
          <p:nvPr/>
        </p:nvSpPr>
        <p:spPr>
          <a:xfrm>
            <a:off x="8515350" y="4143375"/>
            <a:ext cx="342900" cy="266700"/>
          </a:xfrm>
          <a:prstGeom prst="rightArrow">
            <a:avLst/>
          </a:prstGeom>
          <a:solidFill>
            <a:srgbClr val="2E54A1"/>
          </a:solidFill>
          <a:ln w="0">
            <a:solidFill>
              <a:srgbClr val="2E54A1"/>
            </a:solidFill>
            <a:prstDash val="solid"/>
          </a:ln>
        </p:spPr>
      </p:sp>
      <p:sp>
        <p:nvSpPr>
          <p:cNvPr id="368" name="coupling-chip-1"/>
          <p:cNvSpPr>
            <a:spLocks noGrp="1"/>
          </p:cNvSpPr>
          <p:nvPr/>
        </p:nvSpPr>
        <p:spPr>
          <a:xfrm>
            <a:off x="2381250" y="4953000"/>
            <a:ext cx="1047750" cy="266700"/>
          </a:xfrm>
          <a:prstGeom prst="roundRect">
            <a:avLst>
              <a:gd name="adj" fmla="val 50000"/>
            </a:avLst>
          </a:prstGeom>
          <a:solidFill>
            <a:srgbClr val="DDE8F7"/>
          </a:solidFill>
          <a:ln w="14288">
            <a:solidFill>
              <a:srgbClr val="2E54A1"/>
            </a:solidFill>
            <a:prstDash val="solid"/>
          </a:ln>
        </p:spPr>
      </p:sp>
      <p:sp>
        <p:nvSpPr>
          <p:cNvPr id="369" name="coupling-chip-label-1"/>
          <p:cNvSpPr>
            <a:spLocks noGrp="1"/>
          </p:cNvSpPr>
          <p:nvPr/>
        </p:nvSpPr>
        <p:spPr>
          <a:xfrm>
            <a:off x="2457450" y="5010150"/>
            <a:ext cx="8953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>
                <a:solidFill>
                  <a:srgbClr val="2E54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>
                <a:solidFill>
                  <a:srgbClr val="2E54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海况 S</a:t>
            </a:r>
            <a:endParaRPr sz="900">
              <a:solidFill>
                <a:srgbClr val="2E54A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0" name="coupling-chip-2"/>
          <p:cNvSpPr>
            <a:spLocks noGrp="1"/>
          </p:cNvSpPr>
          <p:nvPr/>
        </p:nvSpPr>
        <p:spPr>
          <a:xfrm>
            <a:off x="3638550" y="4953000"/>
            <a:ext cx="1047750" cy="266700"/>
          </a:xfrm>
          <a:prstGeom prst="roundRect">
            <a:avLst>
              <a:gd name="adj" fmla="val 50000"/>
            </a:avLst>
          </a:prstGeom>
          <a:solidFill>
            <a:srgbClr val="DDE8F7"/>
          </a:solidFill>
          <a:ln w="14288">
            <a:solidFill>
              <a:srgbClr val="2E54A1"/>
            </a:solidFill>
            <a:prstDash val="solid"/>
          </a:ln>
        </p:spPr>
      </p:sp>
      <p:sp>
        <p:nvSpPr>
          <p:cNvPr id="371" name="coupling-chip-label-2"/>
          <p:cNvSpPr>
            <a:spLocks noGrp="1"/>
          </p:cNvSpPr>
          <p:nvPr/>
        </p:nvSpPr>
        <p:spPr>
          <a:xfrm>
            <a:off x="3714750" y="5010150"/>
            <a:ext cx="8953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>
                <a:solidFill>
                  <a:srgbClr val="2E54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>
                <a:solidFill>
                  <a:srgbClr val="2E54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频率 f</a:t>
            </a:r>
            <a:endParaRPr sz="900">
              <a:solidFill>
                <a:srgbClr val="2E54A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2" name="coupling-chip-3"/>
          <p:cNvSpPr>
            <a:spLocks noGrp="1"/>
          </p:cNvSpPr>
          <p:nvPr/>
        </p:nvSpPr>
        <p:spPr>
          <a:xfrm>
            <a:off x="4895850" y="4953000"/>
            <a:ext cx="1047750" cy="266700"/>
          </a:xfrm>
          <a:prstGeom prst="roundRect">
            <a:avLst>
              <a:gd name="adj" fmla="val 50000"/>
            </a:avLst>
          </a:prstGeom>
          <a:solidFill>
            <a:srgbClr val="DDE8F7"/>
          </a:solidFill>
          <a:ln w="14288">
            <a:solidFill>
              <a:srgbClr val="2E54A1"/>
            </a:solidFill>
            <a:prstDash val="solid"/>
          </a:ln>
        </p:spPr>
      </p:sp>
      <p:sp>
        <p:nvSpPr>
          <p:cNvPr id="373" name="coupling-chip-label-3"/>
          <p:cNvSpPr>
            <a:spLocks noGrp="1"/>
          </p:cNvSpPr>
          <p:nvPr/>
        </p:nvSpPr>
        <p:spPr>
          <a:xfrm>
            <a:off x="4972050" y="5010150"/>
            <a:ext cx="8953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>
                <a:solidFill>
                  <a:srgbClr val="2E54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>
                <a:solidFill>
                  <a:srgbClr val="2E54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 t</a:t>
            </a:r>
            <a:endParaRPr sz="900">
              <a:solidFill>
                <a:srgbClr val="2E54A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4" name="coupling-chip-4"/>
          <p:cNvSpPr>
            <a:spLocks noGrp="1"/>
          </p:cNvSpPr>
          <p:nvPr/>
        </p:nvSpPr>
        <p:spPr>
          <a:xfrm>
            <a:off x="6153150" y="4953000"/>
            <a:ext cx="1047750" cy="266700"/>
          </a:xfrm>
          <a:prstGeom prst="roundRect">
            <a:avLst>
              <a:gd name="adj" fmla="val 50000"/>
            </a:avLst>
          </a:prstGeom>
          <a:solidFill>
            <a:srgbClr val="DDE8F7"/>
          </a:solidFill>
          <a:ln w="14288">
            <a:solidFill>
              <a:srgbClr val="2E54A1"/>
            </a:solidFill>
            <a:prstDash val="solid"/>
          </a:ln>
        </p:spPr>
      </p:sp>
      <p:sp>
        <p:nvSpPr>
          <p:cNvPr id="375" name="coupling-chip-label-4"/>
          <p:cNvSpPr>
            <a:spLocks noGrp="1"/>
          </p:cNvSpPr>
          <p:nvPr/>
        </p:nvSpPr>
        <p:spPr>
          <a:xfrm>
            <a:off x="6229350" y="5010150"/>
            <a:ext cx="8953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>
                <a:solidFill>
                  <a:srgbClr val="2E54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>
                <a:solidFill>
                  <a:srgbClr val="2E54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距离 r</a:t>
            </a:r>
            <a:endParaRPr sz="900">
              <a:solidFill>
                <a:srgbClr val="2E54A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6" name="coupling-chip-5"/>
          <p:cNvSpPr>
            <a:spLocks noGrp="1"/>
          </p:cNvSpPr>
          <p:nvPr/>
        </p:nvSpPr>
        <p:spPr>
          <a:xfrm>
            <a:off x="7410450" y="4953000"/>
            <a:ext cx="1047750" cy="266700"/>
          </a:xfrm>
          <a:prstGeom prst="roundRect">
            <a:avLst>
              <a:gd name="adj" fmla="val 50000"/>
            </a:avLst>
          </a:prstGeom>
          <a:solidFill>
            <a:srgbClr val="DDE8F7"/>
          </a:solidFill>
          <a:ln w="14288">
            <a:solidFill>
              <a:srgbClr val="2E54A1"/>
            </a:solidFill>
            <a:prstDash val="solid"/>
          </a:ln>
        </p:spPr>
      </p:sp>
      <p:sp>
        <p:nvSpPr>
          <p:cNvPr id="377" name="coupling-chip-label-5"/>
          <p:cNvSpPr>
            <a:spLocks noGrp="1"/>
          </p:cNvSpPr>
          <p:nvPr/>
        </p:nvSpPr>
        <p:spPr>
          <a:xfrm>
            <a:off x="7486650" y="5010150"/>
            <a:ext cx="8953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>
                <a:solidFill>
                  <a:srgbClr val="2E54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>
                <a:solidFill>
                  <a:srgbClr val="2E54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几何 G</a:t>
            </a:r>
            <a:endParaRPr sz="900">
              <a:solidFill>
                <a:srgbClr val="2E54A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8" name="coupling-chip-6"/>
          <p:cNvSpPr>
            <a:spLocks noGrp="1"/>
          </p:cNvSpPr>
          <p:nvPr/>
        </p:nvSpPr>
        <p:spPr>
          <a:xfrm>
            <a:off x="8667750" y="4953000"/>
            <a:ext cx="1047750" cy="266700"/>
          </a:xfrm>
          <a:prstGeom prst="roundRect">
            <a:avLst>
              <a:gd name="adj" fmla="val 50000"/>
            </a:avLst>
          </a:prstGeom>
          <a:solidFill>
            <a:srgbClr val="DDE8F7"/>
          </a:solidFill>
          <a:ln w="14288">
            <a:solidFill>
              <a:srgbClr val="2E54A1"/>
            </a:solidFill>
            <a:prstDash val="solid"/>
          </a:ln>
        </p:spPr>
      </p:sp>
      <p:sp>
        <p:nvSpPr>
          <p:cNvPr id="379" name="coupling-chip-label-6"/>
          <p:cNvSpPr>
            <a:spLocks noGrp="1"/>
          </p:cNvSpPr>
          <p:nvPr/>
        </p:nvSpPr>
        <p:spPr>
          <a:xfrm>
            <a:off x="8743950" y="5010150"/>
            <a:ext cx="8953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>
                <a:solidFill>
                  <a:srgbClr val="2E54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>
                <a:solidFill>
                  <a:srgbClr val="2E54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平台姿态 p</a:t>
            </a:r>
            <a:endParaRPr sz="900">
              <a:solidFill>
                <a:srgbClr val="2E54A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1" name="output-panel"/>
          <p:cNvSpPr>
            <a:spLocks noGrp="1"/>
          </p:cNvSpPr>
          <p:nvPr/>
        </p:nvSpPr>
        <p:spPr>
          <a:xfrm>
            <a:off x="685800" y="5375910"/>
            <a:ext cx="10744200" cy="1329690"/>
          </a:xfrm>
          <a:prstGeom prst="roundRect">
            <a:avLst>
              <a:gd name="adj" fmla="val 12698"/>
            </a:avLst>
          </a:prstGeom>
          <a:solidFill>
            <a:srgbClr val="FBE2E5"/>
          </a:solidFill>
          <a:ln w="20955">
            <a:solidFill>
              <a:srgbClr val="C00000"/>
            </a:solidFill>
            <a:prstDash val="solid"/>
          </a:ln>
        </p:spPr>
      </p:sp>
      <p:sp>
        <p:nvSpPr>
          <p:cNvPr id="382" name="output-label-bar"/>
          <p:cNvSpPr>
            <a:spLocks noGrp="1"/>
          </p:cNvSpPr>
          <p:nvPr/>
        </p:nvSpPr>
        <p:spPr>
          <a:xfrm>
            <a:off x="839470" y="5400675"/>
            <a:ext cx="1571625" cy="32385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</p:sp>
      <p:sp>
        <p:nvSpPr>
          <p:cNvPr id="383" name="output-label"/>
          <p:cNvSpPr>
            <a:spLocks noGrp="1"/>
          </p:cNvSpPr>
          <p:nvPr/>
        </p:nvSpPr>
        <p:spPr>
          <a:xfrm>
            <a:off x="1028700" y="5476875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规律输出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4" name="model-to-output-arrow"/>
          <p:cNvSpPr>
            <a:spLocks noGrp="1"/>
          </p:cNvSpPr>
          <p:nvPr/>
        </p:nvSpPr>
        <p:spPr>
          <a:xfrm>
            <a:off x="5943600" y="5153025"/>
            <a:ext cx="228600" cy="323850"/>
          </a:xfrm>
          <a:prstGeom prst="downArrow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</p:sp>
      <p:sp>
        <p:nvSpPr>
          <p:cNvPr id="385" name="output-card-1"/>
          <p:cNvSpPr>
            <a:spLocks noGrp="1"/>
          </p:cNvSpPr>
          <p:nvPr/>
        </p:nvSpPr>
        <p:spPr>
          <a:xfrm>
            <a:off x="1119505" y="5781675"/>
            <a:ext cx="2857500" cy="923925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86" name="output-card-title-1"/>
          <p:cNvSpPr>
            <a:spLocks noGrp="1"/>
          </p:cNvSpPr>
          <p:nvPr/>
        </p:nvSpPr>
        <p:spPr>
          <a:xfrm>
            <a:off x="1228725" y="5877560"/>
            <a:ext cx="2571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9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传播损耗场</a:t>
            </a:r>
            <a:endParaRPr sz="16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7" name="output-card-body-1"/>
          <p:cNvSpPr>
            <a:spLocks noGrp="1"/>
          </p:cNvSpPr>
          <p:nvPr/>
        </p:nvSpPr>
        <p:spPr>
          <a:xfrm>
            <a:off x="1257300" y="62103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90">
                <a:solidFill>
                  <a:srgbClr val="1218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>
                <a:solidFill>
                  <a:srgbClr val="1218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不同距离、频率与时段下的</a:t>
            </a:r>
            <a:endParaRPr sz="1400">
              <a:solidFill>
                <a:srgbClr val="12182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790">
                <a:solidFill>
                  <a:srgbClr val="1218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>
                <a:solidFill>
                  <a:srgbClr val="1218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信号衰减和深衰落位置</a:t>
            </a:r>
            <a:endParaRPr sz="1400">
              <a:solidFill>
                <a:srgbClr val="12182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8" name="output-card-2"/>
          <p:cNvSpPr>
            <a:spLocks noGrp="1"/>
          </p:cNvSpPr>
          <p:nvPr/>
        </p:nvSpPr>
        <p:spPr>
          <a:xfrm>
            <a:off x="4400550" y="5781040"/>
            <a:ext cx="2857500" cy="925195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89" name="output-card-title-2"/>
          <p:cNvSpPr>
            <a:spLocks noGrp="1"/>
          </p:cNvSpPr>
          <p:nvPr/>
        </p:nvSpPr>
        <p:spPr>
          <a:xfrm>
            <a:off x="4610100" y="5877560"/>
            <a:ext cx="2571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9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频谱扰动规律</a:t>
            </a:r>
            <a:endParaRPr sz="16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0" name="output-card-body-2"/>
          <p:cNvSpPr>
            <a:spLocks noGrp="1"/>
          </p:cNvSpPr>
          <p:nvPr/>
        </p:nvSpPr>
        <p:spPr>
          <a:xfrm>
            <a:off x="4591050" y="62103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90">
                <a:solidFill>
                  <a:srgbClr val="1218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>
                <a:solidFill>
                  <a:srgbClr val="1218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海杂波引起的谱展宽、频移、</a:t>
            </a:r>
            <a:endParaRPr sz="1400">
              <a:solidFill>
                <a:srgbClr val="12182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790">
                <a:solidFill>
                  <a:srgbClr val="1218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>
                <a:solidFill>
                  <a:srgbClr val="1218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尾部增强与短时起伏</a:t>
            </a:r>
            <a:endParaRPr sz="1400">
              <a:solidFill>
                <a:srgbClr val="12182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1" name="output-card-3"/>
          <p:cNvSpPr>
            <a:spLocks noGrp="1"/>
          </p:cNvSpPr>
          <p:nvPr/>
        </p:nvSpPr>
        <p:spPr>
          <a:xfrm>
            <a:off x="7734300" y="5781040"/>
            <a:ext cx="2857500" cy="92456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392" name="output-card-title-3"/>
          <p:cNvSpPr>
            <a:spLocks noGrp="1"/>
          </p:cNvSpPr>
          <p:nvPr/>
        </p:nvSpPr>
        <p:spPr>
          <a:xfrm>
            <a:off x="7896225" y="5877560"/>
            <a:ext cx="2571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9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可观测性边界</a:t>
            </a:r>
            <a:endParaRPr sz="16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3" name="output-card-body-3"/>
          <p:cNvSpPr>
            <a:spLocks noGrp="1"/>
          </p:cNvSpPr>
          <p:nvPr/>
        </p:nvSpPr>
        <p:spPr>
          <a:xfrm>
            <a:off x="7924800" y="62103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90">
                <a:solidFill>
                  <a:srgbClr val="1218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>
                <a:solidFill>
                  <a:srgbClr val="1218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给出目标弱信号可检出区间，</a:t>
            </a:r>
            <a:endParaRPr sz="1400">
              <a:solidFill>
                <a:srgbClr val="12182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790">
                <a:solidFill>
                  <a:srgbClr val="1218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>
                <a:solidFill>
                  <a:srgbClr val="1218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支撑后续干扰对消与提取</a:t>
            </a:r>
            <a:endParaRPr sz="1400">
              <a:solidFill>
                <a:srgbClr val="12182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6" name="coast-guard-label"/>
          <p:cNvSpPr>
            <a:spLocks noGrp="1"/>
          </p:cNvSpPr>
          <p:nvPr/>
        </p:nvSpPr>
        <p:spPr>
          <a:xfrm>
            <a:off x="1861820" y="2277110"/>
            <a:ext cx="1333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>
                <a:solidFill>
                  <a:srgbClr val="2E54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>
                <a:solidFill>
                  <a:srgbClr val="2E54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海警船接收端</a:t>
            </a:r>
            <a:endParaRPr sz="1400">
              <a:solidFill>
                <a:srgbClr val="2E54A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41" name="直接连接符 240"/>
          <p:cNvCxnSpPr/>
          <p:nvPr/>
        </p:nvCxnSpPr>
        <p:spPr>
          <a:xfrm flipV="1">
            <a:off x="763905" y="1844675"/>
            <a:ext cx="10444480" cy="22225"/>
          </a:xfrm>
          <a:prstGeom prst="line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3" name="suspect-boat-label"/>
          <p:cNvSpPr>
            <a:spLocks noGrp="1"/>
          </p:cNvSpPr>
          <p:nvPr/>
        </p:nvSpPr>
        <p:spPr>
          <a:xfrm>
            <a:off x="7997825" y="2311400"/>
            <a:ext cx="218059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嫌疑无人船/改装艇</a:t>
            </a:r>
            <a:endParaRPr sz="160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4" name="scatter-label"/>
          <p:cNvSpPr>
            <a:spLocks noGrp="1"/>
          </p:cNvSpPr>
          <p:nvPr/>
        </p:nvSpPr>
        <p:spPr>
          <a:xfrm>
            <a:off x="4895850" y="2204720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400" b="1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海面反射</a:t>
            </a:r>
            <a:r>
              <a:rPr lang="en-US" altLang="zh-CN" sz="1400" b="1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400" b="1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多径</a:t>
            </a:r>
            <a:endParaRPr lang="zh-CN" altLang="en-US" sz="1400" b="1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2" name="任意多边形 251"/>
          <p:cNvSpPr/>
          <p:nvPr/>
        </p:nvSpPr>
        <p:spPr>
          <a:xfrm>
            <a:off x="1864995" y="1316990"/>
            <a:ext cx="8387080" cy="898525"/>
          </a:xfrm>
          <a:custGeom>
            <a:avLst/>
            <a:gdLst>
              <a:gd name="connisteX0" fmla="*/ 0 w 8387080"/>
              <a:gd name="connsiteY0" fmla="*/ 520508 h 898631"/>
              <a:gd name="connisteX1" fmla="*/ 525780 w 8387080"/>
              <a:gd name="connsiteY1" fmla="*/ 355408 h 898631"/>
              <a:gd name="connisteX2" fmla="*/ 1101090 w 8387080"/>
              <a:gd name="connsiteY2" fmla="*/ 759268 h 898631"/>
              <a:gd name="connisteX3" fmla="*/ 1480185 w 8387080"/>
              <a:gd name="connsiteY3" fmla="*/ 508443 h 898631"/>
              <a:gd name="connisteX4" fmla="*/ 1786255 w 8387080"/>
              <a:gd name="connsiteY4" fmla="*/ 6793 h 898631"/>
              <a:gd name="connisteX5" fmla="*/ 2697480 w 8387080"/>
              <a:gd name="connsiteY5" fmla="*/ 832928 h 898631"/>
              <a:gd name="connisteX6" fmla="*/ 3376930 w 8387080"/>
              <a:gd name="connsiteY6" fmla="*/ 367473 h 898631"/>
              <a:gd name="connisteX7" fmla="*/ 4202430 w 8387080"/>
              <a:gd name="connsiteY7" fmla="*/ 704023 h 898631"/>
              <a:gd name="connisteX8" fmla="*/ 5481320 w 8387080"/>
              <a:gd name="connsiteY8" fmla="*/ 129348 h 898631"/>
              <a:gd name="connisteX9" fmla="*/ 6508750 w 8387080"/>
              <a:gd name="connsiteY9" fmla="*/ 887538 h 898631"/>
              <a:gd name="connisteX10" fmla="*/ 8387080 w 8387080"/>
              <a:gd name="connsiteY10" fmla="*/ 520508 h 898631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</a:cxnLst>
            <a:rect l="l" t="t" r="r" b="b"/>
            <a:pathLst>
              <a:path w="8387080" h="898632">
                <a:moveTo>
                  <a:pt x="0" y="520509"/>
                </a:moveTo>
                <a:cubicBezTo>
                  <a:pt x="93345" y="479234"/>
                  <a:pt x="305435" y="307784"/>
                  <a:pt x="525780" y="355409"/>
                </a:cubicBezTo>
                <a:cubicBezTo>
                  <a:pt x="746125" y="403034"/>
                  <a:pt x="909955" y="728789"/>
                  <a:pt x="1101090" y="759269"/>
                </a:cubicBezTo>
                <a:cubicBezTo>
                  <a:pt x="1292225" y="789749"/>
                  <a:pt x="1343025" y="658939"/>
                  <a:pt x="1480185" y="508444"/>
                </a:cubicBezTo>
                <a:cubicBezTo>
                  <a:pt x="1617345" y="357949"/>
                  <a:pt x="1543050" y="-57976"/>
                  <a:pt x="1786255" y="6794"/>
                </a:cubicBezTo>
                <a:cubicBezTo>
                  <a:pt x="2029460" y="71564"/>
                  <a:pt x="2379345" y="760539"/>
                  <a:pt x="2697480" y="832929"/>
                </a:cubicBezTo>
                <a:cubicBezTo>
                  <a:pt x="3015615" y="905319"/>
                  <a:pt x="3075940" y="393509"/>
                  <a:pt x="3376930" y="367474"/>
                </a:cubicBezTo>
                <a:cubicBezTo>
                  <a:pt x="3677920" y="341439"/>
                  <a:pt x="3781425" y="751649"/>
                  <a:pt x="4202430" y="704024"/>
                </a:cubicBezTo>
                <a:cubicBezTo>
                  <a:pt x="4623435" y="656399"/>
                  <a:pt x="5020310" y="92519"/>
                  <a:pt x="5481320" y="129349"/>
                </a:cubicBezTo>
                <a:cubicBezTo>
                  <a:pt x="5942330" y="166179"/>
                  <a:pt x="5927725" y="809434"/>
                  <a:pt x="6508750" y="887539"/>
                </a:cubicBezTo>
                <a:cubicBezTo>
                  <a:pt x="7089775" y="965644"/>
                  <a:pt x="8032115" y="608774"/>
                  <a:pt x="8387080" y="520509"/>
                </a:cubicBezTo>
              </a:path>
            </a:pathLst>
          </a:cu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296</Words>
  <Application>WPS 演示</Application>
  <PresentationFormat>Converted Presentation</PresentationFormat>
  <Paragraphs>66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微软雅黑</vt:lpstr>
      <vt:lpstr>Arial Unicode MS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WPS_1569921961</cp:lastModifiedBy>
  <cp:revision>6</cp:revision>
  <dcterms:created xsi:type="dcterms:W3CDTF">2026-06-15T12:02:38Z</dcterms:created>
  <dcterms:modified xsi:type="dcterms:W3CDTF">2026-06-15T12:12:29Z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0141CA943C894B2892FAFB8834E68445_12</vt:lpwstr>
  </property>
</Properties>
</file>