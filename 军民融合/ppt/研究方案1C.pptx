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0691495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buNone/>
              <a:defRPr sz="3530"/>
            </a:lvl1pPr>
            <a:lvl2pPr>
              <a:buNone/>
              <a:defRPr sz="3085"/>
            </a:lvl2pPr>
            <a:lvl3pPr>
              <a:buNone/>
              <a:defRPr sz="2645"/>
            </a:lvl3pPr>
            <a:lvl4pPr>
              <a:buNone/>
              <a:defRPr sz="2205"/>
            </a:lvl4pPr>
            <a:lvl5pPr>
              <a:buNone/>
              <a:defRPr sz="2205"/>
            </a:lvl5pPr>
            <a:lvl6pPr>
              <a:buNone/>
              <a:defRPr sz="2205"/>
            </a:lvl6pPr>
            <a:lvl7pPr>
              <a:buNone/>
              <a:defRPr sz="2205"/>
            </a:lvl7pPr>
            <a:lvl8pPr>
              <a:buNone/>
              <a:defRPr sz="2205"/>
            </a:lvl8pPr>
            <a:lvl9pPr>
              <a:buNone/>
              <a:defRPr sz="220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8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2095" indent="-252095" algn="l">
        <a:lnSpc>
          <a:spcPct val="90000"/>
        </a:lnSpc>
        <a:spcBef>
          <a:spcPts val="0"/>
        </a:spcBef>
        <a:buChar char="•"/>
        <a:defRPr sz="3085">
          <a:solidFill>
            <a:schemeClr val="tx1"/>
          </a:solidFill>
          <a:latin typeface="+mn-lt"/>
          <a:ea typeface="+mn-lt"/>
          <a:cs typeface="+mn-lt"/>
        </a:defRPr>
      </a:lvl1pPr>
      <a:lvl2pPr marL="756285" indent="-252095" algn="l">
        <a:lnSpc>
          <a:spcPct val="90000"/>
        </a:lnSpc>
        <a:spcBef>
          <a:spcPts val="550"/>
        </a:spcBef>
        <a:buChar char="•"/>
        <a:defRPr sz="2645">
          <a:solidFill>
            <a:schemeClr val="tx1"/>
          </a:solidFill>
          <a:latin typeface="+mn-lt"/>
          <a:ea typeface="+mn-lt"/>
          <a:cs typeface="+mn-lt"/>
        </a:defRPr>
      </a:lvl2pPr>
      <a:lvl3pPr marL="1259840" indent="-252095" algn="l">
        <a:lnSpc>
          <a:spcPct val="90000"/>
        </a:lnSpc>
        <a:spcBef>
          <a:spcPts val="550"/>
        </a:spcBef>
        <a:buChar char="•"/>
        <a:defRPr sz="2205">
          <a:solidFill>
            <a:schemeClr val="tx1"/>
          </a:solidFill>
          <a:latin typeface="+mn-lt"/>
          <a:ea typeface="+mn-lt"/>
          <a:cs typeface="+mn-lt"/>
        </a:defRPr>
      </a:lvl3pPr>
      <a:lvl4pPr marL="176403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26822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77177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27596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78015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2837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1pPr>
      <a:lvl2pPr marL="50419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marL="100774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3pPr>
      <a:lvl4pPr marL="151193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01612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52031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02387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52806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03225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圆角矩形 17"/>
          <p:cNvSpPr>
            <a:spLocks noGrp="1"/>
          </p:cNvSpPr>
          <p:nvPr/>
        </p:nvSpPr>
        <p:spPr>
          <a:xfrm>
            <a:off x="660145" y="972820"/>
            <a:ext cx="2948940" cy="5192395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3" name="矩形: 圆角 107"/>
          <p:cNvSpPr>
            <a:spLocks noGrp="1"/>
          </p:cNvSpPr>
          <p:nvPr/>
        </p:nvSpPr>
        <p:spPr>
          <a:xfrm>
            <a:off x="1013840" y="5409724"/>
            <a:ext cx="1155065" cy="468000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矩形: 圆角 107"/>
          <p:cNvSpPr>
            <a:spLocks noGrp="1"/>
          </p:cNvSpPr>
          <p:nvPr/>
        </p:nvSpPr>
        <p:spPr>
          <a:xfrm>
            <a:off x="2299080" y="5331143"/>
            <a:ext cx="955675" cy="474980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342265" y="439420"/>
            <a:ext cx="9996170" cy="687070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: 圆角 3"/>
          <p:cNvSpPr>
            <a:spLocks noGrp="1"/>
          </p:cNvSpPr>
          <p:nvPr/>
        </p:nvSpPr>
        <p:spPr>
          <a:xfrm>
            <a:off x="2004695" y="225425"/>
            <a:ext cx="6682740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zh-CN" altLang="en-US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基于多维联合表征的电磁频谱信号精确提取方法</a:t>
            </a:r>
            <a:endParaRPr lang="zh-CN" altLang="en-US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885310" y="972820"/>
            <a:ext cx="2950210" cy="5192395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3884675" y="972820"/>
            <a:ext cx="294513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候选区域检测与分离</a:t>
            </a:r>
            <a:endParaRPr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60145" y="972820"/>
            <a:ext cx="2945130" cy="68580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多域谱图张量构建</a:t>
            </a:r>
            <a:endParaRPr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7109205" y="972820"/>
            <a:ext cx="2948940" cy="5192395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7109205" y="972820"/>
            <a:ext cx="2945130" cy="68580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反演</a:t>
            </a:r>
            <a:r>
              <a:rPr lang="zh-CN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同步恢复</a:t>
            </a:r>
            <a:endParaRPr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箭头: 燕尾形 1202"/>
          <p:cNvSpPr>
            <a:spLocks noGrp="1"/>
          </p:cNvSpPr>
          <p:nvPr/>
        </p:nvSpPr>
        <p:spPr>
          <a:xfrm rot="16200000" flipH="1">
            <a:off x="1943480" y="3751580"/>
            <a:ext cx="3746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文本框 105"/>
          <p:cNvSpPr>
            <a:spLocks noGrp="1"/>
          </p:cNvSpPr>
          <p:nvPr/>
        </p:nvSpPr>
        <p:spPr>
          <a:xfrm>
            <a:off x="972312" y="1918041"/>
            <a:ext cx="23164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输入：原始观测与多域谱图</a:t>
            </a:r>
            <a:endParaRPr sz="1200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矩形: 圆角 107"/>
          <p:cNvSpPr>
            <a:spLocks noGrp="1"/>
          </p:cNvSpPr>
          <p:nvPr/>
        </p:nvSpPr>
        <p:spPr>
          <a:xfrm>
            <a:off x="101384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矩形: 圆角 107"/>
          <p:cNvSpPr>
            <a:spLocks noGrp="1"/>
          </p:cNvSpPr>
          <p:nvPr/>
        </p:nvSpPr>
        <p:spPr>
          <a:xfrm>
            <a:off x="178981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矩形: 圆角 107"/>
          <p:cNvSpPr>
            <a:spLocks noGrp="1"/>
          </p:cNvSpPr>
          <p:nvPr/>
        </p:nvSpPr>
        <p:spPr>
          <a:xfrm>
            <a:off x="256578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文本框 130"/>
          <p:cNvSpPr>
            <a:spLocks noGrp="1"/>
          </p:cNvSpPr>
          <p:nvPr/>
        </p:nvSpPr>
        <p:spPr>
          <a:xfrm>
            <a:off x="95542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原始IQ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片段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2" name="文本框 131"/>
          <p:cNvSpPr>
            <a:spLocks noGrp="1"/>
          </p:cNvSpPr>
          <p:nvPr/>
        </p:nvSpPr>
        <p:spPr>
          <a:xfrm>
            <a:off x="173520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功率谱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时频谱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132"/>
          <p:cNvSpPr>
            <a:spLocks noGrp="1"/>
          </p:cNvSpPr>
          <p:nvPr/>
        </p:nvSpPr>
        <p:spPr>
          <a:xfrm>
            <a:off x="250609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调制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空间谱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34" name="文本框 133"/>
          <p:cNvSpPr>
            <a:spLocks noGrp="1"/>
          </p:cNvSpPr>
          <p:nvPr/>
        </p:nvSpPr>
        <p:spPr>
          <a:xfrm>
            <a:off x="1200912" y="4183721"/>
            <a:ext cx="18592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处理：配准对齐与尺度归一</a:t>
            </a:r>
            <a:endParaRPr sz="1200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文本框 143"/>
          <p:cNvSpPr>
            <a:spLocks noGrp="1"/>
          </p:cNvSpPr>
          <p:nvPr/>
        </p:nvSpPr>
        <p:spPr>
          <a:xfrm>
            <a:off x="964945" y="5367737"/>
            <a:ext cx="1213485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时间配准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频率对齐</a:t>
            </a:r>
            <a:endParaRPr sz="1200" b="0" i="0" u="none" cap="none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46" name="文本框 145"/>
          <p:cNvSpPr>
            <a:spLocks noGrp="1"/>
          </p:cNvSpPr>
          <p:nvPr/>
        </p:nvSpPr>
        <p:spPr>
          <a:xfrm>
            <a:off x="2288285" y="5371227"/>
            <a:ext cx="970915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跨域关联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张量编码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660145" y="6604635"/>
            <a:ext cx="9393555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多域证据约束 + 特征保持约束协同优化</a:t>
            </a: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箭头: 燕尾形 1202"/>
          <p:cNvSpPr>
            <a:spLocks noGrp="1"/>
          </p:cNvSpPr>
          <p:nvPr/>
        </p:nvSpPr>
        <p:spPr>
          <a:xfrm rot="5400000" flipH="1">
            <a:off x="5173090" y="624903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箭头: 燕尾形 1202"/>
          <p:cNvSpPr>
            <a:spLocks noGrp="1"/>
          </p:cNvSpPr>
          <p:nvPr/>
        </p:nvSpPr>
        <p:spPr>
          <a:xfrm rot="5400000" flipH="1">
            <a:off x="1947290" y="624903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箭头: 燕尾形 1202"/>
          <p:cNvSpPr>
            <a:spLocks noGrp="1"/>
          </p:cNvSpPr>
          <p:nvPr/>
        </p:nvSpPr>
        <p:spPr>
          <a:xfrm rot="5400000" flipH="1">
            <a:off x="8396350" y="624903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箭头: 燕尾形 1202"/>
          <p:cNvSpPr>
            <a:spLocks noGrp="1"/>
          </p:cNvSpPr>
          <p:nvPr/>
        </p:nvSpPr>
        <p:spPr>
          <a:xfrm flipH="1">
            <a:off x="3576700" y="371983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箭头: 燕尾形 1202"/>
          <p:cNvSpPr>
            <a:spLocks noGrp="1"/>
          </p:cNvSpPr>
          <p:nvPr/>
        </p:nvSpPr>
        <p:spPr>
          <a:xfrm flipH="1">
            <a:off x="6798690" y="3751580"/>
            <a:ext cx="3746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文本框 166"/>
          <p:cNvSpPr>
            <a:spLocks noGrp="1"/>
          </p:cNvSpPr>
          <p:nvPr/>
        </p:nvSpPr>
        <p:spPr>
          <a:xfrm>
            <a:off x="4655312" y="1918041"/>
            <a:ext cx="1402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处理：多证据一致性判别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矩形: 圆角 107"/>
          <p:cNvSpPr>
            <a:spLocks noGrp="1"/>
          </p:cNvSpPr>
          <p:nvPr/>
        </p:nvSpPr>
        <p:spPr>
          <a:xfrm>
            <a:off x="4259325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矩形: 圆角 107"/>
          <p:cNvSpPr>
            <a:spLocks noGrp="1"/>
          </p:cNvSpPr>
          <p:nvPr/>
        </p:nvSpPr>
        <p:spPr>
          <a:xfrm>
            <a:off x="5035295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矩形: 圆角 107"/>
          <p:cNvSpPr>
            <a:spLocks noGrp="1"/>
          </p:cNvSpPr>
          <p:nvPr/>
        </p:nvSpPr>
        <p:spPr>
          <a:xfrm>
            <a:off x="5811265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文本框 181"/>
          <p:cNvSpPr>
            <a:spLocks noGrp="1"/>
          </p:cNvSpPr>
          <p:nvPr/>
        </p:nvSpPr>
        <p:spPr>
          <a:xfrm>
            <a:off x="4200905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能量突变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证据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3" name="文本框 182"/>
          <p:cNvSpPr>
            <a:spLocks noGrp="1"/>
          </p:cNvSpPr>
          <p:nvPr/>
        </p:nvSpPr>
        <p:spPr>
          <a:xfrm>
            <a:off x="4980685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谱线连续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证据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4" name="文本框 183"/>
          <p:cNvSpPr>
            <a:spLocks noGrp="1"/>
          </p:cNvSpPr>
          <p:nvPr/>
        </p:nvSpPr>
        <p:spPr>
          <a:xfrm>
            <a:off x="5751575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调制空域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一致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5" name="文本框 184"/>
          <p:cNvSpPr>
            <a:spLocks noGrp="1"/>
          </p:cNvSpPr>
          <p:nvPr/>
        </p:nvSpPr>
        <p:spPr>
          <a:xfrm>
            <a:off x="4121912" y="4183721"/>
            <a:ext cx="24688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执行：显著性映射与连通跟踪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矩形: 圆角 107"/>
          <p:cNvSpPr>
            <a:spLocks noGrp="1"/>
          </p:cNvSpPr>
          <p:nvPr/>
        </p:nvSpPr>
        <p:spPr>
          <a:xfrm>
            <a:off x="4259325" y="533082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矩形: 圆角 107"/>
          <p:cNvSpPr>
            <a:spLocks noGrp="1"/>
          </p:cNvSpPr>
          <p:nvPr/>
        </p:nvSpPr>
        <p:spPr>
          <a:xfrm>
            <a:off x="5035295" y="533082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矩形: 圆角 107"/>
          <p:cNvSpPr>
            <a:spLocks noGrp="1"/>
          </p:cNvSpPr>
          <p:nvPr/>
        </p:nvSpPr>
        <p:spPr>
          <a:xfrm>
            <a:off x="5811265" y="533082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FADBDF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文本框 193"/>
          <p:cNvSpPr>
            <a:spLocks noGrp="1"/>
          </p:cNvSpPr>
          <p:nvPr/>
        </p:nvSpPr>
        <p:spPr>
          <a:xfrm>
            <a:off x="4200905" y="5371227"/>
            <a:ext cx="797560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候选区域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定位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5" name="文本框 194"/>
          <p:cNvSpPr>
            <a:spLocks noGrp="1"/>
          </p:cNvSpPr>
          <p:nvPr/>
        </p:nvSpPr>
        <p:spPr>
          <a:xfrm>
            <a:off x="4980685" y="5371227"/>
            <a:ext cx="797560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边界一致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约束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6" name="文本框 195"/>
          <p:cNvSpPr>
            <a:spLocks noGrp="1"/>
          </p:cNvSpPr>
          <p:nvPr/>
        </p:nvSpPr>
        <p:spPr>
          <a:xfrm>
            <a:off x="5751575" y="5371227"/>
            <a:ext cx="797560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邻近成分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分离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1" name="矩形: 圆角 107"/>
          <p:cNvSpPr>
            <a:spLocks noGrp="1"/>
          </p:cNvSpPr>
          <p:nvPr/>
        </p:nvSpPr>
        <p:spPr>
          <a:xfrm>
            <a:off x="7466710" y="5327650"/>
            <a:ext cx="814070" cy="474980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箭头: 燕尾形 1202"/>
          <p:cNvSpPr>
            <a:spLocks noGrp="1"/>
          </p:cNvSpPr>
          <p:nvPr/>
        </p:nvSpPr>
        <p:spPr>
          <a:xfrm rot="16200000" flipH="1">
            <a:off x="8396350" y="3751580"/>
            <a:ext cx="3746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文本框 203"/>
          <p:cNvSpPr>
            <a:spLocks noGrp="1"/>
          </p:cNvSpPr>
          <p:nvPr/>
        </p:nvSpPr>
        <p:spPr>
          <a:xfrm>
            <a:off x="7425182" y="1918041"/>
            <a:ext cx="23164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输出：信号片段与关键参数</a:t>
            </a:r>
            <a:endParaRPr sz="1200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矩形: 圆角 107"/>
          <p:cNvSpPr>
            <a:spLocks noGrp="1"/>
          </p:cNvSpPr>
          <p:nvPr/>
        </p:nvSpPr>
        <p:spPr>
          <a:xfrm>
            <a:off x="746671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矩形: 圆角 107"/>
          <p:cNvSpPr>
            <a:spLocks noGrp="1"/>
          </p:cNvSpPr>
          <p:nvPr/>
        </p:nvSpPr>
        <p:spPr>
          <a:xfrm>
            <a:off x="824268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矩形: 圆角 107"/>
          <p:cNvSpPr>
            <a:spLocks noGrp="1"/>
          </p:cNvSpPr>
          <p:nvPr/>
        </p:nvSpPr>
        <p:spPr>
          <a:xfrm>
            <a:off x="9018650" y="3018155"/>
            <a:ext cx="688975" cy="475615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文本框 226"/>
          <p:cNvSpPr>
            <a:spLocks noGrp="1"/>
          </p:cNvSpPr>
          <p:nvPr/>
        </p:nvSpPr>
        <p:spPr>
          <a:xfrm>
            <a:off x="740829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中心频率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带宽</a:t>
            </a:r>
            <a:endParaRPr sz="120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28" name="文本框 227"/>
          <p:cNvSpPr>
            <a:spLocks noGrp="1"/>
          </p:cNvSpPr>
          <p:nvPr/>
        </p:nvSpPr>
        <p:spPr>
          <a:xfrm>
            <a:off x="818807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持续时间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时频占用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29" name="文本框 228"/>
          <p:cNvSpPr>
            <a:spLocks noGrp="1"/>
          </p:cNvSpPr>
          <p:nvPr/>
        </p:nvSpPr>
        <p:spPr>
          <a:xfrm>
            <a:off x="8958960" y="3018155"/>
            <a:ext cx="79756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能量包络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调制参数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30" name="文本框 229"/>
          <p:cNvSpPr>
            <a:spLocks noGrp="1"/>
          </p:cNvSpPr>
          <p:nvPr/>
        </p:nvSpPr>
        <p:spPr>
          <a:xfrm>
            <a:off x="7501382" y="4183721"/>
            <a:ext cx="2164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优化：可微重构与特征保持</a:t>
            </a:r>
            <a:endParaRPr sz="1200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文本框 238"/>
          <p:cNvSpPr>
            <a:spLocks noGrp="1"/>
          </p:cNvSpPr>
          <p:nvPr/>
        </p:nvSpPr>
        <p:spPr>
          <a:xfrm>
            <a:off x="7417815" y="5371227"/>
            <a:ext cx="911225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信号片段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恢复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pic>
        <p:nvPicPr>
          <p:cNvPr id="367" name="Picture 3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61630" y="4533900"/>
            <a:ext cx="628015" cy="628015"/>
          </a:xfrm>
          <a:prstGeom prst="rect">
            <a:avLst/>
          </a:prstGeom>
        </p:spPr>
      </p:pic>
      <p:cxnSp>
        <p:nvCxnSpPr>
          <p:cNvPr id="368" name="直接箭头连接符 89"/>
          <p:cNvCxnSpPr/>
          <p:nvPr/>
        </p:nvCxnSpPr>
        <p:spPr>
          <a:xfrm>
            <a:off x="8271255" y="5029200"/>
            <a:ext cx="60706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文本框 246"/>
          <p:cNvSpPr>
            <a:spLocks noGrp="1"/>
          </p:cNvSpPr>
          <p:nvPr/>
        </p:nvSpPr>
        <p:spPr>
          <a:xfrm>
            <a:off x="8173465" y="4705350"/>
            <a:ext cx="835660" cy="280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特征保持</a:t>
            </a:r>
            <a:endParaRPr sz="123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0" name="Picture 3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61120" y="5133975"/>
            <a:ext cx="250190" cy="250190"/>
          </a:xfrm>
          <a:prstGeom prst="rect">
            <a:avLst/>
          </a:prstGeom>
        </p:spPr>
      </p:pic>
      <p:pic>
        <p:nvPicPr>
          <p:cNvPr id="371" name="Picture 4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18650" y="4533900"/>
            <a:ext cx="628015" cy="628015"/>
          </a:xfrm>
          <a:prstGeom prst="rect">
            <a:avLst/>
          </a:prstGeom>
        </p:spPr>
      </p:pic>
      <p:sp>
        <p:nvSpPr>
          <p:cNvPr id="253" name="矩形: 圆角 107"/>
          <p:cNvSpPr>
            <a:spLocks noGrp="1"/>
          </p:cNvSpPr>
          <p:nvPr/>
        </p:nvSpPr>
        <p:spPr>
          <a:xfrm>
            <a:off x="8851645" y="5327650"/>
            <a:ext cx="814070" cy="474980"/>
          </a:xfrm>
          <a:prstGeom prst="roundRect">
            <a:avLst>
              <a:gd name="adj" fmla="val 16397"/>
            </a:avLst>
          </a:prstGeom>
          <a:solidFill>
            <a:srgbClr val="DAE3F3"/>
          </a:solidFill>
          <a:ln w="15875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文本框 253"/>
          <p:cNvSpPr>
            <a:spLocks noGrp="1"/>
          </p:cNvSpPr>
          <p:nvPr/>
        </p:nvSpPr>
        <p:spPr>
          <a:xfrm>
            <a:off x="8802750" y="5371227"/>
            <a:ext cx="911225" cy="46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1200">
                <a:ln>
                  <a:noFill/>
                </a:ln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参数同步</a:t>
            </a:r>
            <a:endParaRPr sz="1200">
              <a:ln>
                <a:noFill/>
              </a:ln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200">
                <a:latin typeface="黑体" panose="02010609060101010101" charset="-122"/>
                <a:ea typeface="黑体" panose="02010609060101010101" charset="-122"/>
              </a:rPr>
              <a:t>反演</a:t>
            </a:r>
            <a:endParaRPr sz="12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45" y="2259330"/>
            <a:ext cx="682625" cy="7035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100" y="2306003"/>
            <a:ext cx="628650" cy="610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6345" y="2224088"/>
            <a:ext cx="775970" cy="7740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915" y="4629150"/>
            <a:ext cx="2044700" cy="698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825" y="2219960"/>
            <a:ext cx="760730" cy="782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5550" y="2338070"/>
            <a:ext cx="632460" cy="546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8625" y="4643755"/>
            <a:ext cx="709930" cy="603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0940" y="4592955"/>
            <a:ext cx="770890" cy="6540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77865" y="4629150"/>
            <a:ext cx="762635" cy="676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6320" y="2155508"/>
            <a:ext cx="856615" cy="911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1180" y="2193608"/>
            <a:ext cx="814705" cy="8350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9215" y="2245995"/>
            <a:ext cx="755650" cy="730250"/>
          </a:xfrm>
          <a:prstGeom prst="rect">
            <a:avLst/>
          </a:prstGeom>
        </p:spPr>
      </p:pic>
      <p:pic>
        <p:nvPicPr>
          <p:cNvPr id="19" name="图片 18" descr="consistenc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5335" y="2264093"/>
            <a:ext cx="694055" cy="694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WPS 演示</Application>
  <PresentationFormat>Converted Presentation</PresentationFormat>
  <Paragraphs>72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黑体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HongShilong</cp:lastModifiedBy>
  <cp:revision>5</cp:revision>
  <dcterms:created xsi:type="dcterms:W3CDTF">2026-06-15T09:26:36Z</dcterms:created>
  <dcterms:modified xsi:type="dcterms:W3CDTF">2026-06-15T09:30:17Z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9A24C1F8BA1446AA9AB375E64EBA8181_13</vt:lpwstr>
  </property>
</Properties>
</file>