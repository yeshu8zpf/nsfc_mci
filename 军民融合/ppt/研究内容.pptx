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sldIdLst>
    <p:sldId id="256" r:id="rId3"/>
    <p:sldId id="258" r:id="rId4"/>
    <p:sldId id="257" r:id="rId5"/>
  </p:sldIdLst>
  <p:sldSz cx="7559675" cy="1069181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54A1"/>
    <a:srgbClr val="F6FBFF"/>
    <a:srgbClr val="C00000"/>
    <a:srgbClr val="FADB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2400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45045" y="1749902"/>
            <a:ext cx="5670268" cy="3722560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45045" y="5616018"/>
            <a:ext cx="5670268" cy="2581535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460" indent="0" algn="ctr">
              <a:buNone/>
              <a:defRPr sz="1655"/>
            </a:lvl2pPr>
            <a:lvl3pPr marL="755650" indent="0" algn="ctr">
              <a:buNone/>
              <a:defRPr sz="1490"/>
            </a:lvl3pPr>
            <a:lvl4pPr marL="1134110" indent="0" algn="ctr">
              <a:buNone/>
              <a:defRPr sz="1325"/>
            </a:lvl4pPr>
            <a:lvl5pPr marL="1511935" indent="0" algn="ctr">
              <a:buNone/>
              <a:defRPr sz="1325"/>
            </a:lvl5pPr>
            <a:lvl6pPr marL="1890395" indent="0" algn="ctr">
              <a:buNone/>
              <a:defRPr sz="1325"/>
            </a:lvl6pPr>
            <a:lvl7pPr marL="2268220" indent="0" algn="ctr">
              <a:buNone/>
              <a:defRPr sz="1325"/>
            </a:lvl7pPr>
            <a:lvl8pPr marL="2646045" indent="0" algn="ctr">
              <a:buNone/>
              <a:defRPr sz="1325"/>
            </a:lvl8pPr>
            <a:lvl9pPr marL="3024505" indent="0" algn="ctr">
              <a:buNone/>
              <a:defRPr sz="132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5837" y="2665691"/>
            <a:ext cx="6520808" cy="4447765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5837" y="7155534"/>
            <a:ext cx="6520808" cy="2338974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1pPr>
            <a:lvl2pPr marL="378460" indent="0">
              <a:buNone/>
              <a:defRPr sz="1655">
                <a:solidFill>
                  <a:schemeClr val="tx1">
                    <a:tint val="75000"/>
                  </a:schemeClr>
                </a:solidFill>
              </a:defRPr>
            </a:lvl2pPr>
            <a:lvl3pPr marL="755650" indent="0">
              <a:buNone/>
              <a:defRPr sz="1490">
                <a:solidFill>
                  <a:schemeClr val="tx1">
                    <a:tint val="75000"/>
                  </a:schemeClr>
                </a:solidFill>
              </a:defRPr>
            </a:lvl3pPr>
            <a:lvl4pPr marL="113411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5119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189039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26822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264604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02450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9775" y="2846372"/>
            <a:ext cx="3213152" cy="678426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827431" y="2846372"/>
            <a:ext cx="3213152" cy="678426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760" y="569274"/>
            <a:ext cx="6520808" cy="206671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20760" y="2621139"/>
            <a:ext cx="3198385" cy="1284579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460" indent="0">
              <a:buNone/>
              <a:defRPr sz="1655" b="1"/>
            </a:lvl2pPr>
            <a:lvl3pPr marL="755650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0760" y="3905718"/>
            <a:ext cx="3198385" cy="574472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827431" y="2621139"/>
            <a:ext cx="3214137" cy="1284579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460" indent="0">
              <a:buNone/>
              <a:defRPr sz="1655" b="1"/>
            </a:lvl2pPr>
            <a:lvl3pPr marL="755650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827431" y="3905718"/>
            <a:ext cx="3214137" cy="574472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760" y="712831"/>
            <a:ext cx="2438412" cy="2494907"/>
          </a:xfrm>
        </p:spPr>
        <p:txBody>
          <a:bodyPr anchor="b"/>
          <a:lstStyle>
            <a:lvl1pPr>
              <a:defRPr sz="265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14137" y="1539516"/>
            <a:ext cx="3827431" cy="7598576"/>
          </a:xfrm>
        </p:spPr>
        <p:txBody>
          <a:bodyPr/>
          <a:lstStyle>
            <a:lvl1pPr>
              <a:defRPr sz="2650"/>
            </a:lvl1pPr>
            <a:lvl2pPr>
              <a:defRPr sz="2315"/>
            </a:lvl2pPr>
            <a:lvl3pPr>
              <a:defRPr sz="1985"/>
            </a:lvl3pPr>
            <a:lvl4pPr>
              <a:defRPr sz="1655"/>
            </a:lvl4pPr>
            <a:lvl5pPr>
              <a:defRPr sz="1655"/>
            </a:lvl5pPr>
            <a:lvl6pPr>
              <a:defRPr sz="1655"/>
            </a:lvl6pPr>
            <a:lvl7pPr>
              <a:defRPr sz="1655"/>
            </a:lvl7pPr>
            <a:lvl8pPr>
              <a:defRPr sz="1655"/>
            </a:lvl8pPr>
            <a:lvl9pPr>
              <a:defRPr sz="165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20760" y="3207738"/>
            <a:ext cx="2438412" cy="5942732"/>
          </a:xfrm>
        </p:spPr>
        <p:txBody>
          <a:bodyPr/>
          <a:lstStyle>
            <a:lvl1pPr marL="0" indent="0">
              <a:buNone/>
              <a:defRPr sz="1325"/>
            </a:lvl1pPr>
            <a:lvl2pPr marL="378460" indent="0">
              <a:buNone/>
              <a:defRPr sz="1160"/>
            </a:lvl2pPr>
            <a:lvl3pPr marL="755650" indent="0">
              <a:buNone/>
              <a:defRPr sz="995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760" y="712831"/>
            <a:ext cx="2438412" cy="2494907"/>
          </a:xfrm>
        </p:spPr>
        <p:txBody>
          <a:bodyPr anchor="b"/>
          <a:lstStyle>
            <a:lvl1pPr>
              <a:defRPr sz="265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214137" y="1539516"/>
            <a:ext cx="3827431" cy="7598576"/>
          </a:xfrm>
        </p:spPr>
        <p:txBody>
          <a:bodyPr/>
          <a:lstStyle>
            <a:lvl1pPr marL="0" indent="0">
              <a:buNone/>
              <a:defRPr sz="2650"/>
            </a:lvl1pPr>
            <a:lvl2pPr marL="378460" indent="0">
              <a:buNone/>
              <a:defRPr sz="2315"/>
            </a:lvl2pPr>
            <a:lvl3pPr marL="755650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90395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4505" indent="0">
              <a:buNone/>
              <a:defRPr sz="165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20760" y="3207738"/>
            <a:ext cx="2438412" cy="5942732"/>
          </a:xfrm>
        </p:spPr>
        <p:txBody>
          <a:bodyPr/>
          <a:lstStyle>
            <a:lvl1pPr marL="0" indent="0">
              <a:buNone/>
              <a:defRPr sz="1325"/>
            </a:lvl1pPr>
            <a:lvl2pPr marL="378460" indent="0">
              <a:buNone/>
              <a:defRPr sz="1160"/>
            </a:lvl2pPr>
            <a:lvl3pPr marL="755650" indent="0">
              <a:buNone/>
              <a:defRPr sz="995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5410380" y="569274"/>
            <a:ext cx="1630202" cy="906136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9775" y="569274"/>
            <a:ext cx="4796101" cy="906136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45045" y="1749902"/>
            <a:ext cx="5670268" cy="3722560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45045" y="5616018"/>
            <a:ext cx="5670268" cy="2581535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460" indent="0" algn="ctr">
              <a:buNone/>
              <a:defRPr sz="1655"/>
            </a:lvl2pPr>
            <a:lvl3pPr marL="755650" indent="0" algn="ctr">
              <a:buNone/>
              <a:defRPr sz="1490"/>
            </a:lvl3pPr>
            <a:lvl4pPr marL="1134110" indent="0" algn="ctr">
              <a:buNone/>
              <a:defRPr sz="1325"/>
            </a:lvl4pPr>
            <a:lvl5pPr marL="1511935" indent="0" algn="ctr">
              <a:buNone/>
              <a:defRPr sz="1325"/>
            </a:lvl5pPr>
            <a:lvl6pPr marL="1890395" indent="0" algn="ctr">
              <a:buNone/>
              <a:defRPr sz="1325"/>
            </a:lvl6pPr>
            <a:lvl7pPr marL="2268220" indent="0" algn="ctr">
              <a:buNone/>
              <a:defRPr sz="1325"/>
            </a:lvl7pPr>
            <a:lvl8pPr marL="2646045" indent="0" algn="ctr">
              <a:buNone/>
              <a:defRPr sz="1325"/>
            </a:lvl8pPr>
            <a:lvl9pPr marL="3024505" indent="0" algn="ctr">
              <a:buNone/>
              <a:defRPr sz="132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5837" y="2665691"/>
            <a:ext cx="6520808" cy="4447765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5837" y="7155534"/>
            <a:ext cx="6520808" cy="2338974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1pPr>
            <a:lvl2pPr marL="378460" indent="0">
              <a:buNone/>
              <a:defRPr sz="1655">
                <a:solidFill>
                  <a:schemeClr val="tx1">
                    <a:tint val="75000"/>
                  </a:schemeClr>
                </a:solidFill>
              </a:defRPr>
            </a:lvl2pPr>
            <a:lvl3pPr marL="755650" indent="0">
              <a:buNone/>
              <a:defRPr sz="1490">
                <a:solidFill>
                  <a:schemeClr val="tx1">
                    <a:tint val="75000"/>
                  </a:schemeClr>
                </a:solidFill>
              </a:defRPr>
            </a:lvl3pPr>
            <a:lvl4pPr marL="113411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5119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189039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26822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264604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02450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9775" y="2846372"/>
            <a:ext cx="3213152" cy="678426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827431" y="2846372"/>
            <a:ext cx="3213152" cy="678426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760" y="569274"/>
            <a:ext cx="6520808" cy="206671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20760" y="2621139"/>
            <a:ext cx="3198385" cy="1284579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460" indent="0">
              <a:buNone/>
              <a:defRPr sz="1655" b="1"/>
            </a:lvl2pPr>
            <a:lvl3pPr marL="755650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0760" y="3905718"/>
            <a:ext cx="3198385" cy="574472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827431" y="2621139"/>
            <a:ext cx="3214137" cy="1284579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460" indent="0">
              <a:buNone/>
              <a:defRPr sz="1655" b="1"/>
            </a:lvl2pPr>
            <a:lvl3pPr marL="755650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827431" y="3905718"/>
            <a:ext cx="3214137" cy="574472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760" y="712831"/>
            <a:ext cx="2438412" cy="2494907"/>
          </a:xfrm>
        </p:spPr>
        <p:txBody>
          <a:bodyPr anchor="b"/>
          <a:lstStyle>
            <a:lvl1pPr>
              <a:defRPr sz="265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14137" y="1539516"/>
            <a:ext cx="3827431" cy="7598576"/>
          </a:xfrm>
        </p:spPr>
        <p:txBody>
          <a:bodyPr/>
          <a:lstStyle>
            <a:lvl1pPr>
              <a:defRPr sz="2650"/>
            </a:lvl1pPr>
            <a:lvl2pPr>
              <a:defRPr sz="2315"/>
            </a:lvl2pPr>
            <a:lvl3pPr>
              <a:defRPr sz="1985"/>
            </a:lvl3pPr>
            <a:lvl4pPr>
              <a:defRPr sz="1655"/>
            </a:lvl4pPr>
            <a:lvl5pPr>
              <a:defRPr sz="1655"/>
            </a:lvl5pPr>
            <a:lvl6pPr>
              <a:defRPr sz="1655"/>
            </a:lvl6pPr>
            <a:lvl7pPr>
              <a:defRPr sz="1655"/>
            </a:lvl7pPr>
            <a:lvl8pPr>
              <a:defRPr sz="1655"/>
            </a:lvl8pPr>
            <a:lvl9pPr>
              <a:defRPr sz="165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20760" y="3207738"/>
            <a:ext cx="2438412" cy="5942732"/>
          </a:xfrm>
        </p:spPr>
        <p:txBody>
          <a:bodyPr/>
          <a:lstStyle>
            <a:lvl1pPr marL="0" indent="0">
              <a:buNone/>
              <a:defRPr sz="1325"/>
            </a:lvl1pPr>
            <a:lvl2pPr marL="378460" indent="0">
              <a:buNone/>
              <a:defRPr sz="1160"/>
            </a:lvl2pPr>
            <a:lvl3pPr marL="755650" indent="0">
              <a:buNone/>
              <a:defRPr sz="995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760" y="712831"/>
            <a:ext cx="2438412" cy="2494907"/>
          </a:xfrm>
        </p:spPr>
        <p:txBody>
          <a:bodyPr anchor="b"/>
          <a:lstStyle>
            <a:lvl1pPr>
              <a:defRPr sz="265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214137" y="1539516"/>
            <a:ext cx="3827431" cy="7598576"/>
          </a:xfrm>
        </p:spPr>
        <p:txBody>
          <a:bodyPr/>
          <a:lstStyle>
            <a:lvl1pPr marL="0" indent="0">
              <a:buNone/>
              <a:defRPr sz="2650"/>
            </a:lvl1pPr>
            <a:lvl2pPr marL="378460" indent="0">
              <a:buNone/>
              <a:defRPr sz="2315"/>
            </a:lvl2pPr>
            <a:lvl3pPr marL="755650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90395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4505" indent="0">
              <a:buNone/>
              <a:defRPr sz="165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20760" y="3207738"/>
            <a:ext cx="2438412" cy="5942732"/>
          </a:xfrm>
        </p:spPr>
        <p:txBody>
          <a:bodyPr/>
          <a:lstStyle>
            <a:lvl1pPr marL="0" indent="0">
              <a:buNone/>
              <a:defRPr sz="1325"/>
            </a:lvl1pPr>
            <a:lvl2pPr marL="378460" indent="0">
              <a:buNone/>
              <a:defRPr sz="1160"/>
            </a:lvl2pPr>
            <a:lvl3pPr marL="755650" indent="0">
              <a:buNone/>
              <a:defRPr sz="995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5410380" y="569274"/>
            <a:ext cx="1630202" cy="906136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9775" y="569274"/>
            <a:ext cx="4796101" cy="906136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19775" y="569274"/>
            <a:ext cx="6520808" cy="2066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9775" y="2846372"/>
            <a:ext cx="6520808" cy="67842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9775" y="9910326"/>
            <a:ext cx="1701080" cy="5692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B27EF-0196-4C0A-8796-E2E36BABCE1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504368" y="9910326"/>
            <a:ext cx="2551620" cy="5692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339502" y="9910326"/>
            <a:ext cx="1701080" cy="5692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38185-F415-41A6-8CB1-AC07685CB1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55650" rtl="0" eaLnBrk="1" latinLnBrk="0" hangingPunct="1">
        <a:lnSpc>
          <a:spcPct val="90000"/>
        </a:lnSpc>
        <a:spcBef>
          <a:spcPct val="0"/>
        </a:spcBef>
        <a:buNone/>
        <a:defRPr sz="3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230" indent="-189230" algn="l" defTabSz="75565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55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4880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655" kern="1200">
          <a:solidFill>
            <a:schemeClr val="tx1"/>
          </a:solidFill>
          <a:latin typeface="+mn-lt"/>
          <a:ea typeface="+mn-ea"/>
          <a:cs typeface="+mn-cs"/>
        </a:defRPr>
      </a:lvl3pPr>
      <a:lvl4pPr marL="1323340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701165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2078990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456815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835275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213100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1pPr>
      <a:lvl2pPr marL="37846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2pPr>
      <a:lvl3pPr marL="75565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3pPr>
      <a:lvl4pPr marL="113411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51193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189039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26822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64604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02450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19775" y="569274"/>
            <a:ext cx="6520808" cy="2066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9775" y="2846372"/>
            <a:ext cx="6520808" cy="67842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9775" y="9910326"/>
            <a:ext cx="1701080" cy="5692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B27EF-0196-4C0A-8796-E2E36BABCE1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504368" y="9910326"/>
            <a:ext cx="2551620" cy="5692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339502" y="9910326"/>
            <a:ext cx="1701080" cy="5692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38185-F415-41A6-8CB1-AC07685CB1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650" rtl="0" eaLnBrk="1" latinLnBrk="0" hangingPunct="1">
        <a:lnSpc>
          <a:spcPct val="90000"/>
        </a:lnSpc>
        <a:spcBef>
          <a:spcPct val="0"/>
        </a:spcBef>
        <a:buNone/>
        <a:defRPr sz="3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230" indent="-189230" algn="l" defTabSz="75565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55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4880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655" kern="1200">
          <a:solidFill>
            <a:schemeClr val="tx1"/>
          </a:solidFill>
          <a:latin typeface="+mn-lt"/>
          <a:ea typeface="+mn-ea"/>
          <a:cs typeface="+mn-cs"/>
        </a:defRPr>
      </a:lvl3pPr>
      <a:lvl4pPr marL="1323340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701165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2078990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456815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835275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213100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1pPr>
      <a:lvl2pPr marL="37846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2pPr>
      <a:lvl3pPr marL="75565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3pPr>
      <a:lvl4pPr marL="113411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51193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189039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26822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64604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02450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jpe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jpe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19.jpe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jpeg"/><Relationship Id="rId2" Type="http://schemas.openxmlformats.org/officeDocument/2006/relationships/image" Target="../media/image4.png"/><Relationship Id="rId16" Type="http://schemas.openxmlformats.org/officeDocument/2006/relationships/image" Target="../media/image22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17.jpeg"/><Relationship Id="rId5" Type="http://schemas.openxmlformats.org/officeDocument/2006/relationships/image" Target="../media/image11.png"/><Relationship Id="rId15" Type="http://schemas.openxmlformats.org/officeDocument/2006/relationships/image" Target="../media/image21.jpeg"/><Relationship Id="rId10" Type="http://schemas.openxmlformats.org/officeDocument/2006/relationships/image" Target="../media/image3.png"/><Relationship Id="rId4" Type="http://schemas.openxmlformats.org/officeDocument/2006/relationships/image" Target="../media/image10.png"/><Relationship Id="rId9" Type="http://schemas.openxmlformats.org/officeDocument/2006/relationships/image" Target="../media/image2.png"/><Relationship Id="rId14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594995" y="4629150"/>
            <a:ext cx="6371590" cy="5563870"/>
          </a:xfrm>
          <a:prstGeom prst="roundRect">
            <a:avLst>
              <a:gd name="adj" fmla="val 5871"/>
            </a:avLst>
          </a:prstGeom>
          <a:solidFill>
            <a:schemeClr val="accent5">
              <a:lumMod val="20000"/>
              <a:lumOff val="80000"/>
            </a:schemeClr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35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2" name="矩形: 圆角 8"/>
          <p:cNvSpPr/>
          <p:nvPr/>
        </p:nvSpPr>
        <p:spPr>
          <a:xfrm flipH="1">
            <a:off x="832485" y="4879340"/>
            <a:ext cx="1886585" cy="2745105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2540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38" name="矩形: 圆角 8"/>
          <p:cNvSpPr/>
          <p:nvPr/>
        </p:nvSpPr>
        <p:spPr>
          <a:xfrm flipH="1">
            <a:off x="2838450" y="4879340"/>
            <a:ext cx="1886585" cy="2745105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2540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41" name="矩形: 圆角 8"/>
          <p:cNvSpPr/>
          <p:nvPr/>
        </p:nvSpPr>
        <p:spPr>
          <a:xfrm flipH="1">
            <a:off x="4860290" y="4879340"/>
            <a:ext cx="1886585" cy="2745105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2540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6" name="矩形: 圆角 5"/>
          <p:cNvSpPr/>
          <p:nvPr/>
        </p:nvSpPr>
        <p:spPr>
          <a:xfrm>
            <a:off x="594995" y="532130"/>
            <a:ext cx="6370955" cy="3716655"/>
          </a:xfrm>
          <a:prstGeom prst="roundRect">
            <a:avLst>
              <a:gd name="adj" fmla="val 7070"/>
            </a:avLst>
          </a:prstGeom>
          <a:solidFill>
            <a:srgbClr val="FADBDF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35" dirty="0">
              <a:solidFill>
                <a:srgbClr val="C00000"/>
              </a:solidFill>
            </a:endParaRPr>
          </a:p>
        </p:txBody>
      </p:sp>
      <p:sp>
        <p:nvSpPr>
          <p:cNvPr id="11" name="矩形: 圆角 1150"/>
          <p:cNvSpPr/>
          <p:nvPr/>
        </p:nvSpPr>
        <p:spPr>
          <a:xfrm>
            <a:off x="1318895" y="2665095"/>
            <a:ext cx="1704340" cy="1478915"/>
          </a:xfrm>
          <a:prstGeom prst="roundRect">
            <a:avLst>
              <a:gd name="adj" fmla="val 4026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: 圆角 1150"/>
          <p:cNvSpPr/>
          <p:nvPr/>
        </p:nvSpPr>
        <p:spPr>
          <a:xfrm>
            <a:off x="1318895" y="702310"/>
            <a:ext cx="2169795" cy="1840230"/>
          </a:xfrm>
          <a:prstGeom prst="roundRect">
            <a:avLst>
              <a:gd name="adj" fmla="val 4026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1" name="矩形: 圆角 1150"/>
          <p:cNvSpPr/>
          <p:nvPr/>
        </p:nvSpPr>
        <p:spPr>
          <a:xfrm>
            <a:off x="3615055" y="702310"/>
            <a:ext cx="3131185" cy="1840230"/>
          </a:xfrm>
          <a:prstGeom prst="roundRect">
            <a:avLst>
              <a:gd name="adj" fmla="val 4026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385628" y="1343093"/>
            <a:ext cx="1026999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机械臂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1429828" y="2177941"/>
            <a:ext cx="1026999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机器人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2017395" y="2969260"/>
            <a:ext cx="10756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云边端</a:t>
            </a:r>
          </a:p>
          <a:p>
            <a:pPr algn="ctr">
              <a:buClrTx/>
              <a:buSzTx/>
              <a:buFontTx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协同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2317172" y="1343093"/>
            <a:ext cx="1026999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无人车</a:t>
            </a:r>
          </a:p>
        </p:txBody>
      </p:sp>
      <p:sp>
        <p:nvSpPr>
          <p:cNvPr id="101" name="文本框 100"/>
          <p:cNvSpPr txBox="1"/>
          <p:nvPr/>
        </p:nvSpPr>
        <p:spPr>
          <a:xfrm>
            <a:off x="3615261" y="1343093"/>
            <a:ext cx="971295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传感器</a:t>
            </a:r>
          </a:p>
        </p:txBody>
      </p:sp>
      <p:sp>
        <p:nvSpPr>
          <p:cNvPr id="102" name="文本框 101"/>
          <p:cNvSpPr txBox="1"/>
          <p:nvPr/>
        </p:nvSpPr>
        <p:spPr>
          <a:xfrm>
            <a:off x="4821605" y="1350353"/>
            <a:ext cx="669782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算力</a:t>
            </a:r>
          </a:p>
        </p:txBody>
      </p:sp>
      <p:sp>
        <p:nvSpPr>
          <p:cNvPr id="103" name="文本框 102"/>
          <p:cNvSpPr txBox="1"/>
          <p:nvPr/>
        </p:nvSpPr>
        <p:spPr>
          <a:xfrm>
            <a:off x="5886192" y="1350574"/>
            <a:ext cx="669782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</a:t>
            </a:r>
          </a:p>
        </p:txBody>
      </p:sp>
      <p:sp>
        <p:nvSpPr>
          <p:cNvPr id="104" name="文本框 103"/>
          <p:cNvSpPr txBox="1"/>
          <p:nvPr/>
        </p:nvSpPr>
        <p:spPr>
          <a:xfrm>
            <a:off x="4821740" y="2177941"/>
            <a:ext cx="669782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</a:p>
        </p:txBody>
      </p:sp>
      <p:sp>
        <p:nvSpPr>
          <p:cNvPr id="105" name="文本框 104"/>
          <p:cNvSpPr txBox="1"/>
          <p:nvPr/>
        </p:nvSpPr>
        <p:spPr>
          <a:xfrm>
            <a:off x="3757120" y="2178269"/>
            <a:ext cx="669782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</a:p>
        </p:txBody>
      </p:sp>
      <p:sp>
        <p:nvSpPr>
          <p:cNvPr id="109" name="文本框 108"/>
          <p:cNvSpPr txBox="1"/>
          <p:nvPr/>
        </p:nvSpPr>
        <p:spPr>
          <a:xfrm>
            <a:off x="1522140" y="3619091"/>
            <a:ext cx="140654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一致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难！</a:t>
            </a:r>
          </a:p>
        </p:txBody>
      </p:sp>
      <p:pic>
        <p:nvPicPr>
          <p:cNvPr id="142" name="Picture 2" descr="Manufacturing 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130" y="811530"/>
            <a:ext cx="523875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Picture 32" descr="Driverless ca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510" y="819150"/>
            <a:ext cx="523875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Picture 6" descr="Robot 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130" y="1670685"/>
            <a:ext cx="523875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Picture 4" descr="Mor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510" y="1861185"/>
            <a:ext cx="523875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" name="图片 9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6" r="6204" b="14629"/>
          <a:stretch>
            <a:fillRect/>
          </a:stretch>
        </p:blipFill>
        <p:spPr>
          <a:xfrm>
            <a:off x="1509395" y="2883535"/>
            <a:ext cx="688340" cy="688340"/>
          </a:xfrm>
          <a:prstGeom prst="rect">
            <a:avLst/>
          </a:prstGeom>
        </p:spPr>
      </p:pic>
      <p:sp>
        <p:nvSpPr>
          <p:cNvPr id="693" name="圆角矩形 692"/>
          <p:cNvSpPr/>
          <p:nvPr/>
        </p:nvSpPr>
        <p:spPr>
          <a:xfrm>
            <a:off x="346075" y="333375"/>
            <a:ext cx="6867525" cy="10041890"/>
          </a:xfrm>
          <a:prstGeom prst="roundRect">
            <a:avLst>
              <a:gd name="adj" fmla="val 3556"/>
            </a:avLst>
          </a:prstGeom>
          <a:noFill/>
          <a:ln w="254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/>
          </a:p>
        </p:txBody>
      </p:sp>
      <p:sp>
        <p:nvSpPr>
          <p:cNvPr id="147" name="箭头: 燕尾形 1202"/>
          <p:cNvSpPr/>
          <p:nvPr/>
        </p:nvSpPr>
        <p:spPr>
          <a:xfrm rot="16200000" flipH="1">
            <a:off x="1410970" y="4252595"/>
            <a:ext cx="3746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7" name="矩形: 圆角 8"/>
          <p:cNvSpPr/>
          <p:nvPr/>
        </p:nvSpPr>
        <p:spPr>
          <a:xfrm>
            <a:off x="832485" y="8140065"/>
            <a:ext cx="5913755" cy="1819275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2540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158" name="文本框 157"/>
          <p:cNvSpPr txBox="1"/>
          <p:nvPr/>
        </p:nvSpPr>
        <p:spPr>
          <a:xfrm>
            <a:off x="938530" y="4928870"/>
            <a:ext cx="16179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研究内容一：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海杂波干扰下微弱电磁频谱信号传播规律与微弱信号提取</a:t>
            </a:r>
          </a:p>
        </p:txBody>
      </p:sp>
      <p:cxnSp>
        <p:nvCxnSpPr>
          <p:cNvPr id="163" name="直接箭头连接符 162"/>
          <p:cNvCxnSpPr/>
          <p:nvPr/>
        </p:nvCxnSpPr>
        <p:spPr>
          <a:xfrm flipH="1">
            <a:off x="1185545" y="6872605"/>
            <a:ext cx="1905" cy="177800"/>
          </a:xfrm>
          <a:prstGeom prst="straightConnector1">
            <a:avLst/>
          </a:prstGeom>
          <a:ln w="15875">
            <a:solidFill>
              <a:srgbClr val="2E54A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5" name="组合 44"/>
          <p:cNvGrpSpPr/>
          <p:nvPr/>
        </p:nvGrpSpPr>
        <p:grpSpPr>
          <a:xfrm>
            <a:off x="1332548" y="6124575"/>
            <a:ext cx="887095" cy="259080"/>
            <a:chOff x="15328" y="12018"/>
            <a:chExt cx="1397" cy="408"/>
          </a:xfrm>
        </p:grpSpPr>
        <p:cxnSp>
          <p:nvCxnSpPr>
            <p:cNvPr id="180" name="直接连接符 179"/>
            <p:cNvCxnSpPr/>
            <p:nvPr/>
          </p:nvCxnSpPr>
          <p:spPr>
            <a:xfrm rot="5400000" flipH="1">
              <a:off x="16500" y="12222"/>
              <a:ext cx="40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2" name="直接连接符 181"/>
            <p:cNvCxnSpPr/>
            <p:nvPr/>
          </p:nvCxnSpPr>
          <p:spPr>
            <a:xfrm rot="5400000" flipH="1">
              <a:off x="15135" y="12222"/>
              <a:ext cx="40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3" name="直接连接符 182"/>
            <p:cNvCxnSpPr/>
            <p:nvPr/>
          </p:nvCxnSpPr>
          <p:spPr>
            <a:xfrm rot="5400000">
              <a:off x="16026" y="11320"/>
              <a:ext cx="0" cy="1397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1" name="直接连接符 180"/>
            <p:cNvCxnSpPr/>
            <p:nvPr/>
          </p:nvCxnSpPr>
          <p:spPr>
            <a:xfrm rot="5400000" flipH="1">
              <a:off x="15821" y="12222"/>
              <a:ext cx="40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47" name="箭头: 燕尾形 1202"/>
          <p:cNvSpPr/>
          <p:nvPr/>
        </p:nvSpPr>
        <p:spPr>
          <a:xfrm rot="16200000" flipH="1">
            <a:off x="1571625" y="7684135"/>
            <a:ext cx="408305" cy="324485"/>
          </a:xfrm>
          <a:prstGeom prst="notchedRightArrow">
            <a:avLst/>
          </a:prstGeom>
          <a:gradFill>
            <a:gsLst>
              <a:gs pos="100000">
                <a:srgbClr val="2E54A1"/>
              </a:gs>
              <a:gs pos="5000">
                <a:srgbClr val="2E54A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1052830" y="8237220"/>
            <a:ext cx="5578475" cy="3975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研究内容四：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智慧管廊巡检场景下的原型系统应用验证</a:t>
            </a:r>
          </a:p>
        </p:txBody>
      </p:sp>
      <p:sp>
        <p:nvSpPr>
          <p:cNvPr id="252" name="文本框 251"/>
          <p:cNvSpPr txBox="1"/>
          <p:nvPr/>
        </p:nvSpPr>
        <p:spPr>
          <a:xfrm>
            <a:off x="1399540" y="9612630"/>
            <a:ext cx="11785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气体超标</a:t>
            </a:r>
          </a:p>
        </p:txBody>
      </p:sp>
      <p:sp>
        <p:nvSpPr>
          <p:cNvPr id="253" name="文本框 252"/>
          <p:cNvSpPr txBox="1"/>
          <p:nvPr/>
        </p:nvSpPr>
        <p:spPr>
          <a:xfrm>
            <a:off x="3155315" y="9612630"/>
            <a:ext cx="11785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热源异常</a:t>
            </a:r>
          </a:p>
        </p:txBody>
      </p:sp>
      <p:sp>
        <p:nvSpPr>
          <p:cNvPr id="254" name="文本框 253"/>
          <p:cNvSpPr txBox="1"/>
          <p:nvPr/>
        </p:nvSpPr>
        <p:spPr>
          <a:xfrm>
            <a:off x="5158105" y="9612630"/>
            <a:ext cx="8623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水位上涨</a:t>
            </a:r>
          </a:p>
        </p:txBody>
      </p:sp>
      <p:pic>
        <p:nvPicPr>
          <p:cNvPr id="255" name="图片 25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74"/>
          <a:stretch>
            <a:fillRect/>
          </a:stretch>
        </p:blipFill>
        <p:spPr>
          <a:xfrm>
            <a:off x="1190625" y="8609330"/>
            <a:ext cx="1596390" cy="1008380"/>
          </a:xfrm>
          <a:prstGeom prst="rect">
            <a:avLst/>
          </a:prstGeom>
        </p:spPr>
      </p:pic>
      <p:pic>
        <p:nvPicPr>
          <p:cNvPr id="256" name="图片 25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55" b="604"/>
          <a:stretch>
            <a:fillRect/>
          </a:stretch>
        </p:blipFill>
        <p:spPr>
          <a:xfrm flipH="1">
            <a:off x="3018790" y="8609330"/>
            <a:ext cx="1539875" cy="1024890"/>
          </a:xfrm>
          <a:prstGeom prst="rect">
            <a:avLst/>
          </a:prstGeom>
        </p:spPr>
      </p:pic>
      <p:pic>
        <p:nvPicPr>
          <p:cNvPr id="257" name="图片 25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38" b="2860"/>
          <a:stretch>
            <a:fillRect/>
          </a:stretch>
        </p:blipFill>
        <p:spPr>
          <a:xfrm>
            <a:off x="4791075" y="8609330"/>
            <a:ext cx="1598295" cy="1031240"/>
          </a:xfrm>
          <a:prstGeom prst="rect">
            <a:avLst/>
          </a:prstGeom>
        </p:spPr>
      </p:pic>
      <p:sp>
        <p:nvSpPr>
          <p:cNvPr id="258" name="文本框 257"/>
          <p:cNvSpPr txBox="1"/>
          <p:nvPr/>
        </p:nvSpPr>
        <p:spPr>
          <a:xfrm>
            <a:off x="979363" y="7692017"/>
            <a:ext cx="752267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</a:t>
            </a:r>
          </a:p>
        </p:txBody>
      </p:sp>
      <p:sp>
        <p:nvSpPr>
          <p:cNvPr id="259" name="文本框 258"/>
          <p:cNvSpPr txBox="1"/>
          <p:nvPr/>
        </p:nvSpPr>
        <p:spPr>
          <a:xfrm>
            <a:off x="1832050" y="7691990"/>
            <a:ext cx="752267" cy="358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</a:p>
        </p:txBody>
      </p:sp>
      <p:sp>
        <p:nvSpPr>
          <p:cNvPr id="12" name="矩形: 圆角 1150"/>
          <p:cNvSpPr/>
          <p:nvPr/>
        </p:nvSpPr>
        <p:spPr>
          <a:xfrm>
            <a:off x="3185795" y="2665095"/>
            <a:ext cx="1704340" cy="1478915"/>
          </a:xfrm>
          <a:prstGeom prst="roundRect">
            <a:avLst>
              <a:gd name="adj" fmla="val 4026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矩形: 圆角 1150"/>
          <p:cNvSpPr/>
          <p:nvPr/>
        </p:nvSpPr>
        <p:spPr>
          <a:xfrm>
            <a:off x="5041900" y="2665095"/>
            <a:ext cx="1704340" cy="1478915"/>
          </a:xfrm>
          <a:prstGeom prst="roundRect">
            <a:avLst>
              <a:gd name="adj" fmla="val 4026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8" name="Picture 4" descr="Mor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6450" y="1809115"/>
            <a:ext cx="53276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图片 13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44290" y="855980"/>
            <a:ext cx="532765" cy="533400"/>
          </a:xfrm>
          <a:prstGeom prst="rect">
            <a:avLst/>
          </a:prstGeom>
        </p:spPr>
      </p:pic>
      <p:pic>
        <p:nvPicPr>
          <p:cNvPr id="137" name="Picture 10" descr="Gpu 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135" y="845820"/>
            <a:ext cx="53276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Picture 12" descr="Bandwidth 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6450" y="809625"/>
            <a:ext cx="53276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图片 138" descr="ai-cloud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90135" y="1675765"/>
            <a:ext cx="532765" cy="533400"/>
          </a:xfrm>
          <a:prstGeom prst="rect">
            <a:avLst/>
          </a:prstGeom>
        </p:spPr>
      </p:pic>
      <p:pic>
        <p:nvPicPr>
          <p:cNvPr id="141" name="图片 140" descr="disk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87470" y="1711325"/>
            <a:ext cx="466725" cy="466725"/>
          </a:xfrm>
          <a:prstGeom prst="rect">
            <a:avLst/>
          </a:prstGeom>
        </p:spPr>
      </p:pic>
      <p:pic>
        <p:nvPicPr>
          <p:cNvPr id="98" name="图片 97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705" y="2821305"/>
            <a:ext cx="745490" cy="74549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3682365" y="2969260"/>
            <a:ext cx="14058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非结构化</a:t>
            </a:r>
          </a:p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多维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3464605" y="3619091"/>
            <a:ext cx="140654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感知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难！</a:t>
            </a:r>
          </a:p>
        </p:txBody>
      </p:sp>
      <p:sp>
        <p:nvSpPr>
          <p:cNvPr id="18" name="箭头: 燕尾形 1202"/>
          <p:cNvSpPr/>
          <p:nvPr/>
        </p:nvSpPr>
        <p:spPr>
          <a:xfrm rot="16200000" flipH="1">
            <a:off x="3850640" y="2447290"/>
            <a:ext cx="3746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135" name="图片 134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255" y="2849880"/>
            <a:ext cx="795655" cy="795655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5728970" y="2969260"/>
            <a:ext cx="889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云边端</a:t>
            </a:r>
          </a:p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367020" y="3606165"/>
            <a:ext cx="12217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迁移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难！</a:t>
            </a:r>
          </a:p>
        </p:txBody>
      </p:sp>
      <p:sp>
        <p:nvSpPr>
          <p:cNvPr id="19" name="箭头: 燕尾形 1202"/>
          <p:cNvSpPr/>
          <p:nvPr/>
        </p:nvSpPr>
        <p:spPr>
          <a:xfrm rot="16200000" flipH="1">
            <a:off x="5706745" y="2447290"/>
            <a:ext cx="3746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矩形: 圆角 1197"/>
          <p:cNvSpPr/>
          <p:nvPr/>
        </p:nvSpPr>
        <p:spPr>
          <a:xfrm>
            <a:off x="791210" y="689610"/>
            <a:ext cx="396240" cy="1868805"/>
          </a:xfrm>
          <a:prstGeom prst="roundRect">
            <a:avLst>
              <a:gd name="adj" fmla="val 27564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700" b="1" spc="-2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异构具身智能体</a:t>
            </a:r>
            <a:endParaRPr kumimoji="0" lang="zh-CN" altLang="en-US" sz="1700" b="1" i="0" u="none" strike="noStrike" kern="1200" cap="none" spc="-2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22" name="矩形: 圆角 1197"/>
          <p:cNvSpPr/>
          <p:nvPr/>
        </p:nvSpPr>
        <p:spPr>
          <a:xfrm>
            <a:off x="791210" y="2665730"/>
            <a:ext cx="396240" cy="1478280"/>
          </a:xfrm>
          <a:prstGeom prst="roundRect">
            <a:avLst>
              <a:gd name="adj" fmla="val 27564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700" b="1" i="0" u="none" strike="noStrike" kern="1200" cap="none" spc="-2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三大研究挑战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1745615" y="4273550"/>
            <a:ext cx="14097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怎么协同？</a:t>
            </a:r>
          </a:p>
        </p:txBody>
      </p:sp>
      <p:sp>
        <p:nvSpPr>
          <p:cNvPr id="30" name="箭头: 燕尾形 1202"/>
          <p:cNvSpPr/>
          <p:nvPr/>
        </p:nvSpPr>
        <p:spPr>
          <a:xfrm rot="16200000" flipH="1">
            <a:off x="3318510" y="4252595"/>
            <a:ext cx="3746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653155" y="4274185"/>
            <a:ext cx="1409700" cy="3365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怎么感知？</a:t>
            </a:r>
          </a:p>
        </p:txBody>
      </p:sp>
      <p:sp>
        <p:nvSpPr>
          <p:cNvPr id="36" name="箭头: 燕尾形 1202"/>
          <p:cNvSpPr/>
          <p:nvPr/>
        </p:nvSpPr>
        <p:spPr>
          <a:xfrm rot="16200000" flipH="1">
            <a:off x="5164455" y="4252595"/>
            <a:ext cx="3746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499100" y="4274185"/>
            <a:ext cx="1409700" cy="3365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怎么迁移？</a:t>
            </a:r>
          </a:p>
        </p:txBody>
      </p:sp>
      <p:sp>
        <p:nvSpPr>
          <p:cNvPr id="42" name="箭头: 燕尾形 1202"/>
          <p:cNvSpPr/>
          <p:nvPr/>
        </p:nvSpPr>
        <p:spPr>
          <a:xfrm rot="16200000" flipH="1">
            <a:off x="1982470" y="2447290"/>
            <a:ext cx="3746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951230" y="645160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1525905" y="645160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圆角矩形 47"/>
          <p:cNvSpPr/>
          <p:nvPr/>
        </p:nvSpPr>
        <p:spPr>
          <a:xfrm>
            <a:off x="2100580" y="6451600"/>
            <a:ext cx="500380" cy="374650"/>
          </a:xfrm>
          <a:prstGeom prst="roundRect">
            <a:avLst>
              <a:gd name="adj" fmla="val 9830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965835" y="642302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传播建模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1442085" y="5814695"/>
            <a:ext cx="68580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协同</a:t>
            </a:r>
          </a:p>
        </p:txBody>
      </p:sp>
      <p:cxnSp>
        <p:nvCxnSpPr>
          <p:cNvPr id="58" name="直接箭头连接符 57"/>
          <p:cNvCxnSpPr/>
          <p:nvPr/>
        </p:nvCxnSpPr>
        <p:spPr>
          <a:xfrm flipH="1">
            <a:off x="1776095" y="6872605"/>
            <a:ext cx="1905" cy="177800"/>
          </a:xfrm>
          <a:prstGeom prst="straightConnector1">
            <a:avLst/>
          </a:prstGeom>
          <a:ln w="15875">
            <a:solidFill>
              <a:srgbClr val="2E54A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 flipH="1">
            <a:off x="2350135" y="6872605"/>
            <a:ext cx="1905" cy="177800"/>
          </a:xfrm>
          <a:prstGeom prst="straightConnector1">
            <a:avLst/>
          </a:prstGeom>
          <a:ln w="15875">
            <a:solidFill>
              <a:srgbClr val="2E54A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文本框 59"/>
          <p:cNvSpPr txBox="1"/>
          <p:nvPr/>
        </p:nvSpPr>
        <p:spPr>
          <a:xfrm>
            <a:off x="1547495" y="642302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干扰增强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2123440" y="642302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精确提取</a:t>
            </a:r>
          </a:p>
        </p:txBody>
      </p:sp>
      <p:sp>
        <p:nvSpPr>
          <p:cNvPr id="62" name="圆角矩形 61"/>
          <p:cNvSpPr/>
          <p:nvPr/>
        </p:nvSpPr>
        <p:spPr>
          <a:xfrm>
            <a:off x="951230" y="711454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圆角矩形 62"/>
          <p:cNvSpPr/>
          <p:nvPr/>
        </p:nvSpPr>
        <p:spPr>
          <a:xfrm>
            <a:off x="1525905" y="711454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圆角矩形 63"/>
          <p:cNvSpPr/>
          <p:nvPr/>
        </p:nvSpPr>
        <p:spPr>
          <a:xfrm>
            <a:off x="2100580" y="7114540"/>
            <a:ext cx="500380" cy="374650"/>
          </a:xfrm>
          <a:prstGeom prst="roundRect">
            <a:avLst>
              <a:gd name="adj" fmla="val 9830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965835" y="708596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如何建模？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1547495" y="708596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如何增强？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2123440" y="708596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如何提取？</a:t>
            </a:r>
          </a:p>
        </p:txBody>
      </p:sp>
      <p:grpSp>
        <p:nvGrpSpPr>
          <p:cNvPr id="92" name="组合 91"/>
          <p:cNvGrpSpPr/>
          <p:nvPr/>
        </p:nvGrpSpPr>
        <p:grpSpPr>
          <a:xfrm>
            <a:off x="3911600" y="6125845"/>
            <a:ext cx="474980" cy="273050"/>
            <a:chOff x="6160" y="10097"/>
            <a:chExt cx="748" cy="430"/>
          </a:xfrm>
        </p:grpSpPr>
        <p:cxnSp>
          <p:nvCxnSpPr>
            <p:cNvPr id="210" name="直接箭头连接符 209"/>
            <p:cNvCxnSpPr/>
            <p:nvPr/>
          </p:nvCxnSpPr>
          <p:spPr>
            <a:xfrm rot="5400000">
              <a:off x="5952" y="10310"/>
              <a:ext cx="430" cy="5"/>
            </a:xfrm>
            <a:prstGeom prst="straightConnector1">
              <a:avLst/>
            </a:prstGeom>
            <a:ln w="15875">
              <a:solidFill>
                <a:srgbClr val="2E54A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8" name="直接连接符 207"/>
            <p:cNvCxnSpPr/>
            <p:nvPr/>
          </p:nvCxnSpPr>
          <p:spPr>
            <a:xfrm rot="5400000" flipH="1">
              <a:off x="6691" y="10301"/>
              <a:ext cx="40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9" name="直接连接符 208"/>
            <p:cNvCxnSpPr/>
            <p:nvPr/>
          </p:nvCxnSpPr>
          <p:spPr>
            <a:xfrm flipH="1">
              <a:off x="6160" y="10098"/>
              <a:ext cx="749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68" name="文本框 67"/>
          <p:cNvSpPr txBox="1"/>
          <p:nvPr/>
        </p:nvSpPr>
        <p:spPr>
          <a:xfrm>
            <a:off x="2994025" y="4928870"/>
            <a:ext cx="15671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研究内容二：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有限算力端侧频谱数据的可信管理与分级存储</a:t>
            </a:r>
          </a:p>
        </p:txBody>
      </p:sp>
      <p:cxnSp>
        <p:nvCxnSpPr>
          <p:cNvPr id="69" name="直接箭头连接符 68"/>
          <p:cNvCxnSpPr/>
          <p:nvPr/>
        </p:nvCxnSpPr>
        <p:spPr>
          <a:xfrm flipH="1">
            <a:off x="3215640" y="6872605"/>
            <a:ext cx="1905" cy="177800"/>
          </a:xfrm>
          <a:prstGeom prst="straightConnector1">
            <a:avLst/>
          </a:prstGeom>
          <a:ln w="15875">
            <a:solidFill>
              <a:srgbClr val="2E54A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圆角矩形 74"/>
          <p:cNvSpPr/>
          <p:nvPr/>
        </p:nvSpPr>
        <p:spPr>
          <a:xfrm>
            <a:off x="2981325" y="645160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圆角矩形 75"/>
          <p:cNvSpPr/>
          <p:nvPr/>
        </p:nvSpPr>
        <p:spPr>
          <a:xfrm>
            <a:off x="3556000" y="645160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圆角矩形 76"/>
          <p:cNvSpPr/>
          <p:nvPr/>
        </p:nvSpPr>
        <p:spPr>
          <a:xfrm>
            <a:off x="4130675" y="6451600"/>
            <a:ext cx="500380" cy="374650"/>
          </a:xfrm>
          <a:prstGeom prst="roundRect">
            <a:avLst>
              <a:gd name="adj" fmla="val 9830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/>
          <p:cNvSpPr txBox="1"/>
          <p:nvPr/>
        </p:nvSpPr>
        <p:spPr>
          <a:xfrm>
            <a:off x="2995930" y="642302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价值评估</a:t>
            </a:r>
          </a:p>
        </p:txBody>
      </p:sp>
      <p:sp>
        <p:nvSpPr>
          <p:cNvPr id="79" name="文本框 78"/>
          <p:cNvSpPr txBox="1"/>
          <p:nvPr/>
        </p:nvSpPr>
        <p:spPr>
          <a:xfrm>
            <a:off x="3143250" y="5814695"/>
            <a:ext cx="61341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支撑</a:t>
            </a:r>
          </a:p>
        </p:txBody>
      </p:sp>
      <p:cxnSp>
        <p:nvCxnSpPr>
          <p:cNvPr id="80" name="直接箭头连接符 79"/>
          <p:cNvCxnSpPr/>
          <p:nvPr/>
        </p:nvCxnSpPr>
        <p:spPr>
          <a:xfrm flipH="1">
            <a:off x="3806190" y="6872605"/>
            <a:ext cx="1905" cy="177800"/>
          </a:xfrm>
          <a:prstGeom prst="straightConnector1">
            <a:avLst/>
          </a:prstGeom>
          <a:ln w="15875">
            <a:solidFill>
              <a:srgbClr val="2E54A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/>
          <p:nvPr/>
        </p:nvCxnSpPr>
        <p:spPr>
          <a:xfrm flipH="1">
            <a:off x="4380230" y="6872605"/>
            <a:ext cx="1905" cy="177800"/>
          </a:xfrm>
          <a:prstGeom prst="straightConnector1">
            <a:avLst/>
          </a:prstGeom>
          <a:ln w="15875">
            <a:solidFill>
              <a:srgbClr val="2E54A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文本框 82"/>
          <p:cNvSpPr txBox="1"/>
          <p:nvPr/>
        </p:nvSpPr>
        <p:spPr>
          <a:xfrm>
            <a:off x="3577590" y="642302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语义压缩</a:t>
            </a:r>
          </a:p>
        </p:txBody>
      </p:sp>
      <p:sp>
        <p:nvSpPr>
          <p:cNvPr id="84" name="文本框 83"/>
          <p:cNvSpPr txBox="1"/>
          <p:nvPr/>
        </p:nvSpPr>
        <p:spPr>
          <a:xfrm>
            <a:off x="4153535" y="642302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可信存证</a:t>
            </a:r>
          </a:p>
        </p:txBody>
      </p:sp>
      <p:sp>
        <p:nvSpPr>
          <p:cNvPr id="85" name="圆角矩形 84"/>
          <p:cNvSpPr/>
          <p:nvPr/>
        </p:nvSpPr>
        <p:spPr>
          <a:xfrm>
            <a:off x="2981325" y="711454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圆角矩形 85"/>
          <p:cNvSpPr/>
          <p:nvPr/>
        </p:nvSpPr>
        <p:spPr>
          <a:xfrm>
            <a:off x="3556000" y="711454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圆角矩形 86"/>
          <p:cNvSpPr/>
          <p:nvPr/>
        </p:nvSpPr>
        <p:spPr>
          <a:xfrm>
            <a:off x="4130675" y="7114540"/>
            <a:ext cx="500380" cy="374650"/>
          </a:xfrm>
          <a:prstGeom prst="roundRect">
            <a:avLst>
              <a:gd name="adj" fmla="val 9830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87"/>
          <p:cNvSpPr txBox="1"/>
          <p:nvPr/>
        </p:nvSpPr>
        <p:spPr>
          <a:xfrm>
            <a:off x="2995930" y="708596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如何评估？</a:t>
            </a:r>
          </a:p>
        </p:txBody>
      </p:sp>
      <p:sp>
        <p:nvSpPr>
          <p:cNvPr id="89" name="文本框 88"/>
          <p:cNvSpPr txBox="1"/>
          <p:nvPr/>
        </p:nvSpPr>
        <p:spPr>
          <a:xfrm>
            <a:off x="3577590" y="708596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如何压缩？</a:t>
            </a:r>
          </a:p>
        </p:txBody>
      </p:sp>
      <p:sp>
        <p:nvSpPr>
          <p:cNvPr id="90" name="文本框 89"/>
          <p:cNvSpPr txBox="1"/>
          <p:nvPr/>
        </p:nvSpPr>
        <p:spPr>
          <a:xfrm>
            <a:off x="4153535" y="708596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如何取信？</a:t>
            </a:r>
          </a:p>
        </p:txBody>
      </p:sp>
      <p:grpSp>
        <p:nvGrpSpPr>
          <p:cNvPr id="93" name="组合 92"/>
          <p:cNvGrpSpPr/>
          <p:nvPr/>
        </p:nvGrpSpPr>
        <p:grpSpPr>
          <a:xfrm flipH="1">
            <a:off x="3209925" y="6125845"/>
            <a:ext cx="474980" cy="273050"/>
            <a:chOff x="6160" y="10097"/>
            <a:chExt cx="748" cy="430"/>
          </a:xfrm>
        </p:grpSpPr>
        <p:cxnSp>
          <p:nvCxnSpPr>
            <p:cNvPr id="94" name="直接箭头连接符 93"/>
            <p:cNvCxnSpPr/>
            <p:nvPr/>
          </p:nvCxnSpPr>
          <p:spPr>
            <a:xfrm rot="5400000">
              <a:off x="5952" y="10310"/>
              <a:ext cx="430" cy="5"/>
            </a:xfrm>
            <a:prstGeom prst="straightConnector1">
              <a:avLst/>
            </a:prstGeom>
            <a:ln w="15875">
              <a:solidFill>
                <a:srgbClr val="2E54A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rot="5400000" flipH="1">
              <a:off x="6691" y="10301"/>
              <a:ext cx="40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H="1">
              <a:off x="6160" y="10098"/>
              <a:ext cx="749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99" name="文本框 98"/>
          <p:cNvSpPr txBox="1"/>
          <p:nvPr/>
        </p:nvSpPr>
        <p:spPr>
          <a:xfrm>
            <a:off x="3874770" y="5814695"/>
            <a:ext cx="5524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支撑</a:t>
            </a:r>
          </a:p>
        </p:txBody>
      </p:sp>
      <p:grpSp>
        <p:nvGrpSpPr>
          <p:cNvPr id="110" name="组合 109"/>
          <p:cNvGrpSpPr/>
          <p:nvPr/>
        </p:nvGrpSpPr>
        <p:grpSpPr>
          <a:xfrm>
            <a:off x="5926455" y="6125845"/>
            <a:ext cx="474980" cy="273050"/>
            <a:chOff x="6160" y="10097"/>
            <a:chExt cx="748" cy="430"/>
          </a:xfrm>
        </p:grpSpPr>
        <p:cxnSp>
          <p:nvCxnSpPr>
            <p:cNvPr id="111" name="直接箭头连接符 110"/>
            <p:cNvCxnSpPr/>
            <p:nvPr/>
          </p:nvCxnSpPr>
          <p:spPr>
            <a:xfrm rot="5400000">
              <a:off x="5952" y="10310"/>
              <a:ext cx="430" cy="5"/>
            </a:xfrm>
            <a:prstGeom prst="straightConnector1">
              <a:avLst/>
            </a:prstGeom>
            <a:ln w="15875">
              <a:solidFill>
                <a:srgbClr val="2E54A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rot="5400000" flipH="1">
              <a:off x="6691" y="10301"/>
              <a:ext cx="40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H="1">
              <a:off x="6160" y="10098"/>
              <a:ext cx="749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16" name="文本框 115"/>
          <p:cNvSpPr txBox="1"/>
          <p:nvPr/>
        </p:nvSpPr>
        <p:spPr>
          <a:xfrm>
            <a:off x="5029200" y="4928870"/>
            <a:ext cx="15265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研究内容三：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面向海域自主侦测任务的边缘频谱智能处理</a:t>
            </a:r>
          </a:p>
        </p:txBody>
      </p:sp>
      <p:cxnSp>
        <p:nvCxnSpPr>
          <p:cNvPr id="117" name="直接箭头连接符 116"/>
          <p:cNvCxnSpPr/>
          <p:nvPr/>
        </p:nvCxnSpPr>
        <p:spPr>
          <a:xfrm flipH="1">
            <a:off x="5230495" y="6872605"/>
            <a:ext cx="1905" cy="177800"/>
          </a:xfrm>
          <a:prstGeom prst="straightConnector1">
            <a:avLst/>
          </a:prstGeom>
          <a:ln w="15875">
            <a:solidFill>
              <a:srgbClr val="2E54A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圆角矩形 117"/>
          <p:cNvSpPr/>
          <p:nvPr/>
        </p:nvSpPr>
        <p:spPr>
          <a:xfrm>
            <a:off x="4996180" y="645160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圆角矩形 120"/>
          <p:cNvSpPr/>
          <p:nvPr/>
        </p:nvSpPr>
        <p:spPr>
          <a:xfrm>
            <a:off x="5570855" y="645160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圆角矩形 121"/>
          <p:cNvSpPr/>
          <p:nvPr/>
        </p:nvSpPr>
        <p:spPr>
          <a:xfrm>
            <a:off x="6145530" y="6451600"/>
            <a:ext cx="500380" cy="374650"/>
          </a:xfrm>
          <a:prstGeom prst="roundRect">
            <a:avLst>
              <a:gd name="adj" fmla="val 9830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文本框 122"/>
          <p:cNvSpPr txBox="1"/>
          <p:nvPr/>
        </p:nvSpPr>
        <p:spPr>
          <a:xfrm>
            <a:off x="5010785" y="642302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知识图谱</a:t>
            </a:r>
          </a:p>
        </p:txBody>
      </p:sp>
      <p:sp>
        <p:nvSpPr>
          <p:cNvPr id="124" name="文本框 123"/>
          <p:cNvSpPr txBox="1"/>
          <p:nvPr/>
        </p:nvSpPr>
        <p:spPr>
          <a:xfrm>
            <a:off x="5158105" y="5814695"/>
            <a:ext cx="61341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支撑</a:t>
            </a:r>
          </a:p>
        </p:txBody>
      </p:sp>
      <p:cxnSp>
        <p:nvCxnSpPr>
          <p:cNvPr id="125" name="直接箭头连接符 124"/>
          <p:cNvCxnSpPr/>
          <p:nvPr/>
        </p:nvCxnSpPr>
        <p:spPr>
          <a:xfrm flipH="1">
            <a:off x="5821045" y="6872605"/>
            <a:ext cx="1905" cy="177800"/>
          </a:xfrm>
          <a:prstGeom prst="straightConnector1">
            <a:avLst/>
          </a:prstGeom>
          <a:ln w="15875">
            <a:solidFill>
              <a:srgbClr val="2E54A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直接箭头连接符 125"/>
          <p:cNvCxnSpPr/>
          <p:nvPr/>
        </p:nvCxnSpPr>
        <p:spPr>
          <a:xfrm flipH="1">
            <a:off x="6395085" y="6872605"/>
            <a:ext cx="1905" cy="177800"/>
          </a:xfrm>
          <a:prstGeom prst="straightConnector1">
            <a:avLst/>
          </a:prstGeom>
          <a:ln w="15875">
            <a:solidFill>
              <a:srgbClr val="2E54A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文本框 126"/>
          <p:cNvSpPr txBox="1"/>
          <p:nvPr/>
        </p:nvSpPr>
        <p:spPr>
          <a:xfrm>
            <a:off x="5592445" y="642302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在线决策</a:t>
            </a:r>
          </a:p>
        </p:txBody>
      </p:sp>
      <p:sp>
        <p:nvSpPr>
          <p:cNvPr id="128" name="文本框 127"/>
          <p:cNvSpPr txBox="1"/>
          <p:nvPr/>
        </p:nvSpPr>
        <p:spPr>
          <a:xfrm>
            <a:off x="6168390" y="642302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可信决策</a:t>
            </a:r>
          </a:p>
        </p:txBody>
      </p:sp>
      <p:sp>
        <p:nvSpPr>
          <p:cNvPr id="130" name="圆角矩形 129"/>
          <p:cNvSpPr/>
          <p:nvPr/>
        </p:nvSpPr>
        <p:spPr>
          <a:xfrm>
            <a:off x="4996180" y="711454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1" name="圆角矩形 130"/>
          <p:cNvSpPr/>
          <p:nvPr/>
        </p:nvSpPr>
        <p:spPr>
          <a:xfrm>
            <a:off x="5570855" y="711454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圆角矩形 131"/>
          <p:cNvSpPr/>
          <p:nvPr/>
        </p:nvSpPr>
        <p:spPr>
          <a:xfrm>
            <a:off x="6145530" y="7114540"/>
            <a:ext cx="500380" cy="374650"/>
          </a:xfrm>
          <a:prstGeom prst="roundRect">
            <a:avLst>
              <a:gd name="adj" fmla="val 9830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文本框 132"/>
          <p:cNvSpPr txBox="1"/>
          <p:nvPr/>
        </p:nvSpPr>
        <p:spPr>
          <a:xfrm>
            <a:off x="5010785" y="708596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如何认知？</a:t>
            </a:r>
          </a:p>
        </p:txBody>
      </p:sp>
      <p:sp>
        <p:nvSpPr>
          <p:cNvPr id="134" name="文本框 133"/>
          <p:cNvSpPr txBox="1"/>
          <p:nvPr/>
        </p:nvSpPr>
        <p:spPr>
          <a:xfrm>
            <a:off x="5592445" y="708596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如何演化？</a:t>
            </a:r>
          </a:p>
        </p:txBody>
      </p:sp>
      <p:sp>
        <p:nvSpPr>
          <p:cNvPr id="140" name="文本框 139"/>
          <p:cNvSpPr txBox="1"/>
          <p:nvPr/>
        </p:nvSpPr>
        <p:spPr>
          <a:xfrm>
            <a:off x="6168390" y="708596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如何互信？</a:t>
            </a:r>
          </a:p>
        </p:txBody>
      </p:sp>
      <p:grpSp>
        <p:nvGrpSpPr>
          <p:cNvPr id="146" name="组合 145"/>
          <p:cNvGrpSpPr/>
          <p:nvPr/>
        </p:nvGrpSpPr>
        <p:grpSpPr>
          <a:xfrm flipH="1">
            <a:off x="5224780" y="6125845"/>
            <a:ext cx="474980" cy="273050"/>
            <a:chOff x="6160" y="10097"/>
            <a:chExt cx="748" cy="430"/>
          </a:xfrm>
        </p:grpSpPr>
        <p:cxnSp>
          <p:nvCxnSpPr>
            <p:cNvPr id="148" name="直接箭头连接符 147"/>
            <p:cNvCxnSpPr/>
            <p:nvPr/>
          </p:nvCxnSpPr>
          <p:spPr>
            <a:xfrm rot="5400000">
              <a:off x="5952" y="10310"/>
              <a:ext cx="430" cy="5"/>
            </a:xfrm>
            <a:prstGeom prst="straightConnector1">
              <a:avLst/>
            </a:prstGeom>
            <a:ln w="15875">
              <a:solidFill>
                <a:srgbClr val="2E54A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/>
            <p:nvPr/>
          </p:nvCxnSpPr>
          <p:spPr>
            <a:xfrm rot="5400000" flipH="1">
              <a:off x="6691" y="10301"/>
              <a:ext cx="40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/>
          </p:nvCxnSpPr>
          <p:spPr>
            <a:xfrm flipH="1">
              <a:off x="6160" y="10098"/>
              <a:ext cx="749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51" name="文本框 150"/>
          <p:cNvSpPr txBox="1"/>
          <p:nvPr/>
        </p:nvSpPr>
        <p:spPr>
          <a:xfrm>
            <a:off x="5889625" y="5814695"/>
            <a:ext cx="5524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保障</a:t>
            </a:r>
          </a:p>
        </p:txBody>
      </p:sp>
      <p:sp>
        <p:nvSpPr>
          <p:cNvPr id="153" name="箭头: 燕尾形 1202"/>
          <p:cNvSpPr/>
          <p:nvPr/>
        </p:nvSpPr>
        <p:spPr>
          <a:xfrm rot="16200000" flipH="1">
            <a:off x="3548380" y="7684135"/>
            <a:ext cx="408305" cy="324485"/>
          </a:xfrm>
          <a:prstGeom prst="notchedRightArrow">
            <a:avLst/>
          </a:prstGeom>
          <a:gradFill>
            <a:gsLst>
              <a:gs pos="100000">
                <a:srgbClr val="2E54A1"/>
              </a:gs>
              <a:gs pos="5000">
                <a:srgbClr val="2E54A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2956118" y="7692017"/>
            <a:ext cx="752267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</a:t>
            </a:r>
            <a:endParaRPr lang="zh-CN" altLang="en-US" sz="174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3808805" y="7691990"/>
            <a:ext cx="752267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基座</a:t>
            </a:r>
            <a:endParaRPr lang="zh-CN" altLang="en-US" sz="174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9" name="箭头: 燕尾形 1202"/>
          <p:cNvSpPr/>
          <p:nvPr/>
        </p:nvSpPr>
        <p:spPr>
          <a:xfrm rot="16200000" flipH="1">
            <a:off x="5577840" y="7684135"/>
            <a:ext cx="408305" cy="324485"/>
          </a:xfrm>
          <a:prstGeom prst="notchedRightArrow">
            <a:avLst/>
          </a:prstGeom>
          <a:gradFill>
            <a:gsLst>
              <a:gs pos="100000">
                <a:srgbClr val="2E54A1"/>
              </a:gs>
              <a:gs pos="5000">
                <a:srgbClr val="2E54A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0" name="文本框 169"/>
          <p:cNvSpPr txBox="1"/>
          <p:nvPr/>
        </p:nvSpPr>
        <p:spPr>
          <a:xfrm>
            <a:off x="4985578" y="7692017"/>
            <a:ext cx="752267" cy="358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决策</a:t>
            </a:r>
            <a:endParaRPr lang="zh-CN" altLang="en-US" sz="174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8" name="文本框 177"/>
          <p:cNvSpPr txBox="1"/>
          <p:nvPr/>
        </p:nvSpPr>
        <p:spPr>
          <a:xfrm>
            <a:off x="5838265" y="7691990"/>
            <a:ext cx="752267" cy="358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保障</a:t>
            </a:r>
            <a:endParaRPr lang="zh-CN" altLang="en-US" sz="174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26" name="图形 725">
            <a:extLst>
              <a:ext uri="{FF2B5EF4-FFF2-40B4-BE49-F238E27FC236}">
                <a16:creationId xmlns:a16="http://schemas.microsoft.com/office/drawing/2014/main" id="{06B45754-D31B-2E37-5C37-5D74B714F2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559040" y="-5715"/>
            <a:ext cx="9648229" cy="106918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D8AFE-9427-1361-A873-9839EC359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D07ECE66-2078-38E5-4805-23E26F43F7D3}"/>
              </a:ext>
            </a:extLst>
          </p:cNvPr>
          <p:cNvSpPr/>
          <p:nvPr/>
        </p:nvSpPr>
        <p:spPr>
          <a:xfrm>
            <a:off x="594995" y="4629150"/>
            <a:ext cx="6371590" cy="5563870"/>
          </a:xfrm>
          <a:prstGeom prst="roundRect">
            <a:avLst>
              <a:gd name="adj" fmla="val 5871"/>
            </a:avLst>
          </a:prstGeom>
          <a:solidFill>
            <a:schemeClr val="accent5">
              <a:lumMod val="20000"/>
              <a:lumOff val="80000"/>
            </a:schemeClr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35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2" name="矩形: 圆角 8">
            <a:extLst>
              <a:ext uri="{FF2B5EF4-FFF2-40B4-BE49-F238E27FC236}">
                <a16:creationId xmlns:a16="http://schemas.microsoft.com/office/drawing/2014/main" id="{AE1A846C-B5E7-0BD4-285E-201D7111F1FD}"/>
              </a:ext>
            </a:extLst>
          </p:cNvPr>
          <p:cNvSpPr/>
          <p:nvPr/>
        </p:nvSpPr>
        <p:spPr>
          <a:xfrm flipH="1">
            <a:off x="832485" y="4879340"/>
            <a:ext cx="1886585" cy="2745105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2540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38" name="矩形: 圆角 8">
            <a:extLst>
              <a:ext uri="{FF2B5EF4-FFF2-40B4-BE49-F238E27FC236}">
                <a16:creationId xmlns:a16="http://schemas.microsoft.com/office/drawing/2014/main" id="{635C31E1-70C3-98FE-A6C7-499231CA85AA}"/>
              </a:ext>
            </a:extLst>
          </p:cNvPr>
          <p:cNvSpPr/>
          <p:nvPr/>
        </p:nvSpPr>
        <p:spPr>
          <a:xfrm flipH="1">
            <a:off x="2838450" y="4879340"/>
            <a:ext cx="1886585" cy="2745105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2540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41" name="矩形: 圆角 8">
            <a:extLst>
              <a:ext uri="{FF2B5EF4-FFF2-40B4-BE49-F238E27FC236}">
                <a16:creationId xmlns:a16="http://schemas.microsoft.com/office/drawing/2014/main" id="{2F6DE11F-EC40-C010-8310-8A56995286F4}"/>
              </a:ext>
            </a:extLst>
          </p:cNvPr>
          <p:cNvSpPr/>
          <p:nvPr/>
        </p:nvSpPr>
        <p:spPr>
          <a:xfrm flipH="1">
            <a:off x="4860290" y="4879340"/>
            <a:ext cx="1886585" cy="2745105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2540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1DF8146-B734-E1EB-01F6-0713D05344E9}"/>
              </a:ext>
            </a:extLst>
          </p:cNvPr>
          <p:cNvSpPr/>
          <p:nvPr/>
        </p:nvSpPr>
        <p:spPr>
          <a:xfrm>
            <a:off x="594995" y="532130"/>
            <a:ext cx="6370955" cy="3716655"/>
          </a:xfrm>
          <a:prstGeom prst="roundRect">
            <a:avLst>
              <a:gd name="adj" fmla="val 7070"/>
            </a:avLst>
          </a:prstGeom>
          <a:solidFill>
            <a:srgbClr val="FADBDF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35" dirty="0">
              <a:solidFill>
                <a:srgbClr val="C00000"/>
              </a:solidFill>
            </a:endParaRPr>
          </a:p>
        </p:txBody>
      </p:sp>
      <p:sp>
        <p:nvSpPr>
          <p:cNvPr id="11" name="矩形: 圆角 1150">
            <a:extLst>
              <a:ext uri="{FF2B5EF4-FFF2-40B4-BE49-F238E27FC236}">
                <a16:creationId xmlns:a16="http://schemas.microsoft.com/office/drawing/2014/main" id="{7D6B6120-3B29-8245-A25A-B1E2594B2B3A}"/>
              </a:ext>
            </a:extLst>
          </p:cNvPr>
          <p:cNvSpPr/>
          <p:nvPr/>
        </p:nvSpPr>
        <p:spPr>
          <a:xfrm>
            <a:off x="1318895" y="2665095"/>
            <a:ext cx="1704340" cy="1478915"/>
          </a:xfrm>
          <a:prstGeom prst="roundRect">
            <a:avLst>
              <a:gd name="adj" fmla="val 4026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: 圆角 1150">
            <a:extLst>
              <a:ext uri="{FF2B5EF4-FFF2-40B4-BE49-F238E27FC236}">
                <a16:creationId xmlns:a16="http://schemas.microsoft.com/office/drawing/2014/main" id="{5BE63ADE-5D72-6181-D030-0FD616116D20}"/>
              </a:ext>
            </a:extLst>
          </p:cNvPr>
          <p:cNvSpPr/>
          <p:nvPr/>
        </p:nvSpPr>
        <p:spPr>
          <a:xfrm>
            <a:off x="1318895" y="702310"/>
            <a:ext cx="2169795" cy="1840230"/>
          </a:xfrm>
          <a:prstGeom prst="roundRect">
            <a:avLst>
              <a:gd name="adj" fmla="val 4026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1" name="矩形: 圆角 1150">
            <a:extLst>
              <a:ext uri="{FF2B5EF4-FFF2-40B4-BE49-F238E27FC236}">
                <a16:creationId xmlns:a16="http://schemas.microsoft.com/office/drawing/2014/main" id="{D70F313A-0064-68C7-EF6E-27F36724EC62}"/>
              </a:ext>
            </a:extLst>
          </p:cNvPr>
          <p:cNvSpPr/>
          <p:nvPr/>
        </p:nvSpPr>
        <p:spPr>
          <a:xfrm>
            <a:off x="3615055" y="702310"/>
            <a:ext cx="3131185" cy="1840230"/>
          </a:xfrm>
          <a:prstGeom prst="roundRect">
            <a:avLst>
              <a:gd name="adj" fmla="val 4026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9A8D3D7-1392-FDDF-4CBE-7A7DB65D0DDF}"/>
              </a:ext>
            </a:extLst>
          </p:cNvPr>
          <p:cNvSpPr txBox="1"/>
          <p:nvPr/>
        </p:nvSpPr>
        <p:spPr>
          <a:xfrm>
            <a:off x="1385628" y="1343093"/>
            <a:ext cx="1026999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机械臂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AD25BD0-4551-F53F-78FA-6DDFA35CD23F}"/>
              </a:ext>
            </a:extLst>
          </p:cNvPr>
          <p:cNvSpPr txBox="1"/>
          <p:nvPr/>
        </p:nvSpPr>
        <p:spPr>
          <a:xfrm>
            <a:off x="1429828" y="2177941"/>
            <a:ext cx="1026999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机器人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254AAD6-4D4B-525E-818D-BAE1307D93FE}"/>
              </a:ext>
            </a:extLst>
          </p:cNvPr>
          <p:cNvSpPr txBox="1"/>
          <p:nvPr/>
        </p:nvSpPr>
        <p:spPr>
          <a:xfrm>
            <a:off x="2017395" y="2969260"/>
            <a:ext cx="10756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云边端</a:t>
            </a:r>
          </a:p>
          <a:p>
            <a:pPr algn="ctr">
              <a:buClrTx/>
              <a:buSzTx/>
              <a:buFontTx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协同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43010F2-18FC-DB94-A869-F0E2143D4C80}"/>
              </a:ext>
            </a:extLst>
          </p:cNvPr>
          <p:cNvSpPr txBox="1"/>
          <p:nvPr/>
        </p:nvSpPr>
        <p:spPr>
          <a:xfrm>
            <a:off x="2317172" y="1343093"/>
            <a:ext cx="1026999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无人车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39ADDE2C-176C-6E09-1790-FB799015F969}"/>
              </a:ext>
            </a:extLst>
          </p:cNvPr>
          <p:cNvSpPr txBox="1"/>
          <p:nvPr/>
        </p:nvSpPr>
        <p:spPr>
          <a:xfrm>
            <a:off x="3615261" y="1343093"/>
            <a:ext cx="971295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传感器</a:t>
            </a: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EBD76EDE-9A9E-C59E-A720-7BF00AC217BA}"/>
              </a:ext>
            </a:extLst>
          </p:cNvPr>
          <p:cNvSpPr txBox="1"/>
          <p:nvPr/>
        </p:nvSpPr>
        <p:spPr>
          <a:xfrm>
            <a:off x="4821605" y="1350353"/>
            <a:ext cx="669782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算力</a:t>
            </a: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221BBB5F-9F00-94CC-F788-AB4FBB1EF954}"/>
              </a:ext>
            </a:extLst>
          </p:cNvPr>
          <p:cNvSpPr txBox="1"/>
          <p:nvPr/>
        </p:nvSpPr>
        <p:spPr>
          <a:xfrm>
            <a:off x="5886192" y="1350574"/>
            <a:ext cx="669782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</a:t>
            </a: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A9EE3596-EA97-C22E-8EFE-52C7CF18FD10}"/>
              </a:ext>
            </a:extLst>
          </p:cNvPr>
          <p:cNvSpPr txBox="1"/>
          <p:nvPr/>
        </p:nvSpPr>
        <p:spPr>
          <a:xfrm>
            <a:off x="4821740" y="2177941"/>
            <a:ext cx="669782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6171BEB2-7DCC-F5AD-5E37-B3243B3672F8}"/>
              </a:ext>
            </a:extLst>
          </p:cNvPr>
          <p:cNvSpPr txBox="1"/>
          <p:nvPr/>
        </p:nvSpPr>
        <p:spPr>
          <a:xfrm>
            <a:off x="3757120" y="2178269"/>
            <a:ext cx="669782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8EBA5665-7FCE-6437-4C08-813126897622}"/>
              </a:ext>
            </a:extLst>
          </p:cNvPr>
          <p:cNvSpPr txBox="1"/>
          <p:nvPr/>
        </p:nvSpPr>
        <p:spPr>
          <a:xfrm>
            <a:off x="1522140" y="3619091"/>
            <a:ext cx="140654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一致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难！</a:t>
            </a:r>
          </a:p>
        </p:txBody>
      </p:sp>
      <p:pic>
        <p:nvPicPr>
          <p:cNvPr id="142" name="Picture 2" descr="Manufacturing ">
            <a:extLst>
              <a:ext uri="{FF2B5EF4-FFF2-40B4-BE49-F238E27FC236}">
                <a16:creationId xmlns:a16="http://schemas.microsoft.com/office/drawing/2014/main" id="{0F11EF84-DF38-042A-B3FA-6AA0E3D7E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130" y="811530"/>
            <a:ext cx="523875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Picture 32" descr="Driverless car">
            <a:extLst>
              <a:ext uri="{FF2B5EF4-FFF2-40B4-BE49-F238E27FC236}">
                <a16:creationId xmlns:a16="http://schemas.microsoft.com/office/drawing/2014/main" id="{422D21FB-286F-53AF-2582-650456470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510" y="819150"/>
            <a:ext cx="523875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Picture 6" descr="Robot ">
            <a:extLst>
              <a:ext uri="{FF2B5EF4-FFF2-40B4-BE49-F238E27FC236}">
                <a16:creationId xmlns:a16="http://schemas.microsoft.com/office/drawing/2014/main" id="{0B8CCB6C-DAB4-4619-E3DC-E111E457F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130" y="1670685"/>
            <a:ext cx="523875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Picture 4" descr="More">
            <a:extLst>
              <a:ext uri="{FF2B5EF4-FFF2-40B4-BE49-F238E27FC236}">
                <a16:creationId xmlns:a16="http://schemas.microsoft.com/office/drawing/2014/main" id="{814CB980-9E26-65DD-5A2E-639E627AA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510" y="1861185"/>
            <a:ext cx="523875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" name="图片 95">
            <a:extLst>
              <a:ext uri="{FF2B5EF4-FFF2-40B4-BE49-F238E27FC236}">
                <a16:creationId xmlns:a16="http://schemas.microsoft.com/office/drawing/2014/main" id="{B8BF274A-C078-9FBE-809B-E23FB63EB94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6" r="6204" b="14629"/>
          <a:stretch>
            <a:fillRect/>
          </a:stretch>
        </p:blipFill>
        <p:spPr>
          <a:xfrm>
            <a:off x="1509395" y="2883535"/>
            <a:ext cx="688340" cy="688340"/>
          </a:xfrm>
          <a:prstGeom prst="rect">
            <a:avLst/>
          </a:prstGeom>
        </p:spPr>
      </p:pic>
      <p:sp>
        <p:nvSpPr>
          <p:cNvPr id="693" name="圆角矩形 692">
            <a:extLst>
              <a:ext uri="{FF2B5EF4-FFF2-40B4-BE49-F238E27FC236}">
                <a16:creationId xmlns:a16="http://schemas.microsoft.com/office/drawing/2014/main" id="{0CD80A2D-5B89-ED35-D13D-EEB87D1597E3}"/>
              </a:ext>
            </a:extLst>
          </p:cNvPr>
          <p:cNvSpPr/>
          <p:nvPr/>
        </p:nvSpPr>
        <p:spPr>
          <a:xfrm>
            <a:off x="346075" y="333375"/>
            <a:ext cx="6867525" cy="10041890"/>
          </a:xfrm>
          <a:prstGeom prst="roundRect">
            <a:avLst>
              <a:gd name="adj" fmla="val 3556"/>
            </a:avLst>
          </a:prstGeom>
          <a:noFill/>
          <a:ln w="254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/>
          </a:p>
        </p:txBody>
      </p:sp>
      <p:sp>
        <p:nvSpPr>
          <p:cNvPr id="147" name="箭头: 燕尾形 1202">
            <a:extLst>
              <a:ext uri="{FF2B5EF4-FFF2-40B4-BE49-F238E27FC236}">
                <a16:creationId xmlns:a16="http://schemas.microsoft.com/office/drawing/2014/main" id="{98F1B7E1-FEDF-AF80-F2BA-0CA5FF80990C}"/>
              </a:ext>
            </a:extLst>
          </p:cNvPr>
          <p:cNvSpPr/>
          <p:nvPr/>
        </p:nvSpPr>
        <p:spPr>
          <a:xfrm rot="16200000" flipH="1">
            <a:off x="1410970" y="4252595"/>
            <a:ext cx="3746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7" name="矩形: 圆角 8">
            <a:extLst>
              <a:ext uri="{FF2B5EF4-FFF2-40B4-BE49-F238E27FC236}">
                <a16:creationId xmlns:a16="http://schemas.microsoft.com/office/drawing/2014/main" id="{D42A845E-D289-35C3-30D5-DA4098F51B29}"/>
              </a:ext>
            </a:extLst>
          </p:cNvPr>
          <p:cNvSpPr/>
          <p:nvPr/>
        </p:nvSpPr>
        <p:spPr>
          <a:xfrm>
            <a:off x="832485" y="8140065"/>
            <a:ext cx="5913755" cy="1819275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2540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7699DF33-5709-5E3A-3F90-9D2D2F1CA00A}"/>
              </a:ext>
            </a:extLst>
          </p:cNvPr>
          <p:cNvSpPr txBox="1"/>
          <p:nvPr/>
        </p:nvSpPr>
        <p:spPr>
          <a:xfrm>
            <a:off x="938530" y="4928870"/>
            <a:ext cx="161798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研究内容一：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结合云智算和物联网技术的“远程大脑”理论体系</a:t>
            </a:r>
          </a:p>
        </p:txBody>
      </p:sp>
      <p:cxnSp>
        <p:nvCxnSpPr>
          <p:cNvPr id="163" name="直接箭头连接符 162">
            <a:extLst>
              <a:ext uri="{FF2B5EF4-FFF2-40B4-BE49-F238E27FC236}">
                <a16:creationId xmlns:a16="http://schemas.microsoft.com/office/drawing/2014/main" id="{D75D6256-BF34-9122-EA70-453500C29970}"/>
              </a:ext>
            </a:extLst>
          </p:cNvPr>
          <p:cNvCxnSpPr/>
          <p:nvPr/>
        </p:nvCxnSpPr>
        <p:spPr>
          <a:xfrm flipH="1">
            <a:off x="1185545" y="6872605"/>
            <a:ext cx="1905" cy="177800"/>
          </a:xfrm>
          <a:prstGeom prst="straightConnector1">
            <a:avLst/>
          </a:prstGeom>
          <a:ln w="15875">
            <a:solidFill>
              <a:srgbClr val="2E54A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C00FE3ED-E481-4012-6EB1-6545F07C188F}"/>
              </a:ext>
            </a:extLst>
          </p:cNvPr>
          <p:cNvGrpSpPr/>
          <p:nvPr/>
        </p:nvGrpSpPr>
        <p:grpSpPr>
          <a:xfrm>
            <a:off x="1332548" y="6124575"/>
            <a:ext cx="887095" cy="259080"/>
            <a:chOff x="15328" y="12018"/>
            <a:chExt cx="1397" cy="408"/>
          </a:xfrm>
        </p:grpSpPr>
        <p:cxnSp>
          <p:nvCxnSpPr>
            <p:cNvPr id="180" name="直接连接符 179">
              <a:extLst>
                <a:ext uri="{FF2B5EF4-FFF2-40B4-BE49-F238E27FC236}">
                  <a16:creationId xmlns:a16="http://schemas.microsoft.com/office/drawing/2014/main" id="{C04847A4-7F8D-53C6-9941-A4E0B3E6F3DE}"/>
                </a:ext>
              </a:extLst>
            </p:cNvPr>
            <p:cNvCxnSpPr/>
            <p:nvPr/>
          </p:nvCxnSpPr>
          <p:spPr>
            <a:xfrm rot="5400000" flipH="1">
              <a:off x="16500" y="12222"/>
              <a:ext cx="40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2" name="直接连接符 181">
              <a:extLst>
                <a:ext uri="{FF2B5EF4-FFF2-40B4-BE49-F238E27FC236}">
                  <a16:creationId xmlns:a16="http://schemas.microsoft.com/office/drawing/2014/main" id="{7883BDDB-7084-9673-1B25-02838142AB59}"/>
                </a:ext>
              </a:extLst>
            </p:cNvPr>
            <p:cNvCxnSpPr/>
            <p:nvPr/>
          </p:nvCxnSpPr>
          <p:spPr>
            <a:xfrm rot="5400000" flipH="1">
              <a:off x="15135" y="12222"/>
              <a:ext cx="40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D4A99CA3-CD70-A898-F580-4A152ACC6F12}"/>
                </a:ext>
              </a:extLst>
            </p:cNvPr>
            <p:cNvCxnSpPr/>
            <p:nvPr/>
          </p:nvCxnSpPr>
          <p:spPr>
            <a:xfrm rot="5400000">
              <a:off x="16026" y="11320"/>
              <a:ext cx="0" cy="1397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1" name="直接连接符 180">
              <a:extLst>
                <a:ext uri="{FF2B5EF4-FFF2-40B4-BE49-F238E27FC236}">
                  <a16:creationId xmlns:a16="http://schemas.microsoft.com/office/drawing/2014/main" id="{84A5E901-4AA3-EA2A-8B00-FF6B366C7102}"/>
                </a:ext>
              </a:extLst>
            </p:cNvPr>
            <p:cNvCxnSpPr/>
            <p:nvPr/>
          </p:nvCxnSpPr>
          <p:spPr>
            <a:xfrm rot="5400000" flipH="1">
              <a:off x="15821" y="12222"/>
              <a:ext cx="40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47" name="箭头: 燕尾形 1202">
            <a:extLst>
              <a:ext uri="{FF2B5EF4-FFF2-40B4-BE49-F238E27FC236}">
                <a16:creationId xmlns:a16="http://schemas.microsoft.com/office/drawing/2014/main" id="{E05F75A7-7B4A-C085-8993-848892C703AF}"/>
              </a:ext>
            </a:extLst>
          </p:cNvPr>
          <p:cNvSpPr/>
          <p:nvPr/>
        </p:nvSpPr>
        <p:spPr>
          <a:xfrm rot="16200000" flipH="1">
            <a:off x="1571625" y="7684135"/>
            <a:ext cx="408305" cy="324485"/>
          </a:xfrm>
          <a:prstGeom prst="notchedRightArrow">
            <a:avLst/>
          </a:prstGeom>
          <a:gradFill>
            <a:gsLst>
              <a:gs pos="100000">
                <a:srgbClr val="2E54A1"/>
              </a:gs>
              <a:gs pos="5000">
                <a:srgbClr val="2E54A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51" name="文本框 250">
            <a:extLst>
              <a:ext uri="{FF2B5EF4-FFF2-40B4-BE49-F238E27FC236}">
                <a16:creationId xmlns:a16="http://schemas.microsoft.com/office/drawing/2014/main" id="{5D613E21-827E-1810-9506-C2EA4D784BFC}"/>
              </a:ext>
            </a:extLst>
          </p:cNvPr>
          <p:cNvSpPr txBox="1"/>
          <p:nvPr/>
        </p:nvSpPr>
        <p:spPr>
          <a:xfrm>
            <a:off x="1052830" y="8237220"/>
            <a:ext cx="5578475" cy="3975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研究内容四：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智慧管廊巡检场景下的原型系统应用验证</a:t>
            </a:r>
          </a:p>
        </p:txBody>
      </p:sp>
      <p:sp>
        <p:nvSpPr>
          <p:cNvPr id="252" name="文本框 251">
            <a:extLst>
              <a:ext uri="{FF2B5EF4-FFF2-40B4-BE49-F238E27FC236}">
                <a16:creationId xmlns:a16="http://schemas.microsoft.com/office/drawing/2014/main" id="{45173405-6E9F-CB1A-94DF-2B957BF574A1}"/>
              </a:ext>
            </a:extLst>
          </p:cNvPr>
          <p:cNvSpPr txBox="1"/>
          <p:nvPr/>
        </p:nvSpPr>
        <p:spPr>
          <a:xfrm>
            <a:off x="1399540" y="9612630"/>
            <a:ext cx="11785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气体超标</a:t>
            </a:r>
          </a:p>
        </p:txBody>
      </p:sp>
      <p:sp>
        <p:nvSpPr>
          <p:cNvPr id="253" name="文本框 252">
            <a:extLst>
              <a:ext uri="{FF2B5EF4-FFF2-40B4-BE49-F238E27FC236}">
                <a16:creationId xmlns:a16="http://schemas.microsoft.com/office/drawing/2014/main" id="{D875B639-746D-CD68-3A2A-6EE7132D9582}"/>
              </a:ext>
            </a:extLst>
          </p:cNvPr>
          <p:cNvSpPr txBox="1"/>
          <p:nvPr/>
        </p:nvSpPr>
        <p:spPr>
          <a:xfrm>
            <a:off x="3155315" y="9612630"/>
            <a:ext cx="11785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热源异常</a:t>
            </a:r>
          </a:p>
        </p:txBody>
      </p:sp>
      <p:sp>
        <p:nvSpPr>
          <p:cNvPr id="254" name="文本框 253">
            <a:extLst>
              <a:ext uri="{FF2B5EF4-FFF2-40B4-BE49-F238E27FC236}">
                <a16:creationId xmlns:a16="http://schemas.microsoft.com/office/drawing/2014/main" id="{DFEE7C88-2752-F061-89BA-CBD482AF61C7}"/>
              </a:ext>
            </a:extLst>
          </p:cNvPr>
          <p:cNvSpPr txBox="1"/>
          <p:nvPr/>
        </p:nvSpPr>
        <p:spPr>
          <a:xfrm>
            <a:off x="5158105" y="9612630"/>
            <a:ext cx="8623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水位上涨</a:t>
            </a:r>
          </a:p>
        </p:txBody>
      </p:sp>
      <p:pic>
        <p:nvPicPr>
          <p:cNvPr id="255" name="图片 254">
            <a:extLst>
              <a:ext uri="{FF2B5EF4-FFF2-40B4-BE49-F238E27FC236}">
                <a16:creationId xmlns:a16="http://schemas.microsoft.com/office/drawing/2014/main" id="{B3D9D2E2-CFE8-E9F3-7170-9275F820417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74"/>
          <a:stretch>
            <a:fillRect/>
          </a:stretch>
        </p:blipFill>
        <p:spPr>
          <a:xfrm>
            <a:off x="1190625" y="8609330"/>
            <a:ext cx="1596390" cy="1008380"/>
          </a:xfrm>
          <a:prstGeom prst="rect">
            <a:avLst/>
          </a:prstGeom>
        </p:spPr>
      </p:pic>
      <p:pic>
        <p:nvPicPr>
          <p:cNvPr id="256" name="图片 255">
            <a:extLst>
              <a:ext uri="{FF2B5EF4-FFF2-40B4-BE49-F238E27FC236}">
                <a16:creationId xmlns:a16="http://schemas.microsoft.com/office/drawing/2014/main" id="{EFA62A19-95FE-99B2-3A52-932890FAF59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55" b="604"/>
          <a:stretch>
            <a:fillRect/>
          </a:stretch>
        </p:blipFill>
        <p:spPr>
          <a:xfrm flipH="1">
            <a:off x="3018790" y="8609330"/>
            <a:ext cx="1539875" cy="1024890"/>
          </a:xfrm>
          <a:prstGeom prst="rect">
            <a:avLst/>
          </a:prstGeom>
        </p:spPr>
      </p:pic>
      <p:pic>
        <p:nvPicPr>
          <p:cNvPr id="257" name="图片 256">
            <a:extLst>
              <a:ext uri="{FF2B5EF4-FFF2-40B4-BE49-F238E27FC236}">
                <a16:creationId xmlns:a16="http://schemas.microsoft.com/office/drawing/2014/main" id="{DEBA2F1D-7B6F-D3E3-3D78-00E0DD5F338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38" b="2860"/>
          <a:stretch>
            <a:fillRect/>
          </a:stretch>
        </p:blipFill>
        <p:spPr>
          <a:xfrm>
            <a:off x="4791075" y="8609330"/>
            <a:ext cx="1598295" cy="1031240"/>
          </a:xfrm>
          <a:prstGeom prst="rect">
            <a:avLst/>
          </a:prstGeom>
        </p:spPr>
      </p:pic>
      <p:sp>
        <p:nvSpPr>
          <p:cNvPr id="258" name="文本框 257">
            <a:extLst>
              <a:ext uri="{FF2B5EF4-FFF2-40B4-BE49-F238E27FC236}">
                <a16:creationId xmlns:a16="http://schemas.microsoft.com/office/drawing/2014/main" id="{8B8E4DA8-F2F8-4C47-96EF-00668D47B6F1}"/>
              </a:ext>
            </a:extLst>
          </p:cNvPr>
          <p:cNvSpPr txBox="1"/>
          <p:nvPr/>
        </p:nvSpPr>
        <p:spPr>
          <a:xfrm>
            <a:off x="979363" y="7692017"/>
            <a:ext cx="752267" cy="358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90E73103-7FC7-C74E-F00E-BE6813D536E9}"/>
              </a:ext>
            </a:extLst>
          </p:cNvPr>
          <p:cNvSpPr txBox="1"/>
          <p:nvPr/>
        </p:nvSpPr>
        <p:spPr>
          <a:xfrm>
            <a:off x="1832050" y="7691990"/>
            <a:ext cx="752267" cy="358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</a:p>
        </p:txBody>
      </p:sp>
      <p:sp>
        <p:nvSpPr>
          <p:cNvPr id="12" name="矩形: 圆角 1150">
            <a:extLst>
              <a:ext uri="{FF2B5EF4-FFF2-40B4-BE49-F238E27FC236}">
                <a16:creationId xmlns:a16="http://schemas.microsoft.com/office/drawing/2014/main" id="{6CEE5040-0EFF-5E71-19BD-B7AFF7899CD2}"/>
              </a:ext>
            </a:extLst>
          </p:cNvPr>
          <p:cNvSpPr/>
          <p:nvPr/>
        </p:nvSpPr>
        <p:spPr>
          <a:xfrm>
            <a:off x="3185795" y="2665095"/>
            <a:ext cx="1704340" cy="1478915"/>
          </a:xfrm>
          <a:prstGeom prst="roundRect">
            <a:avLst>
              <a:gd name="adj" fmla="val 4026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矩形: 圆角 1150">
            <a:extLst>
              <a:ext uri="{FF2B5EF4-FFF2-40B4-BE49-F238E27FC236}">
                <a16:creationId xmlns:a16="http://schemas.microsoft.com/office/drawing/2014/main" id="{B1F9D277-F10C-DFCE-8361-6B44AAFDDC25}"/>
              </a:ext>
            </a:extLst>
          </p:cNvPr>
          <p:cNvSpPr/>
          <p:nvPr/>
        </p:nvSpPr>
        <p:spPr>
          <a:xfrm>
            <a:off x="5041900" y="2665095"/>
            <a:ext cx="1704340" cy="1478915"/>
          </a:xfrm>
          <a:prstGeom prst="roundRect">
            <a:avLst>
              <a:gd name="adj" fmla="val 4026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8" name="Picture 4" descr="More">
            <a:extLst>
              <a:ext uri="{FF2B5EF4-FFF2-40B4-BE49-F238E27FC236}">
                <a16:creationId xmlns:a16="http://schemas.microsoft.com/office/drawing/2014/main" id="{54CFA14F-9F48-3501-11D7-5C13B62E6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6450" y="1809115"/>
            <a:ext cx="53276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图片 135">
            <a:extLst>
              <a:ext uri="{FF2B5EF4-FFF2-40B4-BE49-F238E27FC236}">
                <a16:creationId xmlns:a16="http://schemas.microsoft.com/office/drawing/2014/main" id="{B981B680-E4A7-FFED-D1D6-0D3121BC36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44290" y="855980"/>
            <a:ext cx="532765" cy="533400"/>
          </a:xfrm>
          <a:prstGeom prst="rect">
            <a:avLst/>
          </a:prstGeom>
        </p:spPr>
      </p:pic>
      <p:pic>
        <p:nvPicPr>
          <p:cNvPr id="137" name="Picture 10" descr="Gpu ">
            <a:extLst>
              <a:ext uri="{FF2B5EF4-FFF2-40B4-BE49-F238E27FC236}">
                <a16:creationId xmlns:a16="http://schemas.microsoft.com/office/drawing/2014/main" id="{36FA85A8-16AA-4498-25C2-0957056BB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135" y="845820"/>
            <a:ext cx="53276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Picture 12" descr="Bandwidth ">
            <a:extLst>
              <a:ext uri="{FF2B5EF4-FFF2-40B4-BE49-F238E27FC236}">
                <a16:creationId xmlns:a16="http://schemas.microsoft.com/office/drawing/2014/main" id="{D30DFA5F-C70A-F401-9105-EAFA28B8A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6450" y="809625"/>
            <a:ext cx="53276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图片 138" descr="ai-cloud">
            <a:extLst>
              <a:ext uri="{FF2B5EF4-FFF2-40B4-BE49-F238E27FC236}">
                <a16:creationId xmlns:a16="http://schemas.microsoft.com/office/drawing/2014/main" id="{82F03F99-E33A-D002-9E10-7FD8FE25E1F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90135" y="1675765"/>
            <a:ext cx="532765" cy="533400"/>
          </a:xfrm>
          <a:prstGeom prst="rect">
            <a:avLst/>
          </a:prstGeom>
        </p:spPr>
      </p:pic>
      <p:pic>
        <p:nvPicPr>
          <p:cNvPr id="141" name="图片 140" descr="disk">
            <a:extLst>
              <a:ext uri="{FF2B5EF4-FFF2-40B4-BE49-F238E27FC236}">
                <a16:creationId xmlns:a16="http://schemas.microsoft.com/office/drawing/2014/main" id="{D8DD15B3-8DB8-25EB-D2AE-6999A2E0B84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87470" y="1711325"/>
            <a:ext cx="466725" cy="466725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8D00BDFA-2EF2-8D3D-67D5-7CFA7DA4A781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705" y="2821305"/>
            <a:ext cx="745490" cy="745490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C1B018DD-50E1-494D-3305-BEFEF431581B}"/>
              </a:ext>
            </a:extLst>
          </p:cNvPr>
          <p:cNvSpPr txBox="1"/>
          <p:nvPr/>
        </p:nvSpPr>
        <p:spPr>
          <a:xfrm>
            <a:off x="3682365" y="2969260"/>
            <a:ext cx="14058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非结构化</a:t>
            </a:r>
          </a:p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多维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C4BC2D5-317C-32A2-36F3-BE8B9371EAEE}"/>
              </a:ext>
            </a:extLst>
          </p:cNvPr>
          <p:cNvSpPr txBox="1"/>
          <p:nvPr/>
        </p:nvSpPr>
        <p:spPr>
          <a:xfrm>
            <a:off x="3464605" y="3619091"/>
            <a:ext cx="140654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感知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难！</a:t>
            </a:r>
          </a:p>
        </p:txBody>
      </p:sp>
      <p:sp>
        <p:nvSpPr>
          <p:cNvPr id="18" name="箭头: 燕尾形 1202">
            <a:extLst>
              <a:ext uri="{FF2B5EF4-FFF2-40B4-BE49-F238E27FC236}">
                <a16:creationId xmlns:a16="http://schemas.microsoft.com/office/drawing/2014/main" id="{CAA01137-A516-9163-D89A-936F7F977B5C}"/>
              </a:ext>
            </a:extLst>
          </p:cNvPr>
          <p:cNvSpPr/>
          <p:nvPr/>
        </p:nvSpPr>
        <p:spPr>
          <a:xfrm rot="16200000" flipH="1">
            <a:off x="3850640" y="2447290"/>
            <a:ext cx="3746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135" name="图片 134">
            <a:extLst>
              <a:ext uri="{FF2B5EF4-FFF2-40B4-BE49-F238E27FC236}">
                <a16:creationId xmlns:a16="http://schemas.microsoft.com/office/drawing/2014/main" id="{1189098A-DF30-8540-B3C5-CFE4895A623C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255" y="2849880"/>
            <a:ext cx="795655" cy="795655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1C940E69-A105-8F28-B630-6EEFB1F5D3AB}"/>
              </a:ext>
            </a:extLst>
          </p:cNvPr>
          <p:cNvSpPr txBox="1"/>
          <p:nvPr/>
        </p:nvSpPr>
        <p:spPr>
          <a:xfrm>
            <a:off x="5728970" y="2969260"/>
            <a:ext cx="889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云边端</a:t>
            </a:r>
          </a:p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529ECBF-4952-32DC-700E-CE12731BBF7D}"/>
              </a:ext>
            </a:extLst>
          </p:cNvPr>
          <p:cNvSpPr txBox="1"/>
          <p:nvPr/>
        </p:nvSpPr>
        <p:spPr>
          <a:xfrm>
            <a:off x="5367020" y="3606165"/>
            <a:ext cx="12217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迁移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难！</a:t>
            </a:r>
          </a:p>
        </p:txBody>
      </p:sp>
      <p:sp>
        <p:nvSpPr>
          <p:cNvPr id="19" name="箭头: 燕尾形 1202">
            <a:extLst>
              <a:ext uri="{FF2B5EF4-FFF2-40B4-BE49-F238E27FC236}">
                <a16:creationId xmlns:a16="http://schemas.microsoft.com/office/drawing/2014/main" id="{6BD861E9-205F-F3CC-7535-D1F7218B485E}"/>
              </a:ext>
            </a:extLst>
          </p:cNvPr>
          <p:cNvSpPr/>
          <p:nvPr/>
        </p:nvSpPr>
        <p:spPr>
          <a:xfrm rot="16200000" flipH="1">
            <a:off x="5706745" y="2447290"/>
            <a:ext cx="3746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矩形: 圆角 1197">
            <a:extLst>
              <a:ext uri="{FF2B5EF4-FFF2-40B4-BE49-F238E27FC236}">
                <a16:creationId xmlns:a16="http://schemas.microsoft.com/office/drawing/2014/main" id="{4DA2CE6D-E6F2-25A2-46C7-6310A6DE6F04}"/>
              </a:ext>
            </a:extLst>
          </p:cNvPr>
          <p:cNvSpPr/>
          <p:nvPr/>
        </p:nvSpPr>
        <p:spPr>
          <a:xfrm>
            <a:off x="791210" y="689610"/>
            <a:ext cx="396240" cy="1868805"/>
          </a:xfrm>
          <a:prstGeom prst="roundRect">
            <a:avLst>
              <a:gd name="adj" fmla="val 27564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700" b="1" spc="-2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异构具身智能体</a:t>
            </a:r>
            <a:endParaRPr kumimoji="0" lang="zh-CN" altLang="en-US" sz="1700" b="1" i="0" u="none" strike="noStrike" kern="1200" cap="none" spc="-2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22" name="矩形: 圆角 1197">
            <a:extLst>
              <a:ext uri="{FF2B5EF4-FFF2-40B4-BE49-F238E27FC236}">
                <a16:creationId xmlns:a16="http://schemas.microsoft.com/office/drawing/2014/main" id="{2914CB2C-460D-FB63-7386-CDCA3507F774}"/>
              </a:ext>
            </a:extLst>
          </p:cNvPr>
          <p:cNvSpPr/>
          <p:nvPr/>
        </p:nvSpPr>
        <p:spPr>
          <a:xfrm>
            <a:off x="791210" y="2665730"/>
            <a:ext cx="396240" cy="1478280"/>
          </a:xfrm>
          <a:prstGeom prst="roundRect">
            <a:avLst>
              <a:gd name="adj" fmla="val 27564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700" b="1" i="0" u="none" strike="noStrike" kern="1200" cap="none" spc="-2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三大研究挑战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7139651-4279-4840-5DD1-9BBDF4D03F14}"/>
              </a:ext>
            </a:extLst>
          </p:cNvPr>
          <p:cNvSpPr txBox="1"/>
          <p:nvPr/>
        </p:nvSpPr>
        <p:spPr>
          <a:xfrm>
            <a:off x="1745615" y="4273550"/>
            <a:ext cx="14097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怎么协同？</a:t>
            </a:r>
          </a:p>
        </p:txBody>
      </p:sp>
      <p:sp>
        <p:nvSpPr>
          <p:cNvPr id="30" name="箭头: 燕尾形 1202">
            <a:extLst>
              <a:ext uri="{FF2B5EF4-FFF2-40B4-BE49-F238E27FC236}">
                <a16:creationId xmlns:a16="http://schemas.microsoft.com/office/drawing/2014/main" id="{B5E782E4-8FAC-19EB-FC27-275E4D7E34F2}"/>
              </a:ext>
            </a:extLst>
          </p:cNvPr>
          <p:cNvSpPr/>
          <p:nvPr/>
        </p:nvSpPr>
        <p:spPr>
          <a:xfrm rot="16200000" flipH="1">
            <a:off x="3318510" y="4252595"/>
            <a:ext cx="3746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FEF71A4-352D-32E5-F865-A867B9FC9ACE}"/>
              </a:ext>
            </a:extLst>
          </p:cNvPr>
          <p:cNvSpPr txBox="1"/>
          <p:nvPr/>
        </p:nvSpPr>
        <p:spPr>
          <a:xfrm>
            <a:off x="3653155" y="4274185"/>
            <a:ext cx="1409700" cy="3365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怎么感知？</a:t>
            </a:r>
          </a:p>
        </p:txBody>
      </p:sp>
      <p:sp>
        <p:nvSpPr>
          <p:cNvPr id="36" name="箭头: 燕尾形 1202">
            <a:extLst>
              <a:ext uri="{FF2B5EF4-FFF2-40B4-BE49-F238E27FC236}">
                <a16:creationId xmlns:a16="http://schemas.microsoft.com/office/drawing/2014/main" id="{83935CDA-3DE0-6CA1-134B-8667B657B8C6}"/>
              </a:ext>
            </a:extLst>
          </p:cNvPr>
          <p:cNvSpPr/>
          <p:nvPr/>
        </p:nvSpPr>
        <p:spPr>
          <a:xfrm rot="16200000" flipH="1">
            <a:off x="5164455" y="4252595"/>
            <a:ext cx="3746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B45FCA1-870F-65F3-4C23-03E7A783640A}"/>
              </a:ext>
            </a:extLst>
          </p:cNvPr>
          <p:cNvSpPr txBox="1"/>
          <p:nvPr/>
        </p:nvSpPr>
        <p:spPr>
          <a:xfrm>
            <a:off x="5499100" y="4274185"/>
            <a:ext cx="1409700" cy="3365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怎么迁移？</a:t>
            </a:r>
          </a:p>
        </p:txBody>
      </p:sp>
      <p:sp>
        <p:nvSpPr>
          <p:cNvPr id="42" name="箭头: 燕尾形 1202">
            <a:extLst>
              <a:ext uri="{FF2B5EF4-FFF2-40B4-BE49-F238E27FC236}">
                <a16:creationId xmlns:a16="http://schemas.microsoft.com/office/drawing/2014/main" id="{DFA21D5E-5808-A541-048E-9CBE7F264B8C}"/>
              </a:ext>
            </a:extLst>
          </p:cNvPr>
          <p:cNvSpPr/>
          <p:nvPr/>
        </p:nvSpPr>
        <p:spPr>
          <a:xfrm rot="16200000" flipH="1">
            <a:off x="1982470" y="2447290"/>
            <a:ext cx="3746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EAD353FA-3147-6B64-1CAB-9EC1FE96A46D}"/>
              </a:ext>
            </a:extLst>
          </p:cNvPr>
          <p:cNvSpPr/>
          <p:nvPr/>
        </p:nvSpPr>
        <p:spPr>
          <a:xfrm>
            <a:off x="951230" y="645160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AAFA3F52-92CA-5B99-FCB3-2F21A1732898}"/>
              </a:ext>
            </a:extLst>
          </p:cNvPr>
          <p:cNvSpPr/>
          <p:nvPr/>
        </p:nvSpPr>
        <p:spPr>
          <a:xfrm>
            <a:off x="1525905" y="645160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F93DCF64-B23D-18BF-5EAA-A636E0CABE18}"/>
              </a:ext>
            </a:extLst>
          </p:cNvPr>
          <p:cNvSpPr/>
          <p:nvPr/>
        </p:nvSpPr>
        <p:spPr>
          <a:xfrm>
            <a:off x="2100580" y="6451600"/>
            <a:ext cx="500380" cy="374650"/>
          </a:xfrm>
          <a:prstGeom prst="roundRect">
            <a:avLst>
              <a:gd name="adj" fmla="val 9830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8D19FDF1-0F1B-DCAD-3A2E-458FCEC283B5}"/>
              </a:ext>
            </a:extLst>
          </p:cNvPr>
          <p:cNvSpPr txBox="1"/>
          <p:nvPr/>
        </p:nvSpPr>
        <p:spPr>
          <a:xfrm>
            <a:off x="965835" y="642302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分层</a:t>
            </a:r>
          </a:p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架构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C3EFC589-0410-FACB-5D46-928164457F9C}"/>
              </a:ext>
            </a:extLst>
          </p:cNvPr>
          <p:cNvSpPr txBox="1"/>
          <p:nvPr/>
        </p:nvSpPr>
        <p:spPr>
          <a:xfrm>
            <a:off x="1442085" y="5814695"/>
            <a:ext cx="68580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协同</a:t>
            </a:r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17F08AA3-6B01-CB5D-9AA8-1382419397FC}"/>
              </a:ext>
            </a:extLst>
          </p:cNvPr>
          <p:cNvCxnSpPr/>
          <p:nvPr/>
        </p:nvCxnSpPr>
        <p:spPr>
          <a:xfrm flipH="1">
            <a:off x="1776095" y="6872605"/>
            <a:ext cx="1905" cy="177800"/>
          </a:xfrm>
          <a:prstGeom prst="straightConnector1">
            <a:avLst/>
          </a:prstGeom>
          <a:ln w="15875">
            <a:solidFill>
              <a:srgbClr val="2E54A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92827385-4D2F-E7AC-6CEA-2496F1A644D7}"/>
              </a:ext>
            </a:extLst>
          </p:cNvPr>
          <p:cNvCxnSpPr/>
          <p:nvPr/>
        </p:nvCxnSpPr>
        <p:spPr>
          <a:xfrm flipH="1">
            <a:off x="2350135" y="6872605"/>
            <a:ext cx="1905" cy="177800"/>
          </a:xfrm>
          <a:prstGeom prst="straightConnector1">
            <a:avLst/>
          </a:prstGeom>
          <a:ln w="15875">
            <a:solidFill>
              <a:srgbClr val="2E54A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B3B50AED-11B8-FD06-7929-293A1B1D29DC}"/>
              </a:ext>
            </a:extLst>
          </p:cNvPr>
          <p:cNvSpPr txBox="1"/>
          <p:nvPr/>
        </p:nvSpPr>
        <p:spPr>
          <a:xfrm>
            <a:off x="1547495" y="642302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弱网集群</a:t>
            </a:r>
          </a:p>
          <a:p>
            <a:pPr algn="ctr"/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15DE1C5-3193-41B1-D2C7-3BABFBAD944D}"/>
              </a:ext>
            </a:extLst>
          </p:cNvPr>
          <p:cNvSpPr txBox="1"/>
          <p:nvPr/>
        </p:nvSpPr>
        <p:spPr>
          <a:xfrm>
            <a:off x="2123440" y="642302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异构资源</a:t>
            </a:r>
          </a:p>
          <a:p>
            <a:pPr algn="ctr"/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圆角矩形 61">
            <a:extLst>
              <a:ext uri="{FF2B5EF4-FFF2-40B4-BE49-F238E27FC236}">
                <a16:creationId xmlns:a16="http://schemas.microsoft.com/office/drawing/2014/main" id="{B90BE90D-A4B5-BEF7-5762-EE5401E0BA1D}"/>
              </a:ext>
            </a:extLst>
          </p:cNvPr>
          <p:cNvSpPr/>
          <p:nvPr/>
        </p:nvSpPr>
        <p:spPr>
          <a:xfrm>
            <a:off x="951230" y="711454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638AB5FC-685A-CEE7-4A16-A30BB9C0F600}"/>
              </a:ext>
            </a:extLst>
          </p:cNvPr>
          <p:cNvSpPr/>
          <p:nvPr/>
        </p:nvSpPr>
        <p:spPr>
          <a:xfrm>
            <a:off x="1525905" y="711454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圆角矩形 63">
            <a:extLst>
              <a:ext uri="{FF2B5EF4-FFF2-40B4-BE49-F238E27FC236}">
                <a16:creationId xmlns:a16="http://schemas.microsoft.com/office/drawing/2014/main" id="{5FC076A7-FCB3-082F-D775-2EA7C6BB458F}"/>
              </a:ext>
            </a:extLst>
          </p:cNvPr>
          <p:cNvSpPr/>
          <p:nvPr/>
        </p:nvSpPr>
        <p:spPr>
          <a:xfrm>
            <a:off x="2100580" y="7114540"/>
            <a:ext cx="500380" cy="374650"/>
          </a:xfrm>
          <a:prstGeom prst="roundRect">
            <a:avLst>
              <a:gd name="adj" fmla="val 9830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16C92DE0-C612-C6FF-C9AE-A78386DBDA1E}"/>
              </a:ext>
            </a:extLst>
          </p:cNvPr>
          <p:cNvSpPr txBox="1"/>
          <p:nvPr/>
        </p:nvSpPr>
        <p:spPr>
          <a:xfrm>
            <a:off x="965835" y="708596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如何设计？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C7C7524-2656-2F2A-6039-7DC79F083E68}"/>
              </a:ext>
            </a:extLst>
          </p:cNvPr>
          <p:cNvSpPr txBox="1"/>
          <p:nvPr/>
        </p:nvSpPr>
        <p:spPr>
          <a:xfrm>
            <a:off x="1547495" y="708596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如何对齐？</a:t>
            </a:r>
          </a:p>
          <a:p>
            <a:pPr algn="ctr"/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B8EF95C1-B919-1711-5594-706D0A06821E}"/>
              </a:ext>
            </a:extLst>
          </p:cNvPr>
          <p:cNvSpPr txBox="1"/>
          <p:nvPr/>
        </p:nvSpPr>
        <p:spPr>
          <a:xfrm>
            <a:off x="2123440" y="708596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如何分配？</a:t>
            </a:r>
          </a:p>
        </p:txBody>
      </p: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4F6BC4DA-632A-D80A-244D-7D2AD2293C64}"/>
              </a:ext>
            </a:extLst>
          </p:cNvPr>
          <p:cNvGrpSpPr/>
          <p:nvPr/>
        </p:nvGrpSpPr>
        <p:grpSpPr>
          <a:xfrm>
            <a:off x="3911600" y="6125845"/>
            <a:ext cx="474980" cy="273050"/>
            <a:chOff x="6160" y="10097"/>
            <a:chExt cx="748" cy="430"/>
          </a:xfrm>
        </p:grpSpPr>
        <p:cxnSp>
          <p:nvCxnSpPr>
            <p:cNvPr id="210" name="直接箭头连接符 209">
              <a:extLst>
                <a:ext uri="{FF2B5EF4-FFF2-40B4-BE49-F238E27FC236}">
                  <a16:creationId xmlns:a16="http://schemas.microsoft.com/office/drawing/2014/main" id="{5DEC382A-9FAC-5D6E-D4C0-D8245A8C865E}"/>
                </a:ext>
              </a:extLst>
            </p:cNvPr>
            <p:cNvCxnSpPr/>
            <p:nvPr/>
          </p:nvCxnSpPr>
          <p:spPr>
            <a:xfrm rot="5400000">
              <a:off x="5952" y="10310"/>
              <a:ext cx="430" cy="5"/>
            </a:xfrm>
            <a:prstGeom prst="straightConnector1">
              <a:avLst/>
            </a:prstGeom>
            <a:ln w="15875">
              <a:solidFill>
                <a:srgbClr val="2E54A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8" name="直接连接符 207">
              <a:extLst>
                <a:ext uri="{FF2B5EF4-FFF2-40B4-BE49-F238E27FC236}">
                  <a16:creationId xmlns:a16="http://schemas.microsoft.com/office/drawing/2014/main" id="{F48CA8E0-D57A-D153-1C83-4D016D012E4A}"/>
                </a:ext>
              </a:extLst>
            </p:cNvPr>
            <p:cNvCxnSpPr/>
            <p:nvPr/>
          </p:nvCxnSpPr>
          <p:spPr>
            <a:xfrm rot="5400000" flipH="1">
              <a:off x="6691" y="10301"/>
              <a:ext cx="40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9" name="直接连接符 208">
              <a:extLst>
                <a:ext uri="{FF2B5EF4-FFF2-40B4-BE49-F238E27FC236}">
                  <a16:creationId xmlns:a16="http://schemas.microsoft.com/office/drawing/2014/main" id="{7157A229-3723-A1E0-4FAE-E2288F493B72}"/>
                </a:ext>
              </a:extLst>
            </p:cNvPr>
            <p:cNvCxnSpPr/>
            <p:nvPr/>
          </p:nvCxnSpPr>
          <p:spPr>
            <a:xfrm flipH="1">
              <a:off x="6160" y="10098"/>
              <a:ext cx="749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539B7E75-64D1-C8E9-50CD-49AC507E7295}"/>
              </a:ext>
            </a:extLst>
          </p:cNvPr>
          <p:cNvSpPr txBox="1"/>
          <p:nvPr/>
        </p:nvSpPr>
        <p:spPr>
          <a:xfrm>
            <a:off x="2994025" y="4928870"/>
            <a:ext cx="156718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研究内容二：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非结构化动态开放场景中的多维感知机理</a:t>
            </a:r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3BB36091-DD2C-5DA0-A898-82E86EBD915A}"/>
              </a:ext>
            </a:extLst>
          </p:cNvPr>
          <p:cNvCxnSpPr/>
          <p:nvPr/>
        </p:nvCxnSpPr>
        <p:spPr>
          <a:xfrm flipH="1">
            <a:off x="3215640" y="6872605"/>
            <a:ext cx="1905" cy="177800"/>
          </a:xfrm>
          <a:prstGeom prst="straightConnector1">
            <a:avLst/>
          </a:prstGeom>
          <a:ln w="15875">
            <a:solidFill>
              <a:srgbClr val="2E54A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圆角矩形 74">
            <a:extLst>
              <a:ext uri="{FF2B5EF4-FFF2-40B4-BE49-F238E27FC236}">
                <a16:creationId xmlns:a16="http://schemas.microsoft.com/office/drawing/2014/main" id="{62ADE7B0-D6BA-914A-C60C-4EE71740F4EF}"/>
              </a:ext>
            </a:extLst>
          </p:cNvPr>
          <p:cNvSpPr/>
          <p:nvPr/>
        </p:nvSpPr>
        <p:spPr>
          <a:xfrm>
            <a:off x="2981325" y="645160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B8A807CB-FF90-03CA-FCC6-61EC313E6DB7}"/>
              </a:ext>
            </a:extLst>
          </p:cNvPr>
          <p:cNvSpPr/>
          <p:nvPr/>
        </p:nvSpPr>
        <p:spPr>
          <a:xfrm>
            <a:off x="3556000" y="645160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圆角矩形 76">
            <a:extLst>
              <a:ext uri="{FF2B5EF4-FFF2-40B4-BE49-F238E27FC236}">
                <a16:creationId xmlns:a16="http://schemas.microsoft.com/office/drawing/2014/main" id="{A4859706-9987-E6DF-ED2C-A3172616E81A}"/>
              </a:ext>
            </a:extLst>
          </p:cNvPr>
          <p:cNvSpPr/>
          <p:nvPr/>
        </p:nvSpPr>
        <p:spPr>
          <a:xfrm>
            <a:off x="4130675" y="6451600"/>
            <a:ext cx="500380" cy="374650"/>
          </a:xfrm>
          <a:prstGeom prst="roundRect">
            <a:avLst>
              <a:gd name="adj" fmla="val 9830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394DC57B-06E9-78ED-1270-204B2290DC2E}"/>
              </a:ext>
            </a:extLst>
          </p:cNvPr>
          <p:cNvSpPr txBox="1"/>
          <p:nvPr/>
        </p:nvSpPr>
        <p:spPr>
          <a:xfrm>
            <a:off x="2995930" y="642302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主动感知</a:t>
            </a:r>
          </a:p>
          <a:p>
            <a:pPr algn="ctr"/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6C0EFFD9-5038-4981-83B9-8B1080C29F43}"/>
              </a:ext>
            </a:extLst>
          </p:cNvPr>
          <p:cNvSpPr txBox="1"/>
          <p:nvPr/>
        </p:nvSpPr>
        <p:spPr>
          <a:xfrm>
            <a:off x="3143250" y="5814695"/>
            <a:ext cx="61341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支撑</a:t>
            </a:r>
          </a:p>
        </p:txBody>
      </p: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8E2EB5F4-D538-E4A4-68F7-F741E7CD79AE}"/>
              </a:ext>
            </a:extLst>
          </p:cNvPr>
          <p:cNvCxnSpPr/>
          <p:nvPr/>
        </p:nvCxnSpPr>
        <p:spPr>
          <a:xfrm flipH="1">
            <a:off x="3806190" y="6872605"/>
            <a:ext cx="1905" cy="177800"/>
          </a:xfrm>
          <a:prstGeom prst="straightConnector1">
            <a:avLst/>
          </a:prstGeom>
          <a:ln w="15875">
            <a:solidFill>
              <a:srgbClr val="2E54A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DBD47F95-9175-9BEC-AA7C-4586839B7B32}"/>
              </a:ext>
            </a:extLst>
          </p:cNvPr>
          <p:cNvCxnSpPr/>
          <p:nvPr/>
        </p:nvCxnSpPr>
        <p:spPr>
          <a:xfrm flipH="1">
            <a:off x="4380230" y="6872605"/>
            <a:ext cx="1905" cy="177800"/>
          </a:xfrm>
          <a:prstGeom prst="straightConnector1">
            <a:avLst/>
          </a:prstGeom>
          <a:ln w="15875">
            <a:solidFill>
              <a:srgbClr val="2E54A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文本框 82">
            <a:extLst>
              <a:ext uri="{FF2B5EF4-FFF2-40B4-BE49-F238E27FC236}">
                <a16:creationId xmlns:a16="http://schemas.microsoft.com/office/drawing/2014/main" id="{104BFD57-638B-D45D-A15F-404FE030D713}"/>
              </a:ext>
            </a:extLst>
          </p:cNvPr>
          <p:cNvSpPr txBox="1"/>
          <p:nvPr/>
        </p:nvSpPr>
        <p:spPr>
          <a:xfrm>
            <a:off x="3577590" y="642302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场景重建</a:t>
            </a:r>
          </a:p>
          <a:p>
            <a:pPr algn="ctr"/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C7B17A7D-2CD3-04B0-7A2D-CC7FBBF552AA}"/>
              </a:ext>
            </a:extLst>
          </p:cNvPr>
          <p:cNvSpPr txBox="1"/>
          <p:nvPr/>
        </p:nvSpPr>
        <p:spPr>
          <a:xfrm>
            <a:off x="4153535" y="642302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连续演化</a:t>
            </a:r>
          </a:p>
        </p:txBody>
      </p:sp>
      <p:sp>
        <p:nvSpPr>
          <p:cNvPr id="85" name="圆角矩形 84">
            <a:extLst>
              <a:ext uri="{FF2B5EF4-FFF2-40B4-BE49-F238E27FC236}">
                <a16:creationId xmlns:a16="http://schemas.microsoft.com/office/drawing/2014/main" id="{27DF8BF3-B8A3-3D5C-5442-3B749CEB4B5C}"/>
              </a:ext>
            </a:extLst>
          </p:cNvPr>
          <p:cNvSpPr/>
          <p:nvPr/>
        </p:nvSpPr>
        <p:spPr>
          <a:xfrm>
            <a:off x="2981325" y="711454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圆角矩形 85">
            <a:extLst>
              <a:ext uri="{FF2B5EF4-FFF2-40B4-BE49-F238E27FC236}">
                <a16:creationId xmlns:a16="http://schemas.microsoft.com/office/drawing/2014/main" id="{7E10DCCA-AF7B-6E91-69CA-FF2E489F0B4A}"/>
              </a:ext>
            </a:extLst>
          </p:cNvPr>
          <p:cNvSpPr/>
          <p:nvPr/>
        </p:nvSpPr>
        <p:spPr>
          <a:xfrm>
            <a:off x="3556000" y="711454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圆角矩形 86">
            <a:extLst>
              <a:ext uri="{FF2B5EF4-FFF2-40B4-BE49-F238E27FC236}">
                <a16:creationId xmlns:a16="http://schemas.microsoft.com/office/drawing/2014/main" id="{68B0DA54-0B8A-0E3C-D80D-2A093F89B9D9}"/>
              </a:ext>
            </a:extLst>
          </p:cNvPr>
          <p:cNvSpPr/>
          <p:nvPr/>
        </p:nvSpPr>
        <p:spPr>
          <a:xfrm>
            <a:off x="4130675" y="7114540"/>
            <a:ext cx="500380" cy="374650"/>
          </a:xfrm>
          <a:prstGeom prst="roundRect">
            <a:avLst>
              <a:gd name="adj" fmla="val 9830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4A139206-7016-62F1-8E78-98AD2CEC098C}"/>
              </a:ext>
            </a:extLst>
          </p:cNvPr>
          <p:cNvSpPr txBox="1"/>
          <p:nvPr/>
        </p:nvSpPr>
        <p:spPr>
          <a:xfrm>
            <a:off x="2995930" y="708596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如何决策？</a:t>
            </a:r>
          </a:p>
          <a:p>
            <a:pPr algn="ctr"/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2732A984-F5F3-D158-5647-E522435F1A26}"/>
              </a:ext>
            </a:extLst>
          </p:cNvPr>
          <p:cNvSpPr txBox="1"/>
          <p:nvPr/>
        </p:nvSpPr>
        <p:spPr>
          <a:xfrm>
            <a:off x="3577590" y="708596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如何构建？</a:t>
            </a:r>
          </a:p>
          <a:p>
            <a:pPr algn="ctr"/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F3E24AB2-1DD4-AF4F-7116-18E405602E18}"/>
              </a:ext>
            </a:extLst>
          </p:cNvPr>
          <p:cNvSpPr txBox="1"/>
          <p:nvPr/>
        </p:nvSpPr>
        <p:spPr>
          <a:xfrm>
            <a:off x="4153535" y="708596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如何迭代？</a:t>
            </a:r>
          </a:p>
        </p:txBody>
      </p: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0223C989-96E1-76FA-9E66-94C6466F4706}"/>
              </a:ext>
            </a:extLst>
          </p:cNvPr>
          <p:cNvGrpSpPr/>
          <p:nvPr/>
        </p:nvGrpSpPr>
        <p:grpSpPr>
          <a:xfrm flipH="1">
            <a:off x="3209925" y="6125845"/>
            <a:ext cx="474980" cy="273050"/>
            <a:chOff x="6160" y="10097"/>
            <a:chExt cx="748" cy="430"/>
          </a:xfrm>
        </p:grpSpPr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D72DCE0E-7CD3-04A1-695F-01D9B86413CF}"/>
                </a:ext>
              </a:extLst>
            </p:cNvPr>
            <p:cNvCxnSpPr/>
            <p:nvPr/>
          </p:nvCxnSpPr>
          <p:spPr>
            <a:xfrm rot="5400000">
              <a:off x="5952" y="10310"/>
              <a:ext cx="430" cy="5"/>
            </a:xfrm>
            <a:prstGeom prst="straightConnector1">
              <a:avLst/>
            </a:prstGeom>
            <a:ln w="15875">
              <a:solidFill>
                <a:srgbClr val="2E54A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0711AB90-9FB1-E37C-74FD-0389E1D21A92}"/>
                </a:ext>
              </a:extLst>
            </p:cNvPr>
            <p:cNvCxnSpPr/>
            <p:nvPr/>
          </p:nvCxnSpPr>
          <p:spPr>
            <a:xfrm rot="5400000" flipH="1">
              <a:off x="6691" y="10301"/>
              <a:ext cx="40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4D6EBA94-DD4F-0A6E-89B6-7B57EC768343}"/>
                </a:ext>
              </a:extLst>
            </p:cNvPr>
            <p:cNvCxnSpPr/>
            <p:nvPr/>
          </p:nvCxnSpPr>
          <p:spPr>
            <a:xfrm flipH="1">
              <a:off x="6160" y="10098"/>
              <a:ext cx="749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99" name="文本框 98">
            <a:extLst>
              <a:ext uri="{FF2B5EF4-FFF2-40B4-BE49-F238E27FC236}">
                <a16:creationId xmlns:a16="http://schemas.microsoft.com/office/drawing/2014/main" id="{C8C68AFD-484A-53A9-6088-FE44D9BEA669}"/>
              </a:ext>
            </a:extLst>
          </p:cNvPr>
          <p:cNvSpPr txBox="1"/>
          <p:nvPr/>
        </p:nvSpPr>
        <p:spPr>
          <a:xfrm>
            <a:off x="3874770" y="5814695"/>
            <a:ext cx="5524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支撑</a:t>
            </a:r>
          </a:p>
        </p:txBody>
      </p: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20246775-E31B-47B0-6989-C66DD4D04D2A}"/>
              </a:ext>
            </a:extLst>
          </p:cNvPr>
          <p:cNvGrpSpPr/>
          <p:nvPr/>
        </p:nvGrpSpPr>
        <p:grpSpPr>
          <a:xfrm>
            <a:off x="5926455" y="6125845"/>
            <a:ext cx="474980" cy="273050"/>
            <a:chOff x="6160" y="10097"/>
            <a:chExt cx="748" cy="430"/>
          </a:xfrm>
        </p:grpSpPr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E204EB3F-3B40-F4CE-968C-7D6EF636E350}"/>
                </a:ext>
              </a:extLst>
            </p:cNvPr>
            <p:cNvCxnSpPr/>
            <p:nvPr/>
          </p:nvCxnSpPr>
          <p:spPr>
            <a:xfrm rot="5400000">
              <a:off x="5952" y="10310"/>
              <a:ext cx="430" cy="5"/>
            </a:xfrm>
            <a:prstGeom prst="straightConnector1">
              <a:avLst/>
            </a:prstGeom>
            <a:ln w="15875">
              <a:solidFill>
                <a:srgbClr val="2E54A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B91494C8-CD37-5E87-82ED-AEC55F2854E2}"/>
                </a:ext>
              </a:extLst>
            </p:cNvPr>
            <p:cNvCxnSpPr/>
            <p:nvPr/>
          </p:nvCxnSpPr>
          <p:spPr>
            <a:xfrm rot="5400000" flipH="1">
              <a:off x="6691" y="10301"/>
              <a:ext cx="40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153A73C-CF2B-F333-4917-9BB00EDD011B}"/>
                </a:ext>
              </a:extLst>
            </p:cNvPr>
            <p:cNvCxnSpPr/>
            <p:nvPr/>
          </p:nvCxnSpPr>
          <p:spPr>
            <a:xfrm flipH="1">
              <a:off x="6160" y="10098"/>
              <a:ext cx="749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16" name="文本框 115">
            <a:extLst>
              <a:ext uri="{FF2B5EF4-FFF2-40B4-BE49-F238E27FC236}">
                <a16:creationId xmlns:a16="http://schemas.microsoft.com/office/drawing/2014/main" id="{63AD35AB-2003-C927-A7BD-776EE753A55F}"/>
              </a:ext>
            </a:extLst>
          </p:cNvPr>
          <p:cNvSpPr txBox="1"/>
          <p:nvPr/>
        </p:nvSpPr>
        <p:spPr>
          <a:xfrm>
            <a:off x="5029200" y="4928870"/>
            <a:ext cx="15265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研究内容三：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集成云边端协同的知识蒸馏与推理框架</a:t>
            </a:r>
          </a:p>
        </p:txBody>
      </p: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8CD39838-0758-9110-0759-FA5BD8894618}"/>
              </a:ext>
            </a:extLst>
          </p:cNvPr>
          <p:cNvCxnSpPr/>
          <p:nvPr/>
        </p:nvCxnSpPr>
        <p:spPr>
          <a:xfrm flipH="1">
            <a:off x="5230495" y="6872605"/>
            <a:ext cx="1905" cy="177800"/>
          </a:xfrm>
          <a:prstGeom prst="straightConnector1">
            <a:avLst/>
          </a:prstGeom>
          <a:ln w="15875">
            <a:solidFill>
              <a:srgbClr val="2E54A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圆角矩形 117">
            <a:extLst>
              <a:ext uri="{FF2B5EF4-FFF2-40B4-BE49-F238E27FC236}">
                <a16:creationId xmlns:a16="http://schemas.microsoft.com/office/drawing/2014/main" id="{14B72741-8B0F-BB37-6407-7FFAC3895ADE}"/>
              </a:ext>
            </a:extLst>
          </p:cNvPr>
          <p:cNvSpPr/>
          <p:nvPr/>
        </p:nvSpPr>
        <p:spPr>
          <a:xfrm>
            <a:off x="4996180" y="645160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9C90230B-2DA5-1843-EBC7-E9DAFDDAA184}"/>
              </a:ext>
            </a:extLst>
          </p:cNvPr>
          <p:cNvSpPr/>
          <p:nvPr/>
        </p:nvSpPr>
        <p:spPr>
          <a:xfrm>
            <a:off x="5570855" y="645160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圆角矩形 121">
            <a:extLst>
              <a:ext uri="{FF2B5EF4-FFF2-40B4-BE49-F238E27FC236}">
                <a16:creationId xmlns:a16="http://schemas.microsoft.com/office/drawing/2014/main" id="{5227521A-FB4D-1AF6-B0D8-3CE133287D73}"/>
              </a:ext>
            </a:extLst>
          </p:cNvPr>
          <p:cNvSpPr/>
          <p:nvPr/>
        </p:nvSpPr>
        <p:spPr>
          <a:xfrm>
            <a:off x="6145530" y="6451600"/>
            <a:ext cx="500380" cy="374650"/>
          </a:xfrm>
          <a:prstGeom prst="roundRect">
            <a:avLst>
              <a:gd name="adj" fmla="val 9830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335E0B60-7C9E-F59F-762F-D1C4B7E327CC}"/>
              </a:ext>
            </a:extLst>
          </p:cNvPr>
          <p:cNvSpPr txBox="1"/>
          <p:nvPr/>
        </p:nvSpPr>
        <p:spPr>
          <a:xfrm>
            <a:off x="5010785" y="642302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知识迁移</a:t>
            </a:r>
          </a:p>
          <a:p>
            <a:pPr algn="ctr"/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8ABF291E-F6CA-B873-A1EF-CE9B06A209A4}"/>
              </a:ext>
            </a:extLst>
          </p:cNvPr>
          <p:cNvSpPr txBox="1"/>
          <p:nvPr/>
        </p:nvSpPr>
        <p:spPr>
          <a:xfrm>
            <a:off x="5158105" y="5814695"/>
            <a:ext cx="61341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支撑</a:t>
            </a:r>
          </a:p>
        </p:txBody>
      </p: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CBC6468C-22B7-22AC-ADED-03D386274668}"/>
              </a:ext>
            </a:extLst>
          </p:cNvPr>
          <p:cNvCxnSpPr/>
          <p:nvPr/>
        </p:nvCxnSpPr>
        <p:spPr>
          <a:xfrm flipH="1">
            <a:off x="5821045" y="6872605"/>
            <a:ext cx="1905" cy="177800"/>
          </a:xfrm>
          <a:prstGeom prst="straightConnector1">
            <a:avLst/>
          </a:prstGeom>
          <a:ln w="15875">
            <a:solidFill>
              <a:srgbClr val="2E54A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7C523ED9-BF7B-820F-C076-900CC0334D39}"/>
              </a:ext>
            </a:extLst>
          </p:cNvPr>
          <p:cNvCxnSpPr/>
          <p:nvPr/>
        </p:nvCxnSpPr>
        <p:spPr>
          <a:xfrm flipH="1">
            <a:off x="6395085" y="6872605"/>
            <a:ext cx="1905" cy="177800"/>
          </a:xfrm>
          <a:prstGeom prst="straightConnector1">
            <a:avLst/>
          </a:prstGeom>
          <a:ln w="15875">
            <a:solidFill>
              <a:srgbClr val="2E54A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文本框 126">
            <a:extLst>
              <a:ext uri="{FF2B5EF4-FFF2-40B4-BE49-F238E27FC236}">
                <a16:creationId xmlns:a16="http://schemas.microsoft.com/office/drawing/2014/main" id="{566172C0-992F-45F0-4E18-C02B3A433598}"/>
              </a:ext>
            </a:extLst>
          </p:cNvPr>
          <p:cNvSpPr txBox="1"/>
          <p:nvPr/>
        </p:nvSpPr>
        <p:spPr>
          <a:xfrm>
            <a:off x="5592445" y="642302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精度时延</a:t>
            </a:r>
          </a:p>
          <a:p>
            <a:pPr algn="ctr"/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45A38246-A879-A73D-E3A6-C3A52E3DDAFB}"/>
              </a:ext>
            </a:extLst>
          </p:cNvPr>
          <p:cNvSpPr txBox="1"/>
          <p:nvPr/>
        </p:nvSpPr>
        <p:spPr>
          <a:xfrm>
            <a:off x="6168390" y="642302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分布演化</a:t>
            </a:r>
          </a:p>
        </p:txBody>
      </p:sp>
      <p:sp>
        <p:nvSpPr>
          <p:cNvPr id="130" name="圆角矩形 129">
            <a:extLst>
              <a:ext uri="{FF2B5EF4-FFF2-40B4-BE49-F238E27FC236}">
                <a16:creationId xmlns:a16="http://schemas.microsoft.com/office/drawing/2014/main" id="{70215B65-E11F-1A02-9EBE-16F45BA27BCD}"/>
              </a:ext>
            </a:extLst>
          </p:cNvPr>
          <p:cNvSpPr/>
          <p:nvPr/>
        </p:nvSpPr>
        <p:spPr>
          <a:xfrm>
            <a:off x="4996180" y="711454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793B51F3-614A-C08F-9305-535FF9F01A08}"/>
              </a:ext>
            </a:extLst>
          </p:cNvPr>
          <p:cNvSpPr/>
          <p:nvPr/>
        </p:nvSpPr>
        <p:spPr>
          <a:xfrm>
            <a:off x="5570855" y="711454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圆角矩形 131">
            <a:extLst>
              <a:ext uri="{FF2B5EF4-FFF2-40B4-BE49-F238E27FC236}">
                <a16:creationId xmlns:a16="http://schemas.microsoft.com/office/drawing/2014/main" id="{0781BC0C-E1A3-9694-47B4-5EF6985AD8FC}"/>
              </a:ext>
            </a:extLst>
          </p:cNvPr>
          <p:cNvSpPr/>
          <p:nvPr/>
        </p:nvSpPr>
        <p:spPr>
          <a:xfrm>
            <a:off x="6145530" y="7114540"/>
            <a:ext cx="500380" cy="374650"/>
          </a:xfrm>
          <a:prstGeom prst="roundRect">
            <a:avLst>
              <a:gd name="adj" fmla="val 9830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6385234A-5397-FBE5-8E73-79BF42C6BA9B}"/>
              </a:ext>
            </a:extLst>
          </p:cNvPr>
          <p:cNvSpPr txBox="1"/>
          <p:nvPr/>
        </p:nvSpPr>
        <p:spPr>
          <a:xfrm>
            <a:off x="5010785" y="708596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如何保真？</a:t>
            </a:r>
          </a:p>
          <a:p>
            <a:pPr algn="ctr"/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18964BCE-CBF7-E469-AD4C-65C8934AA2ED}"/>
              </a:ext>
            </a:extLst>
          </p:cNvPr>
          <p:cNvSpPr txBox="1"/>
          <p:nvPr/>
        </p:nvSpPr>
        <p:spPr>
          <a:xfrm>
            <a:off x="5592445" y="708596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如何兼顾？</a:t>
            </a: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F5B64763-D8E3-34DB-33F0-B646FDF07171}"/>
              </a:ext>
            </a:extLst>
          </p:cNvPr>
          <p:cNvSpPr txBox="1"/>
          <p:nvPr/>
        </p:nvSpPr>
        <p:spPr>
          <a:xfrm>
            <a:off x="6168390" y="708596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如何适应？</a:t>
            </a:r>
          </a:p>
        </p:txBody>
      </p: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8B37C509-EF23-46BD-3282-725600003F39}"/>
              </a:ext>
            </a:extLst>
          </p:cNvPr>
          <p:cNvGrpSpPr/>
          <p:nvPr/>
        </p:nvGrpSpPr>
        <p:grpSpPr>
          <a:xfrm flipH="1">
            <a:off x="5224780" y="6125845"/>
            <a:ext cx="474980" cy="273050"/>
            <a:chOff x="6160" y="10097"/>
            <a:chExt cx="748" cy="430"/>
          </a:xfrm>
        </p:grpSpPr>
        <p:cxnSp>
          <p:nvCxnSpPr>
            <p:cNvPr id="148" name="直接箭头连接符 147">
              <a:extLst>
                <a:ext uri="{FF2B5EF4-FFF2-40B4-BE49-F238E27FC236}">
                  <a16:creationId xmlns:a16="http://schemas.microsoft.com/office/drawing/2014/main" id="{A7623742-0A3C-98CA-4B43-D475604C1386}"/>
                </a:ext>
              </a:extLst>
            </p:cNvPr>
            <p:cNvCxnSpPr/>
            <p:nvPr/>
          </p:nvCxnSpPr>
          <p:spPr>
            <a:xfrm rot="5400000">
              <a:off x="5952" y="10310"/>
              <a:ext cx="430" cy="5"/>
            </a:xfrm>
            <a:prstGeom prst="straightConnector1">
              <a:avLst/>
            </a:prstGeom>
            <a:ln w="15875">
              <a:solidFill>
                <a:srgbClr val="2E54A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直接连接符 148">
              <a:extLst>
                <a:ext uri="{FF2B5EF4-FFF2-40B4-BE49-F238E27FC236}">
                  <a16:creationId xmlns:a16="http://schemas.microsoft.com/office/drawing/2014/main" id="{AC825345-ADB5-8F14-D3E1-C683DE9665B6}"/>
                </a:ext>
              </a:extLst>
            </p:cNvPr>
            <p:cNvCxnSpPr/>
            <p:nvPr/>
          </p:nvCxnSpPr>
          <p:spPr>
            <a:xfrm rot="5400000" flipH="1">
              <a:off x="6691" y="10301"/>
              <a:ext cx="40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D06E8088-332C-3D07-6139-ADEFD58BCF62}"/>
                </a:ext>
              </a:extLst>
            </p:cNvPr>
            <p:cNvCxnSpPr/>
            <p:nvPr/>
          </p:nvCxnSpPr>
          <p:spPr>
            <a:xfrm flipH="1">
              <a:off x="6160" y="10098"/>
              <a:ext cx="749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51" name="文本框 150">
            <a:extLst>
              <a:ext uri="{FF2B5EF4-FFF2-40B4-BE49-F238E27FC236}">
                <a16:creationId xmlns:a16="http://schemas.microsoft.com/office/drawing/2014/main" id="{876BCEC7-52C9-313E-E963-4376192CF013}"/>
              </a:ext>
            </a:extLst>
          </p:cNvPr>
          <p:cNvSpPr txBox="1"/>
          <p:nvPr/>
        </p:nvSpPr>
        <p:spPr>
          <a:xfrm>
            <a:off x="5889625" y="5814695"/>
            <a:ext cx="5524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保障</a:t>
            </a:r>
          </a:p>
        </p:txBody>
      </p:sp>
      <p:sp>
        <p:nvSpPr>
          <p:cNvPr id="153" name="箭头: 燕尾形 1202">
            <a:extLst>
              <a:ext uri="{FF2B5EF4-FFF2-40B4-BE49-F238E27FC236}">
                <a16:creationId xmlns:a16="http://schemas.microsoft.com/office/drawing/2014/main" id="{23B03A98-C79E-50E5-21F0-04B46E577817}"/>
              </a:ext>
            </a:extLst>
          </p:cNvPr>
          <p:cNvSpPr/>
          <p:nvPr/>
        </p:nvSpPr>
        <p:spPr>
          <a:xfrm rot="16200000" flipH="1">
            <a:off x="3548380" y="7684135"/>
            <a:ext cx="408305" cy="324485"/>
          </a:xfrm>
          <a:prstGeom prst="notchedRightArrow">
            <a:avLst/>
          </a:prstGeom>
          <a:gradFill>
            <a:gsLst>
              <a:gs pos="100000">
                <a:srgbClr val="2E54A1"/>
              </a:gs>
              <a:gs pos="5000">
                <a:srgbClr val="2E54A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885C0B8F-B3EB-B9F0-197D-D23DF3383F5F}"/>
              </a:ext>
            </a:extLst>
          </p:cNvPr>
          <p:cNvSpPr txBox="1"/>
          <p:nvPr/>
        </p:nvSpPr>
        <p:spPr>
          <a:xfrm>
            <a:off x="2956118" y="7692017"/>
            <a:ext cx="752267" cy="358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感知</a:t>
            </a:r>
            <a:endParaRPr lang="zh-CN" altLang="en-US" sz="174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929B7811-848C-3CE1-1838-12F5B92184F2}"/>
              </a:ext>
            </a:extLst>
          </p:cNvPr>
          <p:cNvSpPr txBox="1"/>
          <p:nvPr/>
        </p:nvSpPr>
        <p:spPr>
          <a:xfrm>
            <a:off x="3808805" y="7691990"/>
            <a:ext cx="752267" cy="358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底座</a:t>
            </a:r>
            <a:endParaRPr lang="zh-CN" altLang="en-US" sz="174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9" name="箭头: 燕尾形 1202">
            <a:extLst>
              <a:ext uri="{FF2B5EF4-FFF2-40B4-BE49-F238E27FC236}">
                <a16:creationId xmlns:a16="http://schemas.microsoft.com/office/drawing/2014/main" id="{53BA7B16-EEB1-A01B-EA78-F9ADA9EEA947}"/>
              </a:ext>
            </a:extLst>
          </p:cNvPr>
          <p:cNvSpPr/>
          <p:nvPr/>
        </p:nvSpPr>
        <p:spPr>
          <a:xfrm rot="16200000" flipH="1">
            <a:off x="5577840" y="7684135"/>
            <a:ext cx="408305" cy="324485"/>
          </a:xfrm>
          <a:prstGeom prst="notchedRightArrow">
            <a:avLst/>
          </a:prstGeom>
          <a:gradFill>
            <a:gsLst>
              <a:gs pos="100000">
                <a:srgbClr val="2E54A1"/>
              </a:gs>
              <a:gs pos="5000">
                <a:srgbClr val="2E54A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819FA8FB-9BE4-611D-CFC1-BF295EF2F64B}"/>
              </a:ext>
            </a:extLst>
          </p:cNvPr>
          <p:cNvSpPr txBox="1"/>
          <p:nvPr/>
        </p:nvSpPr>
        <p:spPr>
          <a:xfrm>
            <a:off x="4985578" y="7692017"/>
            <a:ext cx="752267" cy="358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决策</a:t>
            </a:r>
            <a:endParaRPr lang="zh-CN" altLang="en-US" sz="174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E2C42AB6-D278-C5D2-F166-55DE72E624C3}"/>
              </a:ext>
            </a:extLst>
          </p:cNvPr>
          <p:cNvSpPr txBox="1"/>
          <p:nvPr/>
        </p:nvSpPr>
        <p:spPr>
          <a:xfrm>
            <a:off x="5838265" y="7691990"/>
            <a:ext cx="752267" cy="358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保障</a:t>
            </a:r>
            <a:endParaRPr lang="zh-CN" altLang="en-US" sz="174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8918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-1993571" y="1406998"/>
            <a:ext cx="3687464" cy="7718048"/>
          </a:xfrm>
          <a:prstGeom prst="roundRect">
            <a:avLst>
              <a:gd name="adj" fmla="val 4846"/>
            </a:avLst>
          </a:prstGeom>
          <a:noFill/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35" dirty="0">
              <a:solidFill>
                <a:schemeClr val="tx1"/>
              </a:solidFill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2859079" y="1412440"/>
            <a:ext cx="6695202" cy="7712614"/>
          </a:xfrm>
          <a:prstGeom prst="roundRect">
            <a:avLst>
              <a:gd name="adj" fmla="val 3328"/>
            </a:avLst>
          </a:prstGeom>
          <a:noFill/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35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-1988492" y="1471785"/>
            <a:ext cx="2453941" cy="358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b="1" dirty="0">
                <a:solidFill>
                  <a:srgbClr val="3D50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异构具身智能体</a:t>
            </a:r>
          </a:p>
        </p:txBody>
      </p:sp>
      <p:sp>
        <p:nvSpPr>
          <p:cNvPr id="9" name="矩形: 圆角 8"/>
          <p:cNvSpPr/>
          <p:nvPr/>
        </p:nvSpPr>
        <p:spPr>
          <a:xfrm>
            <a:off x="3000079" y="1551165"/>
            <a:ext cx="3125651" cy="2321911"/>
          </a:xfrm>
          <a:prstGeom prst="roundRect">
            <a:avLst>
              <a:gd name="adj" fmla="val 6238"/>
            </a:avLst>
          </a:prstGeom>
          <a:noFill/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10" name="文本框 9"/>
          <p:cNvSpPr txBox="1"/>
          <p:nvPr/>
        </p:nvSpPr>
        <p:spPr>
          <a:xfrm>
            <a:off x="2960808" y="1585697"/>
            <a:ext cx="3176583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zh-CN" altLang="en-US" sz="1610" b="1" dirty="0">
                <a:solidFill>
                  <a:srgbClr val="3D50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研究内容一：</a:t>
            </a:r>
            <a:r>
              <a:rPr lang="zh-CN" altLang="en-US" sz="16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结合云智算和物联网技术的“远程大脑”理论体系</a:t>
            </a:r>
          </a:p>
        </p:txBody>
      </p:sp>
      <p:sp>
        <p:nvSpPr>
          <p:cNvPr id="11" name="矩形: 圆角 10"/>
          <p:cNvSpPr/>
          <p:nvPr/>
        </p:nvSpPr>
        <p:spPr>
          <a:xfrm>
            <a:off x="3011745" y="4100554"/>
            <a:ext cx="3125651" cy="2321911"/>
          </a:xfrm>
          <a:prstGeom prst="roundRect">
            <a:avLst>
              <a:gd name="adj" fmla="val 6238"/>
            </a:avLst>
          </a:prstGeom>
          <a:noFill/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12" name="矩形: 圆角 11"/>
          <p:cNvSpPr/>
          <p:nvPr/>
        </p:nvSpPr>
        <p:spPr>
          <a:xfrm>
            <a:off x="3011745" y="6646870"/>
            <a:ext cx="3125651" cy="2321911"/>
          </a:xfrm>
          <a:prstGeom prst="roundRect">
            <a:avLst>
              <a:gd name="adj" fmla="val 6238"/>
            </a:avLst>
          </a:prstGeom>
          <a:noFill/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13" name="文本框 12"/>
          <p:cNvSpPr txBox="1"/>
          <p:nvPr/>
        </p:nvSpPr>
        <p:spPr>
          <a:xfrm>
            <a:off x="3007905" y="4135775"/>
            <a:ext cx="3129485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zh-CN" altLang="en-US" sz="1610" b="1" dirty="0">
                <a:solidFill>
                  <a:srgbClr val="3D50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研究内容二：</a:t>
            </a:r>
            <a:r>
              <a:rPr lang="zh-CN" altLang="en-US" sz="16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非结构化动态开放场景中的多维感知机理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007906" y="6678633"/>
            <a:ext cx="3117824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zh-CN" altLang="en-US" sz="1610" b="1" dirty="0">
                <a:solidFill>
                  <a:srgbClr val="3D50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研究内容三：</a:t>
            </a:r>
            <a:r>
              <a:rPr lang="zh-CN" altLang="en-US" sz="16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集成云边端协同的知识蒸馏与推理框架</a:t>
            </a:r>
          </a:p>
        </p:txBody>
      </p:sp>
      <p:sp>
        <p:nvSpPr>
          <p:cNvPr id="15" name="矩形: 圆角 14"/>
          <p:cNvSpPr/>
          <p:nvPr/>
        </p:nvSpPr>
        <p:spPr>
          <a:xfrm>
            <a:off x="6803821" y="1551165"/>
            <a:ext cx="2569498" cy="7417612"/>
          </a:xfrm>
          <a:prstGeom prst="roundRect">
            <a:avLst>
              <a:gd name="adj" fmla="val 6238"/>
            </a:avLst>
          </a:prstGeom>
          <a:noFill/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16" name="文本框 15"/>
          <p:cNvSpPr txBox="1"/>
          <p:nvPr/>
        </p:nvSpPr>
        <p:spPr>
          <a:xfrm>
            <a:off x="6803821" y="1585696"/>
            <a:ext cx="2569409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zh-CN" altLang="en-US" sz="1610" b="1" dirty="0">
                <a:solidFill>
                  <a:srgbClr val="3D50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研究内容四：</a:t>
            </a:r>
            <a:r>
              <a:rPr lang="zh-CN" altLang="en-US" sz="16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智慧管廊巡检场景下的原型系统应用验证</a:t>
            </a:r>
          </a:p>
        </p:txBody>
      </p:sp>
      <p:cxnSp>
        <p:nvCxnSpPr>
          <p:cNvPr id="17" name="直接箭头连接符 16"/>
          <p:cNvCxnSpPr>
            <a:stCxn id="9" idx="3"/>
          </p:cNvCxnSpPr>
          <p:nvPr/>
        </p:nvCxnSpPr>
        <p:spPr>
          <a:xfrm>
            <a:off x="6125730" y="2712120"/>
            <a:ext cx="66347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11" idx="3"/>
            <a:endCxn id="15" idx="1"/>
          </p:cNvCxnSpPr>
          <p:nvPr/>
        </p:nvCxnSpPr>
        <p:spPr>
          <a:xfrm flipV="1">
            <a:off x="6137395" y="5259972"/>
            <a:ext cx="666426" cy="153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12" idx="3"/>
          </p:cNvCxnSpPr>
          <p:nvPr/>
        </p:nvCxnSpPr>
        <p:spPr>
          <a:xfrm>
            <a:off x="6137395" y="7807825"/>
            <a:ext cx="66642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287244" y="5779387"/>
            <a:ext cx="1585792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非结构化多维</a:t>
            </a:r>
            <a:endParaRPr lang="en-US" altLang="zh-CN" sz="161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88643" y="4871944"/>
            <a:ext cx="752267" cy="358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感知</a:t>
            </a:r>
            <a:endParaRPr lang="en-US" altLang="zh-CN" sz="174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465447" y="4492294"/>
            <a:ext cx="1228448" cy="0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>
            <a:off x="438343" y="1418394"/>
            <a:ext cx="22028" cy="7718048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V="1">
            <a:off x="1693895" y="5342582"/>
            <a:ext cx="1165184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-1851052" y="3013558"/>
            <a:ext cx="1026999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机械臂</a:t>
            </a:r>
            <a:endParaRPr lang="en-US" altLang="zh-CN" sz="148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-1851052" y="4443346"/>
            <a:ext cx="1026999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机器人</a:t>
            </a:r>
            <a:endParaRPr lang="en-US" altLang="zh-CN" sz="148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15132" y="3391852"/>
            <a:ext cx="1591413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云边端协同</a:t>
            </a:r>
            <a:endParaRPr lang="en-US" altLang="zh-CN" sz="161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77232" y="8085539"/>
            <a:ext cx="1585792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云边端知识</a:t>
            </a:r>
            <a:endParaRPr lang="en-US" altLang="zh-CN" sz="161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58865" y="1480118"/>
            <a:ext cx="1246482" cy="626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b="1" dirty="0">
                <a:solidFill>
                  <a:srgbClr val="3D50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三大研</a:t>
            </a:r>
            <a:endParaRPr lang="en-US" altLang="zh-CN" sz="1740" b="1" dirty="0">
              <a:solidFill>
                <a:srgbClr val="3D50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740" b="1" dirty="0">
                <a:solidFill>
                  <a:srgbClr val="3D50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究挑战</a:t>
            </a:r>
            <a:endParaRPr lang="en-US" altLang="zh-CN" sz="1740" b="1" dirty="0">
              <a:solidFill>
                <a:srgbClr val="3D50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456431" y="6832219"/>
            <a:ext cx="1228448" cy="0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V="1">
            <a:off x="1693895" y="2638213"/>
            <a:ext cx="1145409" cy="43805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1677167" y="7563909"/>
            <a:ext cx="1177451" cy="44999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箭头: 右 32"/>
          <p:cNvSpPr/>
          <p:nvPr/>
        </p:nvSpPr>
        <p:spPr>
          <a:xfrm>
            <a:off x="363491" y="5262701"/>
            <a:ext cx="227503" cy="300163"/>
          </a:xfrm>
          <a:prstGeom prst="rightArrow">
            <a:avLst>
              <a:gd name="adj1" fmla="val 35327"/>
              <a:gd name="adj2" fmla="val 31658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/>
          </a:p>
        </p:txBody>
      </p:sp>
      <p:sp>
        <p:nvSpPr>
          <p:cNvPr id="34" name="文本框 33"/>
          <p:cNvSpPr txBox="1"/>
          <p:nvPr/>
        </p:nvSpPr>
        <p:spPr>
          <a:xfrm>
            <a:off x="1269083" y="4959132"/>
            <a:ext cx="2168277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怎么感知？</a:t>
            </a:r>
            <a:r>
              <a:rPr lang="en-US" altLang="zh-CN" sz="16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-781387" y="3009605"/>
            <a:ext cx="1026999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无人车</a:t>
            </a:r>
            <a:endParaRPr lang="en-US" altLang="zh-CN" sz="148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094474" y="2324412"/>
            <a:ext cx="752267" cy="358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en-US" altLang="zh-CN" sz="174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090013" y="7426079"/>
            <a:ext cx="752267" cy="358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决策</a:t>
            </a:r>
            <a:endParaRPr lang="en-US" altLang="zh-CN" sz="174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 rot="1267914">
            <a:off x="1200848" y="7394121"/>
            <a:ext cx="2177053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“怎么迁移？</a:t>
            </a:r>
            <a:r>
              <a:rPr lang="en-US" altLang="zh-CN" sz="16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</a:p>
        </p:txBody>
      </p:sp>
      <p:sp>
        <p:nvSpPr>
          <p:cNvPr id="40" name="文本框 39"/>
          <p:cNvSpPr txBox="1"/>
          <p:nvPr/>
        </p:nvSpPr>
        <p:spPr>
          <a:xfrm rot="20363149">
            <a:off x="1267154" y="2429052"/>
            <a:ext cx="2064447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“怎么协同？”</a:t>
            </a:r>
            <a:endParaRPr lang="en-US" altLang="zh-CN" sz="161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096512" y="2714014"/>
            <a:ext cx="752267" cy="358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endParaRPr lang="en-US" altLang="zh-CN" sz="174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088643" y="5268950"/>
            <a:ext cx="752267" cy="358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底座</a:t>
            </a:r>
            <a:endParaRPr lang="en-US" altLang="zh-CN" sz="174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092176" y="7823083"/>
            <a:ext cx="752267" cy="358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保障</a:t>
            </a:r>
            <a:endParaRPr lang="en-US" altLang="zh-CN" sz="174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箭头: 右 43"/>
          <p:cNvSpPr/>
          <p:nvPr/>
        </p:nvSpPr>
        <p:spPr>
          <a:xfrm>
            <a:off x="357254" y="3150970"/>
            <a:ext cx="227503" cy="300163"/>
          </a:xfrm>
          <a:prstGeom prst="rightArrow">
            <a:avLst>
              <a:gd name="adj1" fmla="val 35327"/>
              <a:gd name="adj2" fmla="val 31658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/>
          </a:p>
        </p:txBody>
      </p:sp>
      <p:sp>
        <p:nvSpPr>
          <p:cNvPr id="45" name="箭头: 右 44"/>
          <p:cNvSpPr/>
          <p:nvPr/>
        </p:nvSpPr>
        <p:spPr>
          <a:xfrm>
            <a:off x="357814" y="7805058"/>
            <a:ext cx="227503" cy="300163"/>
          </a:xfrm>
          <a:prstGeom prst="rightArrow">
            <a:avLst>
              <a:gd name="adj1" fmla="val 35327"/>
              <a:gd name="adj2" fmla="val 31658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/>
          </a:p>
        </p:txBody>
      </p:sp>
      <p:sp>
        <p:nvSpPr>
          <p:cNvPr id="50" name="文本框 49"/>
          <p:cNvSpPr txBox="1"/>
          <p:nvPr/>
        </p:nvSpPr>
        <p:spPr>
          <a:xfrm>
            <a:off x="440044" y="6156151"/>
            <a:ext cx="1406542" cy="435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35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感知难！</a:t>
            </a:r>
            <a:endParaRPr lang="en-US" altLang="zh-CN" sz="248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447411" y="8465978"/>
            <a:ext cx="1406542" cy="435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迁移</a:t>
            </a:r>
            <a:r>
              <a:rPr lang="zh-CN" altLang="en-US" sz="2235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难！</a:t>
            </a:r>
            <a:endParaRPr lang="en-US" altLang="zh-CN" sz="248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3368624" y="2318344"/>
            <a:ext cx="2634290" cy="1401166"/>
            <a:chOff x="4539271" y="1109358"/>
            <a:chExt cx="2123849" cy="1129665"/>
          </a:xfrm>
        </p:grpSpPr>
        <p:sp>
          <p:nvSpPr>
            <p:cNvPr id="55" name="矩形: 圆角 70"/>
            <p:cNvSpPr/>
            <p:nvPr/>
          </p:nvSpPr>
          <p:spPr>
            <a:xfrm>
              <a:off x="4763835" y="1128408"/>
              <a:ext cx="739140" cy="252095"/>
            </a:xfrm>
            <a:prstGeom prst="roundRect">
              <a:avLst/>
            </a:prstGeom>
            <a:solidFill>
              <a:srgbClr val="F6FBFF"/>
            </a:solidFill>
            <a:ln w="15875" cap="flat" cmpd="sng" algn="ctr">
              <a:solidFill>
                <a:srgbClr val="4372C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矩形: 圆角 107"/>
            <p:cNvSpPr/>
            <p:nvPr/>
          </p:nvSpPr>
          <p:spPr>
            <a:xfrm>
              <a:off x="4763835" y="1554493"/>
              <a:ext cx="739140" cy="252095"/>
            </a:xfrm>
            <a:prstGeom prst="roundRect">
              <a:avLst/>
            </a:prstGeom>
            <a:solidFill>
              <a:srgbClr val="F6FBFF"/>
            </a:solidFill>
            <a:ln w="15875" cap="flat" cmpd="sng" algn="ctr">
              <a:solidFill>
                <a:srgbClr val="4372C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矩形: 圆角 111"/>
            <p:cNvSpPr/>
            <p:nvPr/>
          </p:nvSpPr>
          <p:spPr>
            <a:xfrm>
              <a:off x="5791900" y="1131583"/>
              <a:ext cx="864235" cy="252095"/>
            </a:xfrm>
            <a:prstGeom prst="roundRect">
              <a:avLst/>
            </a:prstGeom>
            <a:solidFill>
              <a:srgbClr val="F6FBFF"/>
            </a:solidFill>
            <a:ln w="15875" cap="flat" cmpd="sng" algn="ctr">
              <a:solidFill>
                <a:srgbClr val="4372C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8" name="直接箭头连接符 57"/>
            <p:cNvCxnSpPr>
              <a:stCxn id="55" idx="3"/>
              <a:endCxn id="57" idx="1"/>
            </p:cNvCxnSpPr>
            <p:nvPr/>
          </p:nvCxnSpPr>
          <p:spPr>
            <a:xfrm>
              <a:off x="5502975" y="1254773"/>
              <a:ext cx="288925" cy="3175"/>
            </a:xfrm>
            <a:prstGeom prst="straightConnector1">
              <a:avLst/>
            </a:prstGeom>
            <a:ln w="15875">
              <a:solidFill>
                <a:srgbClr val="4372C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矩形: 圆角 129"/>
            <p:cNvSpPr/>
            <p:nvPr/>
          </p:nvSpPr>
          <p:spPr>
            <a:xfrm>
              <a:off x="4763200" y="1979943"/>
              <a:ext cx="739140" cy="252095"/>
            </a:xfrm>
            <a:prstGeom prst="roundRect">
              <a:avLst/>
            </a:prstGeom>
            <a:solidFill>
              <a:srgbClr val="F6FBFF"/>
            </a:solidFill>
            <a:ln w="15875" cap="flat" cmpd="sng" algn="ctr">
              <a:solidFill>
                <a:srgbClr val="4372C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矩形: 圆角 131"/>
            <p:cNvSpPr/>
            <p:nvPr/>
          </p:nvSpPr>
          <p:spPr>
            <a:xfrm>
              <a:off x="5798885" y="1551318"/>
              <a:ext cx="864235" cy="252095"/>
            </a:xfrm>
            <a:prstGeom prst="roundRect">
              <a:avLst/>
            </a:prstGeom>
            <a:solidFill>
              <a:srgbClr val="F6FBFF"/>
            </a:solidFill>
            <a:ln w="15875" cap="flat" cmpd="sng" algn="ctr">
              <a:solidFill>
                <a:srgbClr val="4372C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矩形: 圆角 133"/>
            <p:cNvSpPr/>
            <p:nvPr/>
          </p:nvSpPr>
          <p:spPr>
            <a:xfrm>
              <a:off x="5798885" y="1986928"/>
              <a:ext cx="864235" cy="252095"/>
            </a:xfrm>
            <a:prstGeom prst="roundRect">
              <a:avLst/>
            </a:prstGeom>
            <a:solidFill>
              <a:srgbClr val="F6FBFF"/>
            </a:solidFill>
            <a:ln w="15875" cap="flat" cmpd="sng" algn="ctr">
              <a:solidFill>
                <a:srgbClr val="4372C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2" name="直接箭头连接符 61"/>
            <p:cNvCxnSpPr>
              <a:stCxn id="56" idx="3"/>
              <a:endCxn id="60" idx="1"/>
            </p:cNvCxnSpPr>
            <p:nvPr/>
          </p:nvCxnSpPr>
          <p:spPr>
            <a:xfrm flipV="1">
              <a:off x="5502975" y="1677683"/>
              <a:ext cx="295910" cy="2540"/>
            </a:xfrm>
            <a:prstGeom prst="straightConnector1">
              <a:avLst/>
            </a:prstGeom>
            <a:ln w="15875">
              <a:solidFill>
                <a:srgbClr val="4372C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/>
            <p:cNvCxnSpPr>
              <a:stCxn id="59" idx="3"/>
              <a:endCxn id="61" idx="1"/>
            </p:cNvCxnSpPr>
            <p:nvPr/>
          </p:nvCxnSpPr>
          <p:spPr>
            <a:xfrm>
              <a:off x="5502975" y="2106308"/>
              <a:ext cx="295910" cy="6985"/>
            </a:xfrm>
            <a:prstGeom prst="straightConnector1">
              <a:avLst/>
            </a:prstGeom>
            <a:ln w="15875">
              <a:solidFill>
                <a:srgbClr val="4372C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连接符: 肘形 88"/>
            <p:cNvCxnSpPr>
              <a:stCxn id="55" idx="1"/>
            </p:cNvCxnSpPr>
            <p:nvPr/>
          </p:nvCxnSpPr>
          <p:spPr>
            <a:xfrm rot="10800000" flipV="1">
              <a:off x="4539271" y="1254456"/>
              <a:ext cx="224565" cy="430462"/>
            </a:xfrm>
            <a:prstGeom prst="bentConnector2">
              <a:avLst/>
            </a:prstGeom>
            <a:ln w="15875">
              <a:solidFill>
                <a:srgbClr val="4372C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连接符: 肘形 165"/>
            <p:cNvCxnSpPr>
              <a:stCxn id="56" idx="1"/>
              <a:endCxn id="59" idx="1"/>
            </p:cNvCxnSpPr>
            <p:nvPr/>
          </p:nvCxnSpPr>
          <p:spPr>
            <a:xfrm rot="10800000" flipV="1">
              <a:off x="4763201" y="1680541"/>
              <a:ext cx="635" cy="425450"/>
            </a:xfrm>
            <a:prstGeom prst="bentConnector3">
              <a:avLst>
                <a:gd name="adj1" fmla="val 35349921"/>
              </a:avLst>
            </a:prstGeom>
            <a:ln w="15875">
              <a:solidFill>
                <a:srgbClr val="4372C1"/>
              </a:solidFill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文本框 65"/>
            <p:cNvSpPr txBox="1"/>
            <p:nvPr/>
          </p:nvSpPr>
          <p:spPr>
            <a:xfrm>
              <a:off x="4728910" y="1116343"/>
              <a:ext cx="809625" cy="258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分层架构</a:t>
              </a: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5798885" y="1109358"/>
              <a:ext cx="850265" cy="258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如何设计？</a:t>
              </a: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4728910" y="1541793"/>
              <a:ext cx="809625" cy="258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弱网集群</a:t>
              </a: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5805870" y="1529093"/>
              <a:ext cx="850265" cy="258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如何对齐？</a:t>
              </a: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5805870" y="1964703"/>
              <a:ext cx="850265" cy="258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如何分配？</a:t>
              </a: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3055117" y="7468747"/>
            <a:ext cx="2934891" cy="1401165"/>
            <a:chOff x="3135475" y="1482642"/>
            <a:chExt cx="2366204" cy="1129665"/>
          </a:xfrm>
        </p:grpSpPr>
        <p:sp>
          <p:nvSpPr>
            <p:cNvPr id="72" name="矩形: 圆角 71"/>
            <p:cNvSpPr/>
            <p:nvPr/>
          </p:nvSpPr>
          <p:spPr>
            <a:xfrm>
              <a:off x="3602394" y="1501692"/>
              <a:ext cx="739140" cy="252095"/>
            </a:xfrm>
            <a:prstGeom prst="roundRect">
              <a:avLst/>
            </a:prstGeom>
            <a:solidFill>
              <a:srgbClr val="F6FBFF"/>
            </a:solidFill>
            <a:ln w="15875" cap="flat" cmpd="sng" algn="ctr">
              <a:solidFill>
                <a:srgbClr val="4372C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矩形: 圆角 72"/>
            <p:cNvSpPr/>
            <p:nvPr/>
          </p:nvSpPr>
          <p:spPr>
            <a:xfrm>
              <a:off x="3602394" y="1927777"/>
              <a:ext cx="739140" cy="252095"/>
            </a:xfrm>
            <a:prstGeom prst="roundRect">
              <a:avLst/>
            </a:prstGeom>
            <a:solidFill>
              <a:srgbClr val="F6FBFF"/>
            </a:solidFill>
            <a:ln w="15875" cap="flat" cmpd="sng" algn="ctr">
              <a:solidFill>
                <a:srgbClr val="4372C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矩形: 圆角 73"/>
            <p:cNvSpPr/>
            <p:nvPr/>
          </p:nvSpPr>
          <p:spPr>
            <a:xfrm>
              <a:off x="4630459" y="1504867"/>
              <a:ext cx="864235" cy="252095"/>
            </a:xfrm>
            <a:prstGeom prst="roundRect">
              <a:avLst/>
            </a:prstGeom>
            <a:solidFill>
              <a:srgbClr val="F6FBFF"/>
            </a:solidFill>
            <a:ln w="15875" cap="flat" cmpd="sng" algn="ctr">
              <a:solidFill>
                <a:srgbClr val="4372C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5" name="直接箭头连接符 74"/>
            <p:cNvCxnSpPr>
              <a:stCxn id="72" idx="3"/>
              <a:endCxn id="74" idx="1"/>
            </p:cNvCxnSpPr>
            <p:nvPr/>
          </p:nvCxnSpPr>
          <p:spPr>
            <a:xfrm>
              <a:off x="4341534" y="1628057"/>
              <a:ext cx="288925" cy="3175"/>
            </a:xfrm>
            <a:prstGeom prst="straightConnector1">
              <a:avLst/>
            </a:prstGeom>
            <a:ln w="15875">
              <a:solidFill>
                <a:srgbClr val="4372C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6" name="矩形: 圆角 75"/>
            <p:cNvSpPr/>
            <p:nvPr/>
          </p:nvSpPr>
          <p:spPr>
            <a:xfrm>
              <a:off x="3601759" y="2353227"/>
              <a:ext cx="739140" cy="252095"/>
            </a:xfrm>
            <a:prstGeom prst="roundRect">
              <a:avLst/>
            </a:prstGeom>
            <a:solidFill>
              <a:srgbClr val="F6FBFF"/>
            </a:solidFill>
            <a:ln w="15875" cap="flat" cmpd="sng" algn="ctr">
              <a:solidFill>
                <a:srgbClr val="4372C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矩形: 圆角 76"/>
            <p:cNvSpPr/>
            <p:nvPr/>
          </p:nvSpPr>
          <p:spPr>
            <a:xfrm>
              <a:off x="4637444" y="1924602"/>
              <a:ext cx="864235" cy="252095"/>
            </a:xfrm>
            <a:prstGeom prst="roundRect">
              <a:avLst/>
            </a:prstGeom>
            <a:solidFill>
              <a:srgbClr val="F6FBFF"/>
            </a:solidFill>
            <a:ln w="15875" cap="flat" cmpd="sng" algn="ctr">
              <a:solidFill>
                <a:srgbClr val="4372C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矩形: 圆角 77"/>
            <p:cNvSpPr/>
            <p:nvPr/>
          </p:nvSpPr>
          <p:spPr>
            <a:xfrm>
              <a:off x="4637444" y="2360212"/>
              <a:ext cx="864235" cy="252095"/>
            </a:xfrm>
            <a:prstGeom prst="roundRect">
              <a:avLst/>
            </a:prstGeom>
            <a:solidFill>
              <a:srgbClr val="F6FBFF"/>
            </a:solidFill>
            <a:ln w="15875" cap="flat" cmpd="sng" algn="ctr">
              <a:solidFill>
                <a:srgbClr val="4372C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9" name="直接箭头连接符 78"/>
            <p:cNvCxnSpPr>
              <a:stCxn id="73" idx="3"/>
              <a:endCxn id="77" idx="1"/>
            </p:cNvCxnSpPr>
            <p:nvPr/>
          </p:nvCxnSpPr>
          <p:spPr>
            <a:xfrm flipV="1">
              <a:off x="4341534" y="2050967"/>
              <a:ext cx="295910" cy="2540"/>
            </a:xfrm>
            <a:prstGeom prst="straightConnector1">
              <a:avLst/>
            </a:prstGeom>
            <a:ln w="15875">
              <a:solidFill>
                <a:srgbClr val="4372C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箭头连接符 79"/>
            <p:cNvCxnSpPr>
              <a:stCxn id="76" idx="3"/>
              <a:endCxn id="78" idx="1"/>
            </p:cNvCxnSpPr>
            <p:nvPr/>
          </p:nvCxnSpPr>
          <p:spPr>
            <a:xfrm>
              <a:off x="4341534" y="2479592"/>
              <a:ext cx="295910" cy="6985"/>
            </a:xfrm>
            <a:prstGeom prst="straightConnector1">
              <a:avLst/>
            </a:prstGeom>
            <a:ln w="15875">
              <a:solidFill>
                <a:srgbClr val="4372C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文本框 82"/>
            <p:cNvSpPr txBox="1"/>
            <p:nvPr/>
          </p:nvSpPr>
          <p:spPr>
            <a:xfrm>
              <a:off x="3135475" y="1618713"/>
              <a:ext cx="213995" cy="3803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4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支撑</a:t>
              </a:r>
            </a:p>
          </p:txBody>
        </p:sp>
        <p:cxnSp>
          <p:nvCxnSpPr>
            <p:cNvPr id="84" name="连接符: 肘形 83"/>
            <p:cNvCxnSpPr/>
            <p:nvPr/>
          </p:nvCxnSpPr>
          <p:spPr>
            <a:xfrm rot="10800000" flipH="1">
              <a:off x="3569586" y="1585295"/>
              <a:ext cx="4900" cy="425943"/>
            </a:xfrm>
            <a:prstGeom prst="bentConnector3">
              <a:avLst>
                <a:gd name="adj1" fmla="val -4665306"/>
              </a:avLst>
            </a:prstGeom>
            <a:ln w="15875">
              <a:solidFill>
                <a:srgbClr val="4372C1"/>
              </a:solidFill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5" name="文本框 84"/>
            <p:cNvSpPr txBox="1"/>
            <p:nvPr/>
          </p:nvSpPr>
          <p:spPr>
            <a:xfrm>
              <a:off x="4637444" y="1482642"/>
              <a:ext cx="850265" cy="258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如何保真？</a:t>
              </a: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4644429" y="1902377"/>
              <a:ext cx="850265" cy="258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如何兼顾？</a:t>
              </a: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4644429" y="2337987"/>
              <a:ext cx="850265" cy="258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如何适应？</a:t>
              </a:r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3566834" y="2341162"/>
              <a:ext cx="809625" cy="258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分布演化</a:t>
              </a: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3567469" y="1915077"/>
              <a:ext cx="809625" cy="258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精度时延</a:t>
              </a:r>
            </a:p>
          </p:txBody>
        </p:sp>
      </p:grpSp>
      <p:sp>
        <p:nvSpPr>
          <p:cNvPr id="93" name="文本框 92"/>
          <p:cNvSpPr txBox="1"/>
          <p:nvPr/>
        </p:nvSpPr>
        <p:spPr>
          <a:xfrm>
            <a:off x="7015224" y="4218447"/>
            <a:ext cx="2152234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气体超标</a:t>
            </a:r>
            <a:endParaRPr lang="en-US" altLang="zh-CN" sz="148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7007648" y="6352206"/>
            <a:ext cx="2152234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热源异常</a:t>
            </a:r>
            <a:endParaRPr lang="en-US" altLang="zh-CN" sz="148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7301260" y="8489230"/>
            <a:ext cx="1574530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水位上涨</a:t>
            </a:r>
            <a:endParaRPr lang="en-US" altLang="zh-CN" sz="148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-1853139" y="6115057"/>
            <a:ext cx="971295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传感器</a:t>
            </a:r>
            <a:endParaRPr lang="en-US" altLang="zh-CN" sz="148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-540115" y="6115057"/>
            <a:ext cx="669782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算力</a:t>
            </a:r>
            <a:endParaRPr lang="en-US" altLang="zh-CN" sz="148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-1621193" y="7345708"/>
            <a:ext cx="669782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</a:t>
            </a:r>
            <a:endParaRPr lang="en-US" altLang="zh-CN" sz="148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-553198" y="7342748"/>
            <a:ext cx="669782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en-US" altLang="zh-CN" sz="148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-1631271" y="8612251"/>
            <a:ext cx="669782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  <a:endParaRPr lang="en-US" altLang="zh-CN" sz="148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: 圆角 105"/>
          <p:cNvSpPr/>
          <p:nvPr/>
        </p:nvSpPr>
        <p:spPr>
          <a:xfrm>
            <a:off x="-1892420" y="1913078"/>
            <a:ext cx="2207553" cy="2967999"/>
          </a:xfrm>
          <a:prstGeom prst="roundRect">
            <a:avLst>
              <a:gd name="adj" fmla="val 6238"/>
            </a:avLst>
          </a:prstGeom>
          <a:noFill/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107" name="矩形: 圆角 106"/>
          <p:cNvSpPr/>
          <p:nvPr/>
        </p:nvSpPr>
        <p:spPr>
          <a:xfrm>
            <a:off x="-1889310" y="5055945"/>
            <a:ext cx="2206529" cy="3912832"/>
          </a:xfrm>
          <a:prstGeom prst="roundRect">
            <a:avLst>
              <a:gd name="adj" fmla="val 6238"/>
            </a:avLst>
          </a:prstGeom>
          <a:noFill/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pic>
        <p:nvPicPr>
          <p:cNvPr id="108" name="Picture 4" descr="Mo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66672" y="7718628"/>
            <a:ext cx="893042" cy="893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" name="文本框 108"/>
          <p:cNvSpPr txBox="1"/>
          <p:nvPr/>
        </p:nvSpPr>
        <p:spPr>
          <a:xfrm>
            <a:off x="435191" y="3764968"/>
            <a:ext cx="1406542" cy="435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一致</a:t>
            </a:r>
            <a:r>
              <a:rPr lang="zh-CN" altLang="en-US" sz="2235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难！</a:t>
            </a:r>
            <a:endParaRPr lang="en-US" altLang="zh-CN" sz="248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3603052" y="3383199"/>
            <a:ext cx="1004209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异构资源</a:t>
            </a:r>
          </a:p>
        </p:txBody>
      </p:sp>
      <p:sp>
        <p:nvSpPr>
          <p:cNvPr id="111" name="文本框 110"/>
          <p:cNvSpPr txBox="1"/>
          <p:nvPr/>
        </p:nvSpPr>
        <p:spPr>
          <a:xfrm>
            <a:off x="3069754" y="2772921"/>
            <a:ext cx="265426" cy="471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4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协同</a:t>
            </a:r>
          </a:p>
        </p:txBody>
      </p:sp>
      <p:grpSp>
        <p:nvGrpSpPr>
          <p:cNvPr id="114" name="组合 113"/>
          <p:cNvGrpSpPr/>
          <p:nvPr/>
        </p:nvGrpSpPr>
        <p:grpSpPr>
          <a:xfrm>
            <a:off x="3058960" y="4894646"/>
            <a:ext cx="2937800" cy="1413391"/>
            <a:chOff x="5514386" y="3064918"/>
            <a:chExt cx="2368549" cy="1139522"/>
          </a:xfrm>
        </p:grpSpPr>
        <p:sp>
          <p:nvSpPr>
            <p:cNvPr id="115" name="矩形: 圆角 114"/>
            <p:cNvSpPr/>
            <p:nvPr/>
          </p:nvSpPr>
          <p:spPr>
            <a:xfrm>
              <a:off x="7013192" y="3069069"/>
              <a:ext cx="857250" cy="257492"/>
            </a:xfrm>
            <a:prstGeom prst="roundRect">
              <a:avLst/>
            </a:prstGeom>
            <a:solidFill>
              <a:srgbClr val="F6FBFF"/>
            </a:solidFill>
            <a:ln w="15875" cap="flat" cmpd="sng" algn="ctr">
              <a:solidFill>
                <a:srgbClr val="4372C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矩形: 圆角 115"/>
            <p:cNvSpPr/>
            <p:nvPr/>
          </p:nvSpPr>
          <p:spPr>
            <a:xfrm>
              <a:off x="5987760" y="3088034"/>
              <a:ext cx="739140" cy="252095"/>
            </a:xfrm>
            <a:prstGeom prst="roundRect">
              <a:avLst/>
            </a:prstGeom>
            <a:solidFill>
              <a:srgbClr val="F6FBFF"/>
            </a:solidFill>
            <a:ln w="15875" cap="flat" cmpd="sng" algn="ctr">
              <a:solidFill>
                <a:srgbClr val="4372C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7" name="组合 116"/>
            <p:cNvGrpSpPr/>
            <p:nvPr/>
          </p:nvGrpSpPr>
          <p:grpSpPr>
            <a:xfrm>
              <a:off x="5514386" y="3507210"/>
              <a:ext cx="2368549" cy="697230"/>
              <a:chOff x="3727451" y="2046204"/>
              <a:chExt cx="2368549" cy="697230"/>
            </a:xfrm>
          </p:grpSpPr>
          <p:sp>
            <p:nvSpPr>
              <p:cNvPr id="123" name="矩形: 圆角 122"/>
              <p:cNvSpPr/>
              <p:nvPr/>
            </p:nvSpPr>
            <p:spPr>
              <a:xfrm>
                <a:off x="4196715" y="2065254"/>
                <a:ext cx="739140" cy="252095"/>
              </a:xfrm>
              <a:prstGeom prst="roundRect">
                <a:avLst/>
              </a:prstGeom>
              <a:solidFill>
                <a:srgbClr val="F6FBFF"/>
              </a:solidFill>
              <a:ln w="15875" cap="flat" cmpd="sng" algn="ctr">
                <a:solidFill>
                  <a:srgbClr val="4372C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4" name="矩形: 圆角 123"/>
              <p:cNvSpPr/>
              <p:nvPr/>
            </p:nvSpPr>
            <p:spPr>
              <a:xfrm>
                <a:off x="4196715" y="2491339"/>
                <a:ext cx="739140" cy="252095"/>
              </a:xfrm>
              <a:prstGeom prst="roundRect">
                <a:avLst/>
              </a:prstGeom>
              <a:solidFill>
                <a:srgbClr val="F6FBFF"/>
              </a:solidFill>
              <a:ln w="15875" cap="flat" cmpd="sng" algn="ctr">
                <a:solidFill>
                  <a:srgbClr val="4372C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5" name="矩形: 圆角 124"/>
              <p:cNvSpPr/>
              <p:nvPr/>
            </p:nvSpPr>
            <p:spPr>
              <a:xfrm>
                <a:off x="5224780" y="2068429"/>
                <a:ext cx="864235" cy="252095"/>
              </a:xfrm>
              <a:prstGeom prst="roundRect">
                <a:avLst/>
              </a:prstGeom>
              <a:solidFill>
                <a:srgbClr val="F6FBFF"/>
              </a:solidFill>
              <a:ln w="15875" cap="flat" cmpd="sng" algn="ctr">
                <a:solidFill>
                  <a:srgbClr val="4372C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26" name="直接箭头连接符 125"/>
              <p:cNvCxnSpPr>
                <a:stCxn id="123" idx="3"/>
                <a:endCxn id="125" idx="1"/>
              </p:cNvCxnSpPr>
              <p:nvPr/>
            </p:nvCxnSpPr>
            <p:spPr>
              <a:xfrm>
                <a:off x="4935855" y="2191619"/>
                <a:ext cx="288925" cy="3175"/>
              </a:xfrm>
              <a:prstGeom prst="straightConnector1">
                <a:avLst/>
              </a:prstGeom>
              <a:ln w="15875">
                <a:solidFill>
                  <a:srgbClr val="4372C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7" name="矩形: 圆角 126"/>
              <p:cNvSpPr/>
              <p:nvPr/>
            </p:nvSpPr>
            <p:spPr>
              <a:xfrm>
                <a:off x="5231765" y="2488164"/>
                <a:ext cx="864235" cy="252095"/>
              </a:xfrm>
              <a:prstGeom prst="roundRect">
                <a:avLst/>
              </a:prstGeom>
              <a:solidFill>
                <a:srgbClr val="F6FBFF"/>
              </a:solidFill>
              <a:ln w="15875" cap="flat" cmpd="sng" algn="ctr">
                <a:solidFill>
                  <a:srgbClr val="4372C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28" name="直接箭头连接符 127"/>
              <p:cNvCxnSpPr>
                <a:stCxn id="124" idx="3"/>
                <a:endCxn id="127" idx="1"/>
              </p:cNvCxnSpPr>
              <p:nvPr/>
            </p:nvCxnSpPr>
            <p:spPr>
              <a:xfrm flipV="1">
                <a:off x="4935855" y="2614529"/>
                <a:ext cx="295910" cy="2540"/>
              </a:xfrm>
              <a:prstGeom prst="straightConnector1">
                <a:avLst/>
              </a:prstGeom>
              <a:ln w="15875">
                <a:solidFill>
                  <a:srgbClr val="4372C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0" name="文本框 129"/>
              <p:cNvSpPr txBox="1"/>
              <p:nvPr/>
            </p:nvSpPr>
            <p:spPr>
              <a:xfrm>
                <a:off x="3727451" y="2189079"/>
                <a:ext cx="213995" cy="3803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4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支撑</a:t>
                </a:r>
              </a:p>
            </p:txBody>
          </p:sp>
          <p:sp>
            <p:nvSpPr>
              <p:cNvPr id="131" name="文本框 130"/>
              <p:cNvSpPr txBox="1"/>
              <p:nvPr/>
            </p:nvSpPr>
            <p:spPr>
              <a:xfrm>
                <a:off x="5231765" y="2046204"/>
                <a:ext cx="850265" cy="258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85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如何构建？</a:t>
                </a:r>
              </a:p>
            </p:txBody>
          </p:sp>
          <p:sp>
            <p:nvSpPr>
              <p:cNvPr id="132" name="文本框 131"/>
              <p:cNvSpPr txBox="1"/>
              <p:nvPr/>
            </p:nvSpPr>
            <p:spPr>
              <a:xfrm>
                <a:off x="5238750" y="2465939"/>
                <a:ext cx="850265" cy="258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85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如何迭代？</a:t>
                </a:r>
              </a:p>
            </p:txBody>
          </p:sp>
          <p:sp>
            <p:nvSpPr>
              <p:cNvPr id="133" name="文本框 132"/>
              <p:cNvSpPr txBox="1"/>
              <p:nvPr/>
            </p:nvSpPr>
            <p:spPr>
              <a:xfrm>
                <a:off x="4161790" y="2053189"/>
                <a:ext cx="809625" cy="258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85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场景重建</a:t>
                </a:r>
              </a:p>
            </p:txBody>
          </p:sp>
          <p:sp>
            <p:nvSpPr>
              <p:cNvPr id="134" name="文本框 133"/>
              <p:cNvSpPr txBox="1"/>
              <p:nvPr/>
            </p:nvSpPr>
            <p:spPr>
              <a:xfrm>
                <a:off x="4161790" y="2478639"/>
                <a:ext cx="809625" cy="258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85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连续演化</a:t>
                </a:r>
              </a:p>
            </p:txBody>
          </p:sp>
        </p:grpSp>
        <p:cxnSp>
          <p:nvCxnSpPr>
            <p:cNvPr id="118" name="直接箭头连接符 117"/>
            <p:cNvCxnSpPr/>
            <p:nvPr/>
          </p:nvCxnSpPr>
          <p:spPr>
            <a:xfrm>
              <a:off x="6717282" y="3210333"/>
              <a:ext cx="288925" cy="3175"/>
            </a:xfrm>
            <a:prstGeom prst="straightConnector1">
              <a:avLst/>
            </a:prstGeom>
            <a:ln w="15875">
              <a:solidFill>
                <a:srgbClr val="4372C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1" name="文本框 120"/>
            <p:cNvSpPr txBox="1"/>
            <p:nvPr/>
          </p:nvSpPr>
          <p:spPr>
            <a:xfrm>
              <a:off x="7013192" y="3064918"/>
              <a:ext cx="850265" cy="258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如何决策？</a:t>
              </a:r>
            </a:p>
          </p:txBody>
        </p:sp>
        <p:sp>
          <p:nvSpPr>
            <p:cNvPr id="122" name="文本框 121"/>
            <p:cNvSpPr txBox="1"/>
            <p:nvPr/>
          </p:nvSpPr>
          <p:spPr>
            <a:xfrm>
              <a:off x="5959780" y="3065165"/>
              <a:ext cx="809625" cy="258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主动感知</a:t>
              </a:r>
            </a:p>
          </p:txBody>
        </p:sp>
      </p:grpSp>
      <p:pic>
        <p:nvPicPr>
          <p:cNvPr id="136" name="图片 1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74886" y="5197199"/>
            <a:ext cx="893042" cy="893042"/>
          </a:xfrm>
          <a:prstGeom prst="rect">
            <a:avLst/>
          </a:prstGeom>
        </p:spPr>
      </p:pic>
      <p:pic>
        <p:nvPicPr>
          <p:cNvPr id="137" name="Picture 10" descr="Gpu 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28249" y="5157992"/>
            <a:ext cx="893042" cy="893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Picture 12" descr="Bandwidth 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05300" y="6410916"/>
            <a:ext cx="893042" cy="893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图片 138" descr="ai-clou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28249" y="6438309"/>
            <a:ext cx="893042" cy="893042"/>
          </a:xfrm>
          <a:prstGeom prst="rect">
            <a:avLst/>
          </a:prstGeom>
        </p:spPr>
      </p:pic>
      <p:pic>
        <p:nvPicPr>
          <p:cNvPr id="141" name="图片 140" descr="disk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641956" y="7747040"/>
            <a:ext cx="781571" cy="781571"/>
          </a:xfrm>
          <a:prstGeom prst="rect">
            <a:avLst/>
          </a:prstGeom>
        </p:spPr>
      </p:pic>
      <p:pic>
        <p:nvPicPr>
          <p:cNvPr id="142" name="Picture 2" descr="Manufacturing 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58094" y="2059386"/>
            <a:ext cx="893042" cy="893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Picture 32" descr="Driverless car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7359" y="2055729"/>
            <a:ext cx="893042" cy="893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Picture 6" descr="Robot 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58094" y="3441396"/>
            <a:ext cx="893042" cy="893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Picture 4" descr="Mo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1220" y="3531610"/>
            <a:ext cx="893042" cy="893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文本框 46"/>
          <p:cNvSpPr txBox="1"/>
          <p:nvPr/>
        </p:nvSpPr>
        <p:spPr>
          <a:xfrm>
            <a:off x="3597013" y="7476800"/>
            <a:ext cx="1004209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知识迁移</a:t>
            </a:r>
          </a:p>
        </p:txBody>
      </p:sp>
      <p:cxnSp>
        <p:nvCxnSpPr>
          <p:cNvPr id="52" name="连接符: 肘形 51"/>
          <p:cNvCxnSpPr/>
          <p:nvPr/>
        </p:nvCxnSpPr>
        <p:spPr>
          <a:xfrm rot="10800000" flipH="1">
            <a:off x="3590935" y="8223436"/>
            <a:ext cx="6077" cy="528314"/>
          </a:xfrm>
          <a:prstGeom prst="bentConnector3">
            <a:avLst>
              <a:gd name="adj1" fmla="val -4665306"/>
            </a:avLst>
          </a:prstGeom>
          <a:ln w="15875">
            <a:solidFill>
              <a:srgbClr val="4372C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3050361" y="8223436"/>
            <a:ext cx="265426" cy="471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4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保障</a:t>
            </a:r>
          </a:p>
        </p:txBody>
      </p:sp>
      <p:pic>
        <p:nvPicPr>
          <p:cNvPr id="96" name="图片 95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6" r="6204" b="14629"/>
          <a:stretch>
            <a:fillRect/>
          </a:stretch>
        </p:blipFill>
        <p:spPr>
          <a:xfrm>
            <a:off x="624028" y="2264348"/>
            <a:ext cx="962180" cy="962180"/>
          </a:xfrm>
          <a:prstGeom prst="rect">
            <a:avLst/>
          </a:prstGeom>
        </p:spPr>
      </p:pic>
      <p:pic>
        <p:nvPicPr>
          <p:cNvPr id="98" name="图片 97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49" y="4710266"/>
            <a:ext cx="964487" cy="964487"/>
          </a:xfrm>
          <a:prstGeom prst="rect">
            <a:avLst/>
          </a:prstGeom>
        </p:spPr>
      </p:pic>
      <p:pic>
        <p:nvPicPr>
          <p:cNvPr id="135" name="图片 134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932" y="7104844"/>
            <a:ext cx="964487" cy="964487"/>
          </a:xfrm>
          <a:prstGeom prst="rect">
            <a:avLst/>
          </a:prstGeom>
        </p:spPr>
      </p:pic>
      <p:pic>
        <p:nvPicPr>
          <p:cNvPr id="146" name="图片 145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092" y="2662554"/>
            <a:ext cx="2194909" cy="1549282"/>
          </a:xfrm>
          <a:prstGeom prst="rect">
            <a:avLst/>
          </a:prstGeom>
        </p:spPr>
      </p:pic>
      <p:pic>
        <p:nvPicPr>
          <p:cNvPr id="148" name="图片 147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017402" y="4697616"/>
            <a:ext cx="2196886" cy="1647664"/>
          </a:xfrm>
          <a:prstGeom prst="rect">
            <a:avLst/>
          </a:prstGeom>
        </p:spPr>
      </p:pic>
      <p:pic>
        <p:nvPicPr>
          <p:cNvPr id="150" name="图片 149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199" y="6831062"/>
            <a:ext cx="2196886" cy="1647664"/>
          </a:xfrm>
          <a:prstGeom prst="rect">
            <a:avLst/>
          </a:prstGeom>
        </p:spPr>
      </p:pic>
      <p:cxnSp>
        <p:nvCxnSpPr>
          <p:cNvPr id="2" name="连接符: 肘形 1"/>
          <p:cNvCxnSpPr/>
          <p:nvPr/>
        </p:nvCxnSpPr>
        <p:spPr>
          <a:xfrm rot="10800000" flipH="1">
            <a:off x="3613975" y="5038353"/>
            <a:ext cx="6077" cy="528314"/>
          </a:xfrm>
          <a:prstGeom prst="bentConnector3">
            <a:avLst>
              <a:gd name="adj1" fmla="val -4665306"/>
            </a:avLst>
          </a:prstGeom>
          <a:ln w="15875">
            <a:solidFill>
              <a:srgbClr val="4372C1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连接符: 肘形 2"/>
          <p:cNvCxnSpPr/>
          <p:nvPr/>
        </p:nvCxnSpPr>
        <p:spPr>
          <a:xfrm rot="10800000" flipH="1">
            <a:off x="3607889" y="5670125"/>
            <a:ext cx="6077" cy="528314"/>
          </a:xfrm>
          <a:prstGeom prst="bentConnector3">
            <a:avLst>
              <a:gd name="adj1" fmla="val -4665306"/>
            </a:avLst>
          </a:prstGeom>
          <a:ln w="15875">
            <a:solidFill>
              <a:srgbClr val="4372C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3050359" y="5029282"/>
            <a:ext cx="265426" cy="471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4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515</Words>
  <Application>Microsoft Office PowerPoint</Application>
  <PresentationFormat>自定义</PresentationFormat>
  <Paragraphs>173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微软雅黑</vt:lpstr>
      <vt:lpstr>Arial</vt:lpstr>
      <vt:lpstr>Office 主题​​</vt:lpstr>
      <vt:lpstr>1_Office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Hodge Chang</cp:lastModifiedBy>
  <cp:revision>50</cp:revision>
  <dcterms:created xsi:type="dcterms:W3CDTF">2026-03-04T09:30:00Z</dcterms:created>
  <dcterms:modified xsi:type="dcterms:W3CDTF">2026-06-15T03:40:18Z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A88543D61BD84E62A9C2BC67F0AA663B_12</vt:lpwstr>
  </property>
</Properties>
</file>