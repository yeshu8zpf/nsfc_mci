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</p:sldIdLst>
  <p:sldSz cx="10691495" cy="7559675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圆角矩形 1"/>
          <p:cNvSpPr>
            <a:spLocks noGrp="1"/>
          </p:cNvSpPr>
          <p:nvPr/>
        </p:nvSpPr>
        <p:spPr>
          <a:xfrm>
            <a:off x="342265" y="439420"/>
            <a:ext cx="9996170" cy="6052820"/>
          </a:xfrm>
          <a:prstGeom prst="roundRect">
            <a:avLst>
              <a:gd name="adj" fmla="val 3327"/>
            </a:avLst>
          </a:prstGeom>
          <a:noFill/>
          <a:ln w="22860">
            <a:solidFill>
              <a:srgbClr val="315AA2"/>
            </a:solidFill>
            <a:prstDash val="dash"/>
          </a:ln>
        </p:spPr>
      </p:sp>
      <p:sp>
        <p:nvSpPr>
          <p:cNvPr id="3" name="圆角矩形 2"/>
          <p:cNvSpPr>
            <a:spLocks noGrp="1"/>
          </p:cNvSpPr>
          <p:nvPr/>
        </p:nvSpPr>
        <p:spPr>
          <a:xfrm>
            <a:off x="1943100" y="228600"/>
            <a:ext cx="6800850" cy="476250"/>
          </a:xfrm>
          <a:prstGeom prst="roundRect">
            <a:avLst>
              <a:gd name="adj" fmla="val 48000"/>
            </a:avLst>
          </a:prstGeom>
          <a:solidFill>
            <a:srgbClr val="315AA2"/>
          </a:solidFill>
          <a:ln w="0">
            <a:solidFill>
              <a:srgbClr val="315AA2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4" name="矩形 3"/>
          <p:cNvSpPr>
            <a:spLocks noGrp="1"/>
          </p:cNvSpPr>
          <p:nvPr/>
        </p:nvSpPr>
        <p:spPr>
          <a:xfrm>
            <a:off x="2324100" y="304800"/>
            <a:ext cx="60388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9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基于干扰对消的微弱目标频谱特征增强方法</a:t>
            </a:r>
            <a:endParaRPr sz="19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圆角矩形 4"/>
          <p:cNvSpPr>
            <a:spLocks noGrp="1"/>
          </p:cNvSpPr>
          <p:nvPr/>
        </p:nvSpPr>
        <p:spPr>
          <a:xfrm>
            <a:off x="660178" y="972788"/>
            <a:ext cx="2948940" cy="5192363"/>
          </a:xfrm>
          <a:prstGeom prst="roundRect">
            <a:avLst>
              <a:gd name="adj" fmla="val 1292"/>
            </a:avLst>
          </a:prstGeom>
          <a:solidFill>
            <a:srgbClr val="DDE8F7"/>
          </a:solidFill>
          <a:ln w="19050">
            <a:solidFill>
              <a:srgbClr val="315AA2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6" name="矩形 5"/>
          <p:cNvSpPr>
            <a:spLocks noGrp="1"/>
          </p:cNvSpPr>
          <p:nvPr/>
        </p:nvSpPr>
        <p:spPr>
          <a:xfrm>
            <a:off x="669703" y="982313"/>
            <a:ext cx="2929890" cy="685800"/>
          </a:xfrm>
          <a:prstGeom prst="rect">
            <a:avLst/>
          </a:prstGeom>
          <a:solidFill>
            <a:srgbClr val="315AA2"/>
          </a:solidFill>
          <a:ln w="0">
            <a:solidFill>
              <a:srgbClr val="315AA2"/>
            </a:solidFill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794385" y="1043305"/>
            <a:ext cx="279717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9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多通道</a:t>
            </a:r>
            <a:r>
              <a:rPr lang="zh-CN" sz="19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采集与处理</a:t>
            </a:r>
            <a:endParaRPr lang="zh-CN" sz="19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圆角矩形 7"/>
          <p:cNvSpPr>
            <a:spLocks noGrp="1"/>
          </p:cNvSpPr>
          <p:nvPr/>
        </p:nvSpPr>
        <p:spPr>
          <a:xfrm>
            <a:off x="3885343" y="972788"/>
            <a:ext cx="2950178" cy="5192363"/>
          </a:xfrm>
          <a:prstGeom prst="roundRect">
            <a:avLst>
              <a:gd name="adj" fmla="val 1291"/>
            </a:avLst>
          </a:prstGeom>
          <a:solidFill>
            <a:srgbClr val="F8DDE0"/>
          </a:solidFill>
          <a:ln w="19050">
            <a:solidFill>
              <a:srgbClr val="D00000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9" name="矩形 8"/>
          <p:cNvSpPr>
            <a:spLocks noGrp="1"/>
          </p:cNvSpPr>
          <p:nvPr/>
        </p:nvSpPr>
        <p:spPr>
          <a:xfrm>
            <a:off x="3894868" y="982313"/>
            <a:ext cx="2931128" cy="685800"/>
          </a:xfrm>
          <a:prstGeom prst="rect">
            <a:avLst/>
          </a:prstGeom>
          <a:solidFill>
            <a:srgbClr val="D00000"/>
          </a:solidFill>
          <a:ln w="0">
            <a:solidFill>
              <a:srgbClr val="D00000"/>
            </a:solidFill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3663950" y="1043305"/>
            <a:ext cx="33401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9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自适应干扰对消</a:t>
            </a:r>
            <a:endParaRPr sz="19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圆角矩形 10"/>
          <p:cNvSpPr>
            <a:spLocks noGrp="1"/>
          </p:cNvSpPr>
          <p:nvPr/>
        </p:nvSpPr>
        <p:spPr>
          <a:xfrm>
            <a:off x="7109174" y="972788"/>
            <a:ext cx="2948940" cy="5192363"/>
          </a:xfrm>
          <a:prstGeom prst="roundRect">
            <a:avLst>
              <a:gd name="adj" fmla="val 1292"/>
            </a:avLst>
          </a:prstGeom>
          <a:solidFill>
            <a:srgbClr val="DDE8F7"/>
          </a:solidFill>
          <a:ln w="19050">
            <a:solidFill>
              <a:srgbClr val="315AA2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2" name="矩形 11"/>
          <p:cNvSpPr>
            <a:spLocks noGrp="1"/>
          </p:cNvSpPr>
          <p:nvPr/>
        </p:nvSpPr>
        <p:spPr>
          <a:xfrm>
            <a:off x="7118699" y="982313"/>
            <a:ext cx="2929890" cy="685800"/>
          </a:xfrm>
          <a:prstGeom prst="rect">
            <a:avLst/>
          </a:prstGeom>
          <a:solidFill>
            <a:srgbClr val="315AA2"/>
          </a:solidFill>
          <a:ln w="0">
            <a:solidFill>
              <a:srgbClr val="315AA2"/>
            </a:solidFill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7299674" y="1043273"/>
            <a:ext cx="260604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9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sz="19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信号频谱</a:t>
            </a:r>
            <a:r>
              <a:rPr lang="zh-CN" sz="19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增强</a:t>
            </a:r>
            <a:endParaRPr lang="zh-CN" sz="19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右箭头 13"/>
          <p:cNvSpPr>
            <a:spLocks noGrp="1"/>
          </p:cNvSpPr>
          <p:nvPr/>
        </p:nvSpPr>
        <p:spPr>
          <a:xfrm>
            <a:off x="3590925" y="3695700"/>
            <a:ext cx="342900" cy="314325"/>
          </a:xfrm>
          <a:prstGeom prst="rightArrow">
            <a:avLst/>
          </a:prstGeom>
          <a:solidFill>
            <a:srgbClr val="E15B5B"/>
          </a:solidFill>
          <a:ln w="0">
            <a:solidFill>
              <a:srgbClr val="E15B5B"/>
            </a:solidFill>
            <a:prstDash val="solid"/>
          </a:ln>
        </p:spPr>
      </p:sp>
      <p:sp>
        <p:nvSpPr>
          <p:cNvPr id="15" name="右箭头 14"/>
          <p:cNvSpPr>
            <a:spLocks noGrp="1"/>
          </p:cNvSpPr>
          <p:nvPr/>
        </p:nvSpPr>
        <p:spPr>
          <a:xfrm>
            <a:off x="6819900" y="3695700"/>
            <a:ext cx="342900" cy="314325"/>
          </a:xfrm>
          <a:prstGeom prst="rightArrow">
            <a:avLst/>
          </a:prstGeom>
          <a:solidFill>
            <a:srgbClr val="5074B8"/>
          </a:solidFill>
          <a:ln w="0">
            <a:solidFill>
              <a:srgbClr val="5074B8"/>
            </a:solidFill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904875" y="1914525"/>
            <a:ext cx="24574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1">
                <a:solidFill>
                  <a:srgbClr val="315AA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315AA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输入：主通道 + 参考通道观测</a:t>
            </a:r>
            <a:endParaRPr sz="1275" b="1">
              <a:solidFill>
                <a:srgbClr val="315AA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直接连接符 16"/>
          <p:cNvSpPr>
            <a:spLocks noGrp="1"/>
          </p:cNvSpPr>
          <p:nvPr/>
        </p:nvSpPr>
        <p:spPr>
          <a:xfrm>
            <a:off x="990600" y="2819400"/>
            <a:ext cx="762000" cy="0"/>
          </a:xfrm>
          <a:prstGeom prst="line">
            <a:avLst/>
          </a:prstGeom>
          <a:noFill/>
          <a:ln w="9525">
            <a:solidFill>
              <a:srgbClr val="9AA9C2"/>
            </a:solidFill>
            <a:prstDash val="solid"/>
          </a:ln>
        </p:spPr>
      </p:sp>
      <p:sp>
        <p:nvSpPr>
          <p:cNvPr id="18" name="直接连接符 17"/>
          <p:cNvSpPr>
            <a:spLocks noGrp="1"/>
          </p:cNvSpPr>
          <p:nvPr/>
        </p:nvSpPr>
        <p:spPr>
          <a:xfrm>
            <a:off x="990600" y="2305050"/>
            <a:ext cx="0" cy="514350"/>
          </a:xfrm>
          <a:prstGeom prst="line">
            <a:avLst/>
          </a:prstGeom>
          <a:noFill/>
          <a:ln w="9525">
            <a:solidFill>
              <a:srgbClr val="9AA9C2"/>
            </a:solidFill>
            <a:prstDash val="solid"/>
          </a:ln>
        </p:spPr>
      </p:sp>
      <p:sp>
        <p:nvSpPr>
          <p:cNvPr id="19" name="任意多边形 18"/>
          <p:cNvSpPr>
            <a:spLocks noGrp="1"/>
          </p:cNvSpPr>
          <p:nvPr/>
        </p:nvSpPr>
        <p:spPr>
          <a:xfrm>
            <a:off x="990600" y="2305050"/>
            <a:ext cx="762000" cy="514350"/>
          </a:xfrm>
          <a:custGeom>
            <a:avLst/>
            <a:gdLst/>
            <a:ahLst/>
            <a:cxnLst/>
            <a:pathLst>
              <a:path w="762000" h="514350">
                <a:moveTo>
                  <a:pt x="0" y="514350"/>
                </a:moveTo>
                <a:lnTo>
                  <a:pt x="33130" y="455901"/>
                </a:lnTo>
                <a:lnTo>
                  <a:pt x="66261" y="467591"/>
                </a:lnTo>
                <a:lnTo>
                  <a:pt x="99391" y="432522"/>
                </a:lnTo>
                <a:lnTo>
                  <a:pt x="132522" y="397452"/>
                </a:lnTo>
                <a:lnTo>
                  <a:pt x="165652" y="444211"/>
                </a:lnTo>
                <a:lnTo>
                  <a:pt x="198783" y="409142"/>
                </a:lnTo>
                <a:lnTo>
                  <a:pt x="231913" y="374073"/>
                </a:lnTo>
                <a:lnTo>
                  <a:pt x="265043" y="420832"/>
                </a:lnTo>
                <a:lnTo>
                  <a:pt x="298174" y="385763"/>
                </a:lnTo>
                <a:lnTo>
                  <a:pt x="331304" y="350693"/>
                </a:lnTo>
                <a:lnTo>
                  <a:pt x="364435" y="0"/>
                </a:lnTo>
                <a:lnTo>
                  <a:pt x="397565" y="362383"/>
                </a:lnTo>
                <a:lnTo>
                  <a:pt x="430696" y="315624"/>
                </a:lnTo>
                <a:lnTo>
                  <a:pt x="463826" y="374073"/>
                </a:lnTo>
                <a:lnTo>
                  <a:pt x="496957" y="339003"/>
                </a:lnTo>
                <a:lnTo>
                  <a:pt x="530087" y="151967"/>
                </a:lnTo>
                <a:lnTo>
                  <a:pt x="563217" y="350693"/>
                </a:lnTo>
                <a:lnTo>
                  <a:pt x="596348" y="339003"/>
                </a:lnTo>
                <a:lnTo>
                  <a:pt x="629478" y="362383"/>
                </a:lnTo>
                <a:lnTo>
                  <a:pt x="662609" y="327314"/>
                </a:lnTo>
                <a:lnTo>
                  <a:pt x="695739" y="350693"/>
                </a:lnTo>
                <a:lnTo>
                  <a:pt x="728870" y="374073"/>
                </a:lnTo>
                <a:lnTo>
                  <a:pt x="762000" y="397452"/>
                </a:lnTo>
              </a:path>
            </a:pathLst>
          </a:custGeom>
          <a:noFill/>
          <a:ln w="22860">
            <a:solidFill>
              <a:srgbClr val="315AA2"/>
            </a:solidFill>
            <a:prstDash val="solid"/>
          </a:ln>
        </p:spPr>
      </p:sp>
      <p:sp>
        <p:nvSpPr>
          <p:cNvPr id="20" name="任意多边形 19"/>
          <p:cNvSpPr>
            <a:spLocks noGrp="1"/>
          </p:cNvSpPr>
          <p:nvPr/>
        </p:nvSpPr>
        <p:spPr>
          <a:xfrm>
            <a:off x="990600" y="2428494"/>
            <a:ext cx="762000" cy="195453"/>
          </a:xfrm>
          <a:custGeom>
            <a:avLst/>
            <a:gdLst/>
            <a:ahLst/>
            <a:cxnLst/>
            <a:pathLst>
              <a:path w="762000" h="195453">
                <a:moveTo>
                  <a:pt x="0" y="195453"/>
                </a:moveTo>
                <a:lnTo>
                  <a:pt x="69273" y="180418"/>
                </a:lnTo>
                <a:lnTo>
                  <a:pt x="138545" y="60139"/>
                </a:lnTo>
                <a:lnTo>
                  <a:pt x="207818" y="165383"/>
                </a:lnTo>
                <a:lnTo>
                  <a:pt x="277091" y="27063"/>
                </a:lnTo>
                <a:lnTo>
                  <a:pt x="346364" y="153355"/>
                </a:lnTo>
                <a:lnTo>
                  <a:pt x="415636" y="0"/>
                </a:lnTo>
                <a:lnTo>
                  <a:pt x="484909" y="141328"/>
                </a:lnTo>
                <a:lnTo>
                  <a:pt x="554182" y="15035"/>
                </a:lnTo>
                <a:lnTo>
                  <a:pt x="623455" y="171397"/>
                </a:lnTo>
                <a:lnTo>
                  <a:pt x="692727" y="69160"/>
                </a:lnTo>
                <a:lnTo>
                  <a:pt x="762000" y="159369"/>
                </a:lnTo>
              </a:path>
            </a:pathLst>
          </a:custGeom>
          <a:noFill/>
          <a:ln w="16193">
            <a:solidFill>
              <a:srgbClr val="E15B5B"/>
            </a:solidFill>
            <a:prstDash val="solid"/>
          </a:ln>
        </p:spPr>
      </p:sp>
      <p:sp>
        <p:nvSpPr>
          <p:cNvPr id="21" name="圆角矩形 20"/>
          <p:cNvSpPr>
            <a:spLocks noGrp="1"/>
          </p:cNvSpPr>
          <p:nvPr/>
        </p:nvSpPr>
        <p:spPr>
          <a:xfrm>
            <a:off x="1971675" y="2324100"/>
            <a:ext cx="476250" cy="66675"/>
          </a:xfrm>
          <a:prstGeom prst="roundRect">
            <a:avLst>
              <a:gd name="adj" fmla="val 42857"/>
            </a:avLst>
          </a:prstGeom>
          <a:solidFill>
            <a:srgbClr val="315AA2"/>
          </a:solidFill>
          <a:ln w="0">
            <a:solidFill>
              <a:srgbClr val="315AA2"/>
            </a:solidFill>
            <a:prstDash val="solid"/>
          </a:ln>
        </p:spPr>
      </p:sp>
      <p:sp>
        <p:nvSpPr>
          <p:cNvPr id="22" name="椭圆 21"/>
          <p:cNvSpPr>
            <a:spLocks noGrp="1"/>
          </p:cNvSpPr>
          <p:nvPr/>
        </p:nvSpPr>
        <p:spPr>
          <a:xfrm>
            <a:off x="2524125" y="2305050"/>
            <a:ext cx="104775" cy="104775"/>
          </a:xfrm>
          <a:prstGeom prst="ellipse">
            <a:avLst/>
          </a:prstGeom>
          <a:solidFill>
            <a:srgbClr val="70AD47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3" name="圆角矩形 22"/>
          <p:cNvSpPr>
            <a:spLocks noGrp="1"/>
          </p:cNvSpPr>
          <p:nvPr/>
        </p:nvSpPr>
        <p:spPr>
          <a:xfrm>
            <a:off x="1971675" y="2438400"/>
            <a:ext cx="476250" cy="66675"/>
          </a:xfrm>
          <a:prstGeom prst="roundRect">
            <a:avLst>
              <a:gd name="adj" fmla="val 42857"/>
            </a:avLst>
          </a:prstGeom>
          <a:solidFill>
            <a:srgbClr val="315AA2"/>
          </a:solidFill>
          <a:ln w="0">
            <a:solidFill>
              <a:srgbClr val="315AA2"/>
            </a:solidFill>
            <a:prstDash val="solid"/>
          </a:ln>
        </p:spPr>
      </p:sp>
      <p:sp>
        <p:nvSpPr>
          <p:cNvPr id="24" name="椭圆 23"/>
          <p:cNvSpPr>
            <a:spLocks noGrp="1"/>
          </p:cNvSpPr>
          <p:nvPr/>
        </p:nvSpPr>
        <p:spPr>
          <a:xfrm>
            <a:off x="2524125" y="2419350"/>
            <a:ext cx="104775" cy="104775"/>
          </a:xfrm>
          <a:prstGeom prst="ellipse">
            <a:avLst/>
          </a:prstGeom>
          <a:solidFill>
            <a:srgbClr val="D00000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5" name="圆角矩形 24"/>
          <p:cNvSpPr>
            <a:spLocks noGrp="1"/>
          </p:cNvSpPr>
          <p:nvPr/>
        </p:nvSpPr>
        <p:spPr>
          <a:xfrm>
            <a:off x="1971675" y="2552700"/>
            <a:ext cx="476250" cy="66675"/>
          </a:xfrm>
          <a:prstGeom prst="roundRect">
            <a:avLst>
              <a:gd name="adj" fmla="val 42857"/>
            </a:avLst>
          </a:prstGeom>
          <a:solidFill>
            <a:srgbClr val="315AA2"/>
          </a:solidFill>
          <a:ln w="0">
            <a:solidFill>
              <a:srgbClr val="315AA2"/>
            </a:solidFill>
            <a:prstDash val="solid"/>
          </a:ln>
        </p:spPr>
      </p:sp>
      <p:sp>
        <p:nvSpPr>
          <p:cNvPr id="26" name="椭圆 25"/>
          <p:cNvSpPr>
            <a:spLocks noGrp="1"/>
          </p:cNvSpPr>
          <p:nvPr/>
        </p:nvSpPr>
        <p:spPr>
          <a:xfrm>
            <a:off x="2524125" y="2533650"/>
            <a:ext cx="104775" cy="104775"/>
          </a:xfrm>
          <a:prstGeom prst="ellipse">
            <a:avLst/>
          </a:prstGeom>
          <a:solidFill>
            <a:srgbClr val="70AD47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7" name="圆角矩形 26"/>
          <p:cNvSpPr>
            <a:spLocks noGrp="1"/>
          </p:cNvSpPr>
          <p:nvPr/>
        </p:nvSpPr>
        <p:spPr>
          <a:xfrm>
            <a:off x="2914650" y="2295525"/>
            <a:ext cx="457200" cy="419100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3335">
            <a:solidFill>
              <a:srgbClr val="315AA2"/>
            </a:solidFill>
            <a:prstDash val="solid"/>
          </a:ln>
        </p:spPr>
      </p:sp>
      <p:sp>
        <p:nvSpPr>
          <p:cNvPr id="28" name="直接连接符 27"/>
          <p:cNvSpPr>
            <a:spLocks noGrp="1"/>
          </p:cNvSpPr>
          <p:nvPr/>
        </p:nvSpPr>
        <p:spPr>
          <a:xfrm>
            <a:off x="2981960" y="2419350"/>
            <a:ext cx="323850" cy="0"/>
          </a:xfrm>
          <a:prstGeom prst="line">
            <a:avLst/>
          </a:prstGeom>
          <a:noFill/>
          <a:ln w="19050">
            <a:solidFill>
              <a:srgbClr val="D00000"/>
            </a:solidFill>
            <a:prstDash val="solid"/>
          </a:ln>
        </p:spPr>
      </p:sp>
      <p:sp>
        <p:nvSpPr>
          <p:cNvPr id="29" name="直接连接符 28"/>
          <p:cNvSpPr>
            <a:spLocks noGrp="1"/>
          </p:cNvSpPr>
          <p:nvPr/>
        </p:nvSpPr>
        <p:spPr>
          <a:xfrm>
            <a:off x="2981960" y="2533650"/>
            <a:ext cx="323850" cy="0"/>
          </a:xfrm>
          <a:prstGeom prst="line">
            <a:avLst/>
          </a:prstGeom>
          <a:noFill/>
          <a:ln w="19050">
            <a:solidFill>
              <a:srgbClr val="315AA2"/>
            </a:solidFill>
            <a:prstDash val="solid"/>
          </a:ln>
        </p:spPr>
      </p:sp>
      <p:sp>
        <p:nvSpPr>
          <p:cNvPr id="30" name="直接连接符 29"/>
          <p:cNvSpPr>
            <a:spLocks noGrp="1"/>
          </p:cNvSpPr>
          <p:nvPr/>
        </p:nvSpPr>
        <p:spPr>
          <a:xfrm>
            <a:off x="2981960" y="2647950"/>
            <a:ext cx="323850" cy="0"/>
          </a:xfrm>
          <a:prstGeom prst="line">
            <a:avLst/>
          </a:prstGeom>
          <a:noFill/>
          <a:ln w="19050">
            <a:solidFill>
              <a:srgbClr val="70AD47"/>
            </a:solidFill>
            <a:prstDash val="solid"/>
          </a:ln>
        </p:spPr>
      </p:sp>
      <p:sp>
        <p:nvSpPr>
          <p:cNvPr id="31" name="矩形 30"/>
          <p:cNvSpPr>
            <a:spLocks noGrp="1"/>
          </p:cNvSpPr>
          <p:nvPr/>
        </p:nvSpPr>
        <p:spPr>
          <a:xfrm>
            <a:off x="904875" y="3009900"/>
            <a:ext cx="8191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>
                <a:solidFill>
                  <a:srgbClr val="1F2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>
                <a:solidFill>
                  <a:srgbClr val="1F2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主通道频谱</a:t>
            </a:r>
            <a:endParaRPr sz="1125">
              <a:solidFill>
                <a:srgbClr val="1F2A4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1724025" y="3009900"/>
            <a:ext cx="10096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>
                <a:solidFill>
                  <a:srgbClr val="1F2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>
                <a:solidFill>
                  <a:srgbClr val="1F2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阵列</a:t>
            </a:r>
            <a:endParaRPr sz="1125">
              <a:solidFill>
                <a:srgbClr val="1F2A4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defRPr sz="1125">
                <a:solidFill>
                  <a:srgbClr val="1F2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>
                <a:solidFill>
                  <a:srgbClr val="1F2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辅助取样</a:t>
            </a:r>
            <a:endParaRPr sz="1125">
              <a:solidFill>
                <a:srgbClr val="1F2A4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矩形 32"/>
          <p:cNvSpPr>
            <a:spLocks noGrp="1"/>
          </p:cNvSpPr>
          <p:nvPr/>
        </p:nvSpPr>
        <p:spPr>
          <a:xfrm>
            <a:off x="2733675" y="3009900"/>
            <a:ext cx="775335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>
                <a:solidFill>
                  <a:srgbClr val="1F2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>
                <a:solidFill>
                  <a:srgbClr val="1F2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平台位姿</a:t>
            </a:r>
            <a:endParaRPr sz="1125">
              <a:solidFill>
                <a:srgbClr val="1F2A4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defRPr sz="1125">
                <a:solidFill>
                  <a:srgbClr val="1F2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>
                <a:solidFill>
                  <a:srgbClr val="1F2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同步标定</a:t>
            </a:r>
            <a:endParaRPr sz="1125">
              <a:solidFill>
                <a:srgbClr val="1F2A4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下箭头 33"/>
          <p:cNvSpPr>
            <a:spLocks noGrp="1"/>
          </p:cNvSpPr>
          <p:nvPr/>
        </p:nvSpPr>
        <p:spPr>
          <a:xfrm>
            <a:off x="1962150" y="3733800"/>
            <a:ext cx="361950" cy="352425"/>
          </a:xfrm>
          <a:prstGeom prst="downArrow">
            <a:avLst/>
          </a:prstGeom>
          <a:solidFill>
            <a:srgbClr val="9EB6DF"/>
          </a:solidFill>
          <a:ln w="0">
            <a:solidFill>
              <a:srgbClr val="9EB6DF"/>
            </a:solidFill>
            <a:prstDash val="solid"/>
          </a:ln>
        </p:spPr>
      </p:sp>
      <p:sp>
        <p:nvSpPr>
          <p:cNvPr id="35" name="矩形 34"/>
          <p:cNvSpPr>
            <a:spLocks noGrp="1"/>
          </p:cNvSpPr>
          <p:nvPr/>
        </p:nvSpPr>
        <p:spPr>
          <a:xfrm>
            <a:off x="990600" y="4171950"/>
            <a:ext cx="23241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1">
                <a:solidFill>
                  <a:srgbClr val="315AA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315AA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构造：海杂波先验约束参考信号</a:t>
            </a:r>
            <a:endParaRPr sz="1275" b="1">
              <a:solidFill>
                <a:srgbClr val="315AA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" name="矩形 35"/>
          <p:cNvSpPr>
            <a:spLocks noGrp="1"/>
          </p:cNvSpPr>
          <p:nvPr/>
        </p:nvSpPr>
        <p:spPr>
          <a:xfrm>
            <a:off x="1028700" y="4619625"/>
            <a:ext cx="102870" cy="102870"/>
          </a:xfrm>
          <a:prstGeom prst="rect">
            <a:avLst/>
          </a:prstGeom>
          <a:solidFill>
            <a:srgbClr val="A7C5EB"/>
          </a:solidFill>
          <a:ln w="0">
            <a:noFill/>
            <a:prstDash val="solid"/>
          </a:ln>
        </p:spPr>
      </p:sp>
      <p:sp>
        <p:nvSpPr>
          <p:cNvPr id="37" name="矩形 36"/>
          <p:cNvSpPr>
            <a:spLocks noGrp="1"/>
          </p:cNvSpPr>
          <p:nvPr/>
        </p:nvSpPr>
        <p:spPr>
          <a:xfrm>
            <a:off x="1143000" y="4619625"/>
            <a:ext cx="102870" cy="102870"/>
          </a:xfrm>
          <a:prstGeom prst="rect">
            <a:avLst/>
          </a:prstGeom>
          <a:solidFill>
            <a:srgbClr val="FFC000"/>
          </a:solidFill>
          <a:ln w="0">
            <a:noFill/>
            <a:prstDash val="solid"/>
          </a:ln>
        </p:spPr>
      </p:sp>
      <p:sp>
        <p:nvSpPr>
          <p:cNvPr id="38" name="矩形 37"/>
          <p:cNvSpPr>
            <a:spLocks noGrp="1"/>
          </p:cNvSpPr>
          <p:nvPr/>
        </p:nvSpPr>
        <p:spPr>
          <a:xfrm>
            <a:off x="1257300" y="4619625"/>
            <a:ext cx="102870" cy="102870"/>
          </a:xfrm>
          <a:prstGeom prst="rect">
            <a:avLst/>
          </a:prstGeom>
          <a:solidFill>
            <a:srgbClr val="FFC000"/>
          </a:solidFill>
          <a:ln w="0">
            <a:noFill/>
            <a:prstDash val="solid"/>
          </a:ln>
        </p:spPr>
      </p:sp>
      <p:sp>
        <p:nvSpPr>
          <p:cNvPr id="39" name="矩形 38"/>
          <p:cNvSpPr>
            <a:spLocks noGrp="1"/>
          </p:cNvSpPr>
          <p:nvPr/>
        </p:nvSpPr>
        <p:spPr>
          <a:xfrm>
            <a:off x="1371600" y="4619625"/>
            <a:ext cx="102870" cy="102870"/>
          </a:xfrm>
          <a:prstGeom prst="rect">
            <a:avLst/>
          </a:prstGeom>
          <a:solidFill>
            <a:srgbClr val="5B9BD5"/>
          </a:solidFill>
          <a:ln w="0">
            <a:noFill/>
            <a:prstDash val="solid"/>
          </a:ln>
        </p:spPr>
      </p:sp>
      <p:sp>
        <p:nvSpPr>
          <p:cNvPr id="40" name="矩形 39"/>
          <p:cNvSpPr>
            <a:spLocks noGrp="1"/>
          </p:cNvSpPr>
          <p:nvPr/>
        </p:nvSpPr>
        <p:spPr>
          <a:xfrm>
            <a:off x="1485900" y="4619625"/>
            <a:ext cx="102870" cy="102870"/>
          </a:xfrm>
          <a:prstGeom prst="rect">
            <a:avLst/>
          </a:prstGeom>
          <a:solidFill>
            <a:srgbClr val="A7C5EB"/>
          </a:solidFill>
          <a:ln w="0">
            <a:noFill/>
            <a:prstDash val="solid"/>
          </a:ln>
        </p:spPr>
      </p:sp>
      <p:sp>
        <p:nvSpPr>
          <p:cNvPr id="41" name="矩形 40"/>
          <p:cNvSpPr>
            <a:spLocks noGrp="1"/>
          </p:cNvSpPr>
          <p:nvPr/>
        </p:nvSpPr>
        <p:spPr>
          <a:xfrm>
            <a:off x="1600200" y="4619625"/>
            <a:ext cx="102870" cy="102870"/>
          </a:xfrm>
          <a:prstGeom prst="rect">
            <a:avLst/>
          </a:prstGeom>
          <a:solidFill>
            <a:srgbClr val="DDE8F7"/>
          </a:solidFill>
          <a:ln w="0">
            <a:noFill/>
            <a:prstDash val="solid"/>
          </a:ln>
        </p:spPr>
      </p:sp>
      <p:sp>
        <p:nvSpPr>
          <p:cNvPr id="42" name="矩形 41"/>
          <p:cNvSpPr>
            <a:spLocks noGrp="1"/>
          </p:cNvSpPr>
          <p:nvPr/>
        </p:nvSpPr>
        <p:spPr>
          <a:xfrm>
            <a:off x="1028700" y="4733925"/>
            <a:ext cx="102870" cy="102870"/>
          </a:xfrm>
          <a:prstGeom prst="rect">
            <a:avLst/>
          </a:prstGeom>
          <a:solidFill>
            <a:srgbClr val="5B9BD5"/>
          </a:solidFill>
          <a:ln w="0">
            <a:noFill/>
            <a:prstDash val="solid"/>
          </a:ln>
        </p:spPr>
      </p:sp>
      <p:sp>
        <p:nvSpPr>
          <p:cNvPr id="43" name="矩形 42"/>
          <p:cNvSpPr>
            <a:spLocks noGrp="1"/>
          </p:cNvSpPr>
          <p:nvPr/>
        </p:nvSpPr>
        <p:spPr>
          <a:xfrm>
            <a:off x="1143000" y="4733925"/>
            <a:ext cx="102870" cy="102870"/>
          </a:xfrm>
          <a:prstGeom prst="rect">
            <a:avLst/>
          </a:prstGeom>
          <a:solidFill>
            <a:srgbClr val="FFC000"/>
          </a:solidFill>
          <a:ln w="0">
            <a:noFill/>
            <a:prstDash val="solid"/>
          </a:ln>
        </p:spPr>
      </p:sp>
      <p:sp>
        <p:nvSpPr>
          <p:cNvPr id="44" name="矩形 43"/>
          <p:cNvSpPr>
            <a:spLocks noGrp="1"/>
          </p:cNvSpPr>
          <p:nvPr/>
        </p:nvSpPr>
        <p:spPr>
          <a:xfrm>
            <a:off x="1257300" y="4733925"/>
            <a:ext cx="102870" cy="102870"/>
          </a:xfrm>
          <a:prstGeom prst="rect">
            <a:avLst/>
          </a:prstGeom>
          <a:solidFill>
            <a:srgbClr val="5B9BD5"/>
          </a:solidFill>
          <a:ln w="0">
            <a:noFill/>
            <a:prstDash val="solid"/>
          </a:ln>
        </p:spPr>
      </p:sp>
      <p:sp>
        <p:nvSpPr>
          <p:cNvPr id="45" name="矩形 44"/>
          <p:cNvSpPr>
            <a:spLocks noGrp="1"/>
          </p:cNvSpPr>
          <p:nvPr/>
        </p:nvSpPr>
        <p:spPr>
          <a:xfrm>
            <a:off x="1371600" y="4733925"/>
            <a:ext cx="102870" cy="102870"/>
          </a:xfrm>
          <a:prstGeom prst="rect">
            <a:avLst/>
          </a:prstGeom>
          <a:solidFill>
            <a:srgbClr val="A7C5EB"/>
          </a:solidFill>
          <a:ln w="0">
            <a:noFill/>
            <a:prstDash val="solid"/>
          </a:ln>
        </p:spPr>
      </p:sp>
      <p:sp>
        <p:nvSpPr>
          <p:cNvPr id="46" name="矩形 45"/>
          <p:cNvSpPr>
            <a:spLocks noGrp="1"/>
          </p:cNvSpPr>
          <p:nvPr/>
        </p:nvSpPr>
        <p:spPr>
          <a:xfrm>
            <a:off x="1485900" y="4733925"/>
            <a:ext cx="102870" cy="102870"/>
          </a:xfrm>
          <a:prstGeom prst="rect">
            <a:avLst/>
          </a:prstGeom>
          <a:solidFill>
            <a:srgbClr val="DDE8F7"/>
          </a:solidFill>
          <a:ln w="0">
            <a:noFill/>
            <a:prstDash val="solid"/>
          </a:ln>
        </p:spPr>
      </p:sp>
      <p:sp>
        <p:nvSpPr>
          <p:cNvPr id="47" name="矩形 46"/>
          <p:cNvSpPr>
            <a:spLocks noGrp="1"/>
          </p:cNvSpPr>
          <p:nvPr/>
        </p:nvSpPr>
        <p:spPr>
          <a:xfrm>
            <a:off x="1600200" y="4733925"/>
            <a:ext cx="102870" cy="102870"/>
          </a:xfrm>
          <a:prstGeom prst="rect">
            <a:avLst/>
          </a:prstGeom>
          <a:solidFill>
            <a:srgbClr val="DDE8F7"/>
          </a:solidFill>
          <a:ln w="0">
            <a:noFill/>
            <a:prstDash val="solid"/>
          </a:ln>
        </p:spPr>
      </p:sp>
      <p:sp>
        <p:nvSpPr>
          <p:cNvPr id="48" name="矩形 47"/>
          <p:cNvSpPr>
            <a:spLocks noGrp="1"/>
          </p:cNvSpPr>
          <p:nvPr/>
        </p:nvSpPr>
        <p:spPr>
          <a:xfrm>
            <a:off x="1028700" y="4848225"/>
            <a:ext cx="102870" cy="102870"/>
          </a:xfrm>
          <a:prstGeom prst="rect">
            <a:avLst/>
          </a:prstGeom>
          <a:solidFill>
            <a:srgbClr val="FFC000"/>
          </a:solidFill>
          <a:ln w="0">
            <a:noFill/>
            <a:prstDash val="solid"/>
          </a:ln>
        </p:spPr>
      </p:sp>
      <p:sp>
        <p:nvSpPr>
          <p:cNvPr id="49" name="矩形 48"/>
          <p:cNvSpPr>
            <a:spLocks noGrp="1"/>
          </p:cNvSpPr>
          <p:nvPr/>
        </p:nvSpPr>
        <p:spPr>
          <a:xfrm>
            <a:off x="1143000" y="4848225"/>
            <a:ext cx="102870" cy="102870"/>
          </a:xfrm>
          <a:prstGeom prst="rect">
            <a:avLst/>
          </a:prstGeom>
          <a:solidFill>
            <a:srgbClr val="FFC000"/>
          </a:solidFill>
          <a:ln w="0">
            <a:noFill/>
            <a:prstDash val="solid"/>
          </a:ln>
        </p:spPr>
      </p:sp>
      <p:sp>
        <p:nvSpPr>
          <p:cNvPr id="50" name="矩形 49"/>
          <p:cNvSpPr>
            <a:spLocks noGrp="1"/>
          </p:cNvSpPr>
          <p:nvPr/>
        </p:nvSpPr>
        <p:spPr>
          <a:xfrm>
            <a:off x="1257300" y="4848225"/>
            <a:ext cx="102870" cy="102870"/>
          </a:xfrm>
          <a:prstGeom prst="rect">
            <a:avLst/>
          </a:prstGeom>
          <a:solidFill>
            <a:srgbClr val="A7C5EB"/>
          </a:solidFill>
          <a:ln w="0">
            <a:noFill/>
            <a:prstDash val="solid"/>
          </a:ln>
        </p:spPr>
      </p:sp>
      <p:sp>
        <p:nvSpPr>
          <p:cNvPr id="51" name="矩形 50"/>
          <p:cNvSpPr>
            <a:spLocks noGrp="1"/>
          </p:cNvSpPr>
          <p:nvPr/>
        </p:nvSpPr>
        <p:spPr>
          <a:xfrm>
            <a:off x="1371600" y="4848225"/>
            <a:ext cx="102870" cy="102870"/>
          </a:xfrm>
          <a:prstGeom prst="rect">
            <a:avLst/>
          </a:prstGeom>
          <a:solidFill>
            <a:srgbClr val="DDE8F7"/>
          </a:solidFill>
          <a:ln w="0">
            <a:noFill/>
            <a:prstDash val="solid"/>
          </a:ln>
        </p:spPr>
      </p:sp>
      <p:sp>
        <p:nvSpPr>
          <p:cNvPr id="52" name="矩形 51"/>
          <p:cNvSpPr>
            <a:spLocks noGrp="1"/>
          </p:cNvSpPr>
          <p:nvPr/>
        </p:nvSpPr>
        <p:spPr>
          <a:xfrm>
            <a:off x="1485900" y="4848225"/>
            <a:ext cx="102870" cy="102870"/>
          </a:xfrm>
          <a:prstGeom prst="rect">
            <a:avLst/>
          </a:prstGeom>
          <a:solidFill>
            <a:srgbClr val="D00000"/>
          </a:solidFill>
          <a:ln w="0">
            <a:noFill/>
            <a:prstDash val="solid"/>
          </a:ln>
        </p:spPr>
      </p:sp>
      <p:sp>
        <p:nvSpPr>
          <p:cNvPr id="53" name="矩形 52"/>
          <p:cNvSpPr>
            <a:spLocks noGrp="1"/>
          </p:cNvSpPr>
          <p:nvPr/>
        </p:nvSpPr>
        <p:spPr>
          <a:xfrm>
            <a:off x="1600200" y="4848225"/>
            <a:ext cx="102870" cy="102870"/>
          </a:xfrm>
          <a:prstGeom prst="rect">
            <a:avLst/>
          </a:prstGeom>
          <a:solidFill>
            <a:srgbClr val="D00000"/>
          </a:solidFill>
          <a:ln w="0">
            <a:noFill/>
            <a:prstDash val="solid"/>
          </a:ln>
        </p:spPr>
      </p:sp>
      <p:sp>
        <p:nvSpPr>
          <p:cNvPr id="54" name="矩形 53"/>
          <p:cNvSpPr>
            <a:spLocks noGrp="1"/>
          </p:cNvSpPr>
          <p:nvPr/>
        </p:nvSpPr>
        <p:spPr>
          <a:xfrm>
            <a:off x="1028700" y="4962525"/>
            <a:ext cx="102870" cy="102870"/>
          </a:xfrm>
          <a:prstGeom prst="rect">
            <a:avLst/>
          </a:prstGeom>
          <a:solidFill>
            <a:srgbClr val="FFC000"/>
          </a:solidFill>
          <a:ln w="0">
            <a:noFill/>
            <a:prstDash val="solid"/>
          </a:ln>
        </p:spPr>
      </p:sp>
      <p:sp>
        <p:nvSpPr>
          <p:cNvPr id="55" name="矩形 54"/>
          <p:cNvSpPr>
            <a:spLocks noGrp="1"/>
          </p:cNvSpPr>
          <p:nvPr/>
        </p:nvSpPr>
        <p:spPr>
          <a:xfrm>
            <a:off x="1143000" y="4962525"/>
            <a:ext cx="102870" cy="102870"/>
          </a:xfrm>
          <a:prstGeom prst="rect">
            <a:avLst/>
          </a:prstGeom>
          <a:solidFill>
            <a:srgbClr val="5B9BD5"/>
          </a:solidFill>
          <a:ln w="0">
            <a:noFill/>
            <a:prstDash val="solid"/>
          </a:ln>
        </p:spPr>
      </p:sp>
      <p:sp>
        <p:nvSpPr>
          <p:cNvPr id="56" name="矩形 55"/>
          <p:cNvSpPr>
            <a:spLocks noGrp="1"/>
          </p:cNvSpPr>
          <p:nvPr/>
        </p:nvSpPr>
        <p:spPr>
          <a:xfrm>
            <a:off x="1257300" y="4962525"/>
            <a:ext cx="102870" cy="102870"/>
          </a:xfrm>
          <a:prstGeom prst="rect">
            <a:avLst/>
          </a:prstGeom>
          <a:solidFill>
            <a:srgbClr val="DDE8F7"/>
          </a:solidFill>
          <a:ln w="0">
            <a:noFill/>
            <a:prstDash val="solid"/>
          </a:ln>
        </p:spPr>
      </p:sp>
      <p:sp>
        <p:nvSpPr>
          <p:cNvPr id="57" name="矩形 56"/>
          <p:cNvSpPr>
            <a:spLocks noGrp="1"/>
          </p:cNvSpPr>
          <p:nvPr/>
        </p:nvSpPr>
        <p:spPr>
          <a:xfrm>
            <a:off x="1371600" y="4962525"/>
            <a:ext cx="102870" cy="102870"/>
          </a:xfrm>
          <a:prstGeom prst="rect">
            <a:avLst/>
          </a:prstGeom>
          <a:solidFill>
            <a:srgbClr val="DDE8F7"/>
          </a:solidFill>
          <a:ln w="0">
            <a:noFill/>
            <a:prstDash val="solid"/>
          </a:ln>
        </p:spPr>
      </p:sp>
      <p:sp>
        <p:nvSpPr>
          <p:cNvPr id="58" name="矩形 57"/>
          <p:cNvSpPr>
            <a:spLocks noGrp="1"/>
          </p:cNvSpPr>
          <p:nvPr/>
        </p:nvSpPr>
        <p:spPr>
          <a:xfrm>
            <a:off x="1485900" y="4962525"/>
            <a:ext cx="102870" cy="102870"/>
          </a:xfrm>
          <a:prstGeom prst="rect">
            <a:avLst/>
          </a:prstGeom>
          <a:solidFill>
            <a:srgbClr val="D00000"/>
          </a:solidFill>
          <a:ln w="0">
            <a:noFill/>
            <a:prstDash val="solid"/>
          </a:ln>
        </p:spPr>
      </p:sp>
      <p:sp>
        <p:nvSpPr>
          <p:cNvPr id="59" name="矩形 58"/>
          <p:cNvSpPr>
            <a:spLocks noGrp="1"/>
          </p:cNvSpPr>
          <p:nvPr/>
        </p:nvSpPr>
        <p:spPr>
          <a:xfrm>
            <a:off x="1600200" y="4962525"/>
            <a:ext cx="102870" cy="102870"/>
          </a:xfrm>
          <a:prstGeom prst="rect">
            <a:avLst/>
          </a:prstGeom>
          <a:solidFill>
            <a:srgbClr val="D00000"/>
          </a:solidFill>
          <a:ln w="0">
            <a:noFill/>
            <a:prstDash val="solid"/>
          </a:ln>
        </p:spPr>
      </p:sp>
      <p:sp>
        <p:nvSpPr>
          <p:cNvPr id="60" name="矩形 59"/>
          <p:cNvSpPr>
            <a:spLocks noGrp="1"/>
          </p:cNvSpPr>
          <p:nvPr/>
        </p:nvSpPr>
        <p:spPr>
          <a:xfrm>
            <a:off x="1028700" y="5076825"/>
            <a:ext cx="102870" cy="102870"/>
          </a:xfrm>
          <a:prstGeom prst="rect">
            <a:avLst/>
          </a:prstGeom>
          <a:solidFill>
            <a:srgbClr val="5B9BD5"/>
          </a:solidFill>
          <a:ln w="0">
            <a:noFill/>
            <a:prstDash val="solid"/>
          </a:ln>
        </p:spPr>
      </p:sp>
      <p:sp>
        <p:nvSpPr>
          <p:cNvPr id="61" name="矩形 60"/>
          <p:cNvSpPr>
            <a:spLocks noGrp="1"/>
          </p:cNvSpPr>
          <p:nvPr/>
        </p:nvSpPr>
        <p:spPr>
          <a:xfrm>
            <a:off x="1143000" y="5076825"/>
            <a:ext cx="102870" cy="102870"/>
          </a:xfrm>
          <a:prstGeom prst="rect">
            <a:avLst/>
          </a:prstGeom>
          <a:solidFill>
            <a:srgbClr val="DDE8F7"/>
          </a:solidFill>
          <a:ln w="0">
            <a:noFill/>
            <a:prstDash val="solid"/>
          </a:ln>
        </p:spPr>
      </p:sp>
      <p:sp>
        <p:nvSpPr>
          <p:cNvPr id="62" name="矩形 61"/>
          <p:cNvSpPr>
            <a:spLocks noGrp="1"/>
          </p:cNvSpPr>
          <p:nvPr/>
        </p:nvSpPr>
        <p:spPr>
          <a:xfrm>
            <a:off x="1257300" y="5076825"/>
            <a:ext cx="102870" cy="102870"/>
          </a:xfrm>
          <a:prstGeom prst="rect">
            <a:avLst/>
          </a:prstGeom>
          <a:solidFill>
            <a:srgbClr val="DDE8F7"/>
          </a:solidFill>
          <a:ln w="0">
            <a:noFill/>
            <a:prstDash val="solid"/>
          </a:ln>
        </p:spPr>
      </p:sp>
      <p:sp>
        <p:nvSpPr>
          <p:cNvPr id="63" name="矩形 62"/>
          <p:cNvSpPr>
            <a:spLocks noGrp="1"/>
          </p:cNvSpPr>
          <p:nvPr/>
        </p:nvSpPr>
        <p:spPr>
          <a:xfrm>
            <a:off x="1371600" y="5076825"/>
            <a:ext cx="102870" cy="102870"/>
          </a:xfrm>
          <a:prstGeom prst="rect">
            <a:avLst/>
          </a:prstGeom>
          <a:solidFill>
            <a:srgbClr val="DDE8F7"/>
          </a:solidFill>
          <a:ln w="0">
            <a:noFill/>
            <a:prstDash val="solid"/>
          </a:ln>
        </p:spPr>
      </p:sp>
      <p:sp>
        <p:nvSpPr>
          <p:cNvPr id="64" name="矩形 63"/>
          <p:cNvSpPr>
            <a:spLocks noGrp="1"/>
          </p:cNvSpPr>
          <p:nvPr/>
        </p:nvSpPr>
        <p:spPr>
          <a:xfrm>
            <a:off x="1485900" y="5076825"/>
            <a:ext cx="102870" cy="102870"/>
          </a:xfrm>
          <a:prstGeom prst="rect">
            <a:avLst/>
          </a:prstGeom>
          <a:solidFill>
            <a:srgbClr val="5B9BD5"/>
          </a:solidFill>
          <a:ln w="0">
            <a:noFill/>
            <a:prstDash val="solid"/>
          </a:ln>
        </p:spPr>
      </p:sp>
      <p:sp>
        <p:nvSpPr>
          <p:cNvPr id="65" name="矩形 64"/>
          <p:cNvSpPr>
            <a:spLocks noGrp="1"/>
          </p:cNvSpPr>
          <p:nvPr/>
        </p:nvSpPr>
        <p:spPr>
          <a:xfrm>
            <a:off x="1600200" y="5076825"/>
            <a:ext cx="102870" cy="102870"/>
          </a:xfrm>
          <a:prstGeom prst="rect">
            <a:avLst/>
          </a:prstGeom>
          <a:solidFill>
            <a:srgbClr val="FFC000"/>
          </a:solidFill>
          <a:ln w="0">
            <a:noFill/>
            <a:prstDash val="solid"/>
          </a:ln>
        </p:spPr>
      </p:sp>
      <p:sp>
        <p:nvSpPr>
          <p:cNvPr id="66" name="椭圆 65"/>
          <p:cNvSpPr>
            <a:spLocks noGrp="1"/>
          </p:cNvSpPr>
          <p:nvPr/>
        </p:nvSpPr>
        <p:spPr>
          <a:xfrm>
            <a:off x="1962150" y="4772660"/>
            <a:ext cx="419100" cy="419100"/>
          </a:xfrm>
          <a:prstGeom prst="ellipse">
            <a:avLst/>
          </a:prstGeom>
          <a:noFill/>
          <a:ln w="19050">
            <a:solidFill>
              <a:srgbClr val="D00000"/>
            </a:solidFill>
            <a:prstDash val="solid"/>
          </a:ln>
        </p:spPr>
      </p:sp>
      <p:sp>
        <p:nvSpPr>
          <p:cNvPr id="67" name="椭圆 66"/>
          <p:cNvSpPr>
            <a:spLocks noGrp="1"/>
          </p:cNvSpPr>
          <p:nvPr/>
        </p:nvSpPr>
        <p:spPr>
          <a:xfrm>
            <a:off x="2105660" y="4895850"/>
            <a:ext cx="139700" cy="137795"/>
          </a:xfrm>
          <a:prstGeom prst="ellipse">
            <a:avLst/>
          </a:prstGeom>
          <a:noFill/>
          <a:ln w="14288">
            <a:solidFill>
              <a:srgbClr val="D00000"/>
            </a:solidFill>
            <a:prstDash val="solid"/>
          </a:ln>
        </p:spPr>
      </p:sp>
      <p:sp>
        <p:nvSpPr>
          <p:cNvPr id="68" name="直接连接符 67"/>
          <p:cNvSpPr>
            <a:spLocks noGrp="1"/>
          </p:cNvSpPr>
          <p:nvPr/>
        </p:nvSpPr>
        <p:spPr>
          <a:xfrm>
            <a:off x="2171700" y="4768215"/>
            <a:ext cx="0" cy="152400"/>
          </a:xfrm>
          <a:prstGeom prst="line">
            <a:avLst/>
          </a:prstGeom>
          <a:noFill/>
          <a:ln w="19050">
            <a:solidFill>
              <a:srgbClr val="D00000"/>
            </a:solidFill>
            <a:prstDash val="solid"/>
          </a:ln>
        </p:spPr>
      </p:sp>
      <p:sp>
        <p:nvSpPr>
          <p:cNvPr id="69" name="直接连接符 68"/>
          <p:cNvSpPr>
            <a:spLocks noGrp="1"/>
          </p:cNvSpPr>
          <p:nvPr/>
        </p:nvSpPr>
        <p:spPr>
          <a:xfrm>
            <a:off x="2171700" y="5043805"/>
            <a:ext cx="0" cy="152400"/>
          </a:xfrm>
          <a:prstGeom prst="line">
            <a:avLst/>
          </a:prstGeom>
          <a:noFill/>
          <a:ln w="19050">
            <a:solidFill>
              <a:srgbClr val="D00000"/>
            </a:solidFill>
            <a:prstDash val="solid"/>
          </a:ln>
        </p:spPr>
      </p:sp>
      <p:sp>
        <p:nvSpPr>
          <p:cNvPr id="70" name="直接连接符 69"/>
          <p:cNvSpPr>
            <a:spLocks noGrp="1"/>
          </p:cNvSpPr>
          <p:nvPr/>
        </p:nvSpPr>
        <p:spPr>
          <a:xfrm>
            <a:off x="1957705" y="4982210"/>
            <a:ext cx="152400" cy="0"/>
          </a:xfrm>
          <a:prstGeom prst="line">
            <a:avLst/>
          </a:prstGeom>
          <a:noFill/>
          <a:ln w="19050">
            <a:solidFill>
              <a:srgbClr val="D00000"/>
            </a:solidFill>
            <a:prstDash val="solid"/>
          </a:ln>
        </p:spPr>
      </p:sp>
      <p:sp>
        <p:nvSpPr>
          <p:cNvPr id="71" name="直接连接符 70"/>
          <p:cNvSpPr>
            <a:spLocks noGrp="1"/>
          </p:cNvSpPr>
          <p:nvPr/>
        </p:nvSpPr>
        <p:spPr>
          <a:xfrm>
            <a:off x="2233295" y="4982210"/>
            <a:ext cx="152400" cy="0"/>
          </a:xfrm>
          <a:prstGeom prst="line">
            <a:avLst/>
          </a:prstGeom>
          <a:noFill/>
          <a:ln w="19050">
            <a:solidFill>
              <a:srgbClr val="D00000"/>
            </a:solidFill>
            <a:prstDash val="solid"/>
          </a:ln>
        </p:spPr>
      </p:sp>
      <p:sp>
        <p:nvSpPr>
          <p:cNvPr id="72" name="圆角矩形 71"/>
          <p:cNvSpPr>
            <a:spLocks noGrp="1"/>
          </p:cNvSpPr>
          <p:nvPr/>
        </p:nvSpPr>
        <p:spPr>
          <a:xfrm>
            <a:off x="2724150" y="4600575"/>
            <a:ext cx="704850" cy="123825"/>
          </a:xfrm>
          <a:prstGeom prst="roundRect">
            <a:avLst>
              <a:gd name="adj" fmla="val 30769"/>
            </a:avLst>
          </a:prstGeom>
          <a:solidFill>
            <a:srgbClr val="FFFFFF"/>
          </a:solidFill>
          <a:ln w="13335">
            <a:solidFill>
              <a:srgbClr val="315AA2"/>
            </a:solidFill>
            <a:prstDash val="solid"/>
          </a:ln>
        </p:spPr>
      </p:sp>
      <p:sp>
        <p:nvSpPr>
          <p:cNvPr id="73" name="椭圆 72"/>
          <p:cNvSpPr>
            <a:spLocks noGrp="1"/>
          </p:cNvSpPr>
          <p:nvPr/>
        </p:nvSpPr>
        <p:spPr>
          <a:xfrm>
            <a:off x="2790825" y="4638675"/>
            <a:ext cx="47625" cy="47625"/>
          </a:xfrm>
          <a:prstGeom prst="ellipse">
            <a:avLst/>
          </a:prstGeom>
          <a:solidFill>
            <a:srgbClr val="D00000"/>
          </a:solidFill>
          <a:ln w="0">
            <a:solidFill>
              <a:srgbClr val="D00000"/>
            </a:solidFill>
            <a:prstDash val="solid"/>
          </a:ln>
        </p:spPr>
      </p:sp>
      <p:sp>
        <p:nvSpPr>
          <p:cNvPr id="74" name="矩形 73"/>
          <p:cNvSpPr>
            <a:spLocks noGrp="1"/>
          </p:cNvSpPr>
          <p:nvPr/>
        </p:nvSpPr>
        <p:spPr>
          <a:xfrm>
            <a:off x="2914650" y="4648200"/>
            <a:ext cx="381000" cy="28575"/>
          </a:xfrm>
          <a:prstGeom prst="rect">
            <a:avLst/>
          </a:prstGeom>
          <a:solidFill>
            <a:srgbClr val="8FAAD8"/>
          </a:solidFill>
          <a:ln w="0">
            <a:noFill/>
            <a:prstDash val="solid"/>
          </a:ln>
        </p:spPr>
      </p:sp>
      <p:sp>
        <p:nvSpPr>
          <p:cNvPr id="75" name="圆角矩形 74"/>
          <p:cNvSpPr>
            <a:spLocks noGrp="1"/>
          </p:cNvSpPr>
          <p:nvPr/>
        </p:nvSpPr>
        <p:spPr>
          <a:xfrm>
            <a:off x="2724150" y="4772025"/>
            <a:ext cx="704850" cy="123825"/>
          </a:xfrm>
          <a:prstGeom prst="roundRect">
            <a:avLst>
              <a:gd name="adj" fmla="val 30769"/>
            </a:avLst>
          </a:prstGeom>
          <a:solidFill>
            <a:srgbClr val="FFFFFF"/>
          </a:solidFill>
          <a:ln w="13335">
            <a:solidFill>
              <a:srgbClr val="315AA2"/>
            </a:solidFill>
            <a:prstDash val="solid"/>
          </a:ln>
        </p:spPr>
      </p:sp>
      <p:sp>
        <p:nvSpPr>
          <p:cNvPr id="76" name="椭圆 75"/>
          <p:cNvSpPr>
            <a:spLocks noGrp="1"/>
          </p:cNvSpPr>
          <p:nvPr/>
        </p:nvSpPr>
        <p:spPr>
          <a:xfrm>
            <a:off x="2790825" y="4810125"/>
            <a:ext cx="47625" cy="47625"/>
          </a:xfrm>
          <a:prstGeom prst="ellipse">
            <a:avLst/>
          </a:prstGeom>
          <a:solidFill>
            <a:srgbClr val="D00000"/>
          </a:solidFill>
          <a:ln w="0">
            <a:solidFill>
              <a:srgbClr val="D00000"/>
            </a:solidFill>
            <a:prstDash val="solid"/>
          </a:ln>
        </p:spPr>
      </p:sp>
      <p:sp>
        <p:nvSpPr>
          <p:cNvPr id="77" name="矩形 76"/>
          <p:cNvSpPr>
            <a:spLocks noGrp="1"/>
          </p:cNvSpPr>
          <p:nvPr/>
        </p:nvSpPr>
        <p:spPr>
          <a:xfrm>
            <a:off x="2914650" y="4819650"/>
            <a:ext cx="381000" cy="28575"/>
          </a:xfrm>
          <a:prstGeom prst="rect">
            <a:avLst/>
          </a:prstGeom>
          <a:solidFill>
            <a:srgbClr val="8FAAD8"/>
          </a:solidFill>
          <a:ln w="0">
            <a:noFill/>
            <a:prstDash val="solid"/>
          </a:ln>
        </p:spPr>
      </p:sp>
      <p:sp>
        <p:nvSpPr>
          <p:cNvPr id="78" name="圆角矩形 77"/>
          <p:cNvSpPr>
            <a:spLocks noGrp="1"/>
          </p:cNvSpPr>
          <p:nvPr/>
        </p:nvSpPr>
        <p:spPr>
          <a:xfrm>
            <a:off x="2724150" y="4943475"/>
            <a:ext cx="704850" cy="123825"/>
          </a:xfrm>
          <a:prstGeom prst="roundRect">
            <a:avLst>
              <a:gd name="adj" fmla="val 30769"/>
            </a:avLst>
          </a:prstGeom>
          <a:solidFill>
            <a:srgbClr val="FFFFFF"/>
          </a:solidFill>
          <a:ln w="13335">
            <a:solidFill>
              <a:srgbClr val="315AA2"/>
            </a:solidFill>
            <a:prstDash val="solid"/>
          </a:ln>
        </p:spPr>
      </p:sp>
      <p:sp>
        <p:nvSpPr>
          <p:cNvPr id="79" name="椭圆 78"/>
          <p:cNvSpPr>
            <a:spLocks noGrp="1"/>
          </p:cNvSpPr>
          <p:nvPr/>
        </p:nvSpPr>
        <p:spPr>
          <a:xfrm>
            <a:off x="2790825" y="4981575"/>
            <a:ext cx="47625" cy="47625"/>
          </a:xfrm>
          <a:prstGeom prst="ellipse">
            <a:avLst/>
          </a:prstGeom>
          <a:solidFill>
            <a:srgbClr val="D00000"/>
          </a:solidFill>
          <a:ln w="0">
            <a:solidFill>
              <a:srgbClr val="D00000"/>
            </a:solidFill>
            <a:prstDash val="solid"/>
          </a:ln>
        </p:spPr>
      </p:sp>
      <p:sp>
        <p:nvSpPr>
          <p:cNvPr id="80" name="矩形 79"/>
          <p:cNvSpPr>
            <a:spLocks noGrp="1"/>
          </p:cNvSpPr>
          <p:nvPr/>
        </p:nvSpPr>
        <p:spPr>
          <a:xfrm>
            <a:off x="2914650" y="4991100"/>
            <a:ext cx="381000" cy="28575"/>
          </a:xfrm>
          <a:prstGeom prst="rect">
            <a:avLst/>
          </a:prstGeom>
          <a:solidFill>
            <a:srgbClr val="8FAAD8"/>
          </a:solidFill>
          <a:ln w="0">
            <a:noFill/>
            <a:prstDash val="solid"/>
          </a:ln>
        </p:spPr>
      </p:sp>
      <p:sp>
        <p:nvSpPr>
          <p:cNvPr id="81" name="矩形 80"/>
          <p:cNvSpPr>
            <a:spLocks noGrp="1"/>
          </p:cNvSpPr>
          <p:nvPr/>
        </p:nvSpPr>
        <p:spPr>
          <a:xfrm>
            <a:off x="885825" y="5381625"/>
            <a:ext cx="7810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>
                <a:solidFill>
                  <a:srgbClr val="1F2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>
                <a:solidFill>
                  <a:srgbClr val="1F2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杂波谱宽</a:t>
            </a:r>
            <a:endParaRPr sz="1125">
              <a:solidFill>
                <a:srgbClr val="1F2A4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defRPr sz="1125">
                <a:solidFill>
                  <a:srgbClr val="1F2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>
                <a:solidFill>
                  <a:srgbClr val="1F2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长尾参数</a:t>
            </a:r>
            <a:endParaRPr sz="1125">
              <a:solidFill>
                <a:srgbClr val="1F2A4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2" name="矩形 81"/>
          <p:cNvSpPr>
            <a:spLocks noGrp="1"/>
          </p:cNvSpPr>
          <p:nvPr/>
        </p:nvSpPr>
        <p:spPr>
          <a:xfrm>
            <a:off x="1790700" y="5381625"/>
            <a:ext cx="7810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>
                <a:solidFill>
                  <a:srgbClr val="1F2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>
                <a:solidFill>
                  <a:srgbClr val="1F2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目标泄漏</a:t>
            </a:r>
            <a:endParaRPr sz="1125">
              <a:solidFill>
                <a:srgbClr val="1F2A4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defRPr sz="1125">
                <a:solidFill>
                  <a:srgbClr val="1F2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>
                <a:solidFill>
                  <a:srgbClr val="1F2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保护区</a:t>
            </a:r>
            <a:endParaRPr sz="1125">
              <a:solidFill>
                <a:srgbClr val="1F2A4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3" name="矩形 82"/>
          <p:cNvSpPr>
            <a:spLocks noGrp="1"/>
          </p:cNvSpPr>
          <p:nvPr/>
        </p:nvSpPr>
        <p:spPr>
          <a:xfrm>
            <a:off x="2695575" y="5381625"/>
            <a:ext cx="7810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>
                <a:solidFill>
                  <a:srgbClr val="1F2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>
                <a:solidFill>
                  <a:srgbClr val="1F2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参考集合</a:t>
            </a:r>
            <a:endParaRPr sz="1125">
              <a:solidFill>
                <a:srgbClr val="1F2A4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defRPr sz="1125">
                <a:solidFill>
                  <a:srgbClr val="1F2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>
                <a:solidFill>
                  <a:srgbClr val="1F2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在线更新</a:t>
            </a:r>
            <a:endParaRPr sz="1125">
              <a:solidFill>
                <a:srgbClr val="1F2A4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4" name="矩形 83"/>
          <p:cNvSpPr>
            <a:spLocks noGrp="1"/>
          </p:cNvSpPr>
          <p:nvPr/>
        </p:nvSpPr>
        <p:spPr>
          <a:xfrm>
            <a:off x="4044315" y="1914525"/>
            <a:ext cx="282702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1">
                <a:solidFill>
                  <a:srgbClr val="D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D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参考提取：空间取样与延时合并</a:t>
            </a:r>
            <a:endParaRPr sz="1275" b="1">
              <a:solidFill>
                <a:srgbClr val="D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5" name="任意多边形 84"/>
          <p:cNvSpPr>
            <a:spLocks noGrp="1"/>
          </p:cNvSpPr>
          <p:nvPr/>
        </p:nvSpPr>
        <p:spPr>
          <a:xfrm>
            <a:off x="4248150" y="2276475"/>
            <a:ext cx="542925" cy="123825"/>
          </a:xfrm>
          <a:custGeom>
            <a:avLst/>
            <a:gdLst/>
            <a:ahLst/>
            <a:cxnLst/>
            <a:pathLst>
              <a:path w="542925" h="123825">
                <a:moveTo>
                  <a:pt x="0" y="123825"/>
                </a:moveTo>
                <a:lnTo>
                  <a:pt x="90488" y="92869"/>
                </a:lnTo>
                <a:lnTo>
                  <a:pt x="180975" y="15478"/>
                </a:lnTo>
                <a:lnTo>
                  <a:pt x="271463" y="108347"/>
                </a:lnTo>
                <a:lnTo>
                  <a:pt x="361950" y="0"/>
                </a:lnTo>
                <a:lnTo>
                  <a:pt x="452438" y="77391"/>
                </a:lnTo>
                <a:lnTo>
                  <a:pt x="542925" y="123825"/>
                </a:lnTo>
              </a:path>
            </a:pathLst>
          </a:custGeom>
          <a:noFill/>
          <a:ln w="13335">
            <a:solidFill>
              <a:srgbClr val="315AA2"/>
            </a:solidFill>
            <a:prstDash val="solid"/>
          </a:ln>
        </p:spPr>
      </p:sp>
      <p:sp>
        <p:nvSpPr>
          <p:cNvPr id="86" name="直接连接符 85"/>
          <p:cNvSpPr>
            <a:spLocks noGrp="1"/>
          </p:cNvSpPr>
          <p:nvPr/>
        </p:nvSpPr>
        <p:spPr>
          <a:xfrm>
            <a:off x="4857750" y="2333625"/>
            <a:ext cx="247650" cy="0"/>
          </a:xfrm>
          <a:prstGeom prst="line">
            <a:avLst/>
          </a:prstGeom>
          <a:noFill/>
          <a:ln w="12383">
            <a:solidFill>
              <a:srgbClr val="7F8DA9"/>
            </a:solidFill>
            <a:prstDash val="solid"/>
          </a:ln>
        </p:spPr>
      </p:sp>
      <p:sp>
        <p:nvSpPr>
          <p:cNvPr id="87" name="任意多边形 86"/>
          <p:cNvSpPr>
            <a:spLocks noGrp="1"/>
          </p:cNvSpPr>
          <p:nvPr/>
        </p:nvSpPr>
        <p:spPr>
          <a:xfrm>
            <a:off x="4248150" y="2495550"/>
            <a:ext cx="542925" cy="123825"/>
          </a:xfrm>
          <a:custGeom>
            <a:avLst/>
            <a:gdLst/>
            <a:ahLst/>
            <a:cxnLst/>
            <a:pathLst>
              <a:path w="542925" h="123825">
                <a:moveTo>
                  <a:pt x="0" y="123825"/>
                </a:moveTo>
                <a:lnTo>
                  <a:pt x="90488" y="92869"/>
                </a:lnTo>
                <a:lnTo>
                  <a:pt x="180975" y="15478"/>
                </a:lnTo>
                <a:lnTo>
                  <a:pt x="271463" y="108347"/>
                </a:lnTo>
                <a:lnTo>
                  <a:pt x="361950" y="0"/>
                </a:lnTo>
                <a:lnTo>
                  <a:pt x="452438" y="77391"/>
                </a:lnTo>
                <a:lnTo>
                  <a:pt x="542925" y="123825"/>
                </a:lnTo>
              </a:path>
            </a:pathLst>
          </a:custGeom>
          <a:noFill/>
          <a:ln w="13335">
            <a:solidFill>
              <a:srgbClr val="D00000"/>
            </a:solidFill>
            <a:prstDash val="solid"/>
          </a:ln>
        </p:spPr>
      </p:sp>
      <p:sp>
        <p:nvSpPr>
          <p:cNvPr id="88" name="直接连接符 87"/>
          <p:cNvSpPr>
            <a:spLocks noGrp="1"/>
          </p:cNvSpPr>
          <p:nvPr/>
        </p:nvSpPr>
        <p:spPr>
          <a:xfrm>
            <a:off x="4857750" y="2552700"/>
            <a:ext cx="247650" cy="0"/>
          </a:xfrm>
          <a:prstGeom prst="line">
            <a:avLst/>
          </a:prstGeom>
          <a:noFill/>
          <a:ln w="12383">
            <a:solidFill>
              <a:srgbClr val="7F8DA9"/>
            </a:solidFill>
            <a:prstDash val="solid"/>
          </a:ln>
        </p:spPr>
      </p:sp>
      <p:sp>
        <p:nvSpPr>
          <p:cNvPr id="89" name="任意多边形 88"/>
          <p:cNvSpPr>
            <a:spLocks noGrp="1"/>
          </p:cNvSpPr>
          <p:nvPr/>
        </p:nvSpPr>
        <p:spPr>
          <a:xfrm>
            <a:off x="4248150" y="2714625"/>
            <a:ext cx="542925" cy="123825"/>
          </a:xfrm>
          <a:custGeom>
            <a:avLst/>
            <a:gdLst/>
            <a:ahLst/>
            <a:cxnLst/>
            <a:pathLst>
              <a:path w="542925" h="123825">
                <a:moveTo>
                  <a:pt x="0" y="123825"/>
                </a:moveTo>
                <a:lnTo>
                  <a:pt x="90488" y="92869"/>
                </a:lnTo>
                <a:lnTo>
                  <a:pt x="180975" y="15478"/>
                </a:lnTo>
                <a:lnTo>
                  <a:pt x="271463" y="108347"/>
                </a:lnTo>
                <a:lnTo>
                  <a:pt x="361950" y="0"/>
                </a:lnTo>
                <a:lnTo>
                  <a:pt x="452438" y="77391"/>
                </a:lnTo>
                <a:lnTo>
                  <a:pt x="542925" y="123825"/>
                </a:lnTo>
              </a:path>
            </a:pathLst>
          </a:custGeom>
          <a:noFill/>
          <a:ln w="13335">
            <a:solidFill>
              <a:srgbClr val="315AA2"/>
            </a:solidFill>
            <a:prstDash val="solid"/>
          </a:ln>
        </p:spPr>
      </p:sp>
      <p:sp>
        <p:nvSpPr>
          <p:cNvPr id="90" name="直接连接符 89"/>
          <p:cNvSpPr>
            <a:spLocks noGrp="1"/>
          </p:cNvSpPr>
          <p:nvPr/>
        </p:nvSpPr>
        <p:spPr>
          <a:xfrm>
            <a:off x="4857750" y="2771775"/>
            <a:ext cx="247650" cy="0"/>
          </a:xfrm>
          <a:prstGeom prst="line">
            <a:avLst/>
          </a:prstGeom>
          <a:noFill/>
          <a:ln w="12383">
            <a:solidFill>
              <a:srgbClr val="7F8DA9"/>
            </a:solidFill>
            <a:prstDash val="solid"/>
          </a:ln>
        </p:spPr>
      </p:sp>
      <p:sp>
        <p:nvSpPr>
          <p:cNvPr id="91" name="圆角矩形 90"/>
          <p:cNvSpPr>
            <a:spLocks noGrp="1"/>
          </p:cNvSpPr>
          <p:nvPr/>
        </p:nvSpPr>
        <p:spPr>
          <a:xfrm>
            <a:off x="5153025" y="2228850"/>
            <a:ext cx="190500" cy="688340"/>
          </a:xfrm>
          <a:prstGeom prst="roundRect">
            <a:avLst>
              <a:gd name="adj" fmla="val 20000"/>
            </a:avLst>
          </a:prstGeom>
          <a:solidFill>
            <a:srgbClr val="BED0EC"/>
          </a:solidFill>
          <a:ln w="9525">
            <a:solidFill>
              <a:srgbClr val="315AA2"/>
            </a:solidFill>
            <a:prstDash val="solid"/>
          </a:ln>
        </p:spPr>
      </p:sp>
      <p:sp>
        <p:nvSpPr>
          <p:cNvPr id="93" name="圆角矩形 92"/>
          <p:cNvSpPr>
            <a:spLocks noGrp="1"/>
          </p:cNvSpPr>
          <p:nvPr/>
        </p:nvSpPr>
        <p:spPr>
          <a:xfrm>
            <a:off x="5448300" y="2228850"/>
            <a:ext cx="190500" cy="688340"/>
          </a:xfrm>
          <a:prstGeom prst="roundRect">
            <a:avLst>
              <a:gd name="adj" fmla="val 20000"/>
            </a:avLst>
          </a:prstGeom>
          <a:solidFill>
            <a:srgbClr val="F4B4B4"/>
          </a:solidFill>
          <a:ln w="9525">
            <a:solidFill>
              <a:srgbClr val="D00000"/>
            </a:solidFill>
            <a:prstDash val="solid"/>
          </a:ln>
        </p:spPr>
      </p:sp>
      <p:sp>
        <p:nvSpPr>
          <p:cNvPr id="95" name="圆角矩形 94"/>
          <p:cNvSpPr>
            <a:spLocks noGrp="1"/>
          </p:cNvSpPr>
          <p:nvPr/>
        </p:nvSpPr>
        <p:spPr>
          <a:xfrm>
            <a:off x="5743575" y="2228850"/>
            <a:ext cx="190500" cy="688340"/>
          </a:xfrm>
          <a:prstGeom prst="roundRect">
            <a:avLst>
              <a:gd name="adj" fmla="val 20000"/>
            </a:avLst>
          </a:prstGeom>
          <a:solidFill>
            <a:srgbClr val="BED0EC"/>
          </a:solidFill>
          <a:ln w="9525">
            <a:solidFill>
              <a:srgbClr val="315AA2"/>
            </a:solidFill>
            <a:prstDash val="solid"/>
          </a:ln>
        </p:spPr>
      </p:sp>
      <p:sp>
        <p:nvSpPr>
          <p:cNvPr id="97" name="右箭头 96"/>
          <p:cNvSpPr>
            <a:spLocks noGrp="1"/>
          </p:cNvSpPr>
          <p:nvPr/>
        </p:nvSpPr>
        <p:spPr>
          <a:xfrm>
            <a:off x="6153150" y="2371725"/>
            <a:ext cx="342900" cy="247650"/>
          </a:xfrm>
          <a:prstGeom prst="rightArrow">
            <a:avLst/>
          </a:prstGeom>
          <a:solidFill>
            <a:srgbClr val="E15B5B"/>
          </a:solidFill>
          <a:ln w="0">
            <a:solidFill>
              <a:srgbClr val="E15B5B"/>
            </a:solidFill>
            <a:prstDash val="solid"/>
          </a:ln>
        </p:spPr>
      </p:sp>
      <p:sp>
        <p:nvSpPr>
          <p:cNvPr id="99" name="圆角矩形 98"/>
          <p:cNvSpPr>
            <a:spLocks noGrp="1"/>
          </p:cNvSpPr>
          <p:nvPr/>
        </p:nvSpPr>
        <p:spPr>
          <a:xfrm>
            <a:off x="4917440" y="2987675"/>
            <a:ext cx="934720" cy="738505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3335">
            <a:solidFill>
              <a:srgbClr val="D00000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  <p:txBody>
          <a:bodyPr/>
          <a:lstStyle/>
          <a:p>
            <a:pPr algn="ctr">
              <a:defRPr sz="1050" b="1">
                <a:solidFill>
                  <a:srgbClr val="D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endParaRPr sz="1050" b="1">
              <a:solidFill>
                <a:srgbClr val="D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00" name="下箭头 99"/>
          <p:cNvSpPr>
            <a:spLocks noGrp="1"/>
          </p:cNvSpPr>
          <p:nvPr/>
        </p:nvSpPr>
        <p:spPr>
          <a:xfrm>
            <a:off x="5181600" y="3829685"/>
            <a:ext cx="361950" cy="352425"/>
          </a:xfrm>
          <a:prstGeom prst="downArrow">
            <a:avLst/>
          </a:prstGeom>
          <a:solidFill>
            <a:srgbClr val="E9A0A0"/>
          </a:solidFill>
          <a:ln w="0">
            <a:solidFill>
              <a:srgbClr val="E9A0A0"/>
            </a:solidFill>
            <a:prstDash val="solid"/>
          </a:ln>
        </p:spPr>
      </p:sp>
      <p:sp>
        <p:nvSpPr>
          <p:cNvPr id="101" name="矩形 100"/>
          <p:cNvSpPr>
            <a:spLocks noGrp="1"/>
          </p:cNvSpPr>
          <p:nvPr/>
        </p:nvSpPr>
        <p:spPr>
          <a:xfrm>
            <a:off x="4107180" y="4387215"/>
            <a:ext cx="260667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1">
                <a:solidFill>
                  <a:srgbClr val="D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D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执行：多域联合对消与残差反馈</a:t>
            </a:r>
            <a:endParaRPr sz="1275" b="1">
              <a:solidFill>
                <a:srgbClr val="D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5" name="圆角矩形 104"/>
          <p:cNvSpPr>
            <a:spLocks noGrp="1"/>
          </p:cNvSpPr>
          <p:nvPr/>
        </p:nvSpPr>
        <p:spPr>
          <a:xfrm>
            <a:off x="4119245" y="5353050"/>
            <a:ext cx="723900" cy="64516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1430">
            <a:solidFill>
              <a:srgbClr val="D00000"/>
            </a:solidFill>
            <a:prstDash val="solid"/>
          </a:ln>
        </p:spPr>
      </p:sp>
      <p:sp>
        <p:nvSpPr>
          <p:cNvPr id="106" name="矩形 105"/>
          <p:cNvSpPr>
            <a:spLocks noGrp="1"/>
          </p:cNvSpPr>
          <p:nvPr/>
        </p:nvSpPr>
        <p:spPr>
          <a:xfrm>
            <a:off x="4154805" y="5352415"/>
            <a:ext cx="694690" cy="54546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 b="1">
                <a:solidFill>
                  <a:srgbClr val="D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D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时域</a:t>
            </a:r>
            <a:endParaRPr sz="1125" b="1">
              <a:solidFill>
                <a:srgbClr val="D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defRPr sz="1125" b="1">
                <a:solidFill>
                  <a:srgbClr val="D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D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抽头对消</a:t>
            </a:r>
            <a:endParaRPr sz="1125" b="1">
              <a:solidFill>
                <a:srgbClr val="D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7" name="圆角矩形 106"/>
          <p:cNvSpPr>
            <a:spLocks noGrp="1"/>
          </p:cNvSpPr>
          <p:nvPr/>
        </p:nvSpPr>
        <p:spPr>
          <a:xfrm>
            <a:off x="5043805" y="5353050"/>
            <a:ext cx="723900" cy="645795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1430">
            <a:solidFill>
              <a:srgbClr val="D00000"/>
            </a:solidFill>
            <a:prstDash val="solid"/>
          </a:ln>
        </p:spPr>
      </p:sp>
      <p:sp>
        <p:nvSpPr>
          <p:cNvPr id="108" name="矩形 107"/>
          <p:cNvSpPr>
            <a:spLocks noGrp="1"/>
          </p:cNvSpPr>
          <p:nvPr/>
        </p:nvSpPr>
        <p:spPr>
          <a:xfrm>
            <a:off x="5072380" y="5391150"/>
            <a:ext cx="666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 b="1">
                <a:solidFill>
                  <a:srgbClr val="D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D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频域</a:t>
            </a:r>
            <a:endParaRPr sz="1125" b="1">
              <a:solidFill>
                <a:srgbClr val="D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defRPr sz="1125" b="1">
                <a:solidFill>
                  <a:srgbClr val="D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D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杂波谱减</a:t>
            </a:r>
            <a:endParaRPr sz="1125" b="1">
              <a:solidFill>
                <a:srgbClr val="D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9" name="圆角矩形 108"/>
          <p:cNvSpPr>
            <a:spLocks noGrp="1"/>
          </p:cNvSpPr>
          <p:nvPr/>
        </p:nvSpPr>
        <p:spPr>
          <a:xfrm>
            <a:off x="5968365" y="5353050"/>
            <a:ext cx="723900" cy="645795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1430">
            <a:solidFill>
              <a:srgbClr val="D00000"/>
            </a:solidFill>
            <a:prstDash val="solid"/>
          </a:ln>
        </p:spPr>
      </p:sp>
      <p:sp>
        <p:nvSpPr>
          <p:cNvPr id="110" name="矩形 109"/>
          <p:cNvSpPr>
            <a:spLocks noGrp="1"/>
          </p:cNvSpPr>
          <p:nvPr/>
        </p:nvSpPr>
        <p:spPr>
          <a:xfrm>
            <a:off x="6025515" y="5381625"/>
            <a:ext cx="666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 b="1">
                <a:solidFill>
                  <a:srgbClr val="D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D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空域</a:t>
            </a:r>
            <a:endParaRPr sz="1125" b="1">
              <a:solidFill>
                <a:srgbClr val="D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defRPr sz="1125" b="1">
                <a:solidFill>
                  <a:srgbClr val="D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D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权值约束</a:t>
            </a:r>
            <a:endParaRPr sz="1125" b="1">
              <a:solidFill>
                <a:srgbClr val="D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1" name="矩形 110"/>
          <p:cNvSpPr>
            <a:spLocks noGrp="1"/>
          </p:cNvSpPr>
          <p:nvPr/>
        </p:nvSpPr>
        <p:spPr>
          <a:xfrm>
            <a:off x="7410450" y="1914525"/>
            <a:ext cx="23241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1">
                <a:solidFill>
                  <a:srgbClr val="315AA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315AA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增强：残余估计 + 保护掩膜</a:t>
            </a:r>
            <a:endParaRPr sz="1275" b="1">
              <a:solidFill>
                <a:srgbClr val="315AA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2" name="直接连接符 111"/>
          <p:cNvSpPr>
            <a:spLocks noGrp="1"/>
          </p:cNvSpPr>
          <p:nvPr/>
        </p:nvSpPr>
        <p:spPr>
          <a:xfrm>
            <a:off x="7419975" y="2819400"/>
            <a:ext cx="790575" cy="0"/>
          </a:xfrm>
          <a:prstGeom prst="line">
            <a:avLst/>
          </a:prstGeom>
          <a:noFill/>
          <a:ln w="9525">
            <a:solidFill>
              <a:srgbClr val="9AA9C2"/>
            </a:solidFill>
            <a:prstDash val="solid"/>
          </a:ln>
        </p:spPr>
      </p:sp>
      <p:sp>
        <p:nvSpPr>
          <p:cNvPr id="113" name="直接连接符 112"/>
          <p:cNvSpPr>
            <a:spLocks noGrp="1"/>
          </p:cNvSpPr>
          <p:nvPr/>
        </p:nvSpPr>
        <p:spPr>
          <a:xfrm>
            <a:off x="7419975" y="2295525"/>
            <a:ext cx="0" cy="523875"/>
          </a:xfrm>
          <a:prstGeom prst="line">
            <a:avLst/>
          </a:prstGeom>
          <a:noFill/>
          <a:ln w="9525">
            <a:solidFill>
              <a:srgbClr val="9AA9C2"/>
            </a:solidFill>
            <a:prstDash val="solid"/>
          </a:ln>
        </p:spPr>
      </p:sp>
      <p:sp>
        <p:nvSpPr>
          <p:cNvPr id="114" name="任意多边形 113"/>
          <p:cNvSpPr>
            <a:spLocks noGrp="1"/>
          </p:cNvSpPr>
          <p:nvPr/>
        </p:nvSpPr>
        <p:spPr>
          <a:xfrm>
            <a:off x="7419975" y="2295525"/>
            <a:ext cx="790575" cy="523875"/>
          </a:xfrm>
          <a:custGeom>
            <a:avLst/>
            <a:gdLst/>
            <a:ahLst/>
            <a:cxnLst/>
            <a:pathLst>
              <a:path w="790575" h="523875">
                <a:moveTo>
                  <a:pt x="0" y="523875"/>
                </a:moveTo>
                <a:lnTo>
                  <a:pt x="34373" y="453193"/>
                </a:lnTo>
                <a:lnTo>
                  <a:pt x="68746" y="467330"/>
                </a:lnTo>
                <a:lnTo>
                  <a:pt x="103118" y="424921"/>
                </a:lnTo>
                <a:lnTo>
                  <a:pt x="137491" y="382512"/>
                </a:lnTo>
                <a:lnTo>
                  <a:pt x="171864" y="439057"/>
                </a:lnTo>
                <a:lnTo>
                  <a:pt x="206237" y="396648"/>
                </a:lnTo>
                <a:lnTo>
                  <a:pt x="240610" y="354239"/>
                </a:lnTo>
                <a:lnTo>
                  <a:pt x="274983" y="410785"/>
                </a:lnTo>
                <a:lnTo>
                  <a:pt x="309355" y="368376"/>
                </a:lnTo>
                <a:lnTo>
                  <a:pt x="343728" y="325967"/>
                </a:lnTo>
                <a:lnTo>
                  <a:pt x="378101" y="0"/>
                </a:lnTo>
                <a:lnTo>
                  <a:pt x="412474" y="340103"/>
                </a:lnTo>
                <a:lnTo>
                  <a:pt x="446847" y="283558"/>
                </a:lnTo>
                <a:lnTo>
                  <a:pt x="481220" y="354239"/>
                </a:lnTo>
                <a:lnTo>
                  <a:pt x="515592" y="311830"/>
                </a:lnTo>
                <a:lnTo>
                  <a:pt x="549965" y="340103"/>
                </a:lnTo>
                <a:lnTo>
                  <a:pt x="584338" y="325967"/>
                </a:lnTo>
                <a:lnTo>
                  <a:pt x="618711" y="311830"/>
                </a:lnTo>
                <a:lnTo>
                  <a:pt x="653084" y="340103"/>
                </a:lnTo>
                <a:lnTo>
                  <a:pt x="687457" y="297694"/>
                </a:lnTo>
                <a:lnTo>
                  <a:pt x="721829" y="325967"/>
                </a:lnTo>
                <a:lnTo>
                  <a:pt x="756202" y="354239"/>
                </a:lnTo>
                <a:lnTo>
                  <a:pt x="790575" y="382512"/>
                </a:lnTo>
              </a:path>
            </a:pathLst>
          </a:custGeom>
          <a:noFill/>
          <a:ln w="21908">
            <a:solidFill>
              <a:srgbClr val="6F86B5"/>
            </a:solidFill>
            <a:prstDash val="solid"/>
          </a:ln>
        </p:spPr>
      </p:sp>
      <p:sp>
        <p:nvSpPr>
          <p:cNvPr id="115" name="任意多边形 114"/>
          <p:cNvSpPr>
            <a:spLocks noGrp="1"/>
          </p:cNvSpPr>
          <p:nvPr/>
        </p:nvSpPr>
        <p:spPr>
          <a:xfrm>
            <a:off x="7419975" y="2531269"/>
            <a:ext cx="790575" cy="125730"/>
          </a:xfrm>
          <a:custGeom>
            <a:avLst/>
            <a:gdLst/>
            <a:ahLst/>
            <a:cxnLst/>
            <a:pathLst>
              <a:path w="790575" h="125730">
                <a:moveTo>
                  <a:pt x="0" y="62865"/>
                </a:moveTo>
                <a:lnTo>
                  <a:pt x="112939" y="31432"/>
                </a:lnTo>
                <a:lnTo>
                  <a:pt x="225879" y="125730"/>
                </a:lnTo>
                <a:lnTo>
                  <a:pt x="338818" y="94298"/>
                </a:lnTo>
                <a:lnTo>
                  <a:pt x="451757" y="0"/>
                </a:lnTo>
                <a:lnTo>
                  <a:pt x="564696" y="62865"/>
                </a:lnTo>
                <a:lnTo>
                  <a:pt x="677636" y="125730"/>
                </a:lnTo>
                <a:lnTo>
                  <a:pt x="790575" y="94298"/>
                </a:lnTo>
              </a:path>
            </a:pathLst>
          </a:custGeom>
          <a:noFill/>
          <a:ln w="14288">
            <a:solidFill>
              <a:srgbClr val="E15B5B"/>
            </a:solidFill>
            <a:prstDash val="solid"/>
          </a:ln>
        </p:spPr>
      </p:sp>
      <p:sp>
        <p:nvSpPr>
          <p:cNvPr id="116" name="矩形 115"/>
          <p:cNvSpPr>
            <a:spLocks noGrp="1"/>
          </p:cNvSpPr>
          <p:nvPr/>
        </p:nvSpPr>
        <p:spPr>
          <a:xfrm>
            <a:off x="8334375" y="2247900"/>
            <a:ext cx="102870" cy="102870"/>
          </a:xfrm>
          <a:prstGeom prst="rect">
            <a:avLst/>
          </a:prstGeom>
          <a:solidFill>
            <a:srgbClr val="CFE0F5"/>
          </a:solidFill>
          <a:ln w="0">
            <a:noFill/>
            <a:prstDash val="solid"/>
          </a:ln>
        </p:spPr>
      </p:sp>
      <p:sp>
        <p:nvSpPr>
          <p:cNvPr id="117" name="矩形 116"/>
          <p:cNvSpPr>
            <a:spLocks noGrp="1"/>
          </p:cNvSpPr>
          <p:nvPr/>
        </p:nvSpPr>
        <p:spPr>
          <a:xfrm>
            <a:off x="8448675" y="2247900"/>
            <a:ext cx="102870" cy="102870"/>
          </a:xfrm>
          <a:prstGeom prst="rect">
            <a:avLst/>
          </a:prstGeom>
          <a:solidFill>
            <a:srgbClr val="FFC000"/>
          </a:solidFill>
          <a:ln w="0">
            <a:noFill/>
            <a:prstDash val="solid"/>
          </a:ln>
        </p:spPr>
      </p:sp>
      <p:sp>
        <p:nvSpPr>
          <p:cNvPr id="118" name="矩形 117"/>
          <p:cNvSpPr>
            <a:spLocks noGrp="1"/>
          </p:cNvSpPr>
          <p:nvPr/>
        </p:nvSpPr>
        <p:spPr>
          <a:xfrm>
            <a:off x="8562975" y="2247900"/>
            <a:ext cx="102870" cy="102870"/>
          </a:xfrm>
          <a:prstGeom prst="rect">
            <a:avLst/>
          </a:prstGeom>
          <a:solidFill>
            <a:srgbClr val="FFC000"/>
          </a:solidFill>
          <a:ln w="0">
            <a:noFill/>
            <a:prstDash val="solid"/>
          </a:ln>
        </p:spPr>
      </p:sp>
      <p:sp>
        <p:nvSpPr>
          <p:cNvPr id="119" name="矩形 118"/>
          <p:cNvSpPr>
            <a:spLocks noGrp="1"/>
          </p:cNvSpPr>
          <p:nvPr/>
        </p:nvSpPr>
        <p:spPr>
          <a:xfrm>
            <a:off x="8677275" y="2247900"/>
            <a:ext cx="102870" cy="102870"/>
          </a:xfrm>
          <a:prstGeom prst="rect">
            <a:avLst/>
          </a:prstGeom>
          <a:solidFill>
            <a:srgbClr val="90B8E7"/>
          </a:solidFill>
          <a:ln w="0">
            <a:noFill/>
            <a:prstDash val="solid"/>
          </a:ln>
        </p:spPr>
      </p:sp>
      <p:sp>
        <p:nvSpPr>
          <p:cNvPr id="120" name="矩形 119"/>
          <p:cNvSpPr>
            <a:spLocks noGrp="1"/>
          </p:cNvSpPr>
          <p:nvPr/>
        </p:nvSpPr>
        <p:spPr>
          <a:xfrm>
            <a:off x="8791575" y="2247900"/>
            <a:ext cx="102870" cy="102870"/>
          </a:xfrm>
          <a:prstGeom prst="rect">
            <a:avLst/>
          </a:prstGeom>
          <a:solidFill>
            <a:srgbClr val="CFE0F5"/>
          </a:solidFill>
          <a:ln w="0">
            <a:noFill/>
            <a:prstDash val="solid"/>
          </a:ln>
        </p:spPr>
      </p:sp>
      <p:sp>
        <p:nvSpPr>
          <p:cNvPr id="121" name="矩形 120"/>
          <p:cNvSpPr>
            <a:spLocks noGrp="1"/>
          </p:cNvSpPr>
          <p:nvPr/>
        </p:nvSpPr>
        <p:spPr>
          <a:xfrm>
            <a:off x="8905875" y="2247900"/>
            <a:ext cx="102870" cy="102870"/>
          </a:xfrm>
          <a:prstGeom prst="rect">
            <a:avLst/>
          </a:prstGeom>
          <a:solidFill>
            <a:srgbClr val="EDF3FB"/>
          </a:solidFill>
          <a:ln w="0">
            <a:noFill/>
            <a:prstDash val="solid"/>
          </a:ln>
        </p:spPr>
      </p:sp>
      <p:sp>
        <p:nvSpPr>
          <p:cNvPr id="122" name="矩形 121"/>
          <p:cNvSpPr>
            <a:spLocks noGrp="1"/>
          </p:cNvSpPr>
          <p:nvPr/>
        </p:nvSpPr>
        <p:spPr>
          <a:xfrm>
            <a:off x="8334375" y="2362200"/>
            <a:ext cx="102870" cy="102870"/>
          </a:xfrm>
          <a:prstGeom prst="rect">
            <a:avLst/>
          </a:prstGeom>
          <a:solidFill>
            <a:srgbClr val="90B8E7"/>
          </a:solidFill>
          <a:ln w="0">
            <a:noFill/>
            <a:prstDash val="solid"/>
          </a:ln>
        </p:spPr>
      </p:sp>
      <p:sp>
        <p:nvSpPr>
          <p:cNvPr id="123" name="矩形 122"/>
          <p:cNvSpPr>
            <a:spLocks noGrp="1"/>
          </p:cNvSpPr>
          <p:nvPr/>
        </p:nvSpPr>
        <p:spPr>
          <a:xfrm>
            <a:off x="8448675" y="2362200"/>
            <a:ext cx="102870" cy="102870"/>
          </a:xfrm>
          <a:prstGeom prst="rect">
            <a:avLst/>
          </a:prstGeom>
          <a:solidFill>
            <a:srgbClr val="FFC000"/>
          </a:solidFill>
          <a:ln w="0">
            <a:noFill/>
            <a:prstDash val="solid"/>
          </a:ln>
        </p:spPr>
      </p:sp>
      <p:sp>
        <p:nvSpPr>
          <p:cNvPr id="124" name="矩形 123"/>
          <p:cNvSpPr>
            <a:spLocks noGrp="1"/>
          </p:cNvSpPr>
          <p:nvPr/>
        </p:nvSpPr>
        <p:spPr>
          <a:xfrm>
            <a:off x="8562975" y="2362200"/>
            <a:ext cx="102870" cy="102870"/>
          </a:xfrm>
          <a:prstGeom prst="rect">
            <a:avLst/>
          </a:prstGeom>
          <a:solidFill>
            <a:srgbClr val="90B8E7"/>
          </a:solidFill>
          <a:ln w="0">
            <a:noFill/>
            <a:prstDash val="solid"/>
          </a:ln>
        </p:spPr>
      </p:sp>
      <p:sp>
        <p:nvSpPr>
          <p:cNvPr id="125" name="矩形 124"/>
          <p:cNvSpPr>
            <a:spLocks noGrp="1"/>
          </p:cNvSpPr>
          <p:nvPr/>
        </p:nvSpPr>
        <p:spPr>
          <a:xfrm>
            <a:off x="8677275" y="2362200"/>
            <a:ext cx="102870" cy="102870"/>
          </a:xfrm>
          <a:prstGeom prst="rect">
            <a:avLst/>
          </a:prstGeom>
          <a:solidFill>
            <a:srgbClr val="CFE0F5"/>
          </a:solidFill>
          <a:ln w="0">
            <a:noFill/>
            <a:prstDash val="solid"/>
          </a:ln>
        </p:spPr>
      </p:sp>
      <p:sp>
        <p:nvSpPr>
          <p:cNvPr id="126" name="矩形 125"/>
          <p:cNvSpPr>
            <a:spLocks noGrp="1"/>
          </p:cNvSpPr>
          <p:nvPr/>
        </p:nvSpPr>
        <p:spPr>
          <a:xfrm>
            <a:off x="8791575" y="2362200"/>
            <a:ext cx="102870" cy="102870"/>
          </a:xfrm>
          <a:prstGeom prst="rect">
            <a:avLst/>
          </a:prstGeom>
          <a:solidFill>
            <a:srgbClr val="EDF3FB"/>
          </a:solidFill>
          <a:ln w="0">
            <a:noFill/>
            <a:prstDash val="solid"/>
          </a:ln>
        </p:spPr>
      </p:sp>
      <p:sp>
        <p:nvSpPr>
          <p:cNvPr id="127" name="矩形 126"/>
          <p:cNvSpPr>
            <a:spLocks noGrp="1"/>
          </p:cNvSpPr>
          <p:nvPr/>
        </p:nvSpPr>
        <p:spPr>
          <a:xfrm>
            <a:off x="8905875" y="2362200"/>
            <a:ext cx="102870" cy="102870"/>
          </a:xfrm>
          <a:prstGeom prst="rect">
            <a:avLst/>
          </a:prstGeom>
          <a:solidFill>
            <a:srgbClr val="EDF3FB"/>
          </a:solidFill>
          <a:ln w="0">
            <a:noFill/>
            <a:prstDash val="solid"/>
          </a:ln>
        </p:spPr>
      </p:sp>
      <p:sp>
        <p:nvSpPr>
          <p:cNvPr id="128" name="矩形 127"/>
          <p:cNvSpPr>
            <a:spLocks noGrp="1"/>
          </p:cNvSpPr>
          <p:nvPr/>
        </p:nvSpPr>
        <p:spPr>
          <a:xfrm>
            <a:off x="8334375" y="2476500"/>
            <a:ext cx="102870" cy="102870"/>
          </a:xfrm>
          <a:prstGeom prst="rect">
            <a:avLst/>
          </a:prstGeom>
          <a:solidFill>
            <a:srgbClr val="FFC000"/>
          </a:solidFill>
          <a:ln w="0">
            <a:noFill/>
            <a:prstDash val="solid"/>
          </a:ln>
        </p:spPr>
      </p:sp>
      <p:sp>
        <p:nvSpPr>
          <p:cNvPr id="129" name="矩形 128"/>
          <p:cNvSpPr>
            <a:spLocks noGrp="1"/>
          </p:cNvSpPr>
          <p:nvPr/>
        </p:nvSpPr>
        <p:spPr>
          <a:xfrm>
            <a:off x="8448675" y="2476500"/>
            <a:ext cx="102870" cy="102870"/>
          </a:xfrm>
          <a:prstGeom prst="rect">
            <a:avLst/>
          </a:prstGeom>
          <a:solidFill>
            <a:srgbClr val="FFC000"/>
          </a:solidFill>
          <a:ln w="0">
            <a:noFill/>
            <a:prstDash val="solid"/>
          </a:ln>
        </p:spPr>
      </p:sp>
      <p:sp>
        <p:nvSpPr>
          <p:cNvPr id="130" name="矩形 129"/>
          <p:cNvSpPr>
            <a:spLocks noGrp="1"/>
          </p:cNvSpPr>
          <p:nvPr/>
        </p:nvSpPr>
        <p:spPr>
          <a:xfrm>
            <a:off x="8562975" y="2476500"/>
            <a:ext cx="102870" cy="102870"/>
          </a:xfrm>
          <a:prstGeom prst="rect">
            <a:avLst/>
          </a:prstGeom>
          <a:solidFill>
            <a:srgbClr val="CFE0F5"/>
          </a:solidFill>
          <a:ln w="0">
            <a:noFill/>
            <a:prstDash val="solid"/>
          </a:ln>
        </p:spPr>
      </p:sp>
      <p:sp>
        <p:nvSpPr>
          <p:cNvPr id="131" name="矩形 130"/>
          <p:cNvSpPr>
            <a:spLocks noGrp="1"/>
          </p:cNvSpPr>
          <p:nvPr/>
        </p:nvSpPr>
        <p:spPr>
          <a:xfrm>
            <a:off x="8677275" y="2476500"/>
            <a:ext cx="102870" cy="102870"/>
          </a:xfrm>
          <a:prstGeom prst="rect">
            <a:avLst/>
          </a:prstGeom>
          <a:solidFill>
            <a:srgbClr val="EDF3FB"/>
          </a:solidFill>
          <a:ln w="0">
            <a:noFill/>
            <a:prstDash val="solid"/>
          </a:ln>
        </p:spPr>
      </p:sp>
      <p:sp>
        <p:nvSpPr>
          <p:cNvPr id="132" name="矩形 131"/>
          <p:cNvSpPr>
            <a:spLocks noGrp="1"/>
          </p:cNvSpPr>
          <p:nvPr/>
        </p:nvSpPr>
        <p:spPr>
          <a:xfrm>
            <a:off x="8791575" y="2476500"/>
            <a:ext cx="102870" cy="102870"/>
          </a:xfrm>
          <a:prstGeom prst="rect">
            <a:avLst/>
          </a:prstGeom>
          <a:solidFill>
            <a:srgbClr val="D00000"/>
          </a:solidFill>
          <a:ln w="0">
            <a:noFill/>
            <a:prstDash val="solid"/>
          </a:ln>
        </p:spPr>
      </p:sp>
      <p:sp>
        <p:nvSpPr>
          <p:cNvPr id="133" name="矩形 132"/>
          <p:cNvSpPr>
            <a:spLocks noGrp="1"/>
          </p:cNvSpPr>
          <p:nvPr/>
        </p:nvSpPr>
        <p:spPr>
          <a:xfrm>
            <a:off x="8905875" y="2476500"/>
            <a:ext cx="102870" cy="102870"/>
          </a:xfrm>
          <a:prstGeom prst="rect">
            <a:avLst/>
          </a:prstGeom>
          <a:solidFill>
            <a:srgbClr val="D00000"/>
          </a:solidFill>
          <a:ln w="0">
            <a:noFill/>
            <a:prstDash val="solid"/>
          </a:ln>
        </p:spPr>
      </p:sp>
      <p:sp>
        <p:nvSpPr>
          <p:cNvPr id="134" name="矩形 133"/>
          <p:cNvSpPr>
            <a:spLocks noGrp="1"/>
          </p:cNvSpPr>
          <p:nvPr/>
        </p:nvSpPr>
        <p:spPr>
          <a:xfrm>
            <a:off x="8334375" y="2590800"/>
            <a:ext cx="102870" cy="102870"/>
          </a:xfrm>
          <a:prstGeom prst="rect">
            <a:avLst/>
          </a:prstGeom>
          <a:solidFill>
            <a:srgbClr val="FFC000"/>
          </a:solidFill>
          <a:ln w="0">
            <a:noFill/>
            <a:prstDash val="solid"/>
          </a:ln>
        </p:spPr>
      </p:sp>
      <p:sp>
        <p:nvSpPr>
          <p:cNvPr id="135" name="矩形 134"/>
          <p:cNvSpPr>
            <a:spLocks noGrp="1"/>
          </p:cNvSpPr>
          <p:nvPr/>
        </p:nvSpPr>
        <p:spPr>
          <a:xfrm>
            <a:off x="8448675" y="2590800"/>
            <a:ext cx="102870" cy="102870"/>
          </a:xfrm>
          <a:prstGeom prst="rect">
            <a:avLst/>
          </a:prstGeom>
          <a:solidFill>
            <a:srgbClr val="90B8E7"/>
          </a:solidFill>
          <a:ln w="0">
            <a:noFill/>
            <a:prstDash val="solid"/>
          </a:ln>
        </p:spPr>
      </p:sp>
      <p:sp>
        <p:nvSpPr>
          <p:cNvPr id="136" name="矩形 135"/>
          <p:cNvSpPr>
            <a:spLocks noGrp="1"/>
          </p:cNvSpPr>
          <p:nvPr/>
        </p:nvSpPr>
        <p:spPr>
          <a:xfrm>
            <a:off x="8562975" y="2590800"/>
            <a:ext cx="102870" cy="102870"/>
          </a:xfrm>
          <a:prstGeom prst="rect">
            <a:avLst/>
          </a:prstGeom>
          <a:solidFill>
            <a:srgbClr val="EDF3FB"/>
          </a:solidFill>
          <a:ln w="0">
            <a:noFill/>
            <a:prstDash val="solid"/>
          </a:ln>
        </p:spPr>
      </p:sp>
      <p:sp>
        <p:nvSpPr>
          <p:cNvPr id="137" name="矩形 136"/>
          <p:cNvSpPr>
            <a:spLocks noGrp="1"/>
          </p:cNvSpPr>
          <p:nvPr/>
        </p:nvSpPr>
        <p:spPr>
          <a:xfrm>
            <a:off x="8677275" y="2590800"/>
            <a:ext cx="102870" cy="102870"/>
          </a:xfrm>
          <a:prstGeom prst="rect">
            <a:avLst/>
          </a:prstGeom>
          <a:solidFill>
            <a:srgbClr val="EDF3FB"/>
          </a:solidFill>
          <a:ln w="0">
            <a:noFill/>
            <a:prstDash val="solid"/>
          </a:ln>
        </p:spPr>
      </p:sp>
      <p:sp>
        <p:nvSpPr>
          <p:cNvPr id="138" name="矩形 137"/>
          <p:cNvSpPr>
            <a:spLocks noGrp="1"/>
          </p:cNvSpPr>
          <p:nvPr/>
        </p:nvSpPr>
        <p:spPr>
          <a:xfrm>
            <a:off x="8791575" y="2590800"/>
            <a:ext cx="102870" cy="102870"/>
          </a:xfrm>
          <a:prstGeom prst="rect">
            <a:avLst/>
          </a:prstGeom>
          <a:solidFill>
            <a:srgbClr val="D00000"/>
          </a:solidFill>
          <a:ln w="0">
            <a:noFill/>
            <a:prstDash val="solid"/>
          </a:ln>
        </p:spPr>
      </p:sp>
      <p:sp>
        <p:nvSpPr>
          <p:cNvPr id="139" name="矩形 138"/>
          <p:cNvSpPr>
            <a:spLocks noGrp="1"/>
          </p:cNvSpPr>
          <p:nvPr/>
        </p:nvSpPr>
        <p:spPr>
          <a:xfrm>
            <a:off x="8905875" y="2590800"/>
            <a:ext cx="102870" cy="102870"/>
          </a:xfrm>
          <a:prstGeom prst="rect">
            <a:avLst/>
          </a:prstGeom>
          <a:solidFill>
            <a:srgbClr val="D00000"/>
          </a:solidFill>
          <a:ln w="0">
            <a:noFill/>
            <a:prstDash val="solid"/>
          </a:ln>
        </p:spPr>
      </p:sp>
      <p:sp>
        <p:nvSpPr>
          <p:cNvPr id="140" name="矩形 139"/>
          <p:cNvSpPr>
            <a:spLocks noGrp="1"/>
          </p:cNvSpPr>
          <p:nvPr/>
        </p:nvSpPr>
        <p:spPr>
          <a:xfrm>
            <a:off x="8334375" y="2705100"/>
            <a:ext cx="102870" cy="102870"/>
          </a:xfrm>
          <a:prstGeom prst="rect">
            <a:avLst/>
          </a:prstGeom>
          <a:solidFill>
            <a:srgbClr val="90B8E7"/>
          </a:solidFill>
          <a:ln w="0">
            <a:noFill/>
            <a:prstDash val="solid"/>
          </a:ln>
        </p:spPr>
      </p:sp>
      <p:sp>
        <p:nvSpPr>
          <p:cNvPr id="141" name="矩形 140"/>
          <p:cNvSpPr>
            <a:spLocks noGrp="1"/>
          </p:cNvSpPr>
          <p:nvPr/>
        </p:nvSpPr>
        <p:spPr>
          <a:xfrm>
            <a:off x="8448675" y="2705100"/>
            <a:ext cx="102870" cy="102870"/>
          </a:xfrm>
          <a:prstGeom prst="rect">
            <a:avLst/>
          </a:prstGeom>
          <a:solidFill>
            <a:srgbClr val="EDF3FB"/>
          </a:solidFill>
          <a:ln w="0">
            <a:noFill/>
            <a:prstDash val="solid"/>
          </a:ln>
        </p:spPr>
      </p:sp>
      <p:sp>
        <p:nvSpPr>
          <p:cNvPr id="142" name="矩形 141"/>
          <p:cNvSpPr>
            <a:spLocks noGrp="1"/>
          </p:cNvSpPr>
          <p:nvPr/>
        </p:nvSpPr>
        <p:spPr>
          <a:xfrm>
            <a:off x="8562975" y="2705100"/>
            <a:ext cx="102870" cy="102870"/>
          </a:xfrm>
          <a:prstGeom prst="rect">
            <a:avLst/>
          </a:prstGeom>
          <a:solidFill>
            <a:srgbClr val="EDF3FB"/>
          </a:solidFill>
          <a:ln w="0">
            <a:noFill/>
            <a:prstDash val="solid"/>
          </a:ln>
        </p:spPr>
      </p:sp>
      <p:sp>
        <p:nvSpPr>
          <p:cNvPr id="143" name="矩形 142"/>
          <p:cNvSpPr>
            <a:spLocks noGrp="1"/>
          </p:cNvSpPr>
          <p:nvPr/>
        </p:nvSpPr>
        <p:spPr>
          <a:xfrm>
            <a:off x="8677275" y="2705100"/>
            <a:ext cx="102870" cy="102870"/>
          </a:xfrm>
          <a:prstGeom prst="rect">
            <a:avLst/>
          </a:prstGeom>
          <a:solidFill>
            <a:srgbClr val="EDF3FB"/>
          </a:solidFill>
          <a:ln w="0">
            <a:noFill/>
            <a:prstDash val="solid"/>
          </a:ln>
        </p:spPr>
      </p:sp>
      <p:sp>
        <p:nvSpPr>
          <p:cNvPr id="144" name="矩形 143"/>
          <p:cNvSpPr>
            <a:spLocks noGrp="1"/>
          </p:cNvSpPr>
          <p:nvPr/>
        </p:nvSpPr>
        <p:spPr>
          <a:xfrm>
            <a:off x="8791575" y="2705100"/>
            <a:ext cx="102870" cy="102870"/>
          </a:xfrm>
          <a:prstGeom prst="rect">
            <a:avLst/>
          </a:prstGeom>
          <a:solidFill>
            <a:srgbClr val="90B8E7"/>
          </a:solidFill>
          <a:ln w="0">
            <a:noFill/>
            <a:prstDash val="solid"/>
          </a:ln>
        </p:spPr>
      </p:sp>
      <p:sp>
        <p:nvSpPr>
          <p:cNvPr id="145" name="矩形 144"/>
          <p:cNvSpPr>
            <a:spLocks noGrp="1"/>
          </p:cNvSpPr>
          <p:nvPr/>
        </p:nvSpPr>
        <p:spPr>
          <a:xfrm>
            <a:off x="8905875" y="2705100"/>
            <a:ext cx="102870" cy="102870"/>
          </a:xfrm>
          <a:prstGeom prst="rect">
            <a:avLst/>
          </a:prstGeom>
          <a:solidFill>
            <a:srgbClr val="FFC000"/>
          </a:solidFill>
          <a:ln w="0">
            <a:noFill/>
            <a:prstDash val="solid"/>
          </a:ln>
        </p:spPr>
      </p:sp>
      <p:sp>
        <p:nvSpPr>
          <p:cNvPr id="147" name="直接连接符 146"/>
          <p:cNvSpPr>
            <a:spLocks noGrp="1"/>
          </p:cNvSpPr>
          <p:nvPr/>
        </p:nvSpPr>
        <p:spPr>
          <a:xfrm>
            <a:off x="9191625" y="2819400"/>
            <a:ext cx="590550" cy="0"/>
          </a:xfrm>
          <a:prstGeom prst="line">
            <a:avLst/>
          </a:prstGeom>
          <a:noFill/>
          <a:ln w="9525">
            <a:solidFill>
              <a:srgbClr val="9AA9C2"/>
            </a:solidFill>
            <a:prstDash val="solid"/>
          </a:ln>
        </p:spPr>
      </p:sp>
      <p:sp>
        <p:nvSpPr>
          <p:cNvPr id="148" name="直接连接符 147"/>
          <p:cNvSpPr>
            <a:spLocks noGrp="1"/>
          </p:cNvSpPr>
          <p:nvPr/>
        </p:nvSpPr>
        <p:spPr>
          <a:xfrm>
            <a:off x="9191625" y="2295525"/>
            <a:ext cx="0" cy="523875"/>
          </a:xfrm>
          <a:prstGeom prst="line">
            <a:avLst/>
          </a:prstGeom>
          <a:noFill/>
          <a:ln w="9525">
            <a:solidFill>
              <a:srgbClr val="9AA9C2"/>
            </a:solidFill>
            <a:prstDash val="solid"/>
          </a:ln>
        </p:spPr>
      </p:sp>
      <p:sp>
        <p:nvSpPr>
          <p:cNvPr id="149" name="任意多边形 148"/>
          <p:cNvSpPr>
            <a:spLocks noGrp="1"/>
          </p:cNvSpPr>
          <p:nvPr/>
        </p:nvSpPr>
        <p:spPr>
          <a:xfrm>
            <a:off x="9191625" y="2295525"/>
            <a:ext cx="590550" cy="523875"/>
          </a:xfrm>
          <a:custGeom>
            <a:avLst/>
            <a:gdLst/>
            <a:ahLst/>
            <a:cxnLst/>
            <a:pathLst>
              <a:path w="590550" h="523875">
                <a:moveTo>
                  <a:pt x="0" y="523875"/>
                </a:moveTo>
                <a:lnTo>
                  <a:pt x="25676" y="505016"/>
                </a:lnTo>
                <a:lnTo>
                  <a:pt x="51352" y="508787"/>
                </a:lnTo>
                <a:lnTo>
                  <a:pt x="77028" y="497472"/>
                </a:lnTo>
                <a:lnTo>
                  <a:pt x="102704" y="486156"/>
                </a:lnTo>
                <a:lnTo>
                  <a:pt x="128380" y="501244"/>
                </a:lnTo>
                <a:lnTo>
                  <a:pt x="154057" y="489928"/>
                </a:lnTo>
                <a:lnTo>
                  <a:pt x="179733" y="478612"/>
                </a:lnTo>
                <a:lnTo>
                  <a:pt x="205409" y="493700"/>
                </a:lnTo>
                <a:lnTo>
                  <a:pt x="231085" y="482384"/>
                </a:lnTo>
                <a:lnTo>
                  <a:pt x="256761" y="471068"/>
                </a:lnTo>
                <a:lnTo>
                  <a:pt x="282437" y="0"/>
                </a:lnTo>
                <a:lnTo>
                  <a:pt x="308113" y="474840"/>
                </a:lnTo>
                <a:lnTo>
                  <a:pt x="333789" y="459753"/>
                </a:lnTo>
                <a:lnTo>
                  <a:pt x="359465" y="478612"/>
                </a:lnTo>
                <a:lnTo>
                  <a:pt x="385141" y="467297"/>
                </a:lnTo>
                <a:lnTo>
                  <a:pt x="410817" y="474840"/>
                </a:lnTo>
                <a:lnTo>
                  <a:pt x="436493" y="471068"/>
                </a:lnTo>
                <a:lnTo>
                  <a:pt x="462170" y="467297"/>
                </a:lnTo>
                <a:lnTo>
                  <a:pt x="487846" y="474840"/>
                </a:lnTo>
                <a:lnTo>
                  <a:pt x="513522" y="463525"/>
                </a:lnTo>
                <a:lnTo>
                  <a:pt x="539198" y="471068"/>
                </a:lnTo>
                <a:lnTo>
                  <a:pt x="564874" y="478612"/>
                </a:lnTo>
                <a:lnTo>
                  <a:pt x="590550" y="486156"/>
                </a:lnTo>
              </a:path>
            </a:pathLst>
          </a:custGeom>
          <a:noFill/>
          <a:ln w="25718">
            <a:solidFill>
              <a:srgbClr val="D00000"/>
            </a:solidFill>
            <a:prstDash val="solid"/>
          </a:ln>
        </p:spPr>
      </p:sp>
      <p:sp>
        <p:nvSpPr>
          <p:cNvPr id="150" name="任意多边形 149"/>
          <p:cNvSpPr>
            <a:spLocks noGrp="1"/>
          </p:cNvSpPr>
          <p:nvPr/>
        </p:nvSpPr>
        <p:spPr>
          <a:xfrm>
            <a:off x="9191625" y="2620328"/>
            <a:ext cx="590550" cy="94298"/>
          </a:xfrm>
          <a:custGeom>
            <a:avLst/>
            <a:gdLst/>
            <a:ahLst/>
            <a:cxnLst/>
            <a:pathLst>
              <a:path w="590550" h="94298">
                <a:moveTo>
                  <a:pt x="0" y="0"/>
                </a:moveTo>
                <a:lnTo>
                  <a:pt x="98425" y="73343"/>
                </a:lnTo>
                <a:lnTo>
                  <a:pt x="196850" y="31433"/>
                </a:lnTo>
                <a:lnTo>
                  <a:pt x="295275" y="94298"/>
                </a:lnTo>
                <a:lnTo>
                  <a:pt x="393700" y="10477"/>
                </a:lnTo>
                <a:lnTo>
                  <a:pt x="492125" y="62865"/>
                </a:lnTo>
                <a:lnTo>
                  <a:pt x="590550" y="41910"/>
                </a:lnTo>
              </a:path>
            </a:pathLst>
          </a:custGeom>
          <a:noFill/>
          <a:ln w="13335">
            <a:solidFill>
              <a:srgbClr val="5074B8"/>
            </a:solidFill>
            <a:prstDash val="solid"/>
          </a:ln>
        </p:spPr>
      </p:sp>
      <p:sp>
        <p:nvSpPr>
          <p:cNvPr id="151" name="矩形 150"/>
          <p:cNvSpPr>
            <a:spLocks noGrp="1"/>
          </p:cNvSpPr>
          <p:nvPr/>
        </p:nvSpPr>
        <p:spPr>
          <a:xfrm>
            <a:off x="7353300" y="3009900"/>
            <a:ext cx="7810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>
                <a:solidFill>
                  <a:srgbClr val="1F2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>
                <a:solidFill>
                  <a:srgbClr val="1F2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残余功率</a:t>
            </a:r>
            <a:endParaRPr sz="1125">
              <a:solidFill>
                <a:srgbClr val="1F2A4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defRPr sz="1125">
                <a:solidFill>
                  <a:srgbClr val="1F2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>
                <a:solidFill>
                  <a:srgbClr val="1F2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估计</a:t>
            </a:r>
            <a:endParaRPr sz="1125">
              <a:solidFill>
                <a:srgbClr val="1F2A4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2" name="矩形 151"/>
          <p:cNvSpPr>
            <a:spLocks noGrp="1"/>
          </p:cNvSpPr>
          <p:nvPr/>
        </p:nvSpPr>
        <p:spPr>
          <a:xfrm>
            <a:off x="8248650" y="3009900"/>
            <a:ext cx="7810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>
                <a:solidFill>
                  <a:srgbClr val="1F2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>
                <a:solidFill>
                  <a:srgbClr val="1F2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目标保护</a:t>
            </a:r>
            <a:endParaRPr sz="1125">
              <a:solidFill>
                <a:srgbClr val="1F2A4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defRPr sz="1125">
                <a:solidFill>
                  <a:srgbClr val="1F2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>
                <a:solidFill>
                  <a:srgbClr val="1F2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时频掩膜</a:t>
            </a:r>
            <a:endParaRPr sz="1125">
              <a:solidFill>
                <a:srgbClr val="1F2A4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3" name="矩形 152"/>
          <p:cNvSpPr>
            <a:spLocks noGrp="1"/>
          </p:cNvSpPr>
          <p:nvPr/>
        </p:nvSpPr>
        <p:spPr>
          <a:xfrm>
            <a:off x="9144000" y="3009900"/>
            <a:ext cx="7810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>
                <a:solidFill>
                  <a:srgbClr val="1F2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>
                <a:solidFill>
                  <a:srgbClr val="1F2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弱谱峰</a:t>
            </a:r>
            <a:endParaRPr sz="1125">
              <a:solidFill>
                <a:srgbClr val="1F2A4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defRPr sz="1125">
                <a:solidFill>
                  <a:srgbClr val="1F2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>
                <a:solidFill>
                  <a:srgbClr val="1F2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重构增强</a:t>
            </a:r>
            <a:endParaRPr sz="1125">
              <a:solidFill>
                <a:srgbClr val="1F2A4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4" name="下箭头 153"/>
          <p:cNvSpPr>
            <a:spLocks noGrp="1"/>
          </p:cNvSpPr>
          <p:nvPr/>
        </p:nvSpPr>
        <p:spPr>
          <a:xfrm>
            <a:off x="8410575" y="3662045"/>
            <a:ext cx="361950" cy="352425"/>
          </a:xfrm>
          <a:prstGeom prst="downArrow">
            <a:avLst/>
          </a:prstGeom>
          <a:solidFill>
            <a:srgbClr val="9EB6DF"/>
          </a:solidFill>
          <a:ln w="0">
            <a:solidFill>
              <a:srgbClr val="9EB6DF"/>
            </a:solidFill>
            <a:prstDash val="solid"/>
          </a:ln>
        </p:spPr>
      </p:sp>
      <p:sp>
        <p:nvSpPr>
          <p:cNvPr id="155" name="矩形 154"/>
          <p:cNvSpPr>
            <a:spLocks noGrp="1"/>
          </p:cNvSpPr>
          <p:nvPr/>
        </p:nvSpPr>
        <p:spPr>
          <a:xfrm>
            <a:off x="7353300" y="4171950"/>
            <a:ext cx="257111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1">
                <a:solidFill>
                  <a:srgbClr val="315AA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315AA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输出：增强结果与关键参数</a:t>
            </a:r>
            <a:endParaRPr sz="1275" b="1">
              <a:solidFill>
                <a:srgbClr val="315AA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6" name="圆角矩形 155"/>
          <p:cNvSpPr>
            <a:spLocks noGrp="1"/>
          </p:cNvSpPr>
          <p:nvPr/>
        </p:nvSpPr>
        <p:spPr>
          <a:xfrm>
            <a:off x="7298055" y="4552950"/>
            <a:ext cx="762000" cy="590550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1430">
            <a:solidFill>
              <a:srgbClr val="315AA2"/>
            </a:solidFill>
            <a:prstDash val="solid"/>
          </a:ln>
        </p:spPr>
      </p:sp>
      <p:sp>
        <p:nvSpPr>
          <p:cNvPr id="177" name="圆角矩形 176"/>
          <p:cNvSpPr>
            <a:spLocks noGrp="1"/>
          </p:cNvSpPr>
          <p:nvPr/>
        </p:nvSpPr>
        <p:spPr>
          <a:xfrm>
            <a:off x="8191500" y="4552950"/>
            <a:ext cx="762000" cy="590550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1430">
            <a:solidFill>
              <a:srgbClr val="315AA2"/>
            </a:solidFill>
            <a:prstDash val="solid"/>
          </a:ln>
        </p:spPr>
      </p:sp>
      <p:sp>
        <p:nvSpPr>
          <p:cNvPr id="181" name="圆角矩形 180"/>
          <p:cNvSpPr>
            <a:spLocks noGrp="1"/>
          </p:cNvSpPr>
          <p:nvPr/>
        </p:nvSpPr>
        <p:spPr>
          <a:xfrm>
            <a:off x="9090025" y="4552950"/>
            <a:ext cx="762000" cy="590550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1430">
            <a:solidFill>
              <a:srgbClr val="315AA2"/>
            </a:solidFill>
            <a:prstDash val="solid"/>
          </a:ln>
        </p:spPr>
      </p:sp>
      <p:sp>
        <p:nvSpPr>
          <p:cNvPr id="183" name="矩形 182"/>
          <p:cNvSpPr>
            <a:spLocks noGrp="1"/>
          </p:cNvSpPr>
          <p:nvPr/>
        </p:nvSpPr>
        <p:spPr>
          <a:xfrm>
            <a:off x="7324725" y="5381625"/>
            <a:ext cx="8382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>
                <a:solidFill>
                  <a:srgbClr val="1F2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>
                <a:solidFill>
                  <a:srgbClr val="1F2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增强时频图</a:t>
            </a:r>
            <a:endParaRPr sz="1125">
              <a:solidFill>
                <a:srgbClr val="1F2A4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4" name="矩形 183"/>
          <p:cNvSpPr>
            <a:spLocks noGrp="1"/>
          </p:cNvSpPr>
          <p:nvPr/>
        </p:nvSpPr>
        <p:spPr>
          <a:xfrm>
            <a:off x="8172450" y="5381625"/>
            <a:ext cx="8382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>
                <a:solidFill>
                  <a:srgbClr val="1F2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>
                <a:solidFill>
                  <a:srgbClr val="1F2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候选频段</a:t>
            </a:r>
            <a:endParaRPr sz="1125">
              <a:solidFill>
                <a:srgbClr val="1F2A4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defRPr sz="1125">
                <a:solidFill>
                  <a:srgbClr val="1F2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>
                <a:solidFill>
                  <a:srgbClr val="1F2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边界</a:t>
            </a:r>
            <a:endParaRPr sz="1125">
              <a:solidFill>
                <a:srgbClr val="1F2A4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5" name="矩形 184"/>
          <p:cNvSpPr>
            <a:spLocks noGrp="1"/>
          </p:cNvSpPr>
          <p:nvPr/>
        </p:nvSpPr>
        <p:spPr>
          <a:xfrm>
            <a:off x="8991600" y="5381625"/>
            <a:ext cx="9144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>
                <a:solidFill>
                  <a:srgbClr val="1F2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>
                <a:solidFill>
                  <a:srgbClr val="1F2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特征保持度</a:t>
            </a:r>
            <a:endParaRPr sz="1125">
              <a:solidFill>
                <a:srgbClr val="1F2A4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defRPr sz="1125">
                <a:solidFill>
                  <a:srgbClr val="1F2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>
                <a:solidFill>
                  <a:srgbClr val="1F2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复杂度约束</a:t>
            </a:r>
            <a:endParaRPr sz="1125">
              <a:solidFill>
                <a:srgbClr val="1F2A4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7" name="矩形 186"/>
          <p:cNvSpPr>
            <a:spLocks noGrp="1"/>
          </p:cNvSpPr>
          <p:nvPr/>
        </p:nvSpPr>
        <p:spPr>
          <a:xfrm>
            <a:off x="1104900" y="6667500"/>
            <a:ext cx="85153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9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海杂波先验约束 + 目标保护约束 + 端侧实时反馈闭环</a:t>
            </a:r>
            <a:endParaRPr sz="19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319" name="图片 318" descr="解耦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4563110"/>
            <a:ext cx="676275" cy="628650"/>
          </a:xfrm>
          <a:prstGeom prst="rect">
            <a:avLst/>
          </a:prstGeom>
        </p:spPr>
      </p:pic>
      <p:pic>
        <p:nvPicPr>
          <p:cNvPr id="197" name="图片 19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28535" y="4571365"/>
            <a:ext cx="675640" cy="539750"/>
          </a:xfrm>
          <a:prstGeom prst="rect">
            <a:avLst/>
          </a:prstGeom>
        </p:spPr>
      </p:pic>
      <p:sp>
        <p:nvSpPr>
          <p:cNvPr id="192" name="下箭头 191"/>
          <p:cNvSpPr>
            <a:spLocks noGrp="1"/>
          </p:cNvSpPr>
          <p:nvPr/>
        </p:nvSpPr>
        <p:spPr>
          <a:xfrm>
            <a:off x="5153025" y="4744720"/>
            <a:ext cx="361950" cy="539750"/>
          </a:xfrm>
          <a:prstGeom prst="downArrow">
            <a:avLst/>
          </a:prstGeom>
          <a:solidFill>
            <a:srgbClr val="E9A0A0"/>
          </a:solidFill>
          <a:ln w="0">
            <a:solidFill>
              <a:srgbClr val="E9A0A0"/>
            </a:solidFill>
            <a:prstDash val="solid"/>
          </a:ln>
        </p:spPr>
      </p:sp>
      <p:pic>
        <p:nvPicPr>
          <p:cNvPr id="193" name="图片 19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69840" y="3059430"/>
            <a:ext cx="697865" cy="641985"/>
          </a:xfrm>
          <a:prstGeom prst="rect">
            <a:avLst/>
          </a:prstGeom>
        </p:spPr>
      </p:pic>
      <p:pic>
        <p:nvPicPr>
          <p:cNvPr id="194" name="图片 19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48650" y="4609465"/>
            <a:ext cx="620395" cy="45593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252</Words>
  <Application>WPS 演示</Application>
  <PresentationFormat>Converted Presentation</PresentationFormat>
  <Paragraphs>65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9" baseType="lpstr">
      <vt:lpstr>Arial</vt:lpstr>
      <vt:lpstr>宋体</vt:lpstr>
      <vt:lpstr>Wingdings</vt:lpstr>
      <vt:lpstr>微软雅黑</vt:lpstr>
      <vt:lpstr>Arial</vt:lpstr>
      <vt:lpstr>Arial Unicode MS</vt:lpstr>
      <vt:lpstr>Calibri</vt:lpstr>
      <vt:lpstr>ChatGPT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WPS_1569921961</cp:lastModifiedBy>
  <cp:revision>6</cp:revision>
  <dcterms:created xsi:type="dcterms:W3CDTF">2026-06-16T05:17:00Z</dcterms:created>
  <dcterms:modified xsi:type="dcterms:W3CDTF">2026-06-18T11:29:02Z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2052-12.1.0.26895</vt:lpwstr>
  </property>
  <property fmtid="{D5CDD505-2E9C-101B-9397-08002B2CF9AE}" pid="3" name="ICV">
    <vt:lpwstr>50E15464501F4BA585B2D28222D947AB_12</vt:lpwstr>
  </property>
</Properties>
</file>