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022B"/>
    <a:srgbClr val="FCA4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6" Type="http://schemas.openxmlformats.org/officeDocument/2006/relationships/notesSlide" Target="../notesSlides/notesSlide1.xml"/><Relationship Id="rId25" Type="http://schemas.openxmlformats.org/officeDocument/2006/relationships/slideLayout" Target="../slideLayouts/slideLayout1.xml"/><Relationship Id="rId24" Type="http://schemas.openxmlformats.org/officeDocument/2006/relationships/image" Target="../media/image24.sv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jpe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273050"/>
            <a:ext cx="11932920" cy="6475095"/>
          </a:xfrm>
          <a:prstGeom prst="roundRect">
            <a:avLst>
              <a:gd name="adj" fmla="val 1653"/>
            </a:avLst>
          </a:prstGeom>
          <a:ln w="22225">
            <a:solidFill>
              <a:srgbClr val="4874CB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3039745" y="0"/>
            <a:ext cx="6125210" cy="488315"/>
          </a:xfrm>
          <a:prstGeom prst="roundRect">
            <a:avLst>
              <a:gd name="adj" fmla="val 50000"/>
            </a:avLst>
          </a:prstGeom>
          <a:solidFill>
            <a:srgbClr val="2E54A1"/>
          </a:solidFill>
        </p:spPr>
      </p:sp>
      <p:sp>
        <p:nvSpPr>
          <p:cNvPr id="4" name="Text 2"/>
          <p:cNvSpPr/>
          <p:nvPr/>
        </p:nvSpPr>
        <p:spPr>
          <a:xfrm>
            <a:off x="2075815" y="0"/>
            <a:ext cx="8046720" cy="4883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基于混合专家模型的轻量化目标检测与轨迹分析方法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11480" y="296545"/>
            <a:ext cx="1481455" cy="6393815"/>
          </a:xfrm>
          <a:prstGeom prst="roundRect">
            <a:avLst>
              <a:gd name="adj" fmla="val 4938"/>
            </a:avLst>
          </a:prstGeom>
          <a:solidFill>
            <a:srgbClr val="DAE3F5"/>
          </a:solidFill>
          <a:ln w="15875">
            <a:solidFill>
              <a:srgbClr val="2E54A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1810" y="480695"/>
            <a:ext cx="1280160" cy="2798445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29615" y="2684780"/>
            <a:ext cx="87058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知识图谱先验嵌入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11810" y="3614420"/>
            <a:ext cx="1280160" cy="30480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63905" y="5870575"/>
            <a:ext cx="836295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提取后频谱信号（时频谱）</a:t>
            </a:r>
            <a:endParaRPr 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2" name="Shape 29"/>
          <p:cNvSpPr/>
          <p:nvPr/>
        </p:nvSpPr>
        <p:spPr>
          <a:xfrm>
            <a:off x="1901952" y="3361436"/>
            <a:ext cx="274320" cy="822960"/>
          </a:xfrm>
          <a:prstGeom prst="rightArrow">
            <a:avLst/>
          </a:prstGeom>
          <a:solidFill>
            <a:srgbClr val="4874CB"/>
          </a:solidFill>
        </p:spPr>
      </p:sp>
      <p:sp>
        <p:nvSpPr>
          <p:cNvPr id="33" name="Shape 30"/>
          <p:cNvSpPr/>
          <p:nvPr/>
        </p:nvSpPr>
        <p:spPr>
          <a:xfrm>
            <a:off x="2185035" y="1131570"/>
            <a:ext cx="2697480" cy="711835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2185035" y="1061085"/>
            <a:ext cx="2697480" cy="855980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信号检测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5" name="Shape 32"/>
          <p:cNvSpPr/>
          <p:nvPr/>
        </p:nvSpPr>
        <p:spPr>
          <a:xfrm>
            <a:off x="2185035" y="1917065"/>
            <a:ext cx="2697480" cy="3511296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385435" y="1131570"/>
            <a:ext cx="2697480" cy="710565"/>
          </a:xfrm>
          <a:prstGeom prst="roundRect">
            <a:avLst>
              <a:gd name="adj" fmla="val 6250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5385435" y="1130300"/>
            <a:ext cx="2697480" cy="711835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小样本识别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8" name="Shape 35"/>
          <p:cNvSpPr/>
          <p:nvPr/>
        </p:nvSpPr>
        <p:spPr>
          <a:xfrm>
            <a:off x="5385435" y="1917065"/>
            <a:ext cx="2697480" cy="3511296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solidFill>
              <a:srgbClr val="2E54A1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585835" y="1131570"/>
            <a:ext cx="2697480" cy="709295"/>
          </a:xfrm>
          <a:prstGeom prst="roundRect">
            <a:avLst>
              <a:gd name="adj" fmla="val 6250"/>
            </a:avLst>
          </a:prstGeom>
          <a:solidFill>
            <a:srgbClr val="C00000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8611235" y="1061339"/>
            <a:ext cx="2697480" cy="877824"/>
          </a:xfrm>
          <a:prstGeom prst="rect">
            <a:avLst/>
          </a:prstGeom>
          <a:noFill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分析专家</a:t>
            </a:r>
            <a:r>
              <a: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</a:t>
            </a:r>
            <a:endParaRPr lang="zh-CN" altLang="en-US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1" name="Shape 38"/>
          <p:cNvSpPr/>
          <p:nvPr/>
        </p:nvSpPr>
        <p:spPr>
          <a:xfrm>
            <a:off x="8585835" y="1917065"/>
            <a:ext cx="2697480" cy="3511296"/>
          </a:xfrm>
          <a:prstGeom prst="roundRect">
            <a:avLst>
              <a:gd name="adj" fmla="val 2034"/>
            </a:avLst>
          </a:prstGeom>
          <a:solidFill>
            <a:srgbClr val="FADBDF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2303907" y="2008505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2340483" y="2099945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轻量卷积网络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44" name="Shape 41"/>
          <p:cNvSpPr/>
          <p:nvPr/>
        </p:nvSpPr>
        <p:spPr>
          <a:xfrm>
            <a:off x="2374011" y="2942107"/>
            <a:ext cx="35560" cy="172822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5" name="Shape 42"/>
          <p:cNvSpPr/>
          <p:nvPr/>
        </p:nvSpPr>
        <p:spPr>
          <a:xfrm>
            <a:off x="2430907" y="2807691"/>
            <a:ext cx="35560" cy="307238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6" name="Shape 43"/>
          <p:cNvSpPr/>
          <p:nvPr/>
        </p:nvSpPr>
        <p:spPr>
          <a:xfrm>
            <a:off x="2487803" y="2903703"/>
            <a:ext cx="35560" cy="211226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7" name="Shape 44"/>
          <p:cNvSpPr/>
          <p:nvPr/>
        </p:nvSpPr>
        <p:spPr>
          <a:xfrm>
            <a:off x="2544699" y="2730881"/>
            <a:ext cx="35560" cy="384048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8" name="Shape 45"/>
          <p:cNvSpPr/>
          <p:nvPr/>
        </p:nvSpPr>
        <p:spPr>
          <a:xfrm>
            <a:off x="2601595" y="2846095"/>
            <a:ext cx="35560" cy="268834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49" name="Shape 46"/>
          <p:cNvSpPr/>
          <p:nvPr/>
        </p:nvSpPr>
        <p:spPr>
          <a:xfrm>
            <a:off x="2658491" y="2769286"/>
            <a:ext cx="35560" cy="345643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0" name="Shape 47"/>
          <p:cNvSpPr/>
          <p:nvPr/>
        </p:nvSpPr>
        <p:spPr>
          <a:xfrm>
            <a:off x="2715387" y="2922905"/>
            <a:ext cx="35560" cy="192024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1" name="Shape 48"/>
          <p:cNvSpPr/>
          <p:nvPr/>
        </p:nvSpPr>
        <p:spPr>
          <a:xfrm>
            <a:off x="2772283" y="2815372"/>
            <a:ext cx="35560" cy="299557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2" name="Shape 49"/>
          <p:cNvSpPr/>
          <p:nvPr/>
        </p:nvSpPr>
        <p:spPr>
          <a:xfrm>
            <a:off x="2829179" y="2961310"/>
            <a:ext cx="35560" cy="153619"/>
          </a:xfrm>
          <a:prstGeom prst="rect">
            <a:avLst/>
          </a:prstGeom>
          <a:solidFill>
            <a:srgbClr val="4874CB"/>
          </a:solidFill>
        </p:spPr>
      </p:sp>
      <p:sp>
        <p:nvSpPr>
          <p:cNvPr id="53" name="Shape 50"/>
          <p:cNvSpPr/>
          <p:nvPr/>
        </p:nvSpPr>
        <p:spPr>
          <a:xfrm>
            <a:off x="2363343" y="3114929"/>
            <a:ext cx="512064" cy="0"/>
          </a:xfrm>
          <a:prstGeom prst="line">
            <a:avLst/>
          </a:prstGeom>
          <a:noFill/>
          <a:ln w="9525">
            <a:solidFill>
              <a:srgbClr val="5B6470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244471" y="31972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时频谱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5" name="Shape 52"/>
          <p:cNvSpPr/>
          <p:nvPr/>
        </p:nvSpPr>
        <p:spPr>
          <a:xfrm>
            <a:off x="2875280" y="2854325"/>
            <a:ext cx="146304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58" name="Text 55"/>
          <p:cNvSpPr/>
          <p:nvPr/>
        </p:nvSpPr>
        <p:spPr>
          <a:xfrm>
            <a:off x="3203321" y="325247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卷积网络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1" name="Shape 58"/>
          <p:cNvSpPr/>
          <p:nvPr/>
        </p:nvSpPr>
        <p:spPr>
          <a:xfrm>
            <a:off x="4246626" y="285877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4874CB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415790" y="285877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159A8C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584954" y="2858770"/>
            <a:ext cx="137160" cy="137160"/>
          </a:xfrm>
          <a:prstGeom prst="roundRect">
            <a:avLst>
              <a:gd name="adj" fmla="val 13333"/>
            </a:avLst>
          </a:prstGeom>
          <a:solidFill>
            <a:srgbClr val="C00000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073271" y="31972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通用特征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66" name="Shape 63"/>
          <p:cNvSpPr/>
          <p:nvPr/>
        </p:nvSpPr>
        <p:spPr>
          <a:xfrm>
            <a:off x="2303907" y="3782441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67" name="Text 64"/>
          <p:cNvSpPr/>
          <p:nvPr/>
        </p:nvSpPr>
        <p:spPr>
          <a:xfrm>
            <a:off x="2340483" y="3873881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信号检测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68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071" y="4459097"/>
            <a:ext cx="475488" cy="475488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233591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海况先验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0" name="Shape 66"/>
          <p:cNvSpPr/>
          <p:nvPr/>
        </p:nvSpPr>
        <p:spPr>
          <a:xfrm>
            <a:off x="3013710" y="462851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72" name="Text 67"/>
          <p:cNvSpPr/>
          <p:nvPr/>
        </p:nvSpPr>
        <p:spPr>
          <a:xfrm>
            <a:off x="310172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知识门控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74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991" y="4577969"/>
            <a:ext cx="219456" cy="219456"/>
          </a:xfrm>
          <a:prstGeom prst="rect">
            <a:avLst/>
          </a:prstGeom>
        </p:spPr>
      </p:pic>
      <p:pic>
        <p:nvPicPr>
          <p:cNvPr id="7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4167" y="4577969"/>
            <a:ext cx="219456" cy="219456"/>
          </a:xfrm>
          <a:prstGeom prst="rect">
            <a:avLst/>
          </a:prstGeom>
        </p:spPr>
      </p:pic>
      <p:sp>
        <p:nvSpPr>
          <p:cNvPr id="76" name="Text 69"/>
          <p:cNvSpPr/>
          <p:nvPr/>
        </p:nvSpPr>
        <p:spPr>
          <a:xfrm>
            <a:off x="398183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 fontScale="90000"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弱信号检出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77" name="Shape 70"/>
          <p:cNvSpPr/>
          <p:nvPr/>
        </p:nvSpPr>
        <p:spPr>
          <a:xfrm>
            <a:off x="5504307" y="2008505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78" name="Text 71"/>
          <p:cNvSpPr/>
          <p:nvPr/>
        </p:nvSpPr>
        <p:spPr>
          <a:xfrm>
            <a:off x="5540883" y="2099945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7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3471" y="2685161"/>
            <a:ext cx="475488" cy="475488"/>
          </a:xfrm>
          <a:prstGeom prst="rect">
            <a:avLst/>
          </a:prstGeom>
        </p:spPr>
      </p:pic>
      <p:sp>
        <p:nvSpPr>
          <p:cNvPr id="80" name="Text 72"/>
          <p:cNvSpPr/>
          <p:nvPr/>
        </p:nvSpPr>
        <p:spPr>
          <a:xfrm>
            <a:off x="5536311" y="31972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少量样本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1" name="Shape 73"/>
          <p:cNvSpPr/>
          <p:nvPr/>
        </p:nvSpPr>
        <p:spPr>
          <a:xfrm>
            <a:off x="6213475" y="2858770"/>
            <a:ext cx="18732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83" name="Text 74"/>
          <p:cNvSpPr/>
          <p:nvPr/>
        </p:nvSpPr>
        <p:spPr>
          <a:xfrm>
            <a:off x="6399911" y="321246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原型网络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4" name="Shape 75"/>
          <p:cNvSpPr/>
          <p:nvPr/>
        </p:nvSpPr>
        <p:spPr>
          <a:xfrm>
            <a:off x="7052945" y="285432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pic>
        <p:nvPicPr>
          <p:cNvPr id="85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9391" y="2685161"/>
            <a:ext cx="475488" cy="475488"/>
          </a:xfrm>
          <a:prstGeom prst="rect">
            <a:avLst/>
          </a:prstGeom>
        </p:spPr>
      </p:pic>
      <p:sp>
        <p:nvSpPr>
          <p:cNvPr id="86" name="Text 76"/>
          <p:cNvSpPr/>
          <p:nvPr/>
        </p:nvSpPr>
        <p:spPr>
          <a:xfrm>
            <a:off x="7182231" y="31972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类原型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87" name="Shape 77"/>
          <p:cNvSpPr/>
          <p:nvPr/>
        </p:nvSpPr>
        <p:spPr>
          <a:xfrm>
            <a:off x="5504307" y="3782441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88" name="Text 78"/>
          <p:cNvSpPr/>
          <p:nvPr/>
        </p:nvSpPr>
        <p:spPr>
          <a:xfrm>
            <a:off x="5540883" y="3873881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类型判定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89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73471" y="4459097"/>
            <a:ext cx="475488" cy="475488"/>
          </a:xfrm>
          <a:prstGeom prst="rect">
            <a:avLst/>
          </a:prstGeom>
        </p:spPr>
      </p:pic>
      <p:sp>
        <p:nvSpPr>
          <p:cNvPr id="90" name="Text 79"/>
          <p:cNvSpPr/>
          <p:nvPr/>
        </p:nvSpPr>
        <p:spPr>
          <a:xfrm>
            <a:off x="553631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比对距离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3" name="Text 81"/>
          <p:cNvSpPr/>
          <p:nvPr/>
        </p:nvSpPr>
        <p:spPr>
          <a:xfrm>
            <a:off x="635927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判定网络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5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9391" y="4459097"/>
            <a:ext cx="475488" cy="475488"/>
          </a:xfrm>
          <a:prstGeom prst="rect">
            <a:avLst/>
          </a:prstGeom>
        </p:spPr>
      </p:pic>
      <p:sp>
        <p:nvSpPr>
          <p:cNvPr id="96" name="Text 83"/>
          <p:cNvSpPr/>
          <p:nvPr/>
        </p:nvSpPr>
        <p:spPr>
          <a:xfrm>
            <a:off x="718223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开集回写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7" name="Shape 84"/>
          <p:cNvSpPr/>
          <p:nvPr/>
        </p:nvSpPr>
        <p:spPr>
          <a:xfrm>
            <a:off x="8704707" y="2008505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98" name="Text 85"/>
          <p:cNvSpPr/>
          <p:nvPr/>
        </p:nvSpPr>
        <p:spPr>
          <a:xfrm>
            <a:off x="8741283" y="2099945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网络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99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73871" y="2685161"/>
            <a:ext cx="475488" cy="475488"/>
          </a:xfrm>
          <a:prstGeom prst="rect">
            <a:avLst/>
          </a:prstGeom>
        </p:spPr>
      </p:pic>
      <p:sp>
        <p:nvSpPr>
          <p:cNvPr id="100" name="Text 86"/>
          <p:cNvSpPr/>
          <p:nvPr/>
        </p:nvSpPr>
        <p:spPr>
          <a:xfrm>
            <a:off x="8736711" y="31972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多源观测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3" name="Text 89"/>
          <p:cNvSpPr/>
          <p:nvPr/>
        </p:nvSpPr>
        <p:spPr>
          <a:xfrm>
            <a:off x="9651111" y="2749169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EKF</a:t>
            </a:r>
            <a:endParaRPr lang="en-US" sz="1100" dirty="0"/>
          </a:p>
        </p:txBody>
      </p:sp>
      <p:sp>
        <p:nvSpPr>
          <p:cNvPr id="104" name="Text 90"/>
          <p:cNvSpPr/>
          <p:nvPr/>
        </p:nvSpPr>
        <p:spPr>
          <a:xfrm>
            <a:off x="9559671" y="325247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滤波网络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06" name="Shape 92"/>
          <p:cNvSpPr/>
          <p:nvPr/>
        </p:nvSpPr>
        <p:spPr>
          <a:xfrm>
            <a:off x="10455783" y="2877185"/>
            <a:ext cx="201168" cy="164592"/>
          </a:xfrm>
          <a:prstGeom prst="line">
            <a:avLst/>
          </a:prstGeom>
          <a:noFill/>
          <a:ln w="25400">
            <a:solidFill>
              <a:srgbClr val="4874CB"/>
            </a:solidFill>
            <a:prstDash val="solid"/>
          </a:ln>
        </p:spPr>
      </p:sp>
      <p:sp>
        <p:nvSpPr>
          <p:cNvPr id="107" name="Shape 93"/>
          <p:cNvSpPr/>
          <p:nvPr/>
        </p:nvSpPr>
        <p:spPr>
          <a:xfrm>
            <a:off x="10656951" y="2877185"/>
            <a:ext cx="182880" cy="100584"/>
          </a:xfrm>
          <a:prstGeom prst="line">
            <a:avLst/>
          </a:prstGeom>
          <a:noFill/>
          <a:ln w="25400">
            <a:solidFill>
              <a:srgbClr val="4874CB"/>
            </a:solidFill>
            <a:prstDash val="solid"/>
          </a:ln>
        </p:spPr>
      </p:sp>
      <p:sp>
        <p:nvSpPr>
          <p:cNvPr id="108" name="Shape 94"/>
          <p:cNvSpPr/>
          <p:nvPr/>
        </p:nvSpPr>
        <p:spPr>
          <a:xfrm>
            <a:off x="10839831" y="2804033"/>
            <a:ext cx="164592" cy="173736"/>
          </a:xfrm>
          <a:prstGeom prst="line">
            <a:avLst/>
          </a:prstGeom>
          <a:noFill/>
          <a:ln w="25400">
            <a:solidFill>
              <a:srgbClr val="4874CB"/>
            </a:solidFill>
            <a:prstDash val="solid"/>
          </a:ln>
        </p:spPr>
      </p:sp>
      <p:sp>
        <p:nvSpPr>
          <p:cNvPr id="109" name="Shape 95"/>
          <p:cNvSpPr/>
          <p:nvPr/>
        </p:nvSpPr>
        <p:spPr>
          <a:xfrm>
            <a:off x="10423779" y="3009773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0" name="Shape 96"/>
          <p:cNvSpPr/>
          <p:nvPr/>
        </p:nvSpPr>
        <p:spPr>
          <a:xfrm>
            <a:off x="10624947" y="2845181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1" name="Shape 97"/>
          <p:cNvSpPr/>
          <p:nvPr/>
        </p:nvSpPr>
        <p:spPr>
          <a:xfrm>
            <a:off x="10807827" y="2945765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2" name="Shape 98"/>
          <p:cNvSpPr/>
          <p:nvPr/>
        </p:nvSpPr>
        <p:spPr>
          <a:xfrm>
            <a:off x="10972419" y="2772029"/>
            <a:ext cx="64008" cy="64008"/>
          </a:xfrm>
          <a:prstGeom prst="ellipse">
            <a:avLst/>
          </a:prstGeom>
          <a:solidFill>
            <a:srgbClr val="4874C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3" name="Shape 99"/>
          <p:cNvSpPr/>
          <p:nvPr/>
        </p:nvSpPr>
        <p:spPr>
          <a:xfrm>
            <a:off x="10986135" y="2749169"/>
            <a:ext cx="128016" cy="109728"/>
          </a:xfrm>
          <a:prstGeom prst="rightArrow">
            <a:avLst/>
          </a:prstGeom>
          <a:solidFill>
            <a:srgbClr val="4874CB"/>
          </a:solidFill>
        </p:spPr>
      </p:sp>
      <p:sp>
        <p:nvSpPr>
          <p:cNvPr id="114" name="Text 100"/>
          <p:cNvSpPr/>
          <p:nvPr/>
        </p:nvSpPr>
        <p:spPr>
          <a:xfrm>
            <a:off x="10382631" y="3197225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位置速度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5" name="Shape 101"/>
          <p:cNvSpPr/>
          <p:nvPr/>
        </p:nvSpPr>
        <p:spPr>
          <a:xfrm>
            <a:off x="8704707" y="3782441"/>
            <a:ext cx="2459736" cy="164592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6" name="Text 102"/>
          <p:cNvSpPr/>
          <p:nvPr/>
        </p:nvSpPr>
        <p:spPr>
          <a:xfrm>
            <a:off x="8741283" y="3873881"/>
            <a:ext cx="2386584" cy="32918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轨迹分析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17" name="Shape 103"/>
          <p:cNvSpPr/>
          <p:nvPr/>
        </p:nvSpPr>
        <p:spPr>
          <a:xfrm>
            <a:off x="8828151" y="4523105"/>
            <a:ext cx="566928" cy="347472"/>
          </a:xfrm>
          <a:prstGeom prst="roundRect">
            <a:avLst>
              <a:gd name="adj" fmla="val 13158"/>
            </a:avLst>
          </a:prstGeom>
          <a:solidFill>
            <a:srgbClr val="2E54A1"/>
          </a:solidFill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18" name="Text 104"/>
          <p:cNvSpPr/>
          <p:nvPr/>
        </p:nvSpPr>
        <p:spPr>
          <a:xfrm>
            <a:off x="8828151" y="4523105"/>
            <a:ext cx="566928" cy="34747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GRU</a:t>
            </a:r>
            <a:endParaRPr lang="en-US" sz="1100" dirty="0"/>
          </a:p>
        </p:txBody>
      </p:sp>
      <p:sp>
        <p:nvSpPr>
          <p:cNvPr id="119" name="Text 105"/>
          <p:cNvSpPr/>
          <p:nvPr/>
        </p:nvSpPr>
        <p:spPr>
          <a:xfrm>
            <a:off x="873671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循环网络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21" name="Image 12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96831" y="4459097"/>
            <a:ext cx="475488" cy="475488"/>
          </a:xfrm>
          <a:prstGeom prst="rect">
            <a:avLst/>
          </a:prstGeom>
        </p:spPr>
      </p:pic>
      <p:sp>
        <p:nvSpPr>
          <p:cNvPr id="122" name="Text 107"/>
          <p:cNvSpPr/>
          <p:nvPr/>
        </p:nvSpPr>
        <p:spPr>
          <a:xfrm>
            <a:off x="9559036" y="501561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航路先验</a:t>
            </a:r>
            <a:endParaRPr 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2" name="Text 117"/>
          <p:cNvSpPr/>
          <p:nvPr/>
        </p:nvSpPr>
        <p:spPr>
          <a:xfrm>
            <a:off x="10382631" y="497116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预测轨迹</a:t>
            </a:r>
            <a:endParaRPr 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33" name="Shape 118"/>
          <p:cNvSpPr/>
          <p:nvPr/>
        </p:nvSpPr>
        <p:spPr>
          <a:xfrm>
            <a:off x="4960239" y="1185545"/>
            <a:ext cx="347472" cy="475488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135" name="Shape 120"/>
          <p:cNvSpPr/>
          <p:nvPr/>
        </p:nvSpPr>
        <p:spPr>
          <a:xfrm>
            <a:off x="8160639" y="1185545"/>
            <a:ext cx="347472" cy="475488"/>
          </a:xfrm>
          <a:prstGeom prst="chevron">
            <a:avLst/>
          </a:prstGeom>
          <a:solidFill>
            <a:srgbClr val="E06B74"/>
          </a:solidFill>
        </p:spPr>
      </p:sp>
      <p:sp>
        <p:nvSpPr>
          <p:cNvPr id="137" name="Shape 122"/>
          <p:cNvSpPr/>
          <p:nvPr/>
        </p:nvSpPr>
        <p:spPr>
          <a:xfrm>
            <a:off x="3405505" y="5468620"/>
            <a:ext cx="255905" cy="146685"/>
          </a:xfrm>
          <a:prstGeom prst="downArrow">
            <a:avLst/>
          </a:prstGeom>
          <a:solidFill>
            <a:srgbClr val="4874CB"/>
          </a:solidFill>
        </p:spPr>
      </p:sp>
      <p:sp>
        <p:nvSpPr>
          <p:cNvPr id="140" name="Shape 125"/>
          <p:cNvSpPr/>
          <p:nvPr/>
        </p:nvSpPr>
        <p:spPr>
          <a:xfrm>
            <a:off x="2244725" y="6552565"/>
            <a:ext cx="9098280" cy="305435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28575">
            <a:solidFill>
              <a:srgbClr val="2E54A1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</p:sp>
      <p:sp>
        <p:nvSpPr>
          <p:cNvPr id="141" name="Text 126"/>
          <p:cNvSpPr/>
          <p:nvPr/>
        </p:nvSpPr>
        <p:spPr>
          <a:xfrm>
            <a:off x="2012950" y="6552565"/>
            <a:ext cx="9151620" cy="35369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支撑海域自主侦测的目标级态势认知</a:t>
            </a:r>
            <a:endParaRPr lang="en-US" sz="1600" dirty="0"/>
          </a:p>
        </p:txBody>
      </p:sp>
      <p:sp>
        <p:nvSpPr>
          <p:cNvPr id="142" name="Shape 52"/>
          <p:cNvSpPr/>
          <p:nvPr/>
        </p:nvSpPr>
        <p:spPr>
          <a:xfrm>
            <a:off x="4062095" y="2854325"/>
            <a:ext cx="146304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3" name="Shape 66"/>
          <p:cNvSpPr/>
          <p:nvPr/>
        </p:nvSpPr>
        <p:spPr>
          <a:xfrm>
            <a:off x="3851910" y="462851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4" name="Shape 73"/>
          <p:cNvSpPr/>
          <p:nvPr/>
        </p:nvSpPr>
        <p:spPr>
          <a:xfrm>
            <a:off x="6213475" y="4618990"/>
            <a:ext cx="18732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5" name="Shape 75"/>
          <p:cNvSpPr/>
          <p:nvPr/>
        </p:nvSpPr>
        <p:spPr>
          <a:xfrm>
            <a:off x="7052945" y="462851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7" name="Shape 75"/>
          <p:cNvSpPr/>
          <p:nvPr/>
        </p:nvSpPr>
        <p:spPr>
          <a:xfrm>
            <a:off x="9394825" y="290385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8" name="Shape 75"/>
          <p:cNvSpPr/>
          <p:nvPr/>
        </p:nvSpPr>
        <p:spPr>
          <a:xfrm>
            <a:off x="10233660" y="2877185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49" name="Shape 75"/>
          <p:cNvSpPr/>
          <p:nvPr/>
        </p:nvSpPr>
        <p:spPr>
          <a:xfrm>
            <a:off x="9461500" y="463296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sp>
        <p:nvSpPr>
          <p:cNvPr id="150" name="Shape 75"/>
          <p:cNvSpPr/>
          <p:nvPr/>
        </p:nvSpPr>
        <p:spPr>
          <a:xfrm>
            <a:off x="10193020" y="4632960"/>
            <a:ext cx="189865" cy="137160"/>
          </a:xfrm>
          <a:prstGeom prst="rightArrow">
            <a:avLst/>
          </a:prstGeom>
          <a:solidFill>
            <a:srgbClr val="5B6470"/>
          </a:solidFill>
        </p:spPr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03825" y="5774055"/>
            <a:ext cx="575310" cy="575310"/>
          </a:xfrm>
          <a:prstGeom prst="rect">
            <a:avLst/>
          </a:prstGeom>
        </p:spPr>
      </p:pic>
      <p:grpSp>
        <p:nvGrpSpPr>
          <p:cNvPr id="101" name="组合 100"/>
          <p:cNvGrpSpPr/>
          <p:nvPr/>
        </p:nvGrpSpPr>
        <p:grpSpPr>
          <a:xfrm rot="16200000">
            <a:off x="9292273" y="2909888"/>
            <a:ext cx="4846955" cy="855980"/>
            <a:chOff x="6111" y="893"/>
            <a:chExt cx="7633" cy="1348"/>
          </a:xfrm>
        </p:grpSpPr>
        <p:sp>
          <p:nvSpPr>
            <p:cNvPr id="91" name="Shape 30"/>
            <p:cNvSpPr/>
            <p:nvPr/>
          </p:nvSpPr>
          <p:spPr>
            <a:xfrm>
              <a:off x="6111" y="1112"/>
              <a:ext cx="7371" cy="855"/>
            </a:xfrm>
            <a:prstGeom prst="roundRect">
              <a:avLst>
                <a:gd name="adj" fmla="val 6250"/>
              </a:avLst>
            </a:prstGeom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1"/>
            </a:gradFill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94" name="Text 31"/>
            <p:cNvSpPr/>
            <p:nvPr/>
          </p:nvSpPr>
          <p:spPr>
            <a:xfrm rot="10800000">
              <a:off x="6481" y="893"/>
              <a:ext cx="7263" cy="1348"/>
            </a:xfrm>
            <a:prstGeom prst="rect">
              <a:avLst/>
            </a:prstGeom>
            <a:noFill/>
          </p:spPr>
          <p:txBody>
            <a:bodyPr wrap="square" lIns="25400" tIns="25400" rIns="25400" bIns="25400" rtlCol="0" anchor="ctr"/>
            <a:lstStyle/>
            <a:p>
              <a:pPr marL="0" indent="0" algn="ctr">
                <a:lnSpc>
                  <a:spcPct val="95000"/>
                </a:lnSpc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混合专家系统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</p:grpSp>
      <p:pic>
        <p:nvPicPr>
          <p:cNvPr id="153" name="图片 15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7565" y="455930"/>
            <a:ext cx="840740" cy="840740"/>
          </a:xfrm>
          <a:prstGeom prst="rect">
            <a:avLst/>
          </a:prstGeom>
        </p:spPr>
      </p:pic>
      <p:grpSp>
        <p:nvGrpSpPr>
          <p:cNvPr id="158" name="组合 157"/>
          <p:cNvGrpSpPr/>
          <p:nvPr/>
        </p:nvGrpSpPr>
        <p:grpSpPr>
          <a:xfrm>
            <a:off x="3580765" y="5896610"/>
            <a:ext cx="1824355" cy="370840"/>
            <a:chOff x="9950" y="769"/>
            <a:chExt cx="2873" cy="584"/>
          </a:xfrm>
        </p:grpSpPr>
        <p:sp>
          <p:nvSpPr>
            <p:cNvPr id="156" name="Shape 33"/>
            <p:cNvSpPr/>
            <p:nvPr/>
          </p:nvSpPr>
          <p:spPr>
            <a:xfrm>
              <a:off x="10419" y="769"/>
              <a:ext cx="1935" cy="584"/>
            </a:xfrm>
            <a:prstGeom prst="roundRect">
              <a:avLst>
                <a:gd name="adj" fmla="val 6250"/>
              </a:avLst>
            </a:prstGeom>
            <a:gradFill>
              <a:gsLst>
                <a:gs pos="0">
                  <a:srgbClr val="FF0000"/>
                </a:gs>
                <a:gs pos="100000">
                  <a:schemeClr val="accent1">
                    <a:lumMod val="75000"/>
                  </a:schemeClr>
                </a:gs>
              </a:gsLst>
              <a:lin ang="5400000" scaled="0"/>
            </a:gradFill>
            <a:effectLst>
              <a:outerShdw blurRad="38100" dist="12700" dir="5400000" algn="bl" rotWithShape="0">
                <a:srgbClr val="000000">
                  <a:alpha val="16000"/>
                </a:srgbClr>
              </a:outerShdw>
            </a:effectLst>
          </p:spPr>
        </p:sp>
        <p:sp>
          <p:nvSpPr>
            <p:cNvPr id="157" name="文本框 156"/>
            <p:cNvSpPr txBox="1"/>
            <p:nvPr/>
          </p:nvSpPr>
          <p:spPr>
            <a:xfrm>
              <a:off x="9950" y="795"/>
              <a:ext cx="2873" cy="55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marL="0" indent="0" algn="ctr">
                <a:lnSpc>
                  <a:spcPct val="95000"/>
                </a:lnSpc>
                <a:buNone/>
              </a:pPr>
              <a:r>
                <a:rPr lang="zh-CN" altLang="en-US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专家调度员</a:t>
              </a:r>
              <a:endParaRPr lang="zh-CN" altLang="en-US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endParaRPr>
            </a:p>
          </p:txBody>
        </p:sp>
      </p:grpSp>
      <p:sp>
        <p:nvSpPr>
          <p:cNvPr id="160" name="Shape 39"/>
          <p:cNvSpPr/>
          <p:nvPr/>
        </p:nvSpPr>
        <p:spPr>
          <a:xfrm>
            <a:off x="6024245" y="5636260"/>
            <a:ext cx="763270" cy="733425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6BAC0"/>
            </a:solidFill>
            <a:prstDash val="solid"/>
          </a:ln>
          <a:effectLst>
            <a:outerShdw blurRad="38100" dist="12700" dir="5400000" algn="bl" rotWithShape="0">
              <a:srgbClr val="000000">
                <a:alpha val="16000"/>
              </a:srgbClr>
            </a:outerShdw>
          </a:effectLst>
        </p:spPr>
        <p:txBody>
          <a:bodyPr/>
          <a:p>
            <a:endParaRPr lang="zh-CN" altLang="en-US"/>
          </a:p>
        </p:txBody>
      </p:sp>
      <p:pic>
        <p:nvPicPr>
          <p:cNvPr id="161" name="图片 16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4215" y="1664335"/>
            <a:ext cx="988695" cy="988695"/>
          </a:xfrm>
          <a:prstGeom prst="rect">
            <a:avLst/>
          </a:prstGeom>
        </p:spPr>
      </p:pic>
      <p:pic>
        <p:nvPicPr>
          <p:cNvPr id="163" name="图片 16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9770" y="564515"/>
            <a:ext cx="882015" cy="882015"/>
          </a:xfrm>
          <a:prstGeom prst="rect">
            <a:avLst/>
          </a:prstGeom>
        </p:spPr>
      </p:pic>
      <p:pic>
        <p:nvPicPr>
          <p:cNvPr id="165" name="图片 16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9615" y="4979670"/>
            <a:ext cx="852170" cy="852170"/>
          </a:xfrm>
          <a:prstGeom prst="rect">
            <a:avLst/>
          </a:prstGeom>
        </p:spPr>
      </p:pic>
      <p:pic>
        <p:nvPicPr>
          <p:cNvPr id="166" name="图片 1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035" y="3829050"/>
            <a:ext cx="1031875" cy="1031875"/>
          </a:xfrm>
          <a:prstGeom prst="rect">
            <a:avLst/>
          </a:prstGeom>
        </p:spPr>
      </p:pic>
      <p:pic>
        <p:nvPicPr>
          <p:cNvPr id="167" name="图片 1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07965" y="455930"/>
            <a:ext cx="840740" cy="840740"/>
          </a:xfrm>
          <a:prstGeom prst="rect">
            <a:avLst/>
          </a:prstGeom>
        </p:spPr>
      </p:pic>
      <p:pic>
        <p:nvPicPr>
          <p:cNvPr id="168" name="图片 16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85835" y="455930"/>
            <a:ext cx="840740" cy="840740"/>
          </a:xfrm>
          <a:prstGeom prst="rect">
            <a:avLst/>
          </a:prstGeom>
        </p:spPr>
      </p:pic>
      <p:pic>
        <p:nvPicPr>
          <p:cNvPr id="169" name="图片 168" descr="bd1a43903c927de6f9f016d4d1baa125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30220" y="2623185"/>
            <a:ext cx="1019175" cy="574040"/>
          </a:xfrm>
          <a:prstGeom prst="rect">
            <a:avLst/>
          </a:prstGeom>
        </p:spPr>
      </p:pic>
      <p:pic>
        <p:nvPicPr>
          <p:cNvPr id="172" name="图片 17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333115" y="4302125"/>
            <a:ext cx="648970" cy="648970"/>
          </a:xfrm>
          <a:prstGeom prst="rect">
            <a:avLst/>
          </a:prstGeom>
        </p:spPr>
      </p:pic>
      <p:pic>
        <p:nvPicPr>
          <p:cNvPr id="173" name="图片 17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43345" y="2581910"/>
            <a:ext cx="578485" cy="578485"/>
          </a:xfrm>
          <a:prstGeom prst="rect">
            <a:avLst/>
          </a:prstGeom>
        </p:spPr>
      </p:pic>
      <p:pic>
        <p:nvPicPr>
          <p:cNvPr id="175" name="图片 174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165" y="4381500"/>
            <a:ext cx="589915" cy="589915"/>
          </a:xfrm>
          <a:prstGeom prst="rect">
            <a:avLst/>
          </a:prstGeom>
        </p:spPr>
      </p:pic>
      <p:pic>
        <p:nvPicPr>
          <p:cNvPr id="176" name="图片 175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605010" y="2599690"/>
            <a:ext cx="612775" cy="612775"/>
          </a:xfrm>
          <a:prstGeom prst="rect">
            <a:avLst/>
          </a:prstGeom>
        </p:spPr>
      </p:pic>
      <p:pic>
        <p:nvPicPr>
          <p:cNvPr id="178" name="图片 177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455910" y="4363720"/>
            <a:ext cx="587375" cy="587375"/>
          </a:xfrm>
          <a:prstGeom prst="rect">
            <a:avLst/>
          </a:prstGeom>
        </p:spPr>
      </p:pic>
      <p:sp>
        <p:nvSpPr>
          <p:cNvPr id="179" name="Text 81"/>
          <p:cNvSpPr/>
          <p:nvPr/>
        </p:nvSpPr>
        <p:spPr>
          <a:xfrm>
            <a:off x="6023991" y="6129401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门控</a:t>
            </a:r>
            <a:endParaRPr lang="zh-CN" altLang="en-US" sz="1400" b="1" dirty="0">
              <a:solidFill>
                <a:schemeClr val="accen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80" name="图片 179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228715" y="5636260"/>
            <a:ext cx="457835" cy="457835"/>
          </a:xfrm>
          <a:prstGeom prst="rect">
            <a:avLst/>
          </a:prstGeom>
        </p:spPr>
      </p:pic>
      <p:sp>
        <p:nvSpPr>
          <p:cNvPr id="10" name="Shape 122"/>
          <p:cNvSpPr/>
          <p:nvPr/>
        </p:nvSpPr>
        <p:spPr>
          <a:xfrm>
            <a:off x="6604635" y="5468620"/>
            <a:ext cx="255905" cy="146685"/>
          </a:xfrm>
          <a:prstGeom prst="downArrow">
            <a:avLst/>
          </a:prstGeom>
          <a:solidFill>
            <a:srgbClr val="4874CB"/>
          </a:solidFill>
        </p:spPr>
      </p:sp>
      <p:sp>
        <p:nvSpPr>
          <p:cNvPr id="11" name="Shape 122"/>
          <p:cNvSpPr/>
          <p:nvPr/>
        </p:nvSpPr>
        <p:spPr>
          <a:xfrm>
            <a:off x="9866630" y="5468620"/>
            <a:ext cx="255905" cy="146685"/>
          </a:xfrm>
          <a:prstGeom prst="downArrow">
            <a:avLst/>
          </a:prstGeom>
          <a:solidFill>
            <a:srgbClr val="4874CB"/>
          </a:solidFill>
        </p:spPr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2290" y="6214745"/>
            <a:ext cx="292100" cy="2921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0385" y="5831840"/>
            <a:ext cx="292100" cy="2921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90385" y="5500370"/>
            <a:ext cx="292100" cy="292100"/>
          </a:xfrm>
          <a:prstGeom prst="rect">
            <a:avLst/>
          </a:prstGeom>
        </p:spPr>
      </p:pic>
      <p:sp>
        <p:nvSpPr>
          <p:cNvPr id="18" name="Text 51"/>
          <p:cNvSpPr/>
          <p:nvPr/>
        </p:nvSpPr>
        <p:spPr>
          <a:xfrm>
            <a:off x="7184136" y="555498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检测</a:t>
            </a: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专家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51"/>
          <p:cNvSpPr/>
          <p:nvPr/>
        </p:nvSpPr>
        <p:spPr>
          <a:xfrm>
            <a:off x="7177151" y="589661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识别专家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0" name="Text 51"/>
          <p:cNvSpPr/>
          <p:nvPr/>
        </p:nvSpPr>
        <p:spPr>
          <a:xfrm>
            <a:off x="7181596" y="6267450"/>
            <a:ext cx="749808" cy="2377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buNone/>
            </a:pPr>
            <a:r>
              <a:rPr lang="zh-CN" altLang="en-US" sz="12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分析专家</a:t>
            </a:r>
            <a:endParaRPr lang="zh-CN" altLang="en-US" sz="12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927340" y="5573395"/>
            <a:ext cx="587375" cy="14605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7931785" y="5913120"/>
            <a:ext cx="809625" cy="14605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7926705" y="6273165"/>
            <a:ext cx="1726565" cy="146050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48000">
                <a:srgbClr val="FF0000"/>
              </a:gs>
              <a:gs pos="83000">
                <a:srgbClr val="FCA492"/>
              </a:gs>
              <a:gs pos="100000">
                <a:srgbClr val="FC022B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 descr="对,正确,打勾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9697085" y="6129655"/>
            <a:ext cx="385445" cy="385445"/>
          </a:xfrm>
          <a:prstGeom prst="rect">
            <a:avLst/>
          </a:prstGeom>
        </p:spPr>
      </p:pic>
      <p:sp>
        <p:nvSpPr>
          <p:cNvPr id="29" name="Text 28"/>
          <p:cNvSpPr/>
          <p:nvPr/>
        </p:nvSpPr>
        <p:spPr>
          <a:xfrm>
            <a:off x="8792845" y="5636260"/>
            <a:ext cx="15900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98000"/>
              </a:lnSpc>
              <a:buNone/>
            </a:pP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各专家模型通过权重</a:t>
            </a:r>
            <a:r>
              <a:rPr lang="zh-CN" altLang="en-US" sz="1600" b="1" dirty="0">
                <a:solidFill>
                  <a:srgbClr val="2E54A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分配合作</a:t>
            </a:r>
            <a:endParaRPr lang="zh-CN" altLang="en-US" sz="1600" b="1" dirty="0">
              <a:solidFill>
                <a:srgbClr val="2E54A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WPS 演示</Application>
  <PresentationFormat>On-screen Show (16:9)</PresentationFormat>
  <Paragraphs>80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。。。。</cp:lastModifiedBy>
  <cp:revision>21</cp:revision>
  <dcterms:created xsi:type="dcterms:W3CDTF">2026-06-15T09:04:00Z</dcterms:created>
  <dcterms:modified xsi:type="dcterms:W3CDTF">2026-06-23T03:23:12Z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952B3A9FE77248C1BE7430D399E75C04_13</vt:lpwstr>
  </property>
  <property fmtid="{D5CDD505-2E9C-101B-9397-08002B2CF9AE}" pid="3" name="KSOProductBuildVer">
    <vt:lpwstr>2052-12.1.0.26895</vt:lpwstr>
  </property>
</Properties>
</file>