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079990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31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91134" y="1248000"/>
            <a:ext cx="8101701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1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91134" y="4859338"/>
            <a:ext cx="8101701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645" spc="200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08" y="830362"/>
            <a:ext cx="9069024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3008" y="2034142"/>
            <a:ext cx="9069024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45937" y="5252409"/>
            <a:ext cx="6423024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5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45937" y="6298961"/>
            <a:ext cx="6423024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98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419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08" y="830362"/>
            <a:ext cx="9069024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3008" y="2048882"/>
            <a:ext cx="4280031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00929" y="2048882"/>
            <a:ext cx="4280031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08" y="830362"/>
            <a:ext cx="9069024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3008" y="1950614"/>
            <a:ext cx="4416945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3008" y="2530394"/>
            <a:ext cx="4416945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155541" y="1940417"/>
            <a:ext cx="4416945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155541" y="2530394"/>
            <a:ext cx="4416945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08" y="830362"/>
            <a:ext cx="9069024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3008" y="2122583"/>
            <a:ext cx="432656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250331" y="2122583"/>
            <a:ext cx="4321701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461842" y="1248000"/>
            <a:ext cx="863150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0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56000" y="1248000"/>
            <a:ext cx="7580835" cy="6864000"/>
          </a:xfrm>
        </p:spPr>
        <p:txBody>
          <a:bodyPr vert="eaVert" lIns="46800" tIns="46800" rIns="46800" bIns="46800"/>
          <a:lstStyle>
            <a:lvl1pPr marL="252095" indent="-252095">
              <a:spcAft>
                <a:spcPts val="1000"/>
              </a:spcAft>
              <a:defRPr spc="300"/>
            </a:lvl1pPr>
            <a:lvl2pPr marL="756285" indent="-252095">
              <a:defRPr spc="300"/>
            </a:lvl2pPr>
            <a:lvl3pPr marL="1259840" indent="-252095">
              <a:defRPr spc="300"/>
            </a:lvl3pPr>
            <a:lvl4pPr marL="1764030" indent="-252095">
              <a:defRPr spc="300"/>
            </a:lvl4pPr>
            <a:lvl5pPr marL="2268220" indent="-25209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3008" y="1056378"/>
            <a:ext cx="9072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91134" y="3390236"/>
            <a:ext cx="8101701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6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91134" y="4859338"/>
            <a:ext cx="8101701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64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03008" y="830362"/>
            <a:ext cx="9069024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03008" y="2034142"/>
            <a:ext cx="9069024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05984" y="8618079"/>
            <a:ext cx="2232283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402992" y="8618079"/>
            <a:ext cx="3274016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339748" y="8618079"/>
            <a:ext cx="2232283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7745" rtl="0" eaLnBrk="1" fontAlgn="auto" latinLnBrk="0" hangingPunct="1">
        <a:lnSpc>
          <a:spcPct val="100000"/>
        </a:lnSpc>
        <a:spcBef>
          <a:spcPct val="0"/>
        </a:spcBef>
        <a:buNone/>
        <a:defRPr sz="397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9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756285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774190" algn="l"/>
          <a:tab pos="1774190" algn="l"/>
          <a:tab pos="1774190" algn="l"/>
          <a:tab pos="1774190" algn="l"/>
        </a:tabLst>
        <a:defRPr sz="17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259840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7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764030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268220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 rot="16200000">
            <a:off x="391160" y="-372110"/>
            <a:ext cx="925893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/>
          </a:p>
        </p:txBody>
      </p:sp>
      <p:sp>
        <p:nvSpPr>
          <p:cNvPr id="39" name="圆角矩形 38"/>
          <p:cNvSpPr/>
          <p:nvPr/>
        </p:nvSpPr>
        <p:spPr>
          <a:xfrm>
            <a:off x="1036320" y="158750"/>
            <a:ext cx="8764905" cy="16878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: 圆角 8"/>
          <p:cNvSpPr/>
          <p:nvPr/>
        </p:nvSpPr>
        <p:spPr>
          <a:xfrm flipH="1">
            <a:off x="1230630" y="268605"/>
            <a:ext cx="3448685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175007"/>
            <a:ext cx="3255010" cy="2167255"/>
          </a:xfrm>
          <a:prstGeom prst="rect">
            <a:avLst/>
          </a:prstGeom>
        </p:spPr>
      </p:pic>
      <p:grpSp>
        <p:nvGrpSpPr>
          <p:cNvPr id="120" name="组合 119"/>
          <p:cNvGrpSpPr/>
          <p:nvPr/>
        </p:nvGrpSpPr>
        <p:grpSpPr>
          <a:xfrm>
            <a:off x="239395" y="1921510"/>
            <a:ext cx="9561195" cy="3836670"/>
            <a:chOff x="431" y="3043"/>
            <a:chExt cx="15057" cy="2404"/>
          </a:xfrm>
        </p:grpSpPr>
        <p:sp>
          <p:nvSpPr>
            <p:cNvPr id="18" name="圆角矩形 17"/>
            <p:cNvSpPr/>
            <p:nvPr/>
          </p:nvSpPr>
          <p:spPr>
            <a:xfrm>
              <a:off x="1686" y="3056"/>
              <a:ext cx="13802" cy="2373"/>
            </a:xfrm>
            <a:prstGeom prst="roundRect">
              <a:avLst>
                <a:gd name="adj" fmla="val 0"/>
              </a:avLst>
            </a:prstGeom>
            <a:solidFill>
              <a:srgbClr val="FADBD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矩形: 圆角 8"/>
            <p:cNvSpPr/>
            <p:nvPr/>
          </p:nvSpPr>
          <p:spPr>
            <a:xfrm flipH="1">
              <a:off x="1992" y="3185"/>
              <a:ext cx="13178" cy="2124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26" name="矩形: 圆角 93"/>
            <p:cNvSpPr/>
            <p:nvPr/>
          </p:nvSpPr>
          <p:spPr>
            <a:xfrm>
              <a:off x="431" y="3043"/>
              <a:ext cx="1255" cy="2405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algn="ctr">
                <a:defRPr/>
              </a:pPr>
              <a:r>
                <a:rPr lang="zh-CN" altLang="en-US" b="1" spc="3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检测场景</a:t>
              </a:r>
              <a:endParaRPr lang="zh-CN" altLang="en-US" b="1" spc="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9" name="矩形: 圆角 93"/>
          <p:cNvSpPr/>
          <p:nvPr/>
        </p:nvSpPr>
        <p:spPr>
          <a:xfrm>
            <a:off x="239395" y="158750"/>
            <a:ext cx="796925" cy="168910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>
              <a:defRPr/>
            </a:pPr>
            <a:r>
              <a:rPr lang="zh-CN" altLang="en-US" b="1" spc="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战略意义</a:t>
            </a:r>
            <a:endParaRPr lang="zh-CN" altLang="en-US" b="1" spc="3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: 圆角 8"/>
          <p:cNvSpPr/>
          <p:nvPr/>
        </p:nvSpPr>
        <p:spPr>
          <a:xfrm flipH="1">
            <a:off x="4873625" y="268605"/>
            <a:ext cx="4724400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43" name="文本框 42"/>
          <p:cNvSpPr txBox="1"/>
          <p:nvPr/>
        </p:nvSpPr>
        <p:spPr>
          <a:xfrm>
            <a:off x="1632903" y="327025"/>
            <a:ext cx="2644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国际竞争</a:t>
            </a:r>
            <a:endParaRPr kumimoji="1" lang="zh-CN" altLang="en-US" sz="1600" b="1" spc="300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" t="2278" r="16380" b="26414"/>
          <a:stretch>
            <a:fillRect/>
          </a:stretch>
        </p:blipFill>
        <p:spPr>
          <a:xfrm>
            <a:off x="5020310" y="640080"/>
            <a:ext cx="2736850" cy="1054100"/>
          </a:xfrm>
          <a:prstGeom prst="rect">
            <a:avLst/>
          </a:prstGeom>
        </p:spPr>
      </p:pic>
      <p:pic>
        <p:nvPicPr>
          <p:cNvPr id="46" name="Picture 34" descr="Papyrus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530" y="388050"/>
            <a:ext cx="1567180" cy="127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本框 46"/>
          <p:cNvSpPr txBox="1"/>
          <p:nvPr/>
        </p:nvSpPr>
        <p:spPr>
          <a:xfrm>
            <a:off x="5180648" y="1467754"/>
            <a:ext cx="5549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2021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26455" y="1304994"/>
            <a:ext cx="5441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613525" y="1059815"/>
            <a:ext cx="56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146290" y="731892"/>
            <a:ext cx="588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961890" y="910590"/>
            <a:ext cx="744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十四五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96890" y="749915"/>
            <a:ext cx="95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海洋科技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527800" y="1356995"/>
            <a:ext cx="1123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人工智能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306628" y="965076"/>
            <a:ext cx="930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十五五</a:t>
            </a:r>
            <a:endParaRPr lang="en-US" altLang="zh-CN" sz="1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244205" y="363468"/>
            <a:ext cx="1049973" cy="1141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复杂海域态势感知与无人化执法需求提升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424929" y="327025"/>
            <a:ext cx="1857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国家政策演进</a:t>
            </a:r>
            <a:endParaRPr kumimoji="1" lang="zh-CN" altLang="en-US" sz="1600" b="1" spc="300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239395" y="8177530"/>
            <a:ext cx="9561195" cy="1009650"/>
            <a:chOff x="431" y="14304"/>
            <a:chExt cx="15057" cy="1090"/>
          </a:xfrm>
        </p:grpSpPr>
        <p:sp>
          <p:nvSpPr>
            <p:cNvPr id="28" name="矩形: 圆角 93"/>
            <p:cNvSpPr/>
            <p:nvPr/>
          </p:nvSpPr>
          <p:spPr>
            <a:xfrm>
              <a:off x="431" y="14304"/>
              <a:ext cx="1255" cy="1090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algn="ctr">
                <a:defRPr/>
              </a:pPr>
              <a:r>
                <a:rPr lang="zh-CN" altLang="en-US" sz="1500" b="1" spc="3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研究内容</a:t>
              </a:r>
              <a:endParaRPr lang="zh-CN" altLang="en-US" sz="1500" b="1" spc="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686" y="14304"/>
              <a:ext cx="13802" cy="1079"/>
            </a:xfrm>
            <a:prstGeom prst="roundRect">
              <a:avLst>
                <a:gd name="adj" fmla="val 0"/>
              </a:avLst>
            </a:prstGeom>
            <a:solidFill>
              <a:srgbClr val="FADBD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矩形: 圆角 8"/>
            <p:cNvSpPr/>
            <p:nvPr/>
          </p:nvSpPr>
          <p:spPr>
            <a:xfrm flipH="1">
              <a:off x="1805" y="14396"/>
              <a:ext cx="3345" cy="907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海杂波干扰下微弱电磁频谱信号传播规律分析与提取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3" name="矩形: 圆角 8"/>
            <p:cNvSpPr/>
            <p:nvPr/>
          </p:nvSpPr>
          <p:spPr>
            <a:xfrm flipH="1">
              <a:off x="5230" y="14395"/>
              <a:ext cx="3345" cy="908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有限算力端侧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频谱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数据的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轻量存储和可信管理方法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" name="矩形: 圆角 8"/>
            <p:cNvSpPr/>
            <p:nvPr/>
          </p:nvSpPr>
          <p:spPr>
            <a:xfrm flipH="1">
              <a:off x="8655" y="14395"/>
              <a:ext cx="3345" cy="908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基于频谱知识图谱的轻量化目标识别与可信协同决策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6" name="矩形: 圆角 8"/>
            <p:cNvSpPr/>
            <p:nvPr/>
          </p:nvSpPr>
          <p:spPr>
            <a:xfrm flipH="1">
              <a:off x="12080" y="14395"/>
              <a:ext cx="3345" cy="908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海杂波场景电磁频谱数据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智能处理原型系统验证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119" name="图片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" y="1944370"/>
            <a:ext cx="8751570" cy="38144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93255" y="2889885"/>
            <a:ext cx="1062355" cy="227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/>
              <a:t>频谱接收设备</a:t>
            </a:r>
            <a:endParaRPr lang="zh-CN" altLang="en-US" sz="11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7960995" y="2889885"/>
            <a:ext cx="873125" cy="227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/>
              <a:t>存储设备</a:t>
            </a:r>
            <a:endParaRPr lang="zh-CN" altLang="en-US" sz="11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892540" y="2889885"/>
            <a:ext cx="757555" cy="2279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100" b="1" dirty="0"/>
              <a:t>计算设备</a:t>
            </a:r>
            <a:endParaRPr lang="zh-CN" altLang="en-US" sz="11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239395" y="5953125"/>
            <a:ext cx="9561830" cy="2040890"/>
            <a:chOff x="431" y="9392"/>
            <a:chExt cx="15058" cy="3824"/>
          </a:xfrm>
        </p:grpSpPr>
        <p:sp>
          <p:nvSpPr>
            <p:cNvPr id="25" name="圆角矩形 24"/>
            <p:cNvSpPr/>
            <p:nvPr/>
          </p:nvSpPr>
          <p:spPr>
            <a:xfrm>
              <a:off x="1686" y="9394"/>
              <a:ext cx="13803" cy="3819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矩形: 圆角 93"/>
            <p:cNvSpPr/>
            <p:nvPr/>
          </p:nvSpPr>
          <p:spPr>
            <a:xfrm>
              <a:off x="431" y="9392"/>
              <a:ext cx="1255" cy="3824"/>
            </a:xfrm>
            <a:prstGeom prst="roundRect">
              <a:avLst>
                <a:gd name="adj" fmla="val 0"/>
              </a:avLst>
            </a:prstGeom>
            <a:solidFill>
              <a:srgbClr val="2E54A1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eaVert" rtlCol="0" anchor="ctr"/>
            <a:lstStyle/>
            <a:p>
              <a:pPr algn="ctr">
                <a:defRPr/>
              </a:pPr>
              <a:r>
                <a:rPr lang="zh-CN" altLang="en-US" b="1" spc="3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现状与挑战</a:t>
              </a:r>
              <a:endParaRPr lang="zh-CN" altLang="en-US" b="1" spc="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矩形: 圆角 8"/>
            <p:cNvSpPr/>
            <p:nvPr/>
          </p:nvSpPr>
          <p:spPr>
            <a:xfrm flipH="1">
              <a:off x="1920" y="9612"/>
              <a:ext cx="3969" cy="3383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73" name="矩形: 圆角 8"/>
            <p:cNvSpPr/>
            <p:nvPr/>
          </p:nvSpPr>
          <p:spPr>
            <a:xfrm flipH="1">
              <a:off x="6601" y="9614"/>
              <a:ext cx="3969" cy="3379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76" name="矩形: 圆角 8"/>
            <p:cNvSpPr/>
            <p:nvPr/>
          </p:nvSpPr>
          <p:spPr>
            <a:xfrm flipH="1">
              <a:off x="11282" y="9621"/>
              <a:ext cx="3969" cy="3365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911" y="9705"/>
              <a:ext cx="3951" cy="7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海杂波下微弱信号 </a:t>
              </a:r>
              <a:r>
                <a:rPr kumimoji="1" lang="zh-CN" altLang="en-US" sz="2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难感知</a:t>
              </a:r>
              <a:endPara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650" y="9796"/>
              <a:ext cx="3817" cy="56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海量频谱数据流 </a:t>
              </a:r>
              <a:r>
                <a:rPr kumimoji="1" lang="zh-CN" altLang="en-US" sz="2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难管理</a:t>
              </a:r>
              <a:endPara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1342" y="9705"/>
              <a:ext cx="3917" cy="74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端侧智能大模型 </a:t>
              </a:r>
              <a:r>
                <a:rPr kumimoji="1" lang="zh-CN" altLang="en-US" sz="2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难部署</a:t>
              </a:r>
              <a:endParaRPr kumimoji="1"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22" name="图片 121"/>
            <p:cNvPicPr>
              <a:picLocks noChangeAspect="1"/>
            </p:cNvPicPr>
            <p:nvPr/>
          </p:nvPicPr>
          <p:blipFill>
            <a:blip r:embed="rId5"/>
            <a:srcRect b="35468"/>
            <a:stretch>
              <a:fillRect/>
            </a:stretch>
          </p:blipFill>
          <p:spPr>
            <a:xfrm>
              <a:off x="2507" y="10779"/>
              <a:ext cx="2677" cy="1177"/>
            </a:xfrm>
            <a:prstGeom prst="rect">
              <a:avLst/>
            </a:prstGeom>
          </p:spPr>
        </p:pic>
        <p:pic>
          <p:nvPicPr>
            <p:cNvPr id="7" name="图片 6" descr="ChatGPT Image 2026年6月22日 15_11_53"/>
            <p:cNvPicPr>
              <a:picLocks noChangeAspect="1"/>
            </p:cNvPicPr>
            <p:nvPr/>
          </p:nvPicPr>
          <p:blipFill>
            <a:blip r:embed="rId6"/>
            <a:srcRect b="41574"/>
            <a:stretch>
              <a:fillRect/>
            </a:stretch>
          </p:blipFill>
          <p:spPr>
            <a:xfrm>
              <a:off x="6976" y="10666"/>
              <a:ext cx="3134" cy="1220"/>
            </a:xfrm>
            <a:prstGeom prst="rect">
              <a:avLst/>
            </a:prstGeom>
          </p:spPr>
        </p:pic>
        <p:pic>
          <p:nvPicPr>
            <p:cNvPr id="8" name="图片 7" descr="ChatGPT Image 2026年6月22日 15_12_31"/>
            <p:cNvPicPr>
              <a:picLocks noChangeAspect="1"/>
            </p:cNvPicPr>
            <p:nvPr/>
          </p:nvPicPr>
          <p:blipFill>
            <a:blip r:embed="rId7"/>
            <a:srcRect b="39570"/>
            <a:stretch>
              <a:fillRect/>
            </a:stretch>
          </p:blipFill>
          <p:spPr>
            <a:xfrm>
              <a:off x="11503" y="10799"/>
              <a:ext cx="3383" cy="113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444" y="12283"/>
              <a:ext cx="2922" cy="557"/>
            </a:xfrm>
            <a:prstGeom prst="rect">
              <a:avLst/>
            </a:prstGeom>
            <a:solidFill>
              <a:srgbClr val="2E54A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33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辐射目标</a:t>
              </a:r>
              <a:r>
                <a:rPr kumimoji="1" lang="en-US" altLang="zh-CN" sz="1335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“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看不清</a:t>
              </a:r>
              <a:r>
                <a:rPr kumimoji="1" lang="en-US" altLang="zh-CN" sz="1335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”</a:t>
              </a:r>
              <a:endParaRPr kumimoji="1" lang="en-US" altLang="zh-CN" sz="1335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049" y="12282"/>
              <a:ext cx="2922" cy="557"/>
            </a:xfrm>
            <a:prstGeom prst="rect">
              <a:avLst/>
            </a:prstGeom>
            <a:solidFill>
              <a:srgbClr val="2E54A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33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留存取证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“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效率低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”</a:t>
              </a:r>
              <a:endParaRPr kumimoji="1" lang="zh-CN" altLang="en-US" sz="1335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806" y="12283"/>
              <a:ext cx="2922" cy="557"/>
            </a:xfrm>
            <a:prstGeom prst="rect">
              <a:avLst/>
            </a:prstGeom>
            <a:solidFill>
              <a:srgbClr val="2E54A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33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目标研判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“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协同难</a:t>
              </a:r>
              <a:r>
                <a:rPr kumimoji="1" lang="zh-CN" altLang="en-US" sz="1335" b="1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”</a:t>
              </a:r>
              <a:endParaRPr kumimoji="1" lang="zh-CN" altLang="en-US" sz="1335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705225" y="1920240"/>
            <a:ext cx="3096895" cy="3187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海事巡逻平台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84985" y="5309870"/>
            <a:ext cx="1451610" cy="296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</a:rPr>
              <a:t>无人水面航行器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78680" y="5309870"/>
            <a:ext cx="1293495" cy="296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</a:rPr>
              <a:t>无人监测浮标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47280" y="5309870"/>
            <a:ext cx="1635760" cy="296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</a:rPr>
              <a:t>无人海面漂移平台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WPS 演示</Application>
  <PresentationFormat>宽屏</PresentationFormat>
  <Paragraphs>69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HongShilong</cp:lastModifiedBy>
  <cp:revision>158</cp:revision>
  <dcterms:created xsi:type="dcterms:W3CDTF">2019-06-19T02:08:00Z</dcterms:created>
  <dcterms:modified xsi:type="dcterms:W3CDTF">2026-06-25T01:56:54Z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554E765D60434EB29725474D85FA40AE_11</vt:lpwstr>
  </property>
</Properties>
</file>